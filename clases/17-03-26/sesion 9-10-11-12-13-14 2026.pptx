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4"/>
  </p:notesMasterIdLst>
  <p:sldIdLst>
    <p:sldId id="1718" r:id="rId2"/>
    <p:sldId id="257" r:id="rId3"/>
    <p:sldId id="1708" r:id="rId4"/>
    <p:sldId id="1725" r:id="rId5"/>
    <p:sldId id="1720" r:id="rId6"/>
    <p:sldId id="1721" r:id="rId7"/>
    <p:sldId id="1711" r:id="rId8"/>
    <p:sldId id="1730" r:id="rId9"/>
    <p:sldId id="1731" r:id="rId10"/>
    <p:sldId id="1762" r:id="rId11"/>
    <p:sldId id="1765" r:id="rId12"/>
    <p:sldId id="1764" r:id="rId13"/>
    <p:sldId id="1760" r:id="rId14"/>
    <p:sldId id="1761" r:id="rId15"/>
    <p:sldId id="1763" r:id="rId16"/>
    <p:sldId id="1766" r:id="rId17"/>
    <p:sldId id="1767" r:id="rId18"/>
    <p:sldId id="1768" r:id="rId19"/>
    <p:sldId id="1776" r:id="rId20"/>
    <p:sldId id="1769" r:id="rId21"/>
    <p:sldId id="1770" r:id="rId22"/>
    <p:sldId id="1771" r:id="rId23"/>
    <p:sldId id="1772" r:id="rId24"/>
    <p:sldId id="1773" r:id="rId25"/>
    <p:sldId id="1774" r:id="rId26"/>
    <p:sldId id="1777" r:id="rId27"/>
    <p:sldId id="1778" r:id="rId28"/>
    <p:sldId id="1779" r:id="rId29"/>
    <p:sldId id="1782" r:id="rId30"/>
    <p:sldId id="1784" r:id="rId31"/>
    <p:sldId id="1783" r:id="rId32"/>
    <p:sldId id="1785" r:id="rId33"/>
    <p:sldId id="1786" r:id="rId34"/>
    <p:sldId id="1787" r:id="rId35"/>
    <p:sldId id="1788" r:id="rId36"/>
    <p:sldId id="1789" r:id="rId37"/>
    <p:sldId id="1790" r:id="rId38"/>
    <p:sldId id="1791" r:id="rId39"/>
    <p:sldId id="1792" r:id="rId40"/>
    <p:sldId id="1793" r:id="rId41"/>
    <p:sldId id="1794" r:id="rId42"/>
    <p:sldId id="1795" r:id="rId43"/>
    <p:sldId id="1796" r:id="rId44"/>
    <p:sldId id="1797" r:id="rId45"/>
    <p:sldId id="1798" r:id="rId46"/>
    <p:sldId id="1799" r:id="rId47"/>
    <p:sldId id="1800" r:id="rId48"/>
    <p:sldId id="1801" r:id="rId49"/>
    <p:sldId id="1802" r:id="rId50"/>
    <p:sldId id="1803" r:id="rId51"/>
    <p:sldId id="1804" r:id="rId52"/>
    <p:sldId id="1729" r:id="rId53"/>
  </p:sldIdLst>
  <p:sldSz cx="20104100" cy="11309350"/>
  <p:notesSz cx="9296400" cy="7010400"/>
  <p:defaultTextStyle>
    <a:defPPr lvl="0">
      <a:defRPr lang="es-CL"/>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9897051-24AE-98AE-7D1D-12996A0AA340}" name="afgd3l2" initials="a" userId="S::afgd3l2@verykvm.com::a234dbd5-222b-47e7-a1d4-2c032f33b77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Estilo temático 1 - Énfasis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73" autoAdjust="0"/>
  </p:normalViewPr>
  <p:slideViewPr>
    <p:cSldViewPr snapToGrid="0">
      <p:cViewPr varScale="1">
        <p:scale>
          <a:sx n="64" d="100"/>
          <a:sy n="64" d="100"/>
        </p:scale>
        <p:origin x="774" y="102"/>
      </p:cViewPr>
      <p:guideLst>
        <p:guide orient="horz" pos="2880"/>
        <p:guide pos="2160"/>
      </p:guideLst>
    </p:cSldViewPr>
  </p:slideViewPr>
  <p:outlineViewPr>
    <p:cViewPr>
      <p:scale>
        <a:sx n="33" d="100"/>
        <a:sy n="33" d="100"/>
      </p:scale>
      <p:origin x="0" y="-213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8/10/relationships/authors" Targe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_rels/data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8E87878-4908-4019-9C9B-B0DC93DEAEC4}" type="doc">
      <dgm:prSet loTypeId="urn:microsoft.com/office/officeart/2005/8/layout/hList7" loCatId="process" qsTypeId="urn:microsoft.com/office/officeart/2005/8/quickstyle/simple1" qsCatId="simple" csTypeId="urn:microsoft.com/office/officeart/2005/8/colors/colorful1" csCatId="colorful" phldr="1"/>
      <dgm:spPr/>
      <dgm:t>
        <a:bodyPr/>
        <a:lstStyle/>
        <a:p>
          <a:endParaRPr lang="es-CL"/>
        </a:p>
      </dgm:t>
    </dgm:pt>
    <dgm:pt modelId="{6797AC8D-2788-4112-B530-0ACFC8D7FDDB}">
      <dgm:prSet phldrT="[Texto]" phldr="0"/>
      <dgm:spPr/>
      <dgm:t>
        <a:bodyPr/>
        <a:lstStyle/>
        <a:p>
          <a:r>
            <a:rPr lang="es-CL" noProof="0" dirty="0"/>
            <a:t>MEDIO</a:t>
          </a:r>
        </a:p>
      </dgm:t>
    </dgm:pt>
    <dgm:pt modelId="{88A6336C-C9CD-437A-9FF9-5AF13C1AB5ED}" type="parTrans" cxnId="{0DA7681D-9DAB-42D7-8152-C2844E231724}">
      <dgm:prSet/>
      <dgm:spPr/>
      <dgm:t>
        <a:bodyPr/>
        <a:lstStyle/>
        <a:p>
          <a:endParaRPr lang="es-CL"/>
        </a:p>
      </dgm:t>
    </dgm:pt>
    <dgm:pt modelId="{2DA5CCD3-E1C3-4524-96E6-47E60AA85D86}" type="sibTrans" cxnId="{0DA7681D-9DAB-42D7-8152-C2844E231724}">
      <dgm:prSet/>
      <dgm:spPr/>
      <dgm:t>
        <a:bodyPr/>
        <a:lstStyle/>
        <a:p>
          <a:endParaRPr lang="es-CL"/>
        </a:p>
      </dgm:t>
    </dgm:pt>
    <dgm:pt modelId="{9C8A4409-13B4-4656-A097-F1FBDA48E8E3}">
      <dgm:prSet phldrT="[Texto]" phldr="0"/>
      <dgm:spPr/>
      <dgm:t>
        <a:bodyPr/>
        <a:lstStyle/>
        <a:p>
          <a:r>
            <a:rPr lang="es-CL" noProof="0" dirty="0" err="1"/>
            <a:t>RX</a:t>
          </a:r>
          <a:endParaRPr lang="es-CL" noProof="0" dirty="0"/>
        </a:p>
      </dgm:t>
    </dgm:pt>
    <dgm:pt modelId="{296BE365-F051-4959-B9F1-568D3D253B02}" type="parTrans" cxnId="{02E68DC2-6E45-4FDF-97EB-FC7C88377730}">
      <dgm:prSet/>
      <dgm:spPr/>
      <dgm:t>
        <a:bodyPr/>
        <a:lstStyle/>
        <a:p>
          <a:endParaRPr lang="es-CL"/>
        </a:p>
      </dgm:t>
    </dgm:pt>
    <dgm:pt modelId="{FC946F84-F496-475A-9B9D-A977EA2B469E}" type="sibTrans" cxnId="{02E68DC2-6E45-4FDF-97EB-FC7C88377730}">
      <dgm:prSet/>
      <dgm:spPr/>
      <dgm:t>
        <a:bodyPr/>
        <a:lstStyle/>
        <a:p>
          <a:endParaRPr lang="es-CL"/>
        </a:p>
      </dgm:t>
    </dgm:pt>
    <dgm:pt modelId="{5AAD2BD2-11E3-4D5A-AD57-B279A2F57406}">
      <dgm:prSet phldrT="[Texto]" phldr="0"/>
      <dgm:spPr/>
      <dgm:t>
        <a:bodyPr/>
        <a:lstStyle/>
        <a:p>
          <a:r>
            <a:rPr lang="es-CL" noProof="0" dirty="0"/>
            <a:t>TX</a:t>
          </a:r>
        </a:p>
      </dgm:t>
    </dgm:pt>
    <dgm:pt modelId="{5314FBE5-4F3F-422E-9B69-0C925C586A73}" type="sibTrans" cxnId="{98236E22-21C7-4979-ABE8-4140819EF0E3}">
      <dgm:prSet/>
      <dgm:spPr/>
      <dgm:t>
        <a:bodyPr/>
        <a:lstStyle/>
        <a:p>
          <a:endParaRPr lang="es-CL"/>
        </a:p>
      </dgm:t>
    </dgm:pt>
    <dgm:pt modelId="{A4AA2413-97CD-43DE-B623-ED604D1BEB0C}" type="parTrans" cxnId="{98236E22-21C7-4979-ABE8-4140819EF0E3}">
      <dgm:prSet/>
      <dgm:spPr/>
      <dgm:t>
        <a:bodyPr/>
        <a:lstStyle/>
        <a:p>
          <a:endParaRPr lang="es-CL"/>
        </a:p>
      </dgm:t>
    </dgm:pt>
    <dgm:pt modelId="{B6549583-1B86-4563-8856-586F7C4EC077}" type="pres">
      <dgm:prSet presAssocID="{48E87878-4908-4019-9C9B-B0DC93DEAEC4}" presName="Name0" presStyleCnt="0">
        <dgm:presLayoutVars>
          <dgm:dir/>
          <dgm:resizeHandles val="exact"/>
        </dgm:presLayoutVars>
      </dgm:prSet>
      <dgm:spPr/>
    </dgm:pt>
    <dgm:pt modelId="{0C4F68F6-D35C-413F-B602-F999A4623BE7}" type="pres">
      <dgm:prSet presAssocID="{48E87878-4908-4019-9C9B-B0DC93DEAEC4}" presName="fgShape" presStyleLbl="fgShp" presStyleIdx="0" presStyleCnt="1"/>
      <dgm:spPr/>
    </dgm:pt>
    <dgm:pt modelId="{701AA0E1-D2AE-4667-9E3A-ADE59F7F3193}" type="pres">
      <dgm:prSet presAssocID="{48E87878-4908-4019-9C9B-B0DC93DEAEC4}" presName="linComp" presStyleCnt="0"/>
      <dgm:spPr/>
    </dgm:pt>
    <dgm:pt modelId="{FAF217DE-6030-407F-97C7-8A118CF44822}" type="pres">
      <dgm:prSet presAssocID="{5AAD2BD2-11E3-4D5A-AD57-B279A2F57406}" presName="compNode" presStyleCnt="0"/>
      <dgm:spPr/>
    </dgm:pt>
    <dgm:pt modelId="{EA97F1F6-4C3A-4F4A-9ED0-E60A923204BD}" type="pres">
      <dgm:prSet presAssocID="{5AAD2BD2-11E3-4D5A-AD57-B279A2F57406}" presName="bkgdShape" presStyleLbl="node1" presStyleIdx="0" presStyleCnt="3"/>
      <dgm:spPr/>
    </dgm:pt>
    <dgm:pt modelId="{7A78030E-2890-432A-9BAF-DCE62628BE6A}" type="pres">
      <dgm:prSet presAssocID="{5AAD2BD2-11E3-4D5A-AD57-B279A2F57406}" presName="nodeTx" presStyleLbl="node1" presStyleIdx="0" presStyleCnt="3">
        <dgm:presLayoutVars>
          <dgm:bulletEnabled val="1"/>
        </dgm:presLayoutVars>
      </dgm:prSet>
      <dgm:spPr/>
    </dgm:pt>
    <dgm:pt modelId="{1E4D7B54-5307-4938-83B5-415385283C45}" type="pres">
      <dgm:prSet presAssocID="{5AAD2BD2-11E3-4D5A-AD57-B279A2F57406}" presName="invisiNode" presStyleLbl="node1" presStyleIdx="0" presStyleCnt="3"/>
      <dgm:spPr/>
    </dgm:pt>
    <dgm:pt modelId="{16D249EB-DFDA-4D28-9437-788B38C22580}" type="pres">
      <dgm:prSet presAssocID="{5AAD2BD2-11E3-4D5A-AD57-B279A2F57406}" presName="imagNode" presStyleLbl="fgImgPlac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urbuja de chat con relleno sólido"/>
        </a:ext>
      </dgm:extLst>
    </dgm:pt>
    <dgm:pt modelId="{29144D62-B297-4BE8-8F3E-58FBA11EEA04}" type="pres">
      <dgm:prSet presAssocID="{5314FBE5-4F3F-422E-9B69-0C925C586A73}" presName="sibTrans" presStyleLbl="sibTrans2D1" presStyleIdx="0" presStyleCnt="0"/>
      <dgm:spPr/>
    </dgm:pt>
    <dgm:pt modelId="{C508345A-7A59-4053-8749-D70646B67D2F}" type="pres">
      <dgm:prSet presAssocID="{6797AC8D-2788-4112-B530-0ACFC8D7FDDB}" presName="compNode" presStyleCnt="0"/>
      <dgm:spPr/>
    </dgm:pt>
    <dgm:pt modelId="{3AAD6399-A654-4D6C-9CB1-51CA16C7C120}" type="pres">
      <dgm:prSet presAssocID="{6797AC8D-2788-4112-B530-0ACFC8D7FDDB}" presName="bkgdShape" presStyleLbl="node1" presStyleIdx="1" presStyleCnt="3"/>
      <dgm:spPr/>
    </dgm:pt>
    <dgm:pt modelId="{E85B498C-CE95-4776-8311-AAFAB91940B9}" type="pres">
      <dgm:prSet presAssocID="{6797AC8D-2788-4112-B530-0ACFC8D7FDDB}" presName="nodeTx" presStyleLbl="node1" presStyleIdx="1" presStyleCnt="3">
        <dgm:presLayoutVars>
          <dgm:bulletEnabled val="1"/>
        </dgm:presLayoutVars>
      </dgm:prSet>
      <dgm:spPr/>
    </dgm:pt>
    <dgm:pt modelId="{2C4090C9-44E2-4DB5-B997-A079FB52FB49}" type="pres">
      <dgm:prSet presAssocID="{6797AC8D-2788-4112-B530-0ACFC8D7FDDB}" presName="invisiNode" presStyleLbl="node1" presStyleIdx="1" presStyleCnt="3"/>
      <dgm:spPr/>
    </dgm:pt>
    <dgm:pt modelId="{6C379E41-EF26-4548-A5C4-58F66A88429F}" type="pres">
      <dgm:prSet presAssocID="{6797AC8D-2788-4112-B530-0ACFC8D7FDDB}" presName="imagNode" presStyleLbl="fgImgPlac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Escena de colina con relleno sólido"/>
        </a:ext>
      </dgm:extLst>
    </dgm:pt>
    <dgm:pt modelId="{9FCD614B-92AD-4170-8E14-661A698323A1}" type="pres">
      <dgm:prSet presAssocID="{2DA5CCD3-E1C3-4524-96E6-47E60AA85D86}" presName="sibTrans" presStyleLbl="sibTrans2D1" presStyleIdx="0" presStyleCnt="0"/>
      <dgm:spPr/>
    </dgm:pt>
    <dgm:pt modelId="{9A336FA5-068F-48D4-9A77-27389F380CCA}" type="pres">
      <dgm:prSet presAssocID="{9C8A4409-13B4-4656-A097-F1FBDA48E8E3}" presName="compNode" presStyleCnt="0"/>
      <dgm:spPr/>
    </dgm:pt>
    <dgm:pt modelId="{01501CEA-25DF-4B27-BC51-79DC817CC3A9}" type="pres">
      <dgm:prSet presAssocID="{9C8A4409-13B4-4656-A097-F1FBDA48E8E3}" presName="bkgdShape" presStyleLbl="node1" presStyleIdx="2" presStyleCnt="3"/>
      <dgm:spPr/>
    </dgm:pt>
    <dgm:pt modelId="{4E515DB5-F7EA-4185-B30D-9B302063A3FD}" type="pres">
      <dgm:prSet presAssocID="{9C8A4409-13B4-4656-A097-F1FBDA48E8E3}" presName="nodeTx" presStyleLbl="node1" presStyleIdx="2" presStyleCnt="3">
        <dgm:presLayoutVars>
          <dgm:bulletEnabled val="1"/>
        </dgm:presLayoutVars>
      </dgm:prSet>
      <dgm:spPr/>
    </dgm:pt>
    <dgm:pt modelId="{8E0F9B49-9CA1-442A-B1E3-50344CD6EA77}" type="pres">
      <dgm:prSet presAssocID="{9C8A4409-13B4-4656-A097-F1FBDA48E8E3}" presName="invisiNode" presStyleLbl="node1" presStyleIdx="2" presStyleCnt="3"/>
      <dgm:spPr/>
    </dgm:pt>
    <dgm:pt modelId="{E478C333-278A-4804-A954-97FCD461D7D2}" type="pres">
      <dgm:prSet presAssocID="{9C8A4409-13B4-4656-A097-F1FBDA48E8E3}" presName="imagNode" presStyleLbl="fgImgPlac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Burbuja de chat con relleno sólido"/>
        </a:ext>
      </dgm:extLst>
    </dgm:pt>
  </dgm:ptLst>
  <dgm:cxnLst>
    <dgm:cxn modelId="{2D416509-A8ED-433C-AB04-D7A5802DB2E3}" type="presOf" srcId="{9C8A4409-13B4-4656-A097-F1FBDA48E8E3}" destId="{4E515DB5-F7EA-4185-B30D-9B302063A3FD}" srcOrd="1" destOrd="0" presId="urn:microsoft.com/office/officeart/2005/8/layout/hList7"/>
    <dgm:cxn modelId="{0DA7681D-9DAB-42D7-8152-C2844E231724}" srcId="{48E87878-4908-4019-9C9B-B0DC93DEAEC4}" destId="{6797AC8D-2788-4112-B530-0ACFC8D7FDDB}" srcOrd="1" destOrd="0" parTransId="{88A6336C-C9CD-437A-9FF9-5AF13C1AB5ED}" sibTransId="{2DA5CCD3-E1C3-4524-96E6-47E60AA85D86}"/>
    <dgm:cxn modelId="{98236E22-21C7-4979-ABE8-4140819EF0E3}" srcId="{48E87878-4908-4019-9C9B-B0DC93DEAEC4}" destId="{5AAD2BD2-11E3-4D5A-AD57-B279A2F57406}" srcOrd="0" destOrd="0" parTransId="{A4AA2413-97CD-43DE-B623-ED604D1BEB0C}" sibTransId="{5314FBE5-4F3F-422E-9B69-0C925C586A73}"/>
    <dgm:cxn modelId="{01E47B36-172B-4477-85EA-E471A8D48E42}" type="presOf" srcId="{48E87878-4908-4019-9C9B-B0DC93DEAEC4}" destId="{B6549583-1B86-4563-8856-586F7C4EC077}" srcOrd="0" destOrd="0" presId="urn:microsoft.com/office/officeart/2005/8/layout/hList7"/>
    <dgm:cxn modelId="{8BF0D574-B228-4540-B01D-145CEC56D275}" type="presOf" srcId="{5314FBE5-4F3F-422E-9B69-0C925C586A73}" destId="{29144D62-B297-4BE8-8F3E-58FBA11EEA04}" srcOrd="0" destOrd="0" presId="urn:microsoft.com/office/officeart/2005/8/layout/hList7"/>
    <dgm:cxn modelId="{A634C68F-657A-4981-8085-F33AF1B6D3A9}" type="presOf" srcId="{5AAD2BD2-11E3-4D5A-AD57-B279A2F57406}" destId="{7A78030E-2890-432A-9BAF-DCE62628BE6A}" srcOrd="1" destOrd="0" presId="urn:microsoft.com/office/officeart/2005/8/layout/hList7"/>
    <dgm:cxn modelId="{D6D224A0-5A26-4578-A8F8-4BB059C8899D}" type="presOf" srcId="{6797AC8D-2788-4112-B530-0ACFC8D7FDDB}" destId="{E85B498C-CE95-4776-8311-AAFAB91940B9}" srcOrd="1" destOrd="0" presId="urn:microsoft.com/office/officeart/2005/8/layout/hList7"/>
    <dgm:cxn modelId="{02E68DC2-6E45-4FDF-97EB-FC7C88377730}" srcId="{48E87878-4908-4019-9C9B-B0DC93DEAEC4}" destId="{9C8A4409-13B4-4656-A097-F1FBDA48E8E3}" srcOrd="2" destOrd="0" parTransId="{296BE365-F051-4959-B9F1-568D3D253B02}" sibTransId="{FC946F84-F496-475A-9B9D-A977EA2B469E}"/>
    <dgm:cxn modelId="{EE4CF4C5-E1A8-4753-A1C6-91995BE442FB}" type="presOf" srcId="{5AAD2BD2-11E3-4D5A-AD57-B279A2F57406}" destId="{EA97F1F6-4C3A-4F4A-9ED0-E60A923204BD}" srcOrd="0" destOrd="0" presId="urn:microsoft.com/office/officeart/2005/8/layout/hList7"/>
    <dgm:cxn modelId="{F2CD87C8-2034-44F7-BB76-C4825921F4FE}" type="presOf" srcId="{9C8A4409-13B4-4656-A097-F1FBDA48E8E3}" destId="{01501CEA-25DF-4B27-BC51-79DC817CC3A9}" srcOrd="0" destOrd="0" presId="urn:microsoft.com/office/officeart/2005/8/layout/hList7"/>
    <dgm:cxn modelId="{9897C5FA-356C-4BF0-99DB-D6FFFCA6BF6F}" type="presOf" srcId="{2DA5CCD3-E1C3-4524-96E6-47E60AA85D86}" destId="{9FCD614B-92AD-4170-8E14-661A698323A1}" srcOrd="0" destOrd="0" presId="urn:microsoft.com/office/officeart/2005/8/layout/hList7"/>
    <dgm:cxn modelId="{8EA5CFFF-7BCA-48DB-B8AC-D0B46F8F735A}" type="presOf" srcId="{6797AC8D-2788-4112-B530-0ACFC8D7FDDB}" destId="{3AAD6399-A654-4D6C-9CB1-51CA16C7C120}" srcOrd="0" destOrd="0" presId="urn:microsoft.com/office/officeart/2005/8/layout/hList7"/>
    <dgm:cxn modelId="{0D0E5EF6-3A80-4AF8-B0BF-C837DE0E5203}" type="presParOf" srcId="{B6549583-1B86-4563-8856-586F7C4EC077}" destId="{0C4F68F6-D35C-413F-B602-F999A4623BE7}" srcOrd="0" destOrd="0" presId="urn:microsoft.com/office/officeart/2005/8/layout/hList7"/>
    <dgm:cxn modelId="{0A8DB91A-6A89-4538-B2A3-B46D5BBCF827}" type="presParOf" srcId="{B6549583-1B86-4563-8856-586F7C4EC077}" destId="{701AA0E1-D2AE-4667-9E3A-ADE59F7F3193}" srcOrd="1" destOrd="0" presId="urn:microsoft.com/office/officeart/2005/8/layout/hList7"/>
    <dgm:cxn modelId="{99E5C243-60E3-452E-9B86-DEAC728B5098}" type="presParOf" srcId="{701AA0E1-D2AE-4667-9E3A-ADE59F7F3193}" destId="{FAF217DE-6030-407F-97C7-8A118CF44822}" srcOrd="0" destOrd="0" presId="urn:microsoft.com/office/officeart/2005/8/layout/hList7"/>
    <dgm:cxn modelId="{C62DE6C9-46F0-4FFD-A539-3A51BE09E95D}" type="presParOf" srcId="{FAF217DE-6030-407F-97C7-8A118CF44822}" destId="{EA97F1F6-4C3A-4F4A-9ED0-E60A923204BD}" srcOrd="0" destOrd="0" presId="urn:microsoft.com/office/officeart/2005/8/layout/hList7"/>
    <dgm:cxn modelId="{0B1101CB-4D8C-4E50-9EFF-D84B5845CC34}" type="presParOf" srcId="{FAF217DE-6030-407F-97C7-8A118CF44822}" destId="{7A78030E-2890-432A-9BAF-DCE62628BE6A}" srcOrd="1" destOrd="0" presId="urn:microsoft.com/office/officeart/2005/8/layout/hList7"/>
    <dgm:cxn modelId="{89FAC1D9-3139-4560-8AEB-D414ACB78E5B}" type="presParOf" srcId="{FAF217DE-6030-407F-97C7-8A118CF44822}" destId="{1E4D7B54-5307-4938-83B5-415385283C45}" srcOrd="2" destOrd="0" presId="urn:microsoft.com/office/officeart/2005/8/layout/hList7"/>
    <dgm:cxn modelId="{2D1269AF-1DE6-49A1-AC83-5F0E5096DCE0}" type="presParOf" srcId="{FAF217DE-6030-407F-97C7-8A118CF44822}" destId="{16D249EB-DFDA-4D28-9437-788B38C22580}" srcOrd="3" destOrd="0" presId="urn:microsoft.com/office/officeart/2005/8/layout/hList7"/>
    <dgm:cxn modelId="{C78F85DD-3917-45F7-9511-C7F43264A3CF}" type="presParOf" srcId="{701AA0E1-D2AE-4667-9E3A-ADE59F7F3193}" destId="{29144D62-B297-4BE8-8F3E-58FBA11EEA04}" srcOrd="1" destOrd="0" presId="urn:microsoft.com/office/officeart/2005/8/layout/hList7"/>
    <dgm:cxn modelId="{AA41D41E-7B0E-4E45-830D-B48214A2FA5F}" type="presParOf" srcId="{701AA0E1-D2AE-4667-9E3A-ADE59F7F3193}" destId="{C508345A-7A59-4053-8749-D70646B67D2F}" srcOrd="2" destOrd="0" presId="urn:microsoft.com/office/officeart/2005/8/layout/hList7"/>
    <dgm:cxn modelId="{1FE33FF7-BEE6-446C-8874-9A771CB4D9F4}" type="presParOf" srcId="{C508345A-7A59-4053-8749-D70646B67D2F}" destId="{3AAD6399-A654-4D6C-9CB1-51CA16C7C120}" srcOrd="0" destOrd="0" presId="urn:microsoft.com/office/officeart/2005/8/layout/hList7"/>
    <dgm:cxn modelId="{94C35A4E-02E1-487D-9252-3CA0FA042770}" type="presParOf" srcId="{C508345A-7A59-4053-8749-D70646B67D2F}" destId="{E85B498C-CE95-4776-8311-AAFAB91940B9}" srcOrd="1" destOrd="0" presId="urn:microsoft.com/office/officeart/2005/8/layout/hList7"/>
    <dgm:cxn modelId="{BC37E466-4010-4B4E-ABA8-71EB5C941C89}" type="presParOf" srcId="{C508345A-7A59-4053-8749-D70646B67D2F}" destId="{2C4090C9-44E2-4DB5-B997-A079FB52FB49}" srcOrd="2" destOrd="0" presId="urn:microsoft.com/office/officeart/2005/8/layout/hList7"/>
    <dgm:cxn modelId="{61D4034B-5EB8-430D-AEF1-23876A585E78}" type="presParOf" srcId="{C508345A-7A59-4053-8749-D70646B67D2F}" destId="{6C379E41-EF26-4548-A5C4-58F66A88429F}" srcOrd="3" destOrd="0" presId="urn:microsoft.com/office/officeart/2005/8/layout/hList7"/>
    <dgm:cxn modelId="{E09D58A1-099C-4EBC-826D-D17BC758D28F}" type="presParOf" srcId="{701AA0E1-D2AE-4667-9E3A-ADE59F7F3193}" destId="{9FCD614B-92AD-4170-8E14-661A698323A1}" srcOrd="3" destOrd="0" presId="urn:microsoft.com/office/officeart/2005/8/layout/hList7"/>
    <dgm:cxn modelId="{41A1D73D-935F-4A70-97CA-46AA27D14E25}" type="presParOf" srcId="{701AA0E1-D2AE-4667-9E3A-ADE59F7F3193}" destId="{9A336FA5-068F-48D4-9A77-27389F380CCA}" srcOrd="4" destOrd="0" presId="urn:microsoft.com/office/officeart/2005/8/layout/hList7"/>
    <dgm:cxn modelId="{C71C4A21-DD2A-4604-8552-764198857657}" type="presParOf" srcId="{9A336FA5-068F-48D4-9A77-27389F380CCA}" destId="{01501CEA-25DF-4B27-BC51-79DC817CC3A9}" srcOrd="0" destOrd="0" presId="urn:microsoft.com/office/officeart/2005/8/layout/hList7"/>
    <dgm:cxn modelId="{A5C79C66-7FF0-40E6-8A3A-0521F87099C1}" type="presParOf" srcId="{9A336FA5-068F-48D4-9A77-27389F380CCA}" destId="{4E515DB5-F7EA-4185-B30D-9B302063A3FD}" srcOrd="1" destOrd="0" presId="urn:microsoft.com/office/officeart/2005/8/layout/hList7"/>
    <dgm:cxn modelId="{F44EFD7D-922F-4017-B816-EC52DE061923}" type="presParOf" srcId="{9A336FA5-068F-48D4-9A77-27389F380CCA}" destId="{8E0F9B49-9CA1-442A-B1E3-50344CD6EA77}" srcOrd="2" destOrd="0" presId="urn:microsoft.com/office/officeart/2005/8/layout/hList7"/>
    <dgm:cxn modelId="{70E25D69-4E91-4F96-A0FF-1E039096E413}" type="presParOf" srcId="{9A336FA5-068F-48D4-9A77-27389F380CCA}" destId="{E478C333-278A-4804-A954-97FCD461D7D2}" srcOrd="3" destOrd="0" presId="urn:microsoft.com/office/officeart/2005/8/layout/hList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313581D-037F-41A3-8E96-CF3BDDD7531A}" type="doc">
      <dgm:prSet loTypeId="urn:microsoft.com/office/officeart/2005/8/layout/hList1" loCatId="list" qsTypeId="urn:microsoft.com/office/officeart/2005/8/quickstyle/simple1" qsCatId="simple" csTypeId="urn:microsoft.com/office/officeart/2005/8/colors/colorful1" csCatId="colorful" phldr="1"/>
      <dgm:spPr/>
      <dgm:t>
        <a:bodyPr/>
        <a:lstStyle/>
        <a:p>
          <a:endParaRPr lang="es-CL"/>
        </a:p>
      </dgm:t>
    </dgm:pt>
    <dgm:pt modelId="{48E7ACCC-B0E2-4450-B664-117B817AAE50}">
      <dgm:prSet phldrT="[Texto]" phldr="0"/>
      <dgm:spPr/>
      <dgm:t>
        <a:bodyPr/>
        <a:lstStyle/>
        <a:p>
          <a:r>
            <a:rPr lang="es-CL" noProof="0" dirty="0">
              <a:latin typeface="Atkinson Hyperlegible"/>
            </a:rPr>
            <a:t>GUIADOS</a:t>
          </a:r>
        </a:p>
      </dgm:t>
    </dgm:pt>
    <dgm:pt modelId="{751566AF-E8BD-48C4-B6F6-5CF1826A9C4D}" type="parTrans" cxnId="{A31DB0AC-9C7C-4CC7-9995-AFCC2D566F65}">
      <dgm:prSet/>
      <dgm:spPr/>
      <dgm:t>
        <a:bodyPr/>
        <a:lstStyle/>
        <a:p>
          <a:endParaRPr lang="es-CL"/>
        </a:p>
      </dgm:t>
    </dgm:pt>
    <dgm:pt modelId="{8B29BB84-A328-4501-8848-FF4B4208CEAE}" type="sibTrans" cxnId="{A31DB0AC-9C7C-4CC7-9995-AFCC2D566F65}">
      <dgm:prSet/>
      <dgm:spPr/>
      <dgm:t>
        <a:bodyPr/>
        <a:lstStyle/>
        <a:p>
          <a:endParaRPr lang="es-CL"/>
        </a:p>
      </dgm:t>
    </dgm:pt>
    <dgm:pt modelId="{BA8172E1-BB18-4C63-BB10-9E53F9F052CD}">
      <dgm:prSet phldrT="[Texto]"/>
      <dgm:spPr/>
      <dgm:t>
        <a:bodyPr/>
        <a:lstStyle/>
        <a:p>
          <a:pPr>
            <a:buFont typeface="Arial" panose="020B0604020202020204" pitchFamily="34" charset="0"/>
            <a:buChar char="•"/>
          </a:pPr>
          <a:r>
            <a:rPr lang="es-CL" noProof="0" dirty="0">
              <a:latin typeface="Atkinson Hyperlegible"/>
            </a:rPr>
            <a:t>La señal viaja por un medio físico(cable o fibra).</a:t>
          </a:r>
        </a:p>
      </dgm:t>
    </dgm:pt>
    <dgm:pt modelId="{FA572AB7-D86E-4F71-A1A9-E6CE96D1878F}" type="parTrans" cxnId="{B8003254-E2C7-418F-9E4C-22878FF9A61F}">
      <dgm:prSet/>
      <dgm:spPr/>
      <dgm:t>
        <a:bodyPr/>
        <a:lstStyle/>
        <a:p>
          <a:endParaRPr lang="es-CL"/>
        </a:p>
      </dgm:t>
    </dgm:pt>
    <dgm:pt modelId="{46C4FB1C-A2C2-49BE-ABC4-F7681B06914B}" type="sibTrans" cxnId="{B8003254-E2C7-418F-9E4C-22878FF9A61F}">
      <dgm:prSet/>
      <dgm:spPr/>
      <dgm:t>
        <a:bodyPr/>
        <a:lstStyle/>
        <a:p>
          <a:endParaRPr lang="es-CL"/>
        </a:p>
      </dgm:t>
    </dgm:pt>
    <dgm:pt modelId="{80CFE34C-2CB0-461B-8572-E023DEFAFA6B}">
      <dgm:prSet phldrT="[Texto]"/>
      <dgm:spPr/>
      <dgm:t>
        <a:bodyPr/>
        <a:lstStyle/>
        <a:p>
          <a:pPr>
            <a:buFont typeface="Arial" panose="020B0604020202020204" pitchFamily="34" charset="0"/>
            <a:buChar char="•"/>
          </a:pPr>
          <a:r>
            <a:rPr lang="es-CL" b="1" noProof="0" dirty="0">
              <a:latin typeface="Atkinson Hyperlegible"/>
            </a:rPr>
            <a:t>Pares de cobre</a:t>
          </a:r>
          <a:r>
            <a:rPr lang="es-CL" noProof="0" dirty="0">
              <a:latin typeface="Atkinson Hyperlegible"/>
            </a:rPr>
            <a:t> (par trenzado).</a:t>
          </a:r>
        </a:p>
      </dgm:t>
    </dgm:pt>
    <dgm:pt modelId="{9B89AE2B-5F69-4126-B75B-0341B578B01E}" type="parTrans" cxnId="{0BFF3DE6-D21E-4879-928C-DC164FFD7BE1}">
      <dgm:prSet/>
      <dgm:spPr/>
      <dgm:t>
        <a:bodyPr/>
        <a:lstStyle/>
        <a:p>
          <a:endParaRPr lang="es-CL"/>
        </a:p>
      </dgm:t>
    </dgm:pt>
    <dgm:pt modelId="{59348F77-F481-4150-91CC-E58AD338D15C}" type="sibTrans" cxnId="{0BFF3DE6-D21E-4879-928C-DC164FFD7BE1}">
      <dgm:prSet/>
      <dgm:spPr/>
      <dgm:t>
        <a:bodyPr/>
        <a:lstStyle/>
        <a:p>
          <a:endParaRPr lang="es-CL"/>
        </a:p>
      </dgm:t>
    </dgm:pt>
    <dgm:pt modelId="{0433E0BB-79E7-4992-A591-6A544EF0DF6D}">
      <dgm:prSet phldrT="[Texto]" phldr="0"/>
      <dgm:spPr/>
      <dgm:t>
        <a:bodyPr/>
        <a:lstStyle/>
        <a:p>
          <a:r>
            <a:rPr lang="es-CL" noProof="0" dirty="0">
              <a:latin typeface="Atkinson Hyperlegible"/>
            </a:rPr>
            <a:t>NO GUIADOS</a:t>
          </a:r>
        </a:p>
      </dgm:t>
    </dgm:pt>
    <dgm:pt modelId="{F66CC2D8-43DB-4DE3-8D11-00B9506CEB80}" type="parTrans" cxnId="{EA716BAA-47D7-4158-A65A-A9F1B262E938}">
      <dgm:prSet/>
      <dgm:spPr/>
      <dgm:t>
        <a:bodyPr/>
        <a:lstStyle/>
        <a:p>
          <a:endParaRPr lang="es-CL"/>
        </a:p>
      </dgm:t>
    </dgm:pt>
    <dgm:pt modelId="{B3114CC7-3F8A-4CEF-90C2-AC8A044F059E}" type="sibTrans" cxnId="{EA716BAA-47D7-4158-A65A-A9F1B262E938}">
      <dgm:prSet/>
      <dgm:spPr/>
      <dgm:t>
        <a:bodyPr/>
        <a:lstStyle/>
        <a:p>
          <a:endParaRPr lang="es-CL"/>
        </a:p>
      </dgm:t>
    </dgm:pt>
    <dgm:pt modelId="{24A20D69-D51B-4D4F-8707-41E1C7D572A8}">
      <dgm:prSet phldrT="[Texto]"/>
      <dgm:spPr/>
      <dgm:t>
        <a:bodyPr/>
        <a:lstStyle/>
        <a:p>
          <a:pPr>
            <a:buFont typeface="Arial" panose="020B0604020202020204" pitchFamily="34" charset="0"/>
            <a:buChar char="•"/>
          </a:pPr>
          <a:r>
            <a:rPr lang="es-CL" noProof="0" dirty="0">
              <a:latin typeface="Atkinson Hyperlegible"/>
            </a:rPr>
            <a:t>La señal se propaga por el aire/espacio (ondas electromagnéticas).</a:t>
          </a:r>
        </a:p>
      </dgm:t>
    </dgm:pt>
    <dgm:pt modelId="{78FCA73D-BB33-41F9-83AB-6059596E9250}" type="parTrans" cxnId="{B00C4212-2E64-4BCF-A28D-4FDDF6FFF21C}">
      <dgm:prSet/>
      <dgm:spPr/>
      <dgm:t>
        <a:bodyPr/>
        <a:lstStyle/>
        <a:p>
          <a:endParaRPr lang="es-CL"/>
        </a:p>
      </dgm:t>
    </dgm:pt>
    <dgm:pt modelId="{ADCEC426-FA4C-4919-8024-CB3D7D7E8972}" type="sibTrans" cxnId="{B00C4212-2E64-4BCF-A28D-4FDDF6FFF21C}">
      <dgm:prSet/>
      <dgm:spPr/>
      <dgm:t>
        <a:bodyPr/>
        <a:lstStyle/>
        <a:p>
          <a:endParaRPr lang="es-CL"/>
        </a:p>
      </dgm:t>
    </dgm:pt>
    <dgm:pt modelId="{36BDD1A0-D1DF-452E-B7BE-CDF6B89F7B61}">
      <dgm:prSet phldrT="[Texto]"/>
      <dgm:spPr/>
      <dgm:t>
        <a:bodyPr/>
        <a:lstStyle/>
        <a:p>
          <a:pPr>
            <a:buFont typeface="Arial" panose="020B0604020202020204" pitchFamily="34" charset="0"/>
            <a:buChar char="•"/>
          </a:pPr>
          <a:r>
            <a:rPr lang="es-CL" b="1" noProof="0" dirty="0">
              <a:latin typeface="Atkinson Hyperlegible"/>
            </a:rPr>
            <a:t>Radiofrecuencia (RF).</a:t>
          </a:r>
        </a:p>
      </dgm:t>
    </dgm:pt>
    <dgm:pt modelId="{EDC5B09E-EA81-4710-AD55-76C03A2BF7B2}" type="parTrans" cxnId="{4F050B0B-AD40-4452-AF69-40244844C3D2}">
      <dgm:prSet/>
      <dgm:spPr/>
      <dgm:t>
        <a:bodyPr/>
        <a:lstStyle/>
        <a:p>
          <a:endParaRPr lang="es-CL"/>
        </a:p>
      </dgm:t>
    </dgm:pt>
    <dgm:pt modelId="{80EA9EC2-647A-465A-8CB3-7D91F1BA4DA0}" type="sibTrans" cxnId="{4F050B0B-AD40-4452-AF69-40244844C3D2}">
      <dgm:prSet/>
      <dgm:spPr/>
      <dgm:t>
        <a:bodyPr/>
        <a:lstStyle/>
        <a:p>
          <a:endParaRPr lang="es-CL"/>
        </a:p>
      </dgm:t>
    </dgm:pt>
    <dgm:pt modelId="{CE56F73E-85BB-400D-8106-81CA005B6D06}">
      <dgm:prSet/>
      <dgm:spPr/>
      <dgm:t>
        <a:bodyPr/>
        <a:lstStyle/>
        <a:p>
          <a:pPr>
            <a:buFont typeface="Arial" panose="020B0604020202020204" pitchFamily="34" charset="0"/>
            <a:buChar char="•"/>
          </a:pPr>
          <a:r>
            <a:rPr lang="es-CL" b="1" noProof="0" dirty="0">
              <a:latin typeface="Atkinson Hyperlegible"/>
            </a:rPr>
            <a:t>Fibra óptica.</a:t>
          </a:r>
          <a:endParaRPr lang="es-CL" noProof="0" dirty="0">
            <a:latin typeface="Atkinson Hyperlegible"/>
          </a:endParaRPr>
        </a:p>
      </dgm:t>
    </dgm:pt>
    <dgm:pt modelId="{A2B99E1D-9765-4B3F-AF2B-B8080E525718}" type="parTrans" cxnId="{BB8E1EDA-9522-4827-B967-03B8D3349FC3}">
      <dgm:prSet/>
      <dgm:spPr/>
      <dgm:t>
        <a:bodyPr/>
        <a:lstStyle/>
        <a:p>
          <a:endParaRPr lang="es-CL"/>
        </a:p>
      </dgm:t>
    </dgm:pt>
    <dgm:pt modelId="{71A8643D-0D55-4052-86CF-4E5B662CA5B3}" type="sibTrans" cxnId="{BB8E1EDA-9522-4827-B967-03B8D3349FC3}">
      <dgm:prSet/>
      <dgm:spPr/>
      <dgm:t>
        <a:bodyPr/>
        <a:lstStyle/>
        <a:p>
          <a:endParaRPr lang="es-CL"/>
        </a:p>
      </dgm:t>
    </dgm:pt>
    <dgm:pt modelId="{AFD81890-4B07-42B1-B008-2BE78CFACAAF}">
      <dgm:prSet/>
      <dgm:spPr/>
      <dgm:t>
        <a:bodyPr/>
        <a:lstStyle/>
        <a:p>
          <a:pPr>
            <a:buFont typeface="Arial" panose="020B0604020202020204" pitchFamily="34" charset="0"/>
            <a:buChar char="•"/>
          </a:pPr>
          <a:r>
            <a:rPr lang="es-CL" b="1" noProof="0" dirty="0">
              <a:latin typeface="Atkinson Hyperlegible"/>
            </a:rPr>
            <a:t>Cable Coaxial</a:t>
          </a:r>
          <a:r>
            <a:rPr lang="es-CL" noProof="0" dirty="0">
              <a:latin typeface="Atkinson Hyperlegible"/>
            </a:rPr>
            <a:t>.</a:t>
          </a:r>
        </a:p>
      </dgm:t>
    </dgm:pt>
    <dgm:pt modelId="{D90012BD-FF8F-4CAD-B41E-697E7D3DADC8}" type="parTrans" cxnId="{C7A26EB3-4BD7-4156-8B69-39A85E07D141}">
      <dgm:prSet/>
      <dgm:spPr/>
      <dgm:t>
        <a:bodyPr/>
        <a:lstStyle/>
        <a:p>
          <a:endParaRPr lang="es-CL"/>
        </a:p>
      </dgm:t>
    </dgm:pt>
    <dgm:pt modelId="{1BEDAA48-0364-47C7-B76D-8E1A2F2506D7}" type="sibTrans" cxnId="{C7A26EB3-4BD7-4156-8B69-39A85E07D141}">
      <dgm:prSet/>
      <dgm:spPr/>
      <dgm:t>
        <a:bodyPr/>
        <a:lstStyle/>
        <a:p>
          <a:endParaRPr lang="es-CL"/>
        </a:p>
      </dgm:t>
    </dgm:pt>
    <dgm:pt modelId="{D6ECD2EC-E33A-451B-B587-3F9E0143A4F0}" type="pres">
      <dgm:prSet presAssocID="{1313581D-037F-41A3-8E96-CF3BDDD7531A}" presName="Name0" presStyleCnt="0">
        <dgm:presLayoutVars>
          <dgm:dir/>
          <dgm:animLvl val="lvl"/>
          <dgm:resizeHandles val="exact"/>
        </dgm:presLayoutVars>
      </dgm:prSet>
      <dgm:spPr/>
    </dgm:pt>
    <dgm:pt modelId="{BA86F410-EAB3-44EE-8B74-64A7CA603644}" type="pres">
      <dgm:prSet presAssocID="{48E7ACCC-B0E2-4450-B664-117B817AAE50}" presName="composite" presStyleCnt="0"/>
      <dgm:spPr/>
    </dgm:pt>
    <dgm:pt modelId="{11C6544A-012D-4E96-901C-B7C4958A4305}" type="pres">
      <dgm:prSet presAssocID="{48E7ACCC-B0E2-4450-B664-117B817AAE50}" presName="parTx" presStyleLbl="alignNode1" presStyleIdx="0" presStyleCnt="2">
        <dgm:presLayoutVars>
          <dgm:chMax val="0"/>
          <dgm:chPref val="0"/>
          <dgm:bulletEnabled val="1"/>
        </dgm:presLayoutVars>
      </dgm:prSet>
      <dgm:spPr/>
    </dgm:pt>
    <dgm:pt modelId="{1A81ED40-F12B-4C90-88FC-A0045555F88C}" type="pres">
      <dgm:prSet presAssocID="{48E7ACCC-B0E2-4450-B664-117B817AAE50}" presName="desTx" presStyleLbl="alignAccFollowNode1" presStyleIdx="0" presStyleCnt="2">
        <dgm:presLayoutVars>
          <dgm:bulletEnabled val="1"/>
        </dgm:presLayoutVars>
      </dgm:prSet>
      <dgm:spPr/>
    </dgm:pt>
    <dgm:pt modelId="{2237172D-B615-4C05-B44B-74B7B484A9A7}" type="pres">
      <dgm:prSet presAssocID="{8B29BB84-A328-4501-8848-FF4B4208CEAE}" presName="space" presStyleCnt="0"/>
      <dgm:spPr/>
    </dgm:pt>
    <dgm:pt modelId="{2C83E4C4-27CB-48F0-BEF1-24729ADD8105}" type="pres">
      <dgm:prSet presAssocID="{0433E0BB-79E7-4992-A591-6A544EF0DF6D}" presName="composite" presStyleCnt="0"/>
      <dgm:spPr/>
    </dgm:pt>
    <dgm:pt modelId="{ED535D0F-3DCE-4A00-8D95-72BF24F656ED}" type="pres">
      <dgm:prSet presAssocID="{0433E0BB-79E7-4992-A591-6A544EF0DF6D}" presName="parTx" presStyleLbl="alignNode1" presStyleIdx="1" presStyleCnt="2">
        <dgm:presLayoutVars>
          <dgm:chMax val="0"/>
          <dgm:chPref val="0"/>
          <dgm:bulletEnabled val="1"/>
        </dgm:presLayoutVars>
      </dgm:prSet>
      <dgm:spPr/>
    </dgm:pt>
    <dgm:pt modelId="{8C826543-5CD3-467E-9179-BECC30B47118}" type="pres">
      <dgm:prSet presAssocID="{0433E0BB-79E7-4992-A591-6A544EF0DF6D}" presName="desTx" presStyleLbl="alignAccFollowNode1" presStyleIdx="1" presStyleCnt="2">
        <dgm:presLayoutVars>
          <dgm:bulletEnabled val="1"/>
        </dgm:presLayoutVars>
      </dgm:prSet>
      <dgm:spPr/>
    </dgm:pt>
  </dgm:ptLst>
  <dgm:cxnLst>
    <dgm:cxn modelId="{DCFDC40A-2381-4E68-96D2-964365E9E44B}" type="presOf" srcId="{80CFE34C-2CB0-461B-8572-E023DEFAFA6B}" destId="{1A81ED40-F12B-4C90-88FC-A0045555F88C}" srcOrd="0" destOrd="1" presId="urn:microsoft.com/office/officeart/2005/8/layout/hList1"/>
    <dgm:cxn modelId="{4F050B0B-AD40-4452-AF69-40244844C3D2}" srcId="{0433E0BB-79E7-4992-A591-6A544EF0DF6D}" destId="{36BDD1A0-D1DF-452E-B7BE-CDF6B89F7B61}" srcOrd="1" destOrd="0" parTransId="{EDC5B09E-EA81-4710-AD55-76C03A2BF7B2}" sibTransId="{80EA9EC2-647A-465A-8CB3-7D91F1BA4DA0}"/>
    <dgm:cxn modelId="{A4448D11-540C-418F-8857-AFCF0984BCE9}" type="presOf" srcId="{BA8172E1-BB18-4C63-BB10-9E53F9F052CD}" destId="{1A81ED40-F12B-4C90-88FC-A0045555F88C}" srcOrd="0" destOrd="0" presId="urn:microsoft.com/office/officeart/2005/8/layout/hList1"/>
    <dgm:cxn modelId="{B00C4212-2E64-4BCF-A28D-4FDDF6FFF21C}" srcId="{0433E0BB-79E7-4992-A591-6A544EF0DF6D}" destId="{24A20D69-D51B-4D4F-8707-41E1C7D572A8}" srcOrd="0" destOrd="0" parTransId="{78FCA73D-BB33-41F9-83AB-6059596E9250}" sibTransId="{ADCEC426-FA4C-4919-8024-CB3D7D7E8972}"/>
    <dgm:cxn modelId="{E4CA643E-09A9-4AE6-B351-E44A00B64972}" type="presOf" srcId="{36BDD1A0-D1DF-452E-B7BE-CDF6B89F7B61}" destId="{8C826543-5CD3-467E-9179-BECC30B47118}" srcOrd="0" destOrd="1" presId="urn:microsoft.com/office/officeart/2005/8/layout/hList1"/>
    <dgm:cxn modelId="{B8003254-E2C7-418F-9E4C-22878FF9A61F}" srcId="{48E7ACCC-B0E2-4450-B664-117B817AAE50}" destId="{BA8172E1-BB18-4C63-BB10-9E53F9F052CD}" srcOrd="0" destOrd="0" parTransId="{FA572AB7-D86E-4F71-A1A9-E6CE96D1878F}" sibTransId="{46C4FB1C-A2C2-49BE-ABC4-F7681B06914B}"/>
    <dgm:cxn modelId="{48D4D47B-FDBD-4620-9D5D-4604CA8E7880}" type="presOf" srcId="{48E7ACCC-B0E2-4450-B664-117B817AAE50}" destId="{11C6544A-012D-4E96-901C-B7C4958A4305}" srcOrd="0" destOrd="0" presId="urn:microsoft.com/office/officeart/2005/8/layout/hList1"/>
    <dgm:cxn modelId="{EA716BAA-47D7-4158-A65A-A9F1B262E938}" srcId="{1313581D-037F-41A3-8E96-CF3BDDD7531A}" destId="{0433E0BB-79E7-4992-A591-6A544EF0DF6D}" srcOrd="1" destOrd="0" parTransId="{F66CC2D8-43DB-4DE3-8D11-00B9506CEB80}" sibTransId="{B3114CC7-3F8A-4CEF-90C2-AC8A044F059E}"/>
    <dgm:cxn modelId="{A31DB0AC-9C7C-4CC7-9995-AFCC2D566F65}" srcId="{1313581D-037F-41A3-8E96-CF3BDDD7531A}" destId="{48E7ACCC-B0E2-4450-B664-117B817AAE50}" srcOrd="0" destOrd="0" parTransId="{751566AF-E8BD-48C4-B6F6-5CF1826A9C4D}" sibTransId="{8B29BB84-A328-4501-8848-FF4B4208CEAE}"/>
    <dgm:cxn modelId="{247EC6B0-A184-4F5E-8F09-BB8899CFCD93}" type="presOf" srcId="{24A20D69-D51B-4D4F-8707-41E1C7D572A8}" destId="{8C826543-5CD3-467E-9179-BECC30B47118}" srcOrd="0" destOrd="0" presId="urn:microsoft.com/office/officeart/2005/8/layout/hList1"/>
    <dgm:cxn modelId="{C7A26EB3-4BD7-4156-8B69-39A85E07D141}" srcId="{48E7ACCC-B0E2-4450-B664-117B817AAE50}" destId="{AFD81890-4B07-42B1-B008-2BE78CFACAAF}" srcOrd="3" destOrd="0" parTransId="{D90012BD-FF8F-4CAD-B41E-697E7D3DADC8}" sibTransId="{1BEDAA48-0364-47C7-B76D-8E1A2F2506D7}"/>
    <dgm:cxn modelId="{CE2580BE-ED73-433B-8585-84E2C2B4C178}" type="presOf" srcId="{1313581D-037F-41A3-8E96-CF3BDDD7531A}" destId="{D6ECD2EC-E33A-451B-B587-3F9E0143A4F0}" srcOrd="0" destOrd="0" presId="urn:microsoft.com/office/officeart/2005/8/layout/hList1"/>
    <dgm:cxn modelId="{CC5424C5-0344-4421-8E86-DBCA23356F32}" type="presOf" srcId="{AFD81890-4B07-42B1-B008-2BE78CFACAAF}" destId="{1A81ED40-F12B-4C90-88FC-A0045555F88C}" srcOrd="0" destOrd="3" presId="urn:microsoft.com/office/officeart/2005/8/layout/hList1"/>
    <dgm:cxn modelId="{0F1790CE-9B9E-4C39-B040-2F17130CC544}" type="presOf" srcId="{CE56F73E-85BB-400D-8106-81CA005B6D06}" destId="{1A81ED40-F12B-4C90-88FC-A0045555F88C}" srcOrd="0" destOrd="2" presId="urn:microsoft.com/office/officeart/2005/8/layout/hList1"/>
    <dgm:cxn modelId="{BB8E1EDA-9522-4827-B967-03B8D3349FC3}" srcId="{48E7ACCC-B0E2-4450-B664-117B817AAE50}" destId="{CE56F73E-85BB-400D-8106-81CA005B6D06}" srcOrd="2" destOrd="0" parTransId="{A2B99E1D-9765-4B3F-AF2B-B8080E525718}" sibTransId="{71A8643D-0D55-4052-86CF-4E5B662CA5B3}"/>
    <dgm:cxn modelId="{0BFF3DE6-D21E-4879-928C-DC164FFD7BE1}" srcId="{48E7ACCC-B0E2-4450-B664-117B817AAE50}" destId="{80CFE34C-2CB0-461B-8572-E023DEFAFA6B}" srcOrd="1" destOrd="0" parTransId="{9B89AE2B-5F69-4126-B75B-0341B578B01E}" sibTransId="{59348F77-F481-4150-91CC-E58AD338D15C}"/>
    <dgm:cxn modelId="{0A1071F0-66DD-4788-94F3-F31189D26951}" type="presOf" srcId="{0433E0BB-79E7-4992-A591-6A544EF0DF6D}" destId="{ED535D0F-3DCE-4A00-8D95-72BF24F656ED}" srcOrd="0" destOrd="0" presId="urn:microsoft.com/office/officeart/2005/8/layout/hList1"/>
    <dgm:cxn modelId="{3A21EDD5-4CE8-44CB-9110-7DCD3539BDF0}" type="presParOf" srcId="{D6ECD2EC-E33A-451B-B587-3F9E0143A4F0}" destId="{BA86F410-EAB3-44EE-8B74-64A7CA603644}" srcOrd="0" destOrd="0" presId="urn:microsoft.com/office/officeart/2005/8/layout/hList1"/>
    <dgm:cxn modelId="{049DBE9F-ABC3-4E07-8D0E-E4BEA2AD407A}" type="presParOf" srcId="{BA86F410-EAB3-44EE-8B74-64A7CA603644}" destId="{11C6544A-012D-4E96-901C-B7C4958A4305}" srcOrd="0" destOrd="0" presId="urn:microsoft.com/office/officeart/2005/8/layout/hList1"/>
    <dgm:cxn modelId="{C1BB5185-6DD9-4C78-9014-E35E3F7F47A3}" type="presParOf" srcId="{BA86F410-EAB3-44EE-8B74-64A7CA603644}" destId="{1A81ED40-F12B-4C90-88FC-A0045555F88C}" srcOrd="1" destOrd="0" presId="urn:microsoft.com/office/officeart/2005/8/layout/hList1"/>
    <dgm:cxn modelId="{3D6829A2-7A8E-4BFA-9A87-18D5E9A15589}" type="presParOf" srcId="{D6ECD2EC-E33A-451B-B587-3F9E0143A4F0}" destId="{2237172D-B615-4C05-B44B-74B7B484A9A7}" srcOrd="1" destOrd="0" presId="urn:microsoft.com/office/officeart/2005/8/layout/hList1"/>
    <dgm:cxn modelId="{402367B6-6543-4381-BD1C-C5711A93CF3A}" type="presParOf" srcId="{D6ECD2EC-E33A-451B-B587-3F9E0143A4F0}" destId="{2C83E4C4-27CB-48F0-BEF1-24729ADD8105}" srcOrd="2" destOrd="0" presId="urn:microsoft.com/office/officeart/2005/8/layout/hList1"/>
    <dgm:cxn modelId="{F20C971C-611E-441B-BAAA-65F08C1EE377}" type="presParOf" srcId="{2C83E4C4-27CB-48F0-BEF1-24729ADD8105}" destId="{ED535D0F-3DCE-4A00-8D95-72BF24F656ED}" srcOrd="0" destOrd="0" presId="urn:microsoft.com/office/officeart/2005/8/layout/hList1"/>
    <dgm:cxn modelId="{B4ECE694-85E5-4EB6-9748-6063A55FA581}" type="presParOf" srcId="{2C83E4C4-27CB-48F0-BEF1-24729ADD8105}" destId="{8C826543-5CD3-467E-9179-BECC30B47118}"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97F1F6-4C3A-4F4A-9ED0-E60A923204BD}">
      <dsp:nvSpPr>
        <dsp:cNvPr id="0" name=""/>
        <dsp:cNvSpPr/>
      </dsp:nvSpPr>
      <dsp:spPr>
        <a:xfrm>
          <a:off x="2132" y="0"/>
          <a:ext cx="3318130" cy="5250450"/>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2280" tIns="462280" rIns="462280" bIns="462280" numCol="1" spcCol="1270" anchor="ctr" anchorCtr="0">
          <a:noAutofit/>
        </a:bodyPr>
        <a:lstStyle/>
        <a:p>
          <a:pPr marL="0" lvl="0" indent="0" algn="ctr" defTabSz="2889250">
            <a:lnSpc>
              <a:spcPct val="90000"/>
            </a:lnSpc>
            <a:spcBef>
              <a:spcPct val="0"/>
            </a:spcBef>
            <a:spcAft>
              <a:spcPct val="35000"/>
            </a:spcAft>
            <a:buNone/>
          </a:pPr>
          <a:r>
            <a:rPr lang="es-CL" sz="6500" kern="1200" noProof="0" dirty="0"/>
            <a:t>TX</a:t>
          </a:r>
        </a:p>
      </dsp:txBody>
      <dsp:txXfrm>
        <a:off x="2132" y="2100180"/>
        <a:ext cx="3318130" cy="2100180"/>
      </dsp:txXfrm>
    </dsp:sp>
    <dsp:sp modelId="{16D249EB-DFDA-4D28-9437-788B38C22580}">
      <dsp:nvSpPr>
        <dsp:cNvPr id="0" name=""/>
        <dsp:cNvSpPr/>
      </dsp:nvSpPr>
      <dsp:spPr>
        <a:xfrm>
          <a:off x="786997" y="315026"/>
          <a:ext cx="1748399" cy="1748399"/>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AAD6399-A654-4D6C-9CB1-51CA16C7C120}">
      <dsp:nvSpPr>
        <dsp:cNvPr id="0" name=""/>
        <dsp:cNvSpPr/>
      </dsp:nvSpPr>
      <dsp:spPr>
        <a:xfrm>
          <a:off x="3419806" y="0"/>
          <a:ext cx="3318130" cy="5250450"/>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2280" tIns="462280" rIns="462280" bIns="462280" numCol="1" spcCol="1270" anchor="ctr" anchorCtr="0">
          <a:noAutofit/>
        </a:bodyPr>
        <a:lstStyle/>
        <a:p>
          <a:pPr marL="0" lvl="0" indent="0" algn="ctr" defTabSz="2889250">
            <a:lnSpc>
              <a:spcPct val="90000"/>
            </a:lnSpc>
            <a:spcBef>
              <a:spcPct val="0"/>
            </a:spcBef>
            <a:spcAft>
              <a:spcPct val="35000"/>
            </a:spcAft>
            <a:buNone/>
          </a:pPr>
          <a:r>
            <a:rPr lang="es-CL" sz="6500" kern="1200" noProof="0" dirty="0"/>
            <a:t>MEDIO</a:t>
          </a:r>
        </a:p>
      </dsp:txBody>
      <dsp:txXfrm>
        <a:off x="3419806" y="2100180"/>
        <a:ext cx="3318130" cy="2100180"/>
      </dsp:txXfrm>
    </dsp:sp>
    <dsp:sp modelId="{6C379E41-EF26-4548-A5C4-58F66A88429F}">
      <dsp:nvSpPr>
        <dsp:cNvPr id="0" name=""/>
        <dsp:cNvSpPr/>
      </dsp:nvSpPr>
      <dsp:spPr>
        <a:xfrm>
          <a:off x="4204672" y="315026"/>
          <a:ext cx="1748399" cy="1748399"/>
        </a:xfrm>
        <a:prstGeom prst="ellipse">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1501CEA-25DF-4B27-BC51-79DC817CC3A9}">
      <dsp:nvSpPr>
        <dsp:cNvPr id="0" name=""/>
        <dsp:cNvSpPr/>
      </dsp:nvSpPr>
      <dsp:spPr>
        <a:xfrm>
          <a:off x="6837481" y="0"/>
          <a:ext cx="3318130" cy="5250450"/>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2280" tIns="462280" rIns="462280" bIns="462280" numCol="1" spcCol="1270" anchor="ctr" anchorCtr="0">
          <a:noAutofit/>
        </a:bodyPr>
        <a:lstStyle/>
        <a:p>
          <a:pPr marL="0" lvl="0" indent="0" algn="ctr" defTabSz="2889250">
            <a:lnSpc>
              <a:spcPct val="90000"/>
            </a:lnSpc>
            <a:spcBef>
              <a:spcPct val="0"/>
            </a:spcBef>
            <a:spcAft>
              <a:spcPct val="35000"/>
            </a:spcAft>
            <a:buNone/>
          </a:pPr>
          <a:r>
            <a:rPr lang="es-CL" sz="6500" kern="1200" noProof="0" dirty="0" err="1"/>
            <a:t>RX</a:t>
          </a:r>
          <a:endParaRPr lang="es-CL" sz="6500" kern="1200" noProof="0" dirty="0"/>
        </a:p>
      </dsp:txBody>
      <dsp:txXfrm>
        <a:off x="6837481" y="2100180"/>
        <a:ext cx="3318130" cy="2100180"/>
      </dsp:txXfrm>
    </dsp:sp>
    <dsp:sp modelId="{E478C333-278A-4804-A954-97FCD461D7D2}">
      <dsp:nvSpPr>
        <dsp:cNvPr id="0" name=""/>
        <dsp:cNvSpPr/>
      </dsp:nvSpPr>
      <dsp:spPr>
        <a:xfrm>
          <a:off x="7622346" y="315026"/>
          <a:ext cx="1748399" cy="1748399"/>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C4F68F6-D35C-413F-B602-F999A4623BE7}">
      <dsp:nvSpPr>
        <dsp:cNvPr id="0" name=""/>
        <dsp:cNvSpPr/>
      </dsp:nvSpPr>
      <dsp:spPr>
        <a:xfrm>
          <a:off x="406309" y="4200360"/>
          <a:ext cx="9345124" cy="787567"/>
        </a:xfrm>
        <a:prstGeom prst="leftRightArrow">
          <a:avLst/>
        </a:prstGeom>
        <a:solidFill>
          <a:schemeClr val="accent2">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C6544A-012D-4E96-901C-B7C4958A4305}">
      <dsp:nvSpPr>
        <dsp:cNvPr id="0" name=""/>
        <dsp:cNvSpPr/>
      </dsp:nvSpPr>
      <dsp:spPr>
        <a:xfrm>
          <a:off x="50" y="102393"/>
          <a:ext cx="4848901" cy="112320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7368" tIns="158496" rIns="277368" bIns="158496" numCol="1" spcCol="1270" anchor="ctr" anchorCtr="0">
          <a:noAutofit/>
        </a:bodyPr>
        <a:lstStyle/>
        <a:p>
          <a:pPr marL="0" lvl="0" indent="0" algn="ctr" defTabSz="1733550">
            <a:lnSpc>
              <a:spcPct val="90000"/>
            </a:lnSpc>
            <a:spcBef>
              <a:spcPct val="0"/>
            </a:spcBef>
            <a:spcAft>
              <a:spcPct val="35000"/>
            </a:spcAft>
            <a:buNone/>
          </a:pPr>
          <a:r>
            <a:rPr lang="es-CL" sz="3900" kern="1200" noProof="0" dirty="0">
              <a:latin typeface="Atkinson Hyperlegible"/>
            </a:rPr>
            <a:t>GUIADOS</a:t>
          </a:r>
        </a:p>
      </dsp:txBody>
      <dsp:txXfrm>
        <a:off x="50" y="102393"/>
        <a:ext cx="4848901" cy="1123200"/>
      </dsp:txXfrm>
    </dsp:sp>
    <dsp:sp modelId="{1A81ED40-F12B-4C90-88FC-A0045555F88C}">
      <dsp:nvSpPr>
        <dsp:cNvPr id="0" name=""/>
        <dsp:cNvSpPr/>
      </dsp:nvSpPr>
      <dsp:spPr>
        <a:xfrm>
          <a:off x="50" y="1225593"/>
          <a:ext cx="4848901" cy="4603365"/>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8026" tIns="208026" rIns="277368" bIns="312039" numCol="1" spcCol="1270" anchor="t" anchorCtr="0">
          <a:noAutofit/>
        </a:bodyPr>
        <a:lstStyle/>
        <a:p>
          <a:pPr marL="285750" lvl="1" indent="-285750" algn="l" defTabSz="1733550">
            <a:lnSpc>
              <a:spcPct val="90000"/>
            </a:lnSpc>
            <a:spcBef>
              <a:spcPct val="0"/>
            </a:spcBef>
            <a:spcAft>
              <a:spcPct val="15000"/>
            </a:spcAft>
            <a:buFont typeface="Arial" panose="020B0604020202020204" pitchFamily="34" charset="0"/>
            <a:buChar char="•"/>
          </a:pPr>
          <a:r>
            <a:rPr lang="es-CL" sz="3900" kern="1200" noProof="0" dirty="0">
              <a:latin typeface="Atkinson Hyperlegible"/>
            </a:rPr>
            <a:t>La señal viaja por un medio físico(cable o fibra).</a:t>
          </a:r>
        </a:p>
        <a:p>
          <a:pPr marL="285750" lvl="1" indent="-285750" algn="l" defTabSz="1733550">
            <a:lnSpc>
              <a:spcPct val="90000"/>
            </a:lnSpc>
            <a:spcBef>
              <a:spcPct val="0"/>
            </a:spcBef>
            <a:spcAft>
              <a:spcPct val="15000"/>
            </a:spcAft>
            <a:buFont typeface="Arial" panose="020B0604020202020204" pitchFamily="34" charset="0"/>
            <a:buChar char="•"/>
          </a:pPr>
          <a:r>
            <a:rPr lang="es-CL" sz="3900" b="1" kern="1200" noProof="0" dirty="0">
              <a:latin typeface="Atkinson Hyperlegible"/>
            </a:rPr>
            <a:t>Pares de cobre</a:t>
          </a:r>
          <a:r>
            <a:rPr lang="es-CL" sz="3900" kern="1200" noProof="0" dirty="0">
              <a:latin typeface="Atkinson Hyperlegible"/>
            </a:rPr>
            <a:t> (par trenzado).</a:t>
          </a:r>
        </a:p>
        <a:p>
          <a:pPr marL="285750" lvl="1" indent="-285750" algn="l" defTabSz="1733550">
            <a:lnSpc>
              <a:spcPct val="90000"/>
            </a:lnSpc>
            <a:spcBef>
              <a:spcPct val="0"/>
            </a:spcBef>
            <a:spcAft>
              <a:spcPct val="15000"/>
            </a:spcAft>
            <a:buFont typeface="Arial" panose="020B0604020202020204" pitchFamily="34" charset="0"/>
            <a:buChar char="•"/>
          </a:pPr>
          <a:r>
            <a:rPr lang="es-CL" sz="3900" b="1" kern="1200" noProof="0" dirty="0">
              <a:latin typeface="Atkinson Hyperlegible"/>
            </a:rPr>
            <a:t>Fibra óptica.</a:t>
          </a:r>
          <a:endParaRPr lang="es-CL" sz="3900" kern="1200" noProof="0" dirty="0">
            <a:latin typeface="Atkinson Hyperlegible"/>
          </a:endParaRPr>
        </a:p>
        <a:p>
          <a:pPr marL="285750" lvl="1" indent="-285750" algn="l" defTabSz="1733550">
            <a:lnSpc>
              <a:spcPct val="90000"/>
            </a:lnSpc>
            <a:spcBef>
              <a:spcPct val="0"/>
            </a:spcBef>
            <a:spcAft>
              <a:spcPct val="15000"/>
            </a:spcAft>
            <a:buFont typeface="Arial" panose="020B0604020202020204" pitchFamily="34" charset="0"/>
            <a:buChar char="•"/>
          </a:pPr>
          <a:r>
            <a:rPr lang="es-CL" sz="3900" b="1" kern="1200" noProof="0" dirty="0">
              <a:latin typeface="Atkinson Hyperlegible"/>
            </a:rPr>
            <a:t>Cable Coaxial</a:t>
          </a:r>
          <a:r>
            <a:rPr lang="es-CL" sz="3900" kern="1200" noProof="0" dirty="0">
              <a:latin typeface="Atkinson Hyperlegible"/>
            </a:rPr>
            <a:t>.</a:t>
          </a:r>
        </a:p>
      </dsp:txBody>
      <dsp:txXfrm>
        <a:off x="50" y="1225593"/>
        <a:ext cx="4848901" cy="4603365"/>
      </dsp:txXfrm>
    </dsp:sp>
    <dsp:sp modelId="{ED535D0F-3DCE-4A00-8D95-72BF24F656ED}">
      <dsp:nvSpPr>
        <dsp:cNvPr id="0" name=""/>
        <dsp:cNvSpPr/>
      </dsp:nvSpPr>
      <dsp:spPr>
        <a:xfrm>
          <a:off x="5527798" y="102393"/>
          <a:ext cx="4848901" cy="1123200"/>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7368" tIns="158496" rIns="277368" bIns="158496" numCol="1" spcCol="1270" anchor="ctr" anchorCtr="0">
          <a:noAutofit/>
        </a:bodyPr>
        <a:lstStyle/>
        <a:p>
          <a:pPr marL="0" lvl="0" indent="0" algn="ctr" defTabSz="1733550">
            <a:lnSpc>
              <a:spcPct val="90000"/>
            </a:lnSpc>
            <a:spcBef>
              <a:spcPct val="0"/>
            </a:spcBef>
            <a:spcAft>
              <a:spcPct val="35000"/>
            </a:spcAft>
            <a:buNone/>
          </a:pPr>
          <a:r>
            <a:rPr lang="es-CL" sz="3900" kern="1200" noProof="0" dirty="0">
              <a:latin typeface="Atkinson Hyperlegible"/>
            </a:rPr>
            <a:t>NO GUIADOS</a:t>
          </a:r>
        </a:p>
      </dsp:txBody>
      <dsp:txXfrm>
        <a:off x="5527798" y="102393"/>
        <a:ext cx="4848901" cy="1123200"/>
      </dsp:txXfrm>
    </dsp:sp>
    <dsp:sp modelId="{8C826543-5CD3-467E-9179-BECC30B47118}">
      <dsp:nvSpPr>
        <dsp:cNvPr id="0" name=""/>
        <dsp:cNvSpPr/>
      </dsp:nvSpPr>
      <dsp:spPr>
        <a:xfrm>
          <a:off x="5527798" y="1225593"/>
          <a:ext cx="4848901" cy="4603365"/>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8026" tIns="208026" rIns="277368" bIns="312039" numCol="1" spcCol="1270" anchor="t" anchorCtr="0">
          <a:noAutofit/>
        </a:bodyPr>
        <a:lstStyle/>
        <a:p>
          <a:pPr marL="285750" lvl="1" indent="-285750" algn="l" defTabSz="1733550">
            <a:lnSpc>
              <a:spcPct val="90000"/>
            </a:lnSpc>
            <a:spcBef>
              <a:spcPct val="0"/>
            </a:spcBef>
            <a:spcAft>
              <a:spcPct val="15000"/>
            </a:spcAft>
            <a:buFont typeface="Arial" panose="020B0604020202020204" pitchFamily="34" charset="0"/>
            <a:buChar char="•"/>
          </a:pPr>
          <a:r>
            <a:rPr lang="es-CL" sz="3900" kern="1200" noProof="0" dirty="0">
              <a:latin typeface="Atkinson Hyperlegible"/>
            </a:rPr>
            <a:t>La señal se propaga por el aire/espacio (ondas electromagnéticas).</a:t>
          </a:r>
        </a:p>
        <a:p>
          <a:pPr marL="285750" lvl="1" indent="-285750" algn="l" defTabSz="1733550">
            <a:lnSpc>
              <a:spcPct val="90000"/>
            </a:lnSpc>
            <a:spcBef>
              <a:spcPct val="0"/>
            </a:spcBef>
            <a:spcAft>
              <a:spcPct val="15000"/>
            </a:spcAft>
            <a:buFont typeface="Arial" panose="020B0604020202020204" pitchFamily="34" charset="0"/>
            <a:buChar char="•"/>
          </a:pPr>
          <a:r>
            <a:rPr lang="es-CL" sz="3900" b="1" kern="1200" noProof="0" dirty="0">
              <a:latin typeface="Atkinson Hyperlegible"/>
            </a:rPr>
            <a:t>Radiofrecuencia (RF).</a:t>
          </a:r>
        </a:p>
      </dsp:txBody>
      <dsp:txXfrm>
        <a:off x="5527798" y="1225593"/>
        <a:ext cx="4848901" cy="4603365"/>
      </dsp:txXfrm>
    </dsp:sp>
  </dsp:spTree>
</dsp:drawing>
</file>

<file path=ppt/diagrams/layout1.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4028636" cy="351308"/>
          </a:xfrm>
          <a:prstGeom prst="rect">
            <a:avLst/>
          </a:prstGeom>
        </p:spPr>
        <p:txBody>
          <a:bodyPr vert="horz" lIns="47092" tIns="23546" rIns="47092" bIns="23546" rtlCol="0"/>
          <a:lstStyle>
            <a:lvl1pPr algn="l">
              <a:defRPr sz="600"/>
            </a:lvl1pPr>
          </a:lstStyle>
          <a:p>
            <a:endParaRPr lang="es-CL"/>
          </a:p>
        </p:txBody>
      </p:sp>
      <p:sp>
        <p:nvSpPr>
          <p:cNvPr id="3" name="Marcador de fecha 2"/>
          <p:cNvSpPr>
            <a:spLocks noGrp="1"/>
          </p:cNvSpPr>
          <p:nvPr>
            <p:ph type="dt" idx="1"/>
          </p:nvPr>
        </p:nvSpPr>
        <p:spPr>
          <a:xfrm>
            <a:off x="5265562" y="0"/>
            <a:ext cx="4028636" cy="351308"/>
          </a:xfrm>
          <a:prstGeom prst="rect">
            <a:avLst/>
          </a:prstGeom>
        </p:spPr>
        <p:txBody>
          <a:bodyPr vert="horz" lIns="47092" tIns="23546" rIns="47092" bIns="23546" rtlCol="0"/>
          <a:lstStyle>
            <a:lvl1pPr algn="r">
              <a:defRPr sz="600"/>
            </a:lvl1pPr>
          </a:lstStyle>
          <a:p>
            <a:fld id="{BA6E888F-4D11-6642-A67A-175E177747A6}" type="datetimeFigureOut">
              <a:rPr lang="es-CL" smtClean="0"/>
              <a:t>16-03-2026</a:t>
            </a:fld>
            <a:endParaRPr lang="es-CL"/>
          </a:p>
        </p:txBody>
      </p:sp>
      <p:sp>
        <p:nvSpPr>
          <p:cNvPr id="4" name="Marcador de imagen de diapositiva 3"/>
          <p:cNvSpPr>
            <a:spLocks noGrp="1" noRot="1" noChangeAspect="1"/>
          </p:cNvSpPr>
          <p:nvPr>
            <p:ph type="sldImg" idx="2"/>
          </p:nvPr>
        </p:nvSpPr>
        <p:spPr>
          <a:xfrm>
            <a:off x="2546350" y="876300"/>
            <a:ext cx="4203700" cy="2365375"/>
          </a:xfrm>
          <a:prstGeom prst="rect">
            <a:avLst/>
          </a:prstGeom>
          <a:noFill/>
          <a:ln w="12700">
            <a:solidFill>
              <a:prstClr val="black"/>
            </a:solidFill>
          </a:ln>
        </p:spPr>
        <p:txBody>
          <a:bodyPr vert="horz" lIns="47092" tIns="23546" rIns="47092" bIns="23546" rtlCol="0" anchor="ctr"/>
          <a:lstStyle/>
          <a:p>
            <a:endParaRPr lang="es-CL"/>
          </a:p>
        </p:txBody>
      </p:sp>
      <p:sp>
        <p:nvSpPr>
          <p:cNvPr id="5" name="Marcador de notas 4"/>
          <p:cNvSpPr>
            <a:spLocks noGrp="1"/>
          </p:cNvSpPr>
          <p:nvPr>
            <p:ph type="body" sz="quarter" idx="3"/>
          </p:nvPr>
        </p:nvSpPr>
        <p:spPr>
          <a:xfrm>
            <a:off x="929348" y="3373337"/>
            <a:ext cx="7437707" cy="2761255"/>
          </a:xfrm>
          <a:prstGeom prst="rect">
            <a:avLst/>
          </a:prstGeom>
        </p:spPr>
        <p:txBody>
          <a:bodyPr vert="horz" lIns="47092" tIns="23546" rIns="47092" bIns="23546"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6659094"/>
            <a:ext cx="4028636" cy="351307"/>
          </a:xfrm>
          <a:prstGeom prst="rect">
            <a:avLst/>
          </a:prstGeom>
        </p:spPr>
        <p:txBody>
          <a:bodyPr vert="horz" lIns="47092" tIns="23546" rIns="47092" bIns="23546" rtlCol="0" anchor="b"/>
          <a:lstStyle>
            <a:lvl1pPr algn="l">
              <a:defRPr sz="600"/>
            </a:lvl1pPr>
          </a:lstStyle>
          <a:p>
            <a:endParaRPr lang="es-CL"/>
          </a:p>
        </p:txBody>
      </p:sp>
      <p:sp>
        <p:nvSpPr>
          <p:cNvPr id="7" name="Marcador de número de diapositiva 6"/>
          <p:cNvSpPr>
            <a:spLocks noGrp="1"/>
          </p:cNvSpPr>
          <p:nvPr>
            <p:ph type="sldNum" sz="quarter" idx="5"/>
          </p:nvPr>
        </p:nvSpPr>
        <p:spPr>
          <a:xfrm>
            <a:off x="5265562" y="6659094"/>
            <a:ext cx="4028636" cy="351307"/>
          </a:xfrm>
          <a:prstGeom prst="rect">
            <a:avLst/>
          </a:prstGeom>
        </p:spPr>
        <p:txBody>
          <a:bodyPr vert="horz" lIns="47092" tIns="23546" rIns="47092" bIns="23546" rtlCol="0" anchor="b"/>
          <a:lstStyle>
            <a:lvl1pPr algn="r">
              <a:defRPr sz="600"/>
            </a:lvl1pPr>
          </a:lstStyle>
          <a:p>
            <a:fld id="{235CC6FD-75C5-034E-BC56-691A10C41604}" type="slidenum">
              <a:rPr lang="es-CL" smtClean="0"/>
              <a:t>‹Nº›</a:t>
            </a:fld>
            <a:endParaRPr lang="es-CL"/>
          </a:p>
        </p:txBody>
      </p:sp>
    </p:spTree>
    <p:extLst>
      <p:ext uri="{BB962C8B-B14F-4D97-AF65-F5344CB8AC3E}">
        <p14:creationId xmlns:p14="http://schemas.microsoft.com/office/powerpoint/2010/main" val="1910829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235CC6FD-75C5-034E-BC56-691A10C41604}" type="slidenum">
              <a:rPr lang="es-CL" smtClean="0"/>
              <a:t>2</a:t>
            </a:fld>
            <a:endParaRPr lang="es-CL"/>
          </a:p>
        </p:txBody>
      </p:sp>
    </p:spTree>
    <p:extLst>
      <p:ext uri="{BB962C8B-B14F-4D97-AF65-F5344CB8AC3E}">
        <p14:creationId xmlns:p14="http://schemas.microsoft.com/office/powerpoint/2010/main" val="9956529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“Este es el modelo mínimo de cualquier enlace RF. las variables clave: frecuencia y longitud de onda. No calcularemos aún; lo importante es entender que al variar la frecuencia cambia el comportamiento del enlace y la lógica de por qué existen bandas reguladas.”</a:t>
            </a:r>
            <a:endParaRPr lang="es-CL" dirty="0"/>
          </a:p>
        </p:txBody>
      </p:sp>
      <p:sp>
        <p:nvSpPr>
          <p:cNvPr id="4" name="Marcador de número de diapositiva 3"/>
          <p:cNvSpPr>
            <a:spLocks noGrp="1"/>
          </p:cNvSpPr>
          <p:nvPr>
            <p:ph type="sldNum" sz="quarter" idx="5"/>
          </p:nvPr>
        </p:nvSpPr>
        <p:spPr/>
        <p:txBody>
          <a:bodyPr/>
          <a:lstStyle/>
          <a:p>
            <a:fld id="{235CC6FD-75C5-034E-BC56-691A10C41604}" type="slidenum">
              <a:rPr lang="es-CL" smtClean="0"/>
              <a:t>9</a:t>
            </a:fld>
            <a:endParaRPr lang="es-CL"/>
          </a:p>
        </p:txBody>
      </p:sp>
    </p:spTree>
    <p:extLst>
      <p:ext uri="{BB962C8B-B14F-4D97-AF65-F5344CB8AC3E}">
        <p14:creationId xmlns:p14="http://schemas.microsoft.com/office/powerpoint/2010/main" val="15515282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50244-B1A1-E119-EBC0-55254165088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8CA0D3A-ED15-8598-F587-7C7EBD47F65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DDB152E-6F06-1087-5324-84D9E59593F8}"/>
              </a:ext>
            </a:extLst>
          </p:cNvPr>
          <p:cNvSpPr>
            <a:spLocks noGrp="1"/>
          </p:cNvSpPr>
          <p:nvPr>
            <p:ph type="body" idx="1"/>
          </p:nvPr>
        </p:nvSpPr>
        <p:spPr/>
        <p:txBody>
          <a:bodyPr/>
          <a:lstStyle/>
          <a:p>
            <a:r>
              <a:rPr lang="es-ES" dirty="0"/>
              <a:t>“Este es el modelo mínimo de cualquier enlace RF. las variables clave: frecuencia y longitud de onda. No calcularemos aún; lo importante es entender que al variar la frecuencia cambia el comportamiento del enlace y la lógica de por qué existen bandas reguladas.”</a:t>
            </a:r>
            <a:endParaRPr lang="es-CL" dirty="0"/>
          </a:p>
        </p:txBody>
      </p:sp>
      <p:sp>
        <p:nvSpPr>
          <p:cNvPr id="4" name="Marcador de número de diapositiva 3">
            <a:extLst>
              <a:ext uri="{FF2B5EF4-FFF2-40B4-BE49-F238E27FC236}">
                <a16:creationId xmlns:a16="http://schemas.microsoft.com/office/drawing/2014/main" id="{AD37BF6D-F811-A511-2BB7-4A1408150166}"/>
              </a:ext>
            </a:extLst>
          </p:cNvPr>
          <p:cNvSpPr>
            <a:spLocks noGrp="1"/>
          </p:cNvSpPr>
          <p:nvPr>
            <p:ph type="sldNum" sz="quarter" idx="5"/>
          </p:nvPr>
        </p:nvSpPr>
        <p:spPr/>
        <p:txBody>
          <a:bodyPr/>
          <a:lstStyle/>
          <a:p>
            <a:fld id="{235CC6FD-75C5-034E-BC56-691A10C41604}" type="slidenum">
              <a:rPr lang="es-CL" smtClean="0"/>
              <a:t>10</a:t>
            </a:fld>
            <a:endParaRPr lang="es-CL"/>
          </a:p>
        </p:txBody>
      </p:sp>
    </p:spTree>
    <p:extLst>
      <p:ext uri="{BB962C8B-B14F-4D97-AF65-F5344CB8AC3E}">
        <p14:creationId xmlns:p14="http://schemas.microsoft.com/office/powerpoint/2010/main" val="10609741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9C4FA-280E-E6E9-676F-64538294205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4FA0FFC-5B4A-D611-8EF3-7AAD00C8617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EC31030-1A09-8F82-EBA9-37FF627B93AF}"/>
              </a:ext>
            </a:extLst>
          </p:cNvPr>
          <p:cNvSpPr>
            <a:spLocks noGrp="1"/>
          </p:cNvSpPr>
          <p:nvPr>
            <p:ph type="body" idx="1"/>
          </p:nvPr>
        </p:nvSpPr>
        <p:spPr/>
        <p:txBody>
          <a:bodyPr/>
          <a:lstStyle/>
          <a:p>
            <a:r>
              <a:rPr lang="es-ES" dirty="0"/>
              <a:t>“Este es el modelo mínimo de cualquier enlace RF. las variables clave: frecuencia y longitud de onda. No calcularemos aún; lo importante es entender que al variar la frecuencia cambia el comportamiento del enlace y la lógica de por qué existen bandas reguladas.”</a:t>
            </a:r>
            <a:endParaRPr lang="es-CL" dirty="0"/>
          </a:p>
        </p:txBody>
      </p:sp>
      <p:sp>
        <p:nvSpPr>
          <p:cNvPr id="4" name="Marcador de número de diapositiva 3">
            <a:extLst>
              <a:ext uri="{FF2B5EF4-FFF2-40B4-BE49-F238E27FC236}">
                <a16:creationId xmlns:a16="http://schemas.microsoft.com/office/drawing/2014/main" id="{CD5020C4-917D-91A3-C367-AF565A53D483}"/>
              </a:ext>
            </a:extLst>
          </p:cNvPr>
          <p:cNvSpPr>
            <a:spLocks noGrp="1"/>
          </p:cNvSpPr>
          <p:nvPr>
            <p:ph type="sldNum" sz="quarter" idx="5"/>
          </p:nvPr>
        </p:nvSpPr>
        <p:spPr/>
        <p:txBody>
          <a:bodyPr/>
          <a:lstStyle/>
          <a:p>
            <a:fld id="{235CC6FD-75C5-034E-BC56-691A10C41604}" type="slidenum">
              <a:rPr lang="es-CL" smtClean="0"/>
              <a:t>11</a:t>
            </a:fld>
            <a:endParaRPr lang="es-CL"/>
          </a:p>
        </p:txBody>
      </p:sp>
    </p:spTree>
    <p:extLst>
      <p:ext uri="{BB962C8B-B14F-4D97-AF65-F5344CB8AC3E}">
        <p14:creationId xmlns:p14="http://schemas.microsoft.com/office/powerpoint/2010/main" val="31967806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0D0A9-0A02-8F39-13DD-5F896667577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010570C-D2FF-2372-ED8E-3B5FD37D796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CB9961C-A750-DF90-B530-A4266FBB9E96}"/>
              </a:ext>
            </a:extLst>
          </p:cNvPr>
          <p:cNvSpPr>
            <a:spLocks noGrp="1"/>
          </p:cNvSpPr>
          <p:nvPr>
            <p:ph type="body" idx="1"/>
          </p:nvPr>
        </p:nvSpPr>
        <p:spPr/>
        <p:txBody>
          <a:bodyPr/>
          <a:lstStyle/>
          <a:p>
            <a:r>
              <a:rPr lang="es-ES" dirty="0"/>
              <a:t>“Este es el modelo mínimo de cualquier enlace RF. las variables clave: frecuencia y longitud de onda. No calcularemos aún; lo importante es entender que al variar la frecuencia cambia el comportamiento del enlace y la lógica de por qué existen bandas reguladas.”</a:t>
            </a:r>
            <a:endParaRPr lang="es-CL" dirty="0"/>
          </a:p>
        </p:txBody>
      </p:sp>
      <p:sp>
        <p:nvSpPr>
          <p:cNvPr id="4" name="Marcador de número de diapositiva 3">
            <a:extLst>
              <a:ext uri="{FF2B5EF4-FFF2-40B4-BE49-F238E27FC236}">
                <a16:creationId xmlns:a16="http://schemas.microsoft.com/office/drawing/2014/main" id="{8A5C24EF-788F-A279-50D7-1C9FE03837BB}"/>
              </a:ext>
            </a:extLst>
          </p:cNvPr>
          <p:cNvSpPr>
            <a:spLocks noGrp="1"/>
          </p:cNvSpPr>
          <p:nvPr>
            <p:ph type="sldNum" sz="quarter" idx="5"/>
          </p:nvPr>
        </p:nvSpPr>
        <p:spPr/>
        <p:txBody>
          <a:bodyPr/>
          <a:lstStyle/>
          <a:p>
            <a:fld id="{235CC6FD-75C5-034E-BC56-691A10C41604}" type="slidenum">
              <a:rPr lang="es-CL" smtClean="0"/>
              <a:t>12</a:t>
            </a:fld>
            <a:endParaRPr lang="es-CL"/>
          </a:p>
        </p:txBody>
      </p:sp>
    </p:spTree>
    <p:extLst>
      <p:ext uri="{BB962C8B-B14F-4D97-AF65-F5344CB8AC3E}">
        <p14:creationId xmlns:p14="http://schemas.microsoft.com/office/powerpoint/2010/main" val="746426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1A70A-C286-342A-7F18-2E4E868A847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C5342FA-5A7B-FEB6-4591-7B08FC2D05E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7A35A56-3075-363A-5D70-2996714B4F24}"/>
              </a:ext>
            </a:extLst>
          </p:cNvPr>
          <p:cNvSpPr>
            <a:spLocks noGrp="1"/>
          </p:cNvSpPr>
          <p:nvPr>
            <p:ph type="body" idx="1"/>
          </p:nvPr>
        </p:nvSpPr>
        <p:spPr/>
        <p:txBody>
          <a:bodyPr/>
          <a:lstStyle/>
          <a:p>
            <a:r>
              <a:rPr lang="es-ES" dirty="0"/>
              <a:t>el espectro se organiza para poder convivir. ‘Banda’ es una franja de frecuencias; ‘canal’ es una porción dentro de esa franja. Esta idea se repetirá en </a:t>
            </a:r>
            <a:r>
              <a:rPr lang="es-ES" dirty="0" err="1"/>
              <a:t>VHF</a:t>
            </a:r>
            <a:r>
              <a:rPr lang="es-ES" dirty="0"/>
              <a:t>/</a:t>
            </a:r>
            <a:r>
              <a:rPr lang="es-ES" dirty="0" err="1"/>
              <a:t>UHF</a:t>
            </a:r>
            <a:r>
              <a:rPr lang="es-ES" dirty="0"/>
              <a:t>, microondas, satélite y radar.”</a:t>
            </a:r>
            <a:endParaRPr lang="es-CL" dirty="0"/>
          </a:p>
        </p:txBody>
      </p:sp>
      <p:sp>
        <p:nvSpPr>
          <p:cNvPr id="4" name="Marcador de número de diapositiva 3">
            <a:extLst>
              <a:ext uri="{FF2B5EF4-FFF2-40B4-BE49-F238E27FC236}">
                <a16:creationId xmlns:a16="http://schemas.microsoft.com/office/drawing/2014/main" id="{B9CB5D4A-1B66-A840-614E-925E2D9B4A04}"/>
              </a:ext>
            </a:extLst>
          </p:cNvPr>
          <p:cNvSpPr>
            <a:spLocks noGrp="1"/>
          </p:cNvSpPr>
          <p:nvPr>
            <p:ph type="sldNum" sz="quarter" idx="5"/>
          </p:nvPr>
        </p:nvSpPr>
        <p:spPr/>
        <p:txBody>
          <a:bodyPr/>
          <a:lstStyle/>
          <a:p>
            <a:fld id="{235CC6FD-75C5-034E-BC56-691A10C41604}" type="slidenum">
              <a:rPr lang="es-CL" smtClean="0"/>
              <a:t>13</a:t>
            </a:fld>
            <a:endParaRPr lang="es-CL"/>
          </a:p>
        </p:txBody>
      </p:sp>
    </p:spTree>
    <p:extLst>
      <p:ext uri="{BB962C8B-B14F-4D97-AF65-F5344CB8AC3E}">
        <p14:creationId xmlns:p14="http://schemas.microsoft.com/office/powerpoint/2010/main" val="4877895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B7665-E627-33DE-FC22-A8F4899EF17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D8E3EA-1CE7-2591-A02F-5E3813E0D7C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5E6C6AB-BA51-7F9F-35E2-E6B7E51390F8}"/>
              </a:ext>
            </a:extLst>
          </p:cNvPr>
          <p:cNvSpPr>
            <a:spLocks noGrp="1"/>
          </p:cNvSpPr>
          <p:nvPr>
            <p:ph type="body" idx="1"/>
          </p:nvPr>
        </p:nvSpPr>
        <p:spPr/>
        <p:txBody>
          <a:bodyPr/>
          <a:lstStyle/>
          <a:p>
            <a:r>
              <a:rPr lang="es-ES" dirty="0"/>
              <a:t>el espectro se organiza para poder convivir. ‘Banda’ es una franja de frecuencias; ‘canal’ es una porción dentro de esa franja. Esta idea se repetirá en </a:t>
            </a:r>
            <a:r>
              <a:rPr lang="es-ES" dirty="0" err="1"/>
              <a:t>VHF</a:t>
            </a:r>
            <a:r>
              <a:rPr lang="es-ES" dirty="0"/>
              <a:t>/</a:t>
            </a:r>
            <a:r>
              <a:rPr lang="es-ES" dirty="0" err="1"/>
              <a:t>UHF</a:t>
            </a:r>
            <a:r>
              <a:rPr lang="es-ES" dirty="0"/>
              <a:t>, microondas, satélite y radar.”</a:t>
            </a:r>
            <a:endParaRPr lang="es-CL" dirty="0"/>
          </a:p>
        </p:txBody>
      </p:sp>
      <p:sp>
        <p:nvSpPr>
          <p:cNvPr id="4" name="Marcador de número de diapositiva 3">
            <a:extLst>
              <a:ext uri="{FF2B5EF4-FFF2-40B4-BE49-F238E27FC236}">
                <a16:creationId xmlns:a16="http://schemas.microsoft.com/office/drawing/2014/main" id="{4E376F61-F8AA-C576-8F44-B52BFE4F3CAE}"/>
              </a:ext>
            </a:extLst>
          </p:cNvPr>
          <p:cNvSpPr>
            <a:spLocks noGrp="1"/>
          </p:cNvSpPr>
          <p:nvPr>
            <p:ph type="sldNum" sz="quarter" idx="5"/>
          </p:nvPr>
        </p:nvSpPr>
        <p:spPr/>
        <p:txBody>
          <a:bodyPr/>
          <a:lstStyle/>
          <a:p>
            <a:fld id="{235CC6FD-75C5-034E-BC56-691A10C41604}" type="slidenum">
              <a:rPr lang="es-CL" smtClean="0"/>
              <a:t>14</a:t>
            </a:fld>
            <a:endParaRPr lang="es-CL"/>
          </a:p>
        </p:txBody>
      </p:sp>
    </p:spTree>
    <p:extLst>
      <p:ext uri="{BB962C8B-B14F-4D97-AF65-F5344CB8AC3E}">
        <p14:creationId xmlns:p14="http://schemas.microsoft.com/office/powerpoint/2010/main" val="17392847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AB9B2-D52E-BF78-5BA3-105B6A57C78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585455C-8281-843F-27B3-1C494D75F1F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EBB3573-CB2A-5B8C-095B-FADB59793110}"/>
              </a:ext>
            </a:extLst>
          </p:cNvPr>
          <p:cNvSpPr>
            <a:spLocks noGrp="1"/>
          </p:cNvSpPr>
          <p:nvPr>
            <p:ph type="body" idx="1"/>
          </p:nvPr>
        </p:nvSpPr>
        <p:spPr/>
        <p:txBody>
          <a:bodyPr/>
          <a:lstStyle/>
          <a:p>
            <a:r>
              <a:rPr lang="es-ES" dirty="0"/>
              <a:t>el espectro se organiza para poder convivir. ‘Banda’ es una franja de frecuencias; ‘canal’ es una porción dentro de esa franja. Esta idea se repetirá en </a:t>
            </a:r>
            <a:r>
              <a:rPr lang="es-ES" dirty="0" err="1"/>
              <a:t>VHF</a:t>
            </a:r>
            <a:r>
              <a:rPr lang="es-ES" dirty="0"/>
              <a:t>/</a:t>
            </a:r>
            <a:r>
              <a:rPr lang="es-ES" dirty="0" err="1"/>
              <a:t>UHF</a:t>
            </a:r>
            <a:r>
              <a:rPr lang="es-ES" dirty="0"/>
              <a:t>, microondas, satélite y radar.”</a:t>
            </a:r>
            <a:endParaRPr lang="es-CL" dirty="0"/>
          </a:p>
        </p:txBody>
      </p:sp>
      <p:sp>
        <p:nvSpPr>
          <p:cNvPr id="4" name="Marcador de número de diapositiva 3">
            <a:extLst>
              <a:ext uri="{FF2B5EF4-FFF2-40B4-BE49-F238E27FC236}">
                <a16:creationId xmlns:a16="http://schemas.microsoft.com/office/drawing/2014/main" id="{21D3CD3E-C72E-2EE0-7FEE-91DE03F001F5}"/>
              </a:ext>
            </a:extLst>
          </p:cNvPr>
          <p:cNvSpPr>
            <a:spLocks noGrp="1"/>
          </p:cNvSpPr>
          <p:nvPr>
            <p:ph type="sldNum" sz="quarter" idx="5"/>
          </p:nvPr>
        </p:nvSpPr>
        <p:spPr/>
        <p:txBody>
          <a:bodyPr/>
          <a:lstStyle/>
          <a:p>
            <a:fld id="{235CC6FD-75C5-034E-BC56-691A10C41604}" type="slidenum">
              <a:rPr lang="es-CL" smtClean="0"/>
              <a:t>15</a:t>
            </a:fld>
            <a:endParaRPr lang="es-CL"/>
          </a:p>
        </p:txBody>
      </p:sp>
    </p:spTree>
    <p:extLst>
      <p:ext uri="{BB962C8B-B14F-4D97-AF65-F5344CB8AC3E}">
        <p14:creationId xmlns:p14="http://schemas.microsoft.com/office/powerpoint/2010/main" val="14994587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7D5EF-AE8C-297E-92EB-B36D4216317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BF8E228-AA39-F35D-7A61-C15D9289BE3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32D4535-1FAD-EF57-3035-B13437857F6B}"/>
              </a:ext>
            </a:extLst>
          </p:cNvPr>
          <p:cNvSpPr>
            <a:spLocks noGrp="1"/>
          </p:cNvSpPr>
          <p:nvPr>
            <p:ph type="body" idx="1"/>
          </p:nvPr>
        </p:nvSpPr>
        <p:spPr/>
        <p:txBody>
          <a:bodyPr/>
          <a:lstStyle/>
          <a:p>
            <a:r>
              <a:rPr lang="es-ES" dirty="0"/>
              <a:t>Lo que deben retener es que la frecuencia determina cómo se comporta el enlace en el mundo real: cambia la interacción con el entorno, la practicidad de antenas y el tipo de diseño que se requiere. Por eso el espectro se regula y segmenta en bandas.</a:t>
            </a:r>
            <a:endParaRPr lang="es-CL" dirty="0"/>
          </a:p>
        </p:txBody>
      </p:sp>
      <p:sp>
        <p:nvSpPr>
          <p:cNvPr id="4" name="Marcador de número de diapositiva 3">
            <a:extLst>
              <a:ext uri="{FF2B5EF4-FFF2-40B4-BE49-F238E27FC236}">
                <a16:creationId xmlns:a16="http://schemas.microsoft.com/office/drawing/2014/main" id="{D5272F7D-7C04-B694-A104-4891680374F6}"/>
              </a:ext>
            </a:extLst>
          </p:cNvPr>
          <p:cNvSpPr>
            <a:spLocks noGrp="1"/>
          </p:cNvSpPr>
          <p:nvPr>
            <p:ph type="sldNum" sz="quarter" idx="5"/>
          </p:nvPr>
        </p:nvSpPr>
        <p:spPr/>
        <p:txBody>
          <a:bodyPr/>
          <a:lstStyle/>
          <a:p>
            <a:fld id="{235CC6FD-75C5-034E-BC56-691A10C41604}" type="slidenum">
              <a:rPr lang="es-CL" smtClean="0"/>
              <a:t>16</a:t>
            </a:fld>
            <a:endParaRPr lang="es-CL"/>
          </a:p>
        </p:txBody>
      </p:sp>
    </p:spTree>
    <p:extLst>
      <p:ext uri="{BB962C8B-B14F-4D97-AF65-F5344CB8AC3E}">
        <p14:creationId xmlns:p14="http://schemas.microsoft.com/office/powerpoint/2010/main" val="15825131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78FBC-E28F-4184-F7DC-A9D23AEDE53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9389EE4-0D83-293F-0576-6E5DF12B42A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2943DA9-3F49-D5C5-7D35-9BDAE3057A75}"/>
              </a:ext>
            </a:extLst>
          </p:cNvPr>
          <p:cNvSpPr>
            <a:spLocks noGrp="1"/>
          </p:cNvSpPr>
          <p:nvPr>
            <p:ph type="body" idx="1"/>
          </p:nvPr>
        </p:nvSpPr>
        <p:spPr/>
        <p:txBody>
          <a:bodyPr/>
          <a:lstStyle/>
          <a:p>
            <a:r>
              <a:rPr lang="es-ES" dirty="0"/>
              <a:t>Lo que deben retener es que la frecuencia determina cómo se comporta el enlace en el mundo real: cambia la interacción con el entorno, la practicidad de antenas y el tipo de diseño que se requiere. Por eso el espectro se regula y segmenta en bandas.</a:t>
            </a:r>
            <a:endParaRPr lang="es-CL" dirty="0"/>
          </a:p>
        </p:txBody>
      </p:sp>
      <p:sp>
        <p:nvSpPr>
          <p:cNvPr id="4" name="Marcador de número de diapositiva 3">
            <a:extLst>
              <a:ext uri="{FF2B5EF4-FFF2-40B4-BE49-F238E27FC236}">
                <a16:creationId xmlns:a16="http://schemas.microsoft.com/office/drawing/2014/main" id="{14A87D22-64D8-2652-5D21-7A894218EEBE}"/>
              </a:ext>
            </a:extLst>
          </p:cNvPr>
          <p:cNvSpPr>
            <a:spLocks noGrp="1"/>
          </p:cNvSpPr>
          <p:nvPr>
            <p:ph type="sldNum" sz="quarter" idx="5"/>
          </p:nvPr>
        </p:nvSpPr>
        <p:spPr/>
        <p:txBody>
          <a:bodyPr/>
          <a:lstStyle/>
          <a:p>
            <a:fld id="{235CC6FD-75C5-034E-BC56-691A10C41604}" type="slidenum">
              <a:rPr lang="es-CL" smtClean="0"/>
              <a:t>17</a:t>
            </a:fld>
            <a:endParaRPr lang="es-CL"/>
          </a:p>
        </p:txBody>
      </p:sp>
    </p:spTree>
    <p:extLst>
      <p:ext uri="{BB962C8B-B14F-4D97-AF65-F5344CB8AC3E}">
        <p14:creationId xmlns:p14="http://schemas.microsoft.com/office/powerpoint/2010/main" val="16549618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952A5-8D8B-2241-8E7F-D6F73771EE3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9839FB1-F4EF-E378-1334-A5C3F42E452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61DA5F8-D26C-5853-23C9-D88F5FB92246}"/>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ABE60D65-B90E-2AAA-3375-91C932C65AB4}"/>
              </a:ext>
            </a:extLst>
          </p:cNvPr>
          <p:cNvSpPr>
            <a:spLocks noGrp="1"/>
          </p:cNvSpPr>
          <p:nvPr>
            <p:ph type="sldNum" sz="quarter" idx="5"/>
          </p:nvPr>
        </p:nvSpPr>
        <p:spPr/>
        <p:txBody>
          <a:bodyPr/>
          <a:lstStyle/>
          <a:p>
            <a:fld id="{235CC6FD-75C5-034E-BC56-691A10C41604}" type="slidenum">
              <a:rPr lang="es-CL" smtClean="0"/>
              <a:t>18</a:t>
            </a:fld>
            <a:endParaRPr lang="es-CL"/>
          </a:p>
        </p:txBody>
      </p:sp>
    </p:spTree>
    <p:extLst>
      <p:ext uri="{BB962C8B-B14F-4D97-AF65-F5344CB8AC3E}">
        <p14:creationId xmlns:p14="http://schemas.microsoft.com/office/powerpoint/2010/main" val="22780848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CEC31-FD7C-C136-9537-5FC5E5E8FA5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7CBB053-2B00-E2EA-A1CA-7C22B3DC980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882D58E-BD78-F2CC-2813-D86917BE6EAE}"/>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C0398D9A-B3FE-1FF8-1519-73D84BDB16A6}"/>
              </a:ext>
            </a:extLst>
          </p:cNvPr>
          <p:cNvSpPr>
            <a:spLocks noGrp="1"/>
          </p:cNvSpPr>
          <p:nvPr>
            <p:ph type="sldNum" sz="quarter" idx="5"/>
          </p:nvPr>
        </p:nvSpPr>
        <p:spPr/>
        <p:txBody>
          <a:bodyPr/>
          <a:lstStyle/>
          <a:p>
            <a:fld id="{235CC6FD-75C5-034E-BC56-691A10C41604}" type="slidenum">
              <a:rPr lang="es-CL" smtClean="0"/>
              <a:t>19</a:t>
            </a:fld>
            <a:endParaRPr lang="es-CL"/>
          </a:p>
        </p:txBody>
      </p:sp>
    </p:spTree>
    <p:extLst>
      <p:ext uri="{BB962C8B-B14F-4D97-AF65-F5344CB8AC3E}">
        <p14:creationId xmlns:p14="http://schemas.microsoft.com/office/powerpoint/2010/main" val="14436877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90860-34B9-9E59-8FAD-95335AEB7CC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9419BE7-39A7-A868-F6C6-3E8A4B985DA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7328C2E-0D35-D2CE-88F7-FF6D1C304381}"/>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A72A7C38-1D5A-D32F-D576-52B7800887AF}"/>
              </a:ext>
            </a:extLst>
          </p:cNvPr>
          <p:cNvSpPr>
            <a:spLocks noGrp="1"/>
          </p:cNvSpPr>
          <p:nvPr>
            <p:ph type="sldNum" sz="quarter" idx="5"/>
          </p:nvPr>
        </p:nvSpPr>
        <p:spPr/>
        <p:txBody>
          <a:bodyPr/>
          <a:lstStyle/>
          <a:p>
            <a:fld id="{235CC6FD-75C5-034E-BC56-691A10C41604}" type="slidenum">
              <a:rPr lang="es-CL" smtClean="0"/>
              <a:t>20</a:t>
            </a:fld>
            <a:endParaRPr lang="es-CL"/>
          </a:p>
        </p:txBody>
      </p:sp>
    </p:spTree>
    <p:extLst>
      <p:ext uri="{BB962C8B-B14F-4D97-AF65-F5344CB8AC3E}">
        <p14:creationId xmlns:p14="http://schemas.microsoft.com/office/powerpoint/2010/main" val="6793740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BAF3C-1B14-3DFE-B605-7024C0654CA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2297208-0EBE-9354-1113-A1400D954C8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2145BD-00FB-13EC-FE01-62607893EFA0}"/>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9BBE590B-CBF5-2164-306F-011FF1A28F4B}"/>
              </a:ext>
            </a:extLst>
          </p:cNvPr>
          <p:cNvSpPr>
            <a:spLocks noGrp="1"/>
          </p:cNvSpPr>
          <p:nvPr>
            <p:ph type="sldNum" sz="quarter" idx="5"/>
          </p:nvPr>
        </p:nvSpPr>
        <p:spPr/>
        <p:txBody>
          <a:bodyPr/>
          <a:lstStyle/>
          <a:p>
            <a:fld id="{235CC6FD-75C5-034E-BC56-691A10C41604}" type="slidenum">
              <a:rPr lang="es-CL" smtClean="0"/>
              <a:t>21</a:t>
            </a:fld>
            <a:endParaRPr lang="es-CL"/>
          </a:p>
        </p:txBody>
      </p:sp>
    </p:spTree>
    <p:extLst>
      <p:ext uri="{BB962C8B-B14F-4D97-AF65-F5344CB8AC3E}">
        <p14:creationId xmlns:p14="http://schemas.microsoft.com/office/powerpoint/2010/main" val="37750835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5F028-7F83-58BB-7951-A90EB3DAF75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DE56363-275F-BB86-8FAC-6816A465747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62A24F7-0D29-A029-9379-B193F9F5C270}"/>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861E590E-7376-A831-30DA-DFA4C1A4D443}"/>
              </a:ext>
            </a:extLst>
          </p:cNvPr>
          <p:cNvSpPr>
            <a:spLocks noGrp="1"/>
          </p:cNvSpPr>
          <p:nvPr>
            <p:ph type="sldNum" sz="quarter" idx="5"/>
          </p:nvPr>
        </p:nvSpPr>
        <p:spPr/>
        <p:txBody>
          <a:bodyPr/>
          <a:lstStyle/>
          <a:p>
            <a:fld id="{235CC6FD-75C5-034E-BC56-691A10C41604}" type="slidenum">
              <a:rPr lang="es-CL" smtClean="0"/>
              <a:t>22</a:t>
            </a:fld>
            <a:endParaRPr lang="es-CL"/>
          </a:p>
        </p:txBody>
      </p:sp>
    </p:spTree>
    <p:extLst>
      <p:ext uri="{BB962C8B-B14F-4D97-AF65-F5344CB8AC3E}">
        <p14:creationId xmlns:p14="http://schemas.microsoft.com/office/powerpoint/2010/main" val="23158356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8D925-1180-9A5C-0BA0-C81E6C82D1A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AC16CCF-87EF-BEBC-8173-5872E74E963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700328C-084B-85BB-A6F3-4822CBE25908}"/>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0C580F2B-57C2-80B0-A74A-F2CE57EC9397}"/>
              </a:ext>
            </a:extLst>
          </p:cNvPr>
          <p:cNvSpPr>
            <a:spLocks noGrp="1"/>
          </p:cNvSpPr>
          <p:nvPr>
            <p:ph type="sldNum" sz="quarter" idx="5"/>
          </p:nvPr>
        </p:nvSpPr>
        <p:spPr/>
        <p:txBody>
          <a:bodyPr/>
          <a:lstStyle/>
          <a:p>
            <a:fld id="{235CC6FD-75C5-034E-BC56-691A10C41604}" type="slidenum">
              <a:rPr lang="es-CL" smtClean="0"/>
              <a:t>23</a:t>
            </a:fld>
            <a:endParaRPr lang="es-CL"/>
          </a:p>
        </p:txBody>
      </p:sp>
    </p:spTree>
    <p:extLst>
      <p:ext uri="{BB962C8B-B14F-4D97-AF65-F5344CB8AC3E}">
        <p14:creationId xmlns:p14="http://schemas.microsoft.com/office/powerpoint/2010/main" val="381812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AF79C-207B-DE92-4DEB-B651988949C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0067A9D-21BA-C943-45DE-5C750A0CCFD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1F67D16-4E21-7D6B-C6B8-3D1E7B128C5E}"/>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7C2E3D59-9B4A-9D3F-8EC8-57359366CB13}"/>
              </a:ext>
            </a:extLst>
          </p:cNvPr>
          <p:cNvSpPr>
            <a:spLocks noGrp="1"/>
          </p:cNvSpPr>
          <p:nvPr>
            <p:ph type="sldNum" sz="quarter" idx="5"/>
          </p:nvPr>
        </p:nvSpPr>
        <p:spPr/>
        <p:txBody>
          <a:bodyPr/>
          <a:lstStyle/>
          <a:p>
            <a:fld id="{235CC6FD-75C5-034E-BC56-691A10C41604}" type="slidenum">
              <a:rPr lang="es-CL" smtClean="0"/>
              <a:t>24</a:t>
            </a:fld>
            <a:endParaRPr lang="es-CL"/>
          </a:p>
        </p:txBody>
      </p:sp>
    </p:spTree>
    <p:extLst>
      <p:ext uri="{BB962C8B-B14F-4D97-AF65-F5344CB8AC3E}">
        <p14:creationId xmlns:p14="http://schemas.microsoft.com/office/powerpoint/2010/main" val="17227847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A149F-B4D2-2BFE-F41C-6878423776F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5E7982F-A8AF-EAC4-DA4D-9DDB9CE1D82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C8A8449-922D-6356-534B-97D46C1A97B6}"/>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5923097B-8EB5-208D-3A34-4EB524EC6C02}"/>
              </a:ext>
            </a:extLst>
          </p:cNvPr>
          <p:cNvSpPr>
            <a:spLocks noGrp="1"/>
          </p:cNvSpPr>
          <p:nvPr>
            <p:ph type="sldNum" sz="quarter" idx="5"/>
          </p:nvPr>
        </p:nvSpPr>
        <p:spPr/>
        <p:txBody>
          <a:bodyPr/>
          <a:lstStyle/>
          <a:p>
            <a:fld id="{235CC6FD-75C5-034E-BC56-691A10C41604}" type="slidenum">
              <a:rPr lang="es-CL" smtClean="0"/>
              <a:t>25</a:t>
            </a:fld>
            <a:endParaRPr lang="es-CL"/>
          </a:p>
        </p:txBody>
      </p:sp>
    </p:spTree>
    <p:extLst>
      <p:ext uri="{BB962C8B-B14F-4D97-AF65-F5344CB8AC3E}">
        <p14:creationId xmlns:p14="http://schemas.microsoft.com/office/powerpoint/2010/main" val="33006126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998B0-B40F-C544-1DCB-A1DCA1BC6CA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0CC2484-A37E-104B-1B1A-A85D380C310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AF19A23-C02D-C907-2B7A-738830145265}"/>
              </a:ext>
            </a:extLst>
          </p:cNvPr>
          <p:cNvSpPr>
            <a:spLocks noGrp="1"/>
          </p:cNvSpPr>
          <p:nvPr>
            <p:ph type="body" idx="1"/>
          </p:nvPr>
        </p:nvSpPr>
        <p:spPr/>
        <p:txBody>
          <a:bodyPr/>
          <a:lstStyle/>
          <a:p>
            <a:r>
              <a:rPr lang="es-ES" dirty="0"/>
              <a:t>En el módulo anterior vimos espectro y bandas. Ahora damos un paso natural: el medio en RF es el ambiente. La atmósfera introduce pérdidas y variabilidad, especialmente relevante en ciertos rangos y enlaces. Hoy lo veremos conceptualmente, preparando microondas y satélite.</a:t>
            </a:r>
            <a:endParaRPr lang="es-CL" dirty="0"/>
          </a:p>
        </p:txBody>
      </p:sp>
      <p:sp>
        <p:nvSpPr>
          <p:cNvPr id="4" name="Marcador de número de diapositiva 3">
            <a:extLst>
              <a:ext uri="{FF2B5EF4-FFF2-40B4-BE49-F238E27FC236}">
                <a16:creationId xmlns:a16="http://schemas.microsoft.com/office/drawing/2014/main" id="{7395EB06-6EEF-495F-636C-9D6A8F9A82D2}"/>
              </a:ext>
            </a:extLst>
          </p:cNvPr>
          <p:cNvSpPr>
            <a:spLocks noGrp="1"/>
          </p:cNvSpPr>
          <p:nvPr>
            <p:ph type="sldNum" sz="quarter" idx="5"/>
          </p:nvPr>
        </p:nvSpPr>
        <p:spPr/>
        <p:txBody>
          <a:bodyPr/>
          <a:lstStyle/>
          <a:p>
            <a:fld id="{235CC6FD-75C5-034E-BC56-691A10C41604}" type="slidenum">
              <a:rPr lang="es-CL" smtClean="0"/>
              <a:t>26</a:t>
            </a:fld>
            <a:endParaRPr lang="es-CL"/>
          </a:p>
        </p:txBody>
      </p:sp>
    </p:spTree>
    <p:extLst>
      <p:ext uri="{BB962C8B-B14F-4D97-AF65-F5344CB8AC3E}">
        <p14:creationId xmlns:p14="http://schemas.microsoft.com/office/powerpoint/2010/main" val="25995351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2291E-CE86-9128-A36C-A3495729F75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32AE4A8-492B-43E4-64E2-0BE043DCA2A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C1D864E-E66C-CB96-F0CD-F9BE72A1A907}"/>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0A30AABD-5D34-BE6C-0EFC-FB902E8E6086}"/>
              </a:ext>
            </a:extLst>
          </p:cNvPr>
          <p:cNvSpPr>
            <a:spLocks noGrp="1"/>
          </p:cNvSpPr>
          <p:nvPr>
            <p:ph type="sldNum" sz="quarter" idx="5"/>
          </p:nvPr>
        </p:nvSpPr>
        <p:spPr/>
        <p:txBody>
          <a:bodyPr/>
          <a:lstStyle/>
          <a:p>
            <a:fld id="{235CC6FD-75C5-034E-BC56-691A10C41604}" type="slidenum">
              <a:rPr lang="es-CL" smtClean="0"/>
              <a:t>27</a:t>
            </a:fld>
            <a:endParaRPr lang="es-CL"/>
          </a:p>
        </p:txBody>
      </p:sp>
    </p:spTree>
    <p:extLst>
      <p:ext uri="{BB962C8B-B14F-4D97-AF65-F5344CB8AC3E}">
        <p14:creationId xmlns:p14="http://schemas.microsoft.com/office/powerpoint/2010/main" val="40567325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879BB-1F78-AC20-419F-981A6FD0725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03AEDB-174E-9BCD-2E50-63AF8B80F7E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27D35DE-BFA7-B29A-C23D-09B9F4AE9180}"/>
              </a:ext>
            </a:extLst>
          </p:cNvPr>
          <p:cNvSpPr>
            <a:spLocks noGrp="1"/>
          </p:cNvSpPr>
          <p:nvPr>
            <p:ph type="body" idx="1"/>
          </p:nvPr>
        </p:nvSpPr>
        <p:spPr/>
        <p:txBody>
          <a:bodyPr/>
          <a:lstStyle/>
          <a:p>
            <a:r>
              <a:rPr lang="es-ES" dirty="0"/>
              <a:t>“La diferencia clave: gases absorben energía siempre, en distintos niveles; la lluvia agrega atenuación variable y a veces decisiva. Por eso en planificación de enlaces se habla de disponibilidad y márgenes. Hoy lo entendemos conceptualmente.”</a:t>
            </a:r>
            <a:endParaRPr lang="es-CL" dirty="0"/>
          </a:p>
        </p:txBody>
      </p:sp>
      <p:sp>
        <p:nvSpPr>
          <p:cNvPr id="4" name="Marcador de número de diapositiva 3">
            <a:extLst>
              <a:ext uri="{FF2B5EF4-FFF2-40B4-BE49-F238E27FC236}">
                <a16:creationId xmlns:a16="http://schemas.microsoft.com/office/drawing/2014/main" id="{ABC759DE-6413-819C-A45D-A309F97A41BE}"/>
              </a:ext>
            </a:extLst>
          </p:cNvPr>
          <p:cNvSpPr>
            <a:spLocks noGrp="1"/>
          </p:cNvSpPr>
          <p:nvPr>
            <p:ph type="sldNum" sz="quarter" idx="5"/>
          </p:nvPr>
        </p:nvSpPr>
        <p:spPr/>
        <p:txBody>
          <a:bodyPr/>
          <a:lstStyle/>
          <a:p>
            <a:fld id="{235CC6FD-75C5-034E-BC56-691A10C41604}" type="slidenum">
              <a:rPr lang="es-CL" smtClean="0"/>
              <a:t>28</a:t>
            </a:fld>
            <a:endParaRPr lang="es-CL"/>
          </a:p>
        </p:txBody>
      </p:sp>
    </p:spTree>
    <p:extLst>
      <p:ext uri="{BB962C8B-B14F-4D97-AF65-F5344CB8AC3E}">
        <p14:creationId xmlns:p14="http://schemas.microsoft.com/office/powerpoint/2010/main" val="9821255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199A1-316A-E4C3-76B0-29930BEF6A6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086ABBA-B315-EE41-7307-3FBFF0E0D26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4F45DFC-63C9-68AB-CBC4-E0F965C32888}"/>
              </a:ext>
            </a:extLst>
          </p:cNvPr>
          <p:cNvSpPr>
            <a:spLocks noGrp="1"/>
          </p:cNvSpPr>
          <p:nvPr>
            <p:ph type="body" idx="1"/>
          </p:nvPr>
        </p:nvSpPr>
        <p:spPr/>
        <p:txBody>
          <a:bodyPr/>
          <a:lstStyle/>
          <a:p>
            <a:r>
              <a:rPr lang="es-ES" dirty="0"/>
              <a:t>“Además de gases y lluvia, aparecen fenómenos geométricos y del entorno: reflexión, difracción y </a:t>
            </a:r>
            <a:r>
              <a:rPr lang="es-ES" dirty="0" err="1"/>
              <a:t>multitrayectoria</a:t>
            </a:r>
            <a:r>
              <a:rPr lang="es-ES" dirty="0"/>
              <a:t>. Esto explica por qué un enlace puede fluctuar aunque la potencia transmitida sea la misma. Más adelante lo conectaremos con microondas y con cálculo de enlace.”</a:t>
            </a:r>
            <a:endParaRPr lang="es-CL" dirty="0"/>
          </a:p>
        </p:txBody>
      </p:sp>
      <p:sp>
        <p:nvSpPr>
          <p:cNvPr id="4" name="Marcador de número de diapositiva 3">
            <a:extLst>
              <a:ext uri="{FF2B5EF4-FFF2-40B4-BE49-F238E27FC236}">
                <a16:creationId xmlns:a16="http://schemas.microsoft.com/office/drawing/2014/main" id="{CB9A8630-97A5-F5B3-0DD0-C1C044A003E6}"/>
              </a:ext>
            </a:extLst>
          </p:cNvPr>
          <p:cNvSpPr>
            <a:spLocks noGrp="1"/>
          </p:cNvSpPr>
          <p:nvPr>
            <p:ph type="sldNum" sz="quarter" idx="5"/>
          </p:nvPr>
        </p:nvSpPr>
        <p:spPr/>
        <p:txBody>
          <a:bodyPr/>
          <a:lstStyle/>
          <a:p>
            <a:fld id="{235CC6FD-75C5-034E-BC56-691A10C41604}" type="slidenum">
              <a:rPr lang="es-CL" smtClean="0"/>
              <a:t>29</a:t>
            </a:fld>
            <a:endParaRPr lang="es-CL"/>
          </a:p>
        </p:txBody>
      </p:sp>
    </p:spTree>
    <p:extLst>
      <p:ext uri="{BB962C8B-B14F-4D97-AF65-F5344CB8AC3E}">
        <p14:creationId xmlns:p14="http://schemas.microsoft.com/office/powerpoint/2010/main" val="2677719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7F664-7B06-C9D8-A6E3-ECFB1798737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EF5390D-5881-EDF5-4F28-90ABD34A292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6ACDFA1-65F4-B268-A3CC-29652B92F4DA}"/>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F8756F0F-E682-2512-EE34-8937F69D7AA6}"/>
              </a:ext>
            </a:extLst>
          </p:cNvPr>
          <p:cNvSpPr>
            <a:spLocks noGrp="1"/>
          </p:cNvSpPr>
          <p:nvPr>
            <p:ph type="sldNum" sz="quarter" idx="5"/>
          </p:nvPr>
        </p:nvSpPr>
        <p:spPr/>
        <p:txBody>
          <a:bodyPr/>
          <a:lstStyle/>
          <a:p>
            <a:fld id="{235CC6FD-75C5-034E-BC56-691A10C41604}" type="slidenum">
              <a:rPr lang="es-CL" smtClean="0"/>
              <a:t>30</a:t>
            </a:fld>
            <a:endParaRPr lang="es-CL"/>
          </a:p>
        </p:txBody>
      </p:sp>
    </p:spTree>
    <p:extLst>
      <p:ext uri="{BB962C8B-B14F-4D97-AF65-F5344CB8AC3E}">
        <p14:creationId xmlns:p14="http://schemas.microsoft.com/office/powerpoint/2010/main" val="28102507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4FEEF-5066-C300-4E0A-B6092A88FBF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1297B95-5BFB-18A9-8CC4-95A5E5BA519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4A43EA6-5E95-9B02-8344-5403D2A88CDC}"/>
              </a:ext>
            </a:extLst>
          </p:cNvPr>
          <p:cNvSpPr>
            <a:spLocks noGrp="1"/>
          </p:cNvSpPr>
          <p:nvPr>
            <p:ph type="body" idx="1"/>
          </p:nvPr>
        </p:nvSpPr>
        <p:spPr/>
        <p:txBody>
          <a:bodyPr/>
          <a:lstStyle/>
          <a:p>
            <a:r>
              <a:rPr lang="es-ES" dirty="0"/>
              <a:t>“</a:t>
            </a:r>
            <a:endParaRPr lang="es-CL" dirty="0"/>
          </a:p>
        </p:txBody>
      </p:sp>
      <p:sp>
        <p:nvSpPr>
          <p:cNvPr id="4" name="Marcador de número de diapositiva 3">
            <a:extLst>
              <a:ext uri="{FF2B5EF4-FFF2-40B4-BE49-F238E27FC236}">
                <a16:creationId xmlns:a16="http://schemas.microsoft.com/office/drawing/2014/main" id="{39362476-BD36-E80C-FEC9-18E0664DD0B8}"/>
              </a:ext>
            </a:extLst>
          </p:cNvPr>
          <p:cNvSpPr>
            <a:spLocks noGrp="1"/>
          </p:cNvSpPr>
          <p:nvPr>
            <p:ph type="sldNum" sz="quarter" idx="5"/>
          </p:nvPr>
        </p:nvSpPr>
        <p:spPr/>
        <p:txBody>
          <a:bodyPr/>
          <a:lstStyle/>
          <a:p>
            <a:fld id="{235CC6FD-75C5-034E-BC56-691A10C41604}" type="slidenum">
              <a:rPr lang="es-CL" smtClean="0"/>
              <a:t>31</a:t>
            </a:fld>
            <a:endParaRPr lang="es-CL"/>
          </a:p>
        </p:txBody>
      </p:sp>
    </p:spTree>
    <p:extLst>
      <p:ext uri="{BB962C8B-B14F-4D97-AF65-F5344CB8AC3E}">
        <p14:creationId xmlns:p14="http://schemas.microsoft.com/office/powerpoint/2010/main" val="2593137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529EE-D60D-2084-007E-88ABDB45501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5F9EDFA-32CF-E765-F403-90918141558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54FACC-5109-1628-2BBE-3540D9B438A9}"/>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317B69C1-0B9F-657B-0B4C-59C6DB584F4C}"/>
              </a:ext>
            </a:extLst>
          </p:cNvPr>
          <p:cNvSpPr>
            <a:spLocks noGrp="1"/>
          </p:cNvSpPr>
          <p:nvPr>
            <p:ph type="sldNum" sz="quarter" idx="5"/>
          </p:nvPr>
        </p:nvSpPr>
        <p:spPr/>
        <p:txBody>
          <a:bodyPr/>
          <a:lstStyle/>
          <a:p>
            <a:fld id="{235CC6FD-75C5-034E-BC56-691A10C41604}" type="slidenum">
              <a:rPr lang="es-CL" smtClean="0"/>
              <a:t>32</a:t>
            </a:fld>
            <a:endParaRPr lang="es-CL"/>
          </a:p>
        </p:txBody>
      </p:sp>
    </p:spTree>
    <p:extLst>
      <p:ext uri="{BB962C8B-B14F-4D97-AF65-F5344CB8AC3E}">
        <p14:creationId xmlns:p14="http://schemas.microsoft.com/office/powerpoint/2010/main" val="22299669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D5FB6-E729-94F3-D7CF-CAA1885D8CD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8719ED6-241C-52F2-96E7-1E8C35CEF73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1CF9685-4424-65DE-8051-0F6C895E73B9}"/>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C8E90945-11FB-1EB2-2730-F100613B8EB4}"/>
              </a:ext>
            </a:extLst>
          </p:cNvPr>
          <p:cNvSpPr>
            <a:spLocks noGrp="1"/>
          </p:cNvSpPr>
          <p:nvPr>
            <p:ph type="sldNum" sz="quarter" idx="5"/>
          </p:nvPr>
        </p:nvSpPr>
        <p:spPr/>
        <p:txBody>
          <a:bodyPr/>
          <a:lstStyle/>
          <a:p>
            <a:fld id="{235CC6FD-75C5-034E-BC56-691A10C41604}" type="slidenum">
              <a:rPr lang="es-CL" smtClean="0"/>
              <a:t>33</a:t>
            </a:fld>
            <a:endParaRPr lang="es-CL"/>
          </a:p>
        </p:txBody>
      </p:sp>
    </p:spTree>
    <p:extLst>
      <p:ext uri="{BB962C8B-B14F-4D97-AF65-F5344CB8AC3E}">
        <p14:creationId xmlns:p14="http://schemas.microsoft.com/office/powerpoint/2010/main" val="30873439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ABD8B-5CF6-868D-3AE4-A69A29C3573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9CD6FF3-165B-35EF-5366-22B9F2B4EDB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B085022-3730-1381-57E8-B73BE19E0639}"/>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763DBEA8-05C0-3316-A567-E3AC653F4971}"/>
              </a:ext>
            </a:extLst>
          </p:cNvPr>
          <p:cNvSpPr>
            <a:spLocks noGrp="1"/>
          </p:cNvSpPr>
          <p:nvPr>
            <p:ph type="sldNum" sz="quarter" idx="5"/>
          </p:nvPr>
        </p:nvSpPr>
        <p:spPr/>
        <p:txBody>
          <a:bodyPr/>
          <a:lstStyle/>
          <a:p>
            <a:fld id="{235CC6FD-75C5-034E-BC56-691A10C41604}" type="slidenum">
              <a:rPr lang="es-CL" smtClean="0"/>
              <a:t>34</a:t>
            </a:fld>
            <a:endParaRPr lang="es-CL"/>
          </a:p>
        </p:txBody>
      </p:sp>
    </p:spTree>
    <p:extLst>
      <p:ext uri="{BB962C8B-B14F-4D97-AF65-F5344CB8AC3E}">
        <p14:creationId xmlns:p14="http://schemas.microsoft.com/office/powerpoint/2010/main" val="32450689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5B8CB-CB01-AE6B-8B3D-9A894FD11CF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80D146-1C76-0649-4C05-D7C0154F3B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121A35C-5CEE-E19C-651B-15A58731D8EF}"/>
              </a:ext>
            </a:extLst>
          </p:cNvPr>
          <p:cNvSpPr>
            <a:spLocks noGrp="1"/>
          </p:cNvSpPr>
          <p:nvPr>
            <p:ph type="body" idx="1"/>
          </p:nvPr>
        </p:nvSpPr>
        <p:spPr/>
        <p:txBody>
          <a:bodyPr/>
          <a:lstStyle/>
          <a:p>
            <a:r>
              <a:rPr lang="es-ES" dirty="0"/>
              <a:t>“</a:t>
            </a:r>
            <a:r>
              <a:rPr lang="es-ES" dirty="0" err="1"/>
              <a:t>Multipath</a:t>
            </a:r>
            <a:r>
              <a:rPr lang="es-ES" dirty="0"/>
              <a:t> significa que el receptor no ve una sola señal, sino varias copias con distintos caminos. Según cómo se sumen, la potencia recibida sube o baja. Eso se llama fading. Es normal y explica por qué a veces ‘se corta’ aunque todo esté encendido.”</a:t>
            </a:r>
            <a:endParaRPr lang="es-CL" dirty="0"/>
          </a:p>
        </p:txBody>
      </p:sp>
      <p:sp>
        <p:nvSpPr>
          <p:cNvPr id="4" name="Marcador de número de diapositiva 3">
            <a:extLst>
              <a:ext uri="{FF2B5EF4-FFF2-40B4-BE49-F238E27FC236}">
                <a16:creationId xmlns:a16="http://schemas.microsoft.com/office/drawing/2014/main" id="{39E7B8EC-37B5-5986-496C-E51DCB8962DB}"/>
              </a:ext>
            </a:extLst>
          </p:cNvPr>
          <p:cNvSpPr>
            <a:spLocks noGrp="1"/>
          </p:cNvSpPr>
          <p:nvPr>
            <p:ph type="sldNum" sz="quarter" idx="5"/>
          </p:nvPr>
        </p:nvSpPr>
        <p:spPr/>
        <p:txBody>
          <a:bodyPr/>
          <a:lstStyle/>
          <a:p>
            <a:fld id="{235CC6FD-75C5-034E-BC56-691A10C41604}" type="slidenum">
              <a:rPr lang="es-CL" smtClean="0"/>
              <a:t>35</a:t>
            </a:fld>
            <a:endParaRPr lang="es-CL"/>
          </a:p>
        </p:txBody>
      </p:sp>
    </p:spTree>
    <p:extLst>
      <p:ext uri="{BB962C8B-B14F-4D97-AF65-F5344CB8AC3E}">
        <p14:creationId xmlns:p14="http://schemas.microsoft.com/office/powerpoint/2010/main" val="24683322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DCE9D-769B-E613-DB9B-CE44D82724C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235EC39-DDF4-FB89-6794-5A6D22EF1DA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DACB5F7-79C0-3FD2-E2A8-5650E7923716}"/>
              </a:ext>
            </a:extLst>
          </p:cNvPr>
          <p:cNvSpPr>
            <a:spLocks noGrp="1"/>
          </p:cNvSpPr>
          <p:nvPr>
            <p:ph type="body" idx="1"/>
          </p:nvPr>
        </p:nvSpPr>
        <p:spPr/>
        <p:txBody>
          <a:bodyPr/>
          <a:lstStyle/>
          <a:p>
            <a:r>
              <a:rPr lang="es-ES" dirty="0"/>
              <a:t>Esto es una referencia ideal: en enlaces reales se agregan pérdidas por atmósfera, obstáculos y </a:t>
            </a:r>
            <a:r>
              <a:rPr lang="es-ES" dirty="0" err="1"/>
              <a:t>multipath</a:t>
            </a:r>
            <a:r>
              <a:rPr lang="es-ES" dirty="0"/>
              <a:t>.</a:t>
            </a:r>
            <a:endParaRPr lang="es-CL" dirty="0"/>
          </a:p>
        </p:txBody>
      </p:sp>
      <p:sp>
        <p:nvSpPr>
          <p:cNvPr id="4" name="Marcador de número de diapositiva 3">
            <a:extLst>
              <a:ext uri="{FF2B5EF4-FFF2-40B4-BE49-F238E27FC236}">
                <a16:creationId xmlns:a16="http://schemas.microsoft.com/office/drawing/2014/main" id="{5D314B95-5C34-88E3-A1B9-4B933867D579}"/>
              </a:ext>
            </a:extLst>
          </p:cNvPr>
          <p:cNvSpPr>
            <a:spLocks noGrp="1"/>
          </p:cNvSpPr>
          <p:nvPr>
            <p:ph type="sldNum" sz="quarter" idx="5"/>
          </p:nvPr>
        </p:nvSpPr>
        <p:spPr/>
        <p:txBody>
          <a:bodyPr/>
          <a:lstStyle/>
          <a:p>
            <a:fld id="{235CC6FD-75C5-034E-BC56-691A10C41604}" type="slidenum">
              <a:rPr lang="es-CL" smtClean="0"/>
              <a:t>36</a:t>
            </a:fld>
            <a:endParaRPr lang="es-CL"/>
          </a:p>
        </p:txBody>
      </p:sp>
    </p:spTree>
    <p:extLst>
      <p:ext uri="{BB962C8B-B14F-4D97-AF65-F5344CB8AC3E}">
        <p14:creationId xmlns:p14="http://schemas.microsoft.com/office/powerpoint/2010/main" val="32861408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26569-BCC0-1FF4-4DB8-31C0B192858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FB457A8-5826-93FF-B65E-53E7D397A75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C323AD4-9FFB-B1D7-B663-52D473E90740}"/>
              </a:ext>
            </a:extLst>
          </p:cNvPr>
          <p:cNvSpPr>
            <a:spLocks noGrp="1"/>
          </p:cNvSpPr>
          <p:nvPr>
            <p:ph type="body" idx="1"/>
          </p:nvPr>
        </p:nvSpPr>
        <p:spPr/>
        <p:txBody>
          <a:bodyPr/>
          <a:lstStyle/>
          <a:p>
            <a:r>
              <a:rPr lang="es-ES" dirty="0"/>
              <a:t>distancia (</a:t>
            </a:r>
            <a:r>
              <a:rPr lang="es-ES" dirty="0" err="1"/>
              <a:t>FSPL</a:t>
            </a:r>
            <a:r>
              <a:rPr lang="es-ES" dirty="0"/>
              <a:t>) • gases • lluvia • obstáculos • reflexión • difracción • </a:t>
            </a:r>
            <a:r>
              <a:rPr lang="es-ES" dirty="0" err="1"/>
              <a:t>multipath</a:t>
            </a:r>
            <a:r>
              <a:rPr lang="es-ES" dirty="0"/>
              <a:t> • interferencia</a:t>
            </a:r>
            <a:br>
              <a:rPr lang="es-ES" dirty="0"/>
            </a:br>
            <a:r>
              <a:rPr lang="es-ES" dirty="0"/>
              <a:t>“¿Qué cambia con el clima?” / “¿Qué pasa si no hay línea de vista?” / “¿Qué efecto tiene </a:t>
            </a:r>
            <a:r>
              <a:rPr lang="es-ES" dirty="0" err="1"/>
              <a:t>multipath</a:t>
            </a:r>
            <a:r>
              <a:rPr lang="es-ES" dirty="0"/>
              <a:t>?”</a:t>
            </a:r>
          </a:p>
          <a:p>
            <a:r>
              <a:rPr lang="es-ES" dirty="0"/>
              <a:t>Refuerce que </a:t>
            </a:r>
            <a:r>
              <a:rPr lang="es-ES" b="1" dirty="0" err="1"/>
              <a:t>FSPL</a:t>
            </a:r>
            <a:r>
              <a:rPr lang="es-ES" b="1" dirty="0"/>
              <a:t> es el mínimo</a:t>
            </a:r>
            <a:r>
              <a:rPr lang="es-ES" dirty="0"/>
              <a:t>, y que el resto son “pérdidas adicionales/variabilidad”.</a:t>
            </a:r>
          </a:p>
          <a:p>
            <a:endParaRPr lang="es-CL" dirty="0"/>
          </a:p>
        </p:txBody>
      </p:sp>
      <p:sp>
        <p:nvSpPr>
          <p:cNvPr id="4" name="Marcador de número de diapositiva 3">
            <a:extLst>
              <a:ext uri="{FF2B5EF4-FFF2-40B4-BE49-F238E27FC236}">
                <a16:creationId xmlns:a16="http://schemas.microsoft.com/office/drawing/2014/main" id="{865563E2-60A6-28BD-EA36-2445DD23C3D9}"/>
              </a:ext>
            </a:extLst>
          </p:cNvPr>
          <p:cNvSpPr>
            <a:spLocks noGrp="1"/>
          </p:cNvSpPr>
          <p:nvPr>
            <p:ph type="sldNum" sz="quarter" idx="5"/>
          </p:nvPr>
        </p:nvSpPr>
        <p:spPr/>
        <p:txBody>
          <a:bodyPr/>
          <a:lstStyle/>
          <a:p>
            <a:fld id="{235CC6FD-75C5-034E-BC56-691A10C41604}" type="slidenum">
              <a:rPr lang="es-CL" smtClean="0"/>
              <a:t>37</a:t>
            </a:fld>
            <a:endParaRPr lang="es-CL"/>
          </a:p>
        </p:txBody>
      </p:sp>
    </p:spTree>
    <p:extLst>
      <p:ext uri="{BB962C8B-B14F-4D97-AF65-F5344CB8AC3E}">
        <p14:creationId xmlns:p14="http://schemas.microsoft.com/office/powerpoint/2010/main" val="21715556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B0D77-AB1A-8A99-5ED3-FE34DD43F28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0653169-442A-4FCD-F1D3-604D455451A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EEC7A5F-8DE9-60AE-F5E2-1C719C5AA3AE}"/>
              </a:ext>
            </a:extLst>
          </p:cNvPr>
          <p:cNvSpPr>
            <a:spLocks noGrp="1"/>
          </p:cNvSpPr>
          <p:nvPr>
            <p:ph type="body" idx="1"/>
          </p:nvPr>
        </p:nvSpPr>
        <p:spPr/>
        <p:txBody>
          <a:bodyPr/>
          <a:lstStyle/>
          <a:p>
            <a:r>
              <a:rPr lang="es-ES" dirty="0"/>
              <a:t>“En este módulo veremos qué hace una antena y por qué su patrón de radiación es clave. La idea central: la antena no solo ‘emite’, sino que distribuye energía en el espacio, y eso define cobertura, alcance y calidad del enlace.”</a:t>
            </a:r>
          </a:p>
          <a:p>
            <a:r>
              <a:rPr lang="es-ES" dirty="0"/>
              <a:t>“La antena es el puente entre el equipo y el aire. En TX transforma energía eléctrica en radiación; en </a:t>
            </a:r>
            <a:r>
              <a:rPr lang="es-ES" dirty="0" err="1"/>
              <a:t>RX</a:t>
            </a:r>
            <a:r>
              <a:rPr lang="es-ES" dirty="0"/>
              <a:t> hace lo contrario. Lo más importante para el curso es que la antena define cómo ‘sale’ y cómo ‘entra’ la energía: eso se representa con el patrón de radiación, que veremos a continuación.”</a:t>
            </a:r>
            <a:endParaRPr lang="es-CL" dirty="0"/>
          </a:p>
        </p:txBody>
      </p:sp>
      <p:sp>
        <p:nvSpPr>
          <p:cNvPr id="4" name="Marcador de número de diapositiva 3">
            <a:extLst>
              <a:ext uri="{FF2B5EF4-FFF2-40B4-BE49-F238E27FC236}">
                <a16:creationId xmlns:a16="http://schemas.microsoft.com/office/drawing/2014/main" id="{6F7566E6-24EC-3217-F14F-E0843B79D8F0}"/>
              </a:ext>
            </a:extLst>
          </p:cNvPr>
          <p:cNvSpPr>
            <a:spLocks noGrp="1"/>
          </p:cNvSpPr>
          <p:nvPr>
            <p:ph type="sldNum" sz="quarter" idx="5"/>
          </p:nvPr>
        </p:nvSpPr>
        <p:spPr/>
        <p:txBody>
          <a:bodyPr/>
          <a:lstStyle/>
          <a:p>
            <a:fld id="{235CC6FD-75C5-034E-BC56-691A10C41604}" type="slidenum">
              <a:rPr lang="es-CL" smtClean="0"/>
              <a:t>38</a:t>
            </a:fld>
            <a:endParaRPr lang="es-CL"/>
          </a:p>
        </p:txBody>
      </p:sp>
    </p:spTree>
    <p:extLst>
      <p:ext uri="{BB962C8B-B14F-4D97-AF65-F5344CB8AC3E}">
        <p14:creationId xmlns:p14="http://schemas.microsoft.com/office/powerpoint/2010/main" val="28456069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5F658-382E-8DA7-9529-443997B812A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E0E978-6035-3D5C-4128-F3CECB1F334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D817FC1-E0A7-E71C-8C06-9F8E5600C461}"/>
              </a:ext>
            </a:extLst>
          </p:cNvPr>
          <p:cNvSpPr>
            <a:spLocks noGrp="1"/>
          </p:cNvSpPr>
          <p:nvPr>
            <p:ph type="body" idx="1"/>
          </p:nvPr>
        </p:nvSpPr>
        <p:spPr/>
        <p:txBody>
          <a:bodyPr/>
          <a:lstStyle/>
          <a:p>
            <a:r>
              <a:rPr lang="es-ES" dirty="0"/>
              <a:t>“La antena es el puente entre el equipo y el aire. En TX transforma energía eléctrica en radiación; en </a:t>
            </a:r>
            <a:r>
              <a:rPr lang="es-ES" dirty="0" err="1"/>
              <a:t>RX</a:t>
            </a:r>
            <a:r>
              <a:rPr lang="es-ES" dirty="0"/>
              <a:t> hace lo contrario. Lo más importante para el curso es que la antena define cómo ‘sale’ y cómo ‘entra’ la energía: eso se representa con el patrón de radiación, que veremos a continuación.”</a:t>
            </a:r>
          </a:p>
        </p:txBody>
      </p:sp>
      <p:sp>
        <p:nvSpPr>
          <p:cNvPr id="4" name="Marcador de número de diapositiva 3">
            <a:extLst>
              <a:ext uri="{FF2B5EF4-FFF2-40B4-BE49-F238E27FC236}">
                <a16:creationId xmlns:a16="http://schemas.microsoft.com/office/drawing/2014/main" id="{100EA494-83D7-D172-185D-4EA6077CABD9}"/>
              </a:ext>
            </a:extLst>
          </p:cNvPr>
          <p:cNvSpPr>
            <a:spLocks noGrp="1"/>
          </p:cNvSpPr>
          <p:nvPr>
            <p:ph type="sldNum" sz="quarter" idx="5"/>
          </p:nvPr>
        </p:nvSpPr>
        <p:spPr/>
        <p:txBody>
          <a:bodyPr/>
          <a:lstStyle/>
          <a:p>
            <a:fld id="{235CC6FD-75C5-034E-BC56-691A10C41604}" type="slidenum">
              <a:rPr lang="es-CL" smtClean="0"/>
              <a:t>39</a:t>
            </a:fld>
            <a:endParaRPr lang="es-CL"/>
          </a:p>
        </p:txBody>
      </p:sp>
    </p:spTree>
    <p:extLst>
      <p:ext uri="{BB962C8B-B14F-4D97-AF65-F5344CB8AC3E}">
        <p14:creationId xmlns:p14="http://schemas.microsoft.com/office/powerpoint/2010/main" val="11132567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26175-D17C-018C-9807-464F96349FB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46430F8-67BA-A854-D7E5-B10CFF89181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A727CDF-A2D4-B144-F4EA-5670BB95CA63}"/>
              </a:ext>
            </a:extLst>
          </p:cNvPr>
          <p:cNvSpPr>
            <a:spLocks noGrp="1"/>
          </p:cNvSpPr>
          <p:nvPr>
            <p:ph type="body" idx="1"/>
          </p:nvPr>
        </p:nvSpPr>
        <p:spPr/>
        <p:txBody>
          <a:bodyPr/>
          <a:lstStyle/>
          <a:p>
            <a:r>
              <a:rPr lang="es-ES" dirty="0"/>
              <a:t>“En este módulo veremos qué hace una antena y por qué su patrón de radiación es clave. La idea central: la antena no solo ‘emite’, sino que distribuye energía en el espacio, y eso define cobertura, alcance y calidad del enlace.”</a:t>
            </a:r>
          </a:p>
          <a:p>
            <a:r>
              <a:rPr lang="es-ES" dirty="0"/>
              <a:t>“La antena es el puente entre el equipo y el aire. En TX transforma energía eléctrica en radiación; en </a:t>
            </a:r>
            <a:r>
              <a:rPr lang="es-ES" dirty="0" err="1"/>
              <a:t>RX</a:t>
            </a:r>
            <a:r>
              <a:rPr lang="es-ES" dirty="0"/>
              <a:t> hace lo contrario. Lo más importante para el curso es que la antena define cómo ‘sale’ y cómo ‘entra’ la energía: eso se representa con el patrón de radiación, que veremos a continuación.”</a:t>
            </a:r>
            <a:endParaRPr lang="es-CL" dirty="0"/>
          </a:p>
        </p:txBody>
      </p:sp>
      <p:sp>
        <p:nvSpPr>
          <p:cNvPr id="4" name="Marcador de número de diapositiva 3">
            <a:extLst>
              <a:ext uri="{FF2B5EF4-FFF2-40B4-BE49-F238E27FC236}">
                <a16:creationId xmlns:a16="http://schemas.microsoft.com/office/drawing/2014/main" id="{AA8B8600-6995-F044-B07B-8F0A35A71487}"/>
              </a:ext>
            </a:extLst>
          </p:cNvPr>
          <p:cNvSpPr>
            <a:spLocks noGrp="1"/>
          </p:cNvSpPr>
          <p:nvPr>
            <p:ph type="sldNum" sz="quarter" idx="5"/>
          </p:nvPr>
        </p:nvSpPr>
        <p:spPr/>
        <p:txBody>
          <a:bodyPr/>
          <a:lstStyle/>
          <a:p>
            <a:fld id="{235CC6FD-75C5-034E-BC56-691A10C41604}" type="slidenum">
              <a:rPr lang="es-CL" smtClean="0"/>
              <a:t>40</a:t>
            </a:fld>
            <a:endParaRPr lang="es-CL"/>
          </a:p>
        </p:txBody>
      </p:sp>
    </p:spTree>
    <p:extLst>
      <p:ext uri="{BB962C8B-B14F-4D97-AF65-F5344CB8AC3E}">
        <p14:creationId xmlns:p14="http://schemas.microsoft.com/office/powerpoint/2010/main" val="33801215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365FB-E8B4-8778-3544-081FD5FBCD3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23A2995-B3A9-BC69-426A-21043497721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4731DCE-B11F-67A5-837B-58601B68B08D}"/>
              </a:ext>
            </a:extLst>
          </p:cNvPr>
          <p:cNvSpPr>
            <a:spLocks noGrp="1"/>
          </p:cNvSpPr>
          <p:nvPr>
            <p:ph type="body" idx="1"/>
          </p:nvPr>
        </p:nvSpPr>
        <p:spPr/>
        <p:txBody>
          <a:bodyPr/>
          <a:lstStyle/>
          <a:p>
            <a:r>
              <a:rPr lang="es-ES" dirty="0"/>
              <a:t>“Este patrón es la ‘firma’ de la antena. Una antena direccional concentra energía en una dirección (mejor para enlaces punto a punto), mientras que una </a:t>
            </a:r>
            <a:r>
              <a:rPr lang="es-ES" dirty="0" err="1"/>
              <a:t>omni</a:t>
            </a:r>
            <a:r>
              <a:rPr lang="es-ES" dirty="0"/>
              <a:t> reparte energía para cobertura. Los lóbulos laterales y nulos importan porque pueden generar o recibir interferencia.”</a:t>
            </a:r>
            <a:endParaRPr lang="es-CL" dirty="0"/>
          </a:p>
        </p:txBody>
      </p:sp>
      <p:sp>
        <p:nvSpPr>
          <p:cNvPr id="4" name="Marcador de número de diapositiva 3">
            <a:extLst>
              <a:ext uri="{FF2B5EF4-FFF2-40B4-BE49-F238E27FC236}">
                <a16:creationId xmlns:a16="http://schemas.microsoft.com/office/drawing/2014/main" id="{CE8960CB-8907-D0C9-344D-44AEBBB8B67D}"/>
              </a:ext>
            </a:extLst>
          </p:cNvPr>
          <p:cNvSpPr>
            <a:spLocks noGrp="1"/>
          </p:cNvSpPr>
          <p:nvPr>
            <p:ph type="sldNum" sz="quarter" idx="5"/>
          </p:nvPr>
        </p:nvSpPr>
        <p:spPr/>
        <p:txBody>
          <a:bodyPr/>
          <a:lstStyle/>
          <a:p>
            <a:fld id="{235CC6FD-75C5-034E-BC56-691A10C41604}" type="slidenum">
              <a:rPr lang="es-CL" smtClean="0"/>
              <a:t>41</a:t>
            </a:fld>
            <a:endParaRPr lang="es-CL"/>
          </a:p>
        </p:txBody>
      </p:sp>
    </p:spTree>
    <p:extLst>
      <p:ext uri="{BB962C8B-B14F-4D97-AF65-F5344CB8AC3E}">
        <p14:creationId xmlns:p14="http://schemas.microsoft.com/office/powerpoint/2010/main" val="8657887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D6C6D-FA3C-288C-0457-E810F548E9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1939655-F6F8-F0FD-32C7-15C477D760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76D6801-9052-EA99-7006-02684D3DDE5E}"/>
              </a:ext>
            </a:extLst>
          </p:cNvPr>
          <p:cNvSpPr>
            <a:spLocks noGrp="1"/>
          </p:cNvSpPr>
          <p:nvPr>
            <p:ph type="body" idx="1"/>
          </p:nvPr>
        </p:nvSpPr>
        <p:spPr/>
        <p:txBody>
          <a:bodyPr/>
          <a:lstStyle/>
          <a:p>
            <a:r>
              <a:rPr lang="es-ES" dirty="0"/>
              <a:t>“Si quiero que ‘llegue a todos’ dentro de un área, uso </a:t>
            </a:r>
            <a:r>
              <a:rPr lang="es-ES" dirty="0" err="1"/>
              <a:t>omni</a:t>
            </a:r>
            <a:r>
              <a:rPr lang="es-ES" dirty="0"/>
              <a:t>. Si quiero conectar un punto con otro y maximizar energía en una dirección, uso direccional. Esta decisión se repite en </a:t>
            </a:r>
            <a:r>
              <a:rPr lang="es-ES" dirty="0" err="1"/>
              <a:t>VHF</a:t>
            </a:r>
            <a:r>
              <a:rPr lang="es-ES" dirty="0"/>
              <a:t>/</a:t>
            </a:r>
            <a:r>
              <a:rPr lang="es-ES" dirty="0" err="1"/>
              <a:t>UHF</a:t>
            </a:r>
            <a:r>
              <a:rPr lang="es-ES" dirty="0"/>
              <a:t>, microondas y enlaces de larga distancia.”</a:t>
            </a:r>
            <a:endParaRPr lang="es-CL" dirty="0"/>
          </a:p>
        </p:txBody>
      </p:sp>
      <p:sp>
        <p:nvSpPr>
          <p:cNvPr id="4" name="Marcador de número de diapositiva 3">
            <a:extLst>
              <a:ext uri="{FF2B5EF4-FFF2-40B4-BE49-F238E27FC236}">
                <a16:creationId xmlns:a16="http://schemas.microsoft.com/office/drawing/2014/main" id="{AC13DB76-CE1A-E6AC-F631-F5F91AF1C172}"/>
              </a:ext>
            </a:extLst>
          </p:cNvPr>
          <p:cNvSpPr>
            <a:spLocks noGrp="1"/>
          </p:cNvSpPr>
          <p:nvPr>
            <p:ph type="sldNum" sz="quarter" idx="5"/>
          </p:nvPr>
        </p:nvSpPr>
        <p:spPr/>
        <p:txBody>
          <a:bodyPr/>
          <a:lstStyle/>
          <a:p>
            <a:fld id="{235CC6FD-75C5-034E-BC56-691A10C41604}" type="slidenum">
              <a:rPr lang="es-CL" smtClean="0"/>
              <a:t>42</a:t>
            </a:fld>
            <a:endParaRPr lang="es-CL"/>
          </a:p>
        </p:txBody>
      </p:sp>
    </p:spTree>
    <p:extLst>
      <p:ext uri="{BB962C8B-B14F-4D97-AF65-F5344CB8AC3E}">
        <p14:creationId xmlns:p14="http://schemas.microsoft.com/office/powerpoint/2010/main" val="17133095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62CF1-FC31-08D8-6D1E-DDFB2CAB12D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20C0DB1-E08A-294A-91EC-AC3AB6F7608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EC825B0-6A1F-137E-D131-94984AE9F395}"/>
              </a:ext>
            </a:extLst>
          </p:cNvPr>
          <p:cNvSpPr>
            <a:spLocks noGrp="1"/>
          </p:cNvSpPr>
          <p:nvPr>
            <p:ph type="body" idx="1"/>
          </p:nvPr>
        </p:nvSpPr>
        <p:spPr/>
        <p:txBody>
          <a:bodyPr/>
          <a:lstStyle/>
          <a:p>
            <a:r>
              <a:rPr lang="es-ES" dirty="0"/>
              <a:t>“Directividad y ganancia se entienden como concentración. No es magia: la antena no crea potencia, solo la distribuye. Si concentro energía en una dirección, obtengo más nivel útil hacia el receptor, pero reduzco cobertura en otras direcciones.”</a:t>
            </a:r>
            <a:endParaRPr lang="es-CL" dirty="0"/>
          </a:p>
        </p:txBody>
      </p:sp>
      <p:sp>
        <p:nvSpPr>
          <p:cNvPr id="4" name="Marcador de número de diapositiva 3">
            <a:extLst>
              <a:ext uri="{FF2B5EF4-FFF2-40B4-BE49-F238E27FC236}">
                <a16:creationId xmlns:a16="http://schemas.microsoft.com/office/drawing/2014/main" id="{F1F3368D-A22E-F328-3884-7857E5ADE4E3}"/>
              </a:ext>
            </a:extLst>
          </p:cNvPr>
          <p:cNvSpPr>
            <a:spLocks noGrp="1"/>
          </p:cNvSpPr>
          <p:nvPr>
            <p:ph type="sldNum" sz="quarter" idx="5"/>
          </p:nvPr>
        </p:nvSpPr>
        <p:spPr/>
        <p:txBody>
          <a:bodyPr/>
          <a:lstStyle/>
          <a:p>
            <a:fld id="{235CC6FD-75C5-034E-BC56-691A10C41604}" type="slidenum">
              <a:rPr lang="es-CL" smtClean="0"/>
              <a:t>43</a:t>
            </a:fld>
            <a:endParaRPr lang="es-CL"/>
          </a:p>
        </p:txBody>
      </p:sp>
    </p:spTree>
    <p:extLst>
      <p:ext uri="{BB962C8B-B14F-4D97-AF65-F5344CB8AC3E}">
        <p14:creationId xmlns:p14="http://schemas.microsoft.com/office/powerpoint/2010/main" val="35516735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12B29-A1E5-017E-5D1F-B8ECDA37FB9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4040BCE-3930-9D5B-9A8B-A354A27909A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DF04991-012D-2D2C-D962-7474E2B10148}"/>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A6D79CCF-0815-8E00-21ED-73ABD6BD47D0}"/>
              </a:ext>
            </a:extLst>
          </p:cNvPr>
          <p:cNvSpPr>
            <a:spLocks noGrp="1"/>
          </p:cNvSpPr>
          <p:nvPr>
            <p:ph type="sldNum" sz="quarter" idx="5"/>
          </p:nvPr>
        </p:nvSpPr>
        <p:spPr/>
        <p:txBody>
          <a:bodyPr/>
          <a:lstStyle/>
          <a:p>
            <a:fld id="{235CC6FD-75C5-034E-BC56-691A10C41604}" type="slidenum">
              <a:rPr lang="es-CL" smtClean="0"/>
              <a:t>44</a:t>
            </a:fld>
            <a:endParaRPr lang="es-CL"/>
          </a:p>
        </p:txBody>
      </p:sp>
    </p:spTree>
    <p:extLst>
      <p:ext uri="{BB962C8B-B14F-4D97-AF65-F5344CB8AC3E}">
        <p14:creationId xmlns:p14="http://schemas.microsoft.com/office/powerpoint/2010/main" val="153510092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C6876-910D-AE4D-AD17-0882982FFB1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60AA128-7001-0CF1-093B-E5118F6C19A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E87A575-EC4F-593B-65CC-BB2B86A558C5}"/>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A563771E-C410-DCD9-1ED5-F2576D0B3D06}"/>
              </a:ext>
            </a:extLst>
          </p:cNvPr>
          <p:cNvSpPr>
            <a:spLocks noGrp="1"/>
          </p:cNvSpPr>
          <p:nvPr>
            <p:ph type="sldNum" sz="quarter" idx="5"/>
          </p:nvPr>
        </p:nvSpPr>
        <p:spPr/>
        <p:txBody>
          <a:bodyPr/>
          <a:lstStyle/>
          <a:p>
            <a:fld id="{235CC6FD-75C5-034E-BC56-691A10C41604}" type="slidenum">
              <a:rPr lang="es-CL" smtClean="0"/>
              <a:t>45</a:t>
            </a:fld>
            <a:endParaRPr lang="es-CL"/>
          </a:p>
        </p:txBody>
      </p:sp>
    </p:spTree>
    <p:extLst>
      <p:ext uri="{BB962C8B-B14F-4D97-AF65-F5344CB8AC3E}">
        <p14:creationId xmlns:p14="http://schemas.microsoft.com/office/powerpoint/2010/main" val="26857200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E5AC4-A6FB-61F9-84F3-7337CC91B24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E0597BD-B59D-85BB-A60E-2CCD2A4DA27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CE3BF28-52E2-8E20-5571-A125C59D00A4}"/>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58856191-9DEC-C726-7132-B26BA2194A19}"/>
              </a:ext>
            </a:extLst>
          </p:cNvPr>
          <p:cNvSpPr>
            <a:spLocks noGrp="1"/>
          </p:cNvSpPr>
          <p:nvPr>
            <p:ph type="sldNum" sz="quarter" idx="5"/>
          </p:nvPr>
        </p:nvSpPr>
        <p:spPr/>
        <p:txBody>
          <a:bodyPr/>
          <a:lstStyle/>
          <a:p>
            <a:fld id="{235CC6FD-75C5-034E-BC56-691A10C41604}" type="slidenum">
              <a:rPr lang="es-CL" smtClean="0"/>
              <a:t>46</a:t>
            </a:fld>
            <a:endParaRPr lang="es-CL"/>
          </a:p>
        </p:txBody>
      </p:sp>
    </p:spTree>
    <p:extLst>
      <p:ext uri="{BB962C8B-B14F-4D97-AF65-F5344CB8AC3E}">
        <p14:creationId xmlns:p14="http://schemas.microsoft.com/office/powerpoint/2010/main" val="130138356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DCF15-9F71-AF7F-02F5-603EAAF1677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EDD12D6-8CBF-87E6-2A2C-DC3AE2CA7EC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0DD9F1F-8CD4-B1CA-631C-586F4F89BC0E}"/>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01406B55-3FA8-39CD-A2C0-DFADDCAAE180}"/>
              </a:ext>
            </a:extLst>
          </p:cNvPr>
          <p:cNvSpPr>
            <a:spLocks noGrp="1"/>
          </p:cNvSpPr>
          <p:nvPr>
            <p:ph type="sldNum" sz="quarter" idx="5"/>
          </p:nvPr>
        </p:nvSpPr>
        <p:spPr/>
        <p:txBody>
          <a:bodyPr/>
          <a:lstStyle/>
          <a:p>
            <a:fld id="{235CC6FD-75C5-034E-BC56-691A10C41604}" type="slidenum">
              <a:rPr lang="es-CL" smtClean="0"/>
              <a:t>47</a:t>
            </a:fld>
            <a:endParaRPr lang="es-CL"/>
          </a:p>
        </p:txBody>
      </p:sp>
    </p:spTree>
    <p:extLst>
      <p:ext uri="{BB962C8B-B14F-4D97-AF65-F5344CB8AC3E}">
        <p14:creationId xmlns:p14="http://schemas.microsoft.com/office/powerpoint/2010/main" val="379060393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229CC-5708-F803-AEE3-2578F89B7A1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7EAFD6D-5557-9786-69A3-DBEC831F17A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39D7731-ADB9-0CEE-53AC-0746921AEF4D}"/>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2FF280B2-0456-9AA6-3A8D-450D1F473C3C}"/>
              </a:ext>
            </a:extLst>
          </p:cNvPr>
          <p:cNvSpPr>
            <a:spLocks noGrp="1"/>
          </p:cNvSpPr>
          <p:nvPr>
            <p:ph type="sldNum" sz="quarter" idx="5"/>
          </p:nvPr>
        </p:nvSpPr>
        <p:spPr/>
        <p:txBody>
          <a:bodyPr/>
          <a:lstStyle/>
          <a:p>
            <a:fld id="{235CC6FD-75C5-034E-BC56-691A10C41604}" type="slidenum">
              <a:rPr lang="es-CL" smtClean="0"/>
              <a:t>48</a:t>
            </a:fld>
            <a:endParaRPr lang="es-CL"/>
          </a:p>
        </p:txBody>
      </p:sp>
    </p:spTree>
    <p:extLst>
      <p:ext uri="{BB962C8B-B14F-4D97-AF65-F5344CB8AC3E}">
        <p14:creationId xmlns:p14="http://schemas.microsoft.com/office/powerpoint/2010/main" val="31279450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3E92B-6544-660E-FA87-633232575AD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037BCC4-BF0A-F5B9-CCEF-2014C1B82BA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4E97D1D-EC5F-8021-B91A-2B559D576087}"/>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606E99B1-BD02-EB6E-34D0-2647036CF5F3}"/>
              </a:ext>
            </a:extLst>
          </p:cNvPr>
          <p:cNvSpPr>
            <a:spLocks noGrp="1"/>
          </p:cNvSpPr>
          <p:nvPr>
            <p:ph type="sldNum" sz="quarter" idx="5"/>
          </p:nvPr>
        </p:nvSpPr>
        <p:spPr/>
        <p:txBody>
          <a:bodyPr/>
          <a:lstStyle/>
          <a:p>
            <a:fld id="{235CC6FD-75C5-034E-BC56-691A10C41604}" type="slidenum">
              <a:rPr lang="es-CL" smtClean="0"/>
              <a:t>49</a:t>
            </a:fld>
            <a:endParaRPr lang="es-CL"/>
          </a:p>
        </p:txBody>
      </p:sp>
    </p:spTree>
    <p:extLst>
      <p:ext uri="{BB962C8B-B14F-4D97-AF65-F5344CB8AC3E}">
        <p14:creationId xmlns:p14="http://schemas.microsoft.com/office/powerpoint/2010/main" val="422459584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D5B5B-5D4D-7E37-612F-A9E171B87B6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5674648-8C58-54B4-C24B-81AFB37C8A0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ECD3243-3E73-75B9-DEE4-10799E2F8034}"/>
              </a:ext>
            </a:extLst>
          </p:cNvPr>
          <p:cNvSpPr>
            <a:spLocks noGrp="1"/>
          </p:cNvSpPr>
          <p:nvPr>
            <p:ph type="body" idx="1"/>
          </p:nvPr>
        </p:nvSpPr>
        <p:spPr/>
        <p:txBody>
          <a:bodyPr/>
          <a:lstStyle/>
          <a:p>
            <a:endParaRPr lang="es-CL" dirty="0"/>
          </a:p>
        </p:txBody>
      </p:sp>
      <p:sp>
        <p:nvSpPr>
          <p:cNvPr id="4" name="Marcador de número de diapositiva 3">
            <a:extLst>
              <a:ext uri="{FF2B5EF4-FFF2-40B4-BE49-F238E27FC236}">
                <a16:creationId xmlns:a16="http://schemas.microsoft.com/office/drawing/2014/main" id="{4B35968B-7F2D-270D-D4E2-70A9BC00DE97}"/>
              </a:ext>
            </a:extLst>
          </p:cNvPr>
          <p:cNvSpPr>
            <a:spLocks noGrp="1"/>
          </p:cNvSpPr>
          <p:nvPr>
            <p:ph type="sldNum" sz="quarter" idx="5"/>
          </p:nvPr>
        </p:nvSpPr>
        <p:spPr/>
        <p:txBody>
          <a:bodyPr/>
          <a:lstStyle/>
          <a:p>
            <a:fld id="{235CC6FD-75C5-034E-BC56-691A10C41604}" type="slidenum">
              <a:rPr lang="es-CL" smtClean="0"/>
              <a:t>50</a:t>
            </a:fld>
            <a:endParaRPr lang="es-CL"/>
          </a:p>
        </p:txBody>
      </p:sp>
    </p:spTree>
    <p:extLst>
      <p:ext uri="{BB962C8B-B14F-4D97-AF65-F5344CB8AC3E}">
        <p14:creationId xmlns:p14="http://schemas.microsoft.com/office/powerpoint/2010/main" val="37602475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4F924-14E5-3D53-8FCF-A09B534BFDF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D48EA0F-260A-F5EB-D425-6FFA9CE2201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953134E-60C7-1965-047E-631D4477B757}"/>
              </a:ext>
            </a:extLst>
          </p:cNvPr>
          <p:cNvSpPr>
            <a:spLocks noGrp="1"/>
          </p:cNvSpPr>
          <p:nvPr>
            <p:ph type="body" idx="1"/>
          </p:nvPr>
        </p:nvSpPr>
        <p:spPr/>
        <p:txBody>
          <a:bodyPr/>
          <a:lstStyle/>
          <a:p>
            <a:r>
              <a:rPr lang="es-ES" dirty="0"/>
              <a:t>“El reflector no es solo ‘una forma bonita’: su función es dirigir energía. La parábola es un caso clásico porque permite formar un haz estrecho. Esto es fundamental en microondas, donde se busca enlace punto a punto con buena eficiencia.”</a:t>
            </a:r>
            <a:endParaRPr lang="es-CL" dirty="0"/>
          </a:p>
        </p:txBody>
      </p:sp>
      <p:sp>
        <p:nvSpPr>
          <p:cNvPr id="4" name="Marcador de número de diapositiva 3">
            <a:extLst>
              <a:ext uri="{FF2B5EF4-FFF2-40B4-BE49-F238E27FC236}">
                <a16:creationId xmlns:a16="http://schemas.microsoft.com/office/drawing/2014/main" id="{DC2B3A09-9044-52FF-CA88-37B32ADA8DDA}"/>
              </a:ext>
            </a:extLst>
          </p:cNvPr>
          <p:cNvSpPr>
            <a:spLocks noGrp="1"/>
          </p:cNvSpPr>
          <p:nvPr>
            <p:ph type="sldNum" sz="quarter" idx="5"/>
          </p:nvPr>
        </p:nvSpPr>
        <p:spPr/>
        <p:txBody>
          <a:bodyPr/>
          <a:lstStyle/>
          <a:p>
            <a:fld id="{235CC6FD-75C5-034E-BC56-691A10C41604}" type="slidenum">
              <a:rPr lang="es-CL" smtClean="0"/>
              <a:t>51</a:t>
            </a:fld>
            <a:endParaRPr lang="es-CL"/>
          </a:p>
        </p:txBody>
      </p:sp>
    </p:spTree>
    <p:extLst>
      <p:ext uri="{BB962C8B-B14F-4D97-AF65-F5344CB8AC3E}">
        <p14:creationId xmlns:p14="http://schemas.microsoft.com/office/powerpoint/2010/main" val="220993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A4DCFF-58D8-97D2-51D3-6268BB6964E5}"/>
              </a:ext>
            </a:extLst>
          </p:cNvPr>
          <p:cNvSpPr>
            <a:spLocks noGrp="1"/>
          </p:cNvSpPr>
          <p:nvPr>
            <p:ph type="ctrTitle"/>
          </p:nvPr>
        </p:nvSpPr>
        <p:spPr>
          <a:xfrm>
            <a:off x="2513013" y="1850860"/>
            <a:ext cx="15078075" cy="3937329"/>
          </a:xfrm>
        </p:spPr>
        <p:txBody>
          <a:bodyPr anchor="b"/>
          <a:lstStyle>
            <a:lvl1pPr algn="ctr">
              <a:defRPr sz="9894"/>
            </a:lvl1pPr>
          </a:lstStyle>
          <a:p>
            <a:r>
              <a:rPr lang="es-MX"/>
              <a:t>Haz clic para modificar el estilo de título del patrón</a:t>
            </a:r>
            <a:endParaRPr lang="es-CL"/>
          </a:p>
        </p:txBody>
      </p:sp>
      <p:sp>
        <p:nvSpPr>
          <p:cNvPr id="3" name="Subtítulo 2">
            <a:extLst>
              <a:ext uri="{FF2B5EF4-FFF2-40B4-BE49-F238E27FC236}">
                <a16:creationId xmlns:a16="http://schemas.microsoft.com/office/drawing/2014/main" id="{55B0821F-352C-1076-2ECE-CDE7AF308798}"/>
              </a:ext>
            </a:extLst>
          </p:cNvPr>
          <p:cNvSpPr>
            <a:spLocks noGrp="1"/>
          </p:cNvSpPr>
          <p:nvPr>
            <p:ph type="subTitle" idx="1"/>
          </p:nvPr>
        </p:nvSpPr>
        <p:spPr>
          <a:xfrm>
            <a:off x="2513013" y="5940028"/>
            <a:ext cx="15078075" cy="2730474"/>
          </a:xfrm>
        </p:spPr>
        <p:txBody>
          <a:bodyPr/>
          <a:lstStyle>
            <a:lvl1pPr marL="0" indent="0" algn="ctr">
              <a:buNone/>
              <a:defRPr sz="3958"/>
            </a:lvl1pPr>
            <a:lvl2pPr marL="753923" indent="0" algn="ctr">
              <a:buNone/>
              <a:defRPr sz="3298"/>
            </a:lvl2pPr>
            <a:lvl3pPr marL="1507846" indent="0" algn="ctr">
              <a:buNone/>
              <a:defRPr sz="2968"/>
            </a:lvl3pPr>
            <a:lvl4pPr marL="2261768" indent="0" algn="ctr">
              <a:buNone/>
              <a:defRPr sz="2638"/>
            </a:lvl4pPr>
            <a:lvl5pPr marL="3015691" indent="0" algn="ctr">
              <a:buNone/>
              <a:defRPr sz="2638"/>
            </a:lvl5pPr>
            <a:lvl6pPr marL="3769614" indent="0" algn="ctr">
              <a:buNone/>
              <a:defRPr sz="2638"/>
            </a:lvl6pPr>
            <a:lvl7pPr marL="4523537" indent="0" algn="ctr">
              <a:buNone/>
              <a:defRPr sz="2638"/>
            </a:lvl7pPr>
            <a:lvl8pPr marL="5277460" indent="0" algn="ctr">
              <a:buNone/>
              <a:defRPr sz="2638"/>
            </a:lvl8pPr>
            <a:lvl9pPr marL="6031382" indent="0" algn="ctr">
              <a:buNone/>
              <a:defRPr sz="2638"/>
            </a:lvl9pPr>
          </a:lstStyle>
          <a:p>
            <a:r>
              <a:rPr lang="es-MX"/>
              <a:t>Haz clic para editar el estilo de subtítulo del patrón</a:t>
            </a:r>
            <a:endParaRPr lang="es-CL"/>
          </a:p>
        </p:txBody>
      </p:sp>
      <p:sp>
        <p:nvSpPr>
          <p:cNvPr id="4" name="Marcador de fecha 3">
            <a:extLst>
              <a:ext uri="{FF2B5EF4-FFF2-40B4-BE49-F238E27FC236}">
                <a16:creationId xmlns:a16="http://schemas.microsoft.com/office/drawing/2014/main" id="{D5FF513E-E201-4345-522F-05D5BDC94E6E}"/>
              </a:ext>
            </a:extLst>
          </p:cNvPr>
          <p:cNvSpPr>
            <a:spLocks noGrp="1"/>
          </p:cNvSpPr>
          <p:nvPr>
            <p:ph type="dt" sz="half" idx="10"/>
          </p:nvPr>
        </p:nvSpPr>
        <p:spPr/>
        <p:txBody>
          <a:bodyPr/>
          <a:lstStyle/>
          <a:p>
            <a:fld id="{1D8BD707-D9CF-40AE-B4C6-C98DA3205C09}" type="datetimeFigureOut">
              <a:rPr lang="en-US" smtClean="0"/>
              <a:t>3/16/2026</a:t>
            </a:fld>
            <a:endParaRPr lang="en-US"/>
          </a:p>
        </p:txBody>
      </p:sp>
      <p:sp>
        <p:nvSpPr>
          <p:cNvPr id="5" name="Marcador de pie de página 4">
            <a:extLst>
              <a:ext uri="{FF2B5EF4-FFF2-40B4-BE49-F238E27FC236}">
                <a16:creationId xmlns:a16="http://schemas.microsoft.com/office/drawing/2014/main" id="{32371351-BD5F-0CBD-6276-4BE74B70A5A0}"/>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62B4A449-F555-EC65-0F1B-0ABB7AA84E3E}"/>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2522483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535A15-CC56-D4D0-6469-74F8CA91D8D9}"/>
              </a:ext>
            </a:extLst>
          </p:cNvPr>
          <p:cNvSpPr>
            <a:spLocks noGrp="1"/>
          </p:cNvSpPr>
          <p:nvPr>
            <p:ph type="title"/>
          </p:nvPr>
        </p:nvSpPr>
        <p:spPr/>
        <p:txBody>
          <a:bodyPr/>
          <a:lstStyle/>
          <a:p>
            <a:r>
              <a:rPr lang="es-MX"/>
              <a:t>Haz clic para modificar el estilo de título del patrón</a:t>
            </a:r>
            <a:endParaRPr lang="es-CL"/>
          </a:p>
        </p:txBody>
      </p:sp>
      <p:sp>
        <p:nvSpPr>
          <p:cNvPr id="3" name="Marcador de contenido 2">
            <a:extLst>
              <a:ext uri="{FF2B5EF4-FFF2-40B4-BE49-F238E27FC236}">
                <a16:creationId xmlns:a16="http://schemas.microsoft.com/office/drawing/2014/main" id="{3761CDD0-AEA2-E1E1-8449-BEFC90594D48}"/>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fecha 3">
            <a:extLst>
              <a:ext uri="{FF2B5EF4-FFF2-40B4-BE49-F238E27FC236}">
                <a16:creationId xmlns:a16="http://schemas.microsoft.com/office/drawing/2014/main" id="{7E313E17-511C-62B9-D495-4FA0643416C2}"/>
              </a:ext>
            </a:extLst>
          </p:cNvPr>
          <p:cNvSpPr>
            <a:spLocks noGrp="1"/>
          </p:cNvSpPr>
          <p:nvPr>
            <p:ph type="dt" sz="half" idx="10"/>
          </p:nvPr>
        </p:nvSpPr>
        <p:spPr/>
        <p:txBody>
          <a:bodyPr/>
          <a:lstStyle/>
          <a:p>
            <a:fld id="{1D8BD707-D9CF-40AE-B4C6-C98DA3205C09}" type="datetimeFigureOut">
              <a:rPr lang="en-US" smtClean="0"/>
              <a:t>3/16/2026</a:t>
            </a:fld>
            <a:endParaRPr lang="en-US"/>
          </a:p>
        </p:txBody>
      </p:sp>
      <p:sp>
        <p:nvSpPr>
          <p:cNvPr id="5" name="Marcador de pie de página 4">
            <a:extLst>
              <a:ext uri="{FF2B5EF4-FFF2-40B4-BE49-F238E27FC236}">
                <a16:creationId xmlns:a16="http://schemas.microsoft.com/office/drawing/2014/main" id="{D045FD42-27BC-120C-3AF3-D3D355B05F57}"/>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23ED70BB-D70F-5C80-BEC5-C6A31C94AD80}"/>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442600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8923E4-E3C8-5760-2CD0-CDF9BFCBF7F1}"/>
              </a:ext>
            </a:extLst>
          </p:cNvPr>
          <p:cNvSpPr>
            <a:spLocks noGrp="1"/>
          </p:cNvSpPr>
          <p:nvPr>
            <p:ph type="title"/>
          </p:nvPr>
        </p:nvSpPr>
        <p:spPr>
          <a:xfrm>
            <a:off x="1371686" y="2819485"/>
            <a:ext cx="17339786" cy="4704375"/>
          </a:xfrm>
        </p:spPr>
        <p:txBody>
          <a:bodyPr anchor="b"/>
          <a:lstStyle>
            <a:lvl1pPr>
              <a:defRPr sz="9894"/>
            </a:lvl1pPr>
          </a:lstStyle>
          <a:p>
            <a:r>
              <a:rPr lang="es-MX"/>
              <a:t>Haz clic para modificar el estilo de título del patrón</a:t>
            </a:r>
            <a:endParaRPr lang="es-CL"/>
          </a:p>
        </p:txBody>
      </p:sp>
      <p:sp>
        <p:nvSpPr>
          <p:cNvPr id="3" name="Marcador de texto 2">
            <a:extLst>
              <a:ext uri="{FF2B5EF4-FFF2-40B4-BE49-F238E27FC236}">
                <a16:creationId xmlns:a16="http://schemas.microsoft.com/office/drawing/2014/main" id="{6F085F8F-91AC-DEDF-BDC7-BE1F89C4C012}"/>
              </a:ext>
            </a:extLst>
          </p:cNvPr>
          <p:cNvSpPr>
            <a:spLocks noGrp="1"/>
          </p:cNvSpPr>
          <p:nvPr>
            <p:ph type="body" idx="1"/>
          </p:nvPr>
        </p:nvSpPr>
        <p:spPr>
          <a:xfrm>
            <a:off x="1371686" y="7568366"/>
            <a:ext cx="17339786" cy="2473919"/>
          </a:xfrm>
        </p:spPr>
        <p:txBody>
          <a:bodyPr/>
          <a:lstStyle>
            <a:lvl1pPr marL="0" indent="0">
              <a:buNone/>
              <a:defRPr sz="3958">
                <a:solidFill>
                  <a:schemeClr val="tx1">
                    <a:tint val="75000"/>
                  </a:schemeClr>
                </a:solidFill>
              </a:defRPr>
            </a:lvl1pPr>
            <a:lvl2pPr marL="753923" indent="0">
              <a:buNone/>
              <a:defRPr sz="3298">
                <a:solidFill>
                  <a:schemeClr val="tx1">
                    <a:tint val="75000"/>
                  </a:schemeClr>
                </a:solidFill>
              </a:defRPr>
            </a:lvl2pPr>
            <a:lvl3pPr marL="1507846" indent="0">
              <a:buNone/>
              <a:defRPr sz="2968">
                <a:solidFill>
                  <a:schemeClr val="tx1">
                    <a:tint val="75000"/>
                  </a:schemeClr>
                </a:solidFill>
              </a:defRPr>
            </a:lvl3pPr>
            <a:lvl4pPr marL="2261768" indent="0">
              <a:buNone/>
              <a:defRPr sz="2638">
                <a:solidFill>
                  <a:schemeClr val="tx1">
                    <a:tint val="75000"/>
                  </a:schemeClr>
                </a:solidFill>
              </a:defRPr>
            </a:lvl4pPr>
            <a:lvl5pPr marL="3015691" indent="0">
              <a:buNone/>
              <a:defRPr sz="2638">
                <a:solidFill>
                  <a:schemeClr val="tx1">
                    <a:tint val="75000"/>
                  </a:schemeClr>
                </a:solidFill>
              </a:defRPr>
            </a:lvl5pPr>
            <a:lvl6pPr marL="3769614" indent="0">
              <a:buNone/>
              <a:defRPr sz="2638">
                <a:solidFill>
                  <a:schemeClr val="tx1">
                    <a:tint val="75000"/>
                  </a:schemeClr>
                </a:solidFill>
              </a:defRPr>
            </a:lvl6pPr>
            <a:lvl7pPr marL="4523537" indent="0">
              <a:buNone/>
              <a:defRPr sz="2638">
                <a:solidFill>
                  <a:schemeClr val="tx1">
                    <a:tint val="75000"/>
                  </a:schemeClr>
                </a:solidFill>
              </a:defRPr>
            </a:lvl7pPr>
            <a:lvl8pPr marL="5277460" indent="0">
              <a:buNone/>
              <a:defRPr sz="2638">
                <a:solidFill>
                  <a:schemeClr val="tx1">
                    <a:tint val="75000"/>
                  </a:schemeClr>
                </a:solidFill>
              </a:defRPr>
            </a:lvl8pPr>
            <a:lvl9pPr marL="6031382" indent="0">
              <a:buNone/>
              <a:defRPr sz="2638">
                <a:solidFill>
                  <a:schemeClr val="tx1">
                    <a:tint val="75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73BA4FA8-08B8-0E66-F01F-B235F110B7C6}"/>
              </a:ext>
            </a:extLst>
          </p:cNvPr>
          <p:cNvSpPr>
            <a:spLocks noGrp="1"/>
          </p:cNvSpPr>
          <p:nvPr>
            <p:ph type="dt" sz="half" idx="10"/>
          </p:nvPr>
        </p:nvSpPr>
        <p:spPr/>
        <p:txBody>
          <a:bodyPr/>
          <a:lstStyle/>
          <a:p>
            <a:fld id="{1D8BD707-D9CF-40AE-B4C6-C98DA3205C09}" type="datetimeFigureOut">
              <a:rPr lang="en-US" smtClean="0"/>
              <a:t>3/16/2026</a:t>
            </a:fld>
            <a:endParaRPr lang="en-US"/>
          </a:p>
        </p:txBody>
      </p:sp>
      <p:sp>
        <p:nvSpPr>
          <p:cNvPr id="5" name="Marcador de pie de página 4">
            <a:extLst>
              <a:ext uri="{FF2B5EF4-FFF2-40B4-BE49-F238E27FC236}">
                <a16:creationId xmlns:a16="http://schemas.microsoft.com/office/drawing/2014/main" id="{A1ACA919-6BF3-42BD-DBC7-09A7CBD6F486}"/>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66715315-E27F-B452-CA46-776C4AE89235}"/>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014136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98B64B-EBCD-6853-58B8-B2CA0C7D47D9}"/>
              </a:ext>
            </a:extLst>
          </p:cNvPr>
          <p:cNvSpPr>
            <a:spLocks noGrp="1"/>
          </p:cNvSpPr>
          <p:nvPr>
            <p:ph type="title"/>
          </p:nvPr>
        </p:nvSpPr>
        <p:spPr/>
        <p:txBody>
          <a:bodyPr/>
          <a:lstStyle/>
          <a:p>
            <a:r>
              <a:rPr lang="es-MX"/>
              <a:t>Haz clic para modificar el estilo de título del patrón</a:t>
            </a:r>
            <a:endParaRPr lang="es-CL"/>
          </a:p>
        </p:txBody>
      </p:sp>
      <p:sp>
        <p:nvSpPr>
          <p:cNvPr id="3" name="Marcador de contenido 2">
            <a:extLst>
              <a:ext uri="{FF2B5EF4-FFF2-40B4-BE49-F238E27FC236}">
                <a16:creationId xmlns:a16="http://schemas.microsoft.com/office/drawing/2014/main" id="{CADF2E63-4791-D0B1-D362-7EB60DD0D011}"/>
              </a:ext>
            </a:extLst>
          </p:cNvPr>
          <p:cNvSpPr>
            <a:spLocks noGrp="1"/>
          </p:cNvSpPr>
          <p:nvPr>
            <p:ph sz="half" idx="1"/>
          </p:nvPr>
        </p:nvSpPr>
        <p:spPr>
          <a:xfrm>
            <a:off x="1382157" y="3010591"/>
            <a:ext cx="8544243" cy="7175679"/>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contenido 3">
            <a:extLst>
              <a:ext uri="{FF2B5EF4-FFF2-40B4-BE49-F238E27FC236}">
                <a16:creationId xmlns:a16="http://schemas.microsoft.com/office/drawing/2014/main" id="{C718DFB6-1BE9-C5A5-B8E5-C1BF4C301DE2}"/>
              </a:ext>
            </a:extLst>
          </p:cNvPr>
          <p:cNvSpPr>
            <a:spLocks noGrp="1"/>
          </p:cNvSpPr>
          <p:nvPr>
            <p:ph sz="half" idx="2"/>
          </p:nvPr>
        </p:nvSpPr>
        <p:spPr>
          <a:xfrm>
            <a:off x="10177700" y="3010591"/>
            <a:ext cx="8544243" cy="7175679"/>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5" name="Marcador de fecha 4">
            <a:extLst>
              <a:ext uri="{FF2B5EF4-FFF2-40B4-BE49-F238E27FC236}">
                <a16:creationId xmlns:a16="http://schemas.microsoft.com/office/drawing/2014/main" id="{37BC9F7E-0C80-2B3B-50ED-2EA3038F2CE1}"/>
              </a:ext>
            </a:extLst>
          </p:cNvPr>
          <p:cNvSpPr>
            <a:spLocks noGrp="1"/>
          </p:cNvSpPr>
          <p:nvPr>
            <p:ph type="dt" sz="half" idx="10"/>
          </p:nvPr>
        </p:nvSpPr>
        <p:spPr/>
        <p:txBody>
          <a:bodyPr/>
          <a:lstStyle/>
          <a:p>
            <a:fld id="{1D8BD707-D9CF-40AE-B4C6-C98DA3205C09}" type="datetimeFigureOut">
              <a:rPr lang="en-US" smtClean="0"/>
              <a:t>3/16/2026</a:t>
            </a:fld>
            <a:endParaRPr lang="en-US"/>
          </a:p>
        </p:txBody>
      </p:sp>
      <p:sp>
        <p:nvSpPr>
          <p:cNvPr id="6" name="Marcador de pie de página 5">
            <a:extLst>
              <a:ext uri="{FF2B5EF4-FFF2-40B4-BE49-F238E27FC236}">
                <a16:creationId xmlns:a16="http://schemas.microsoft.com/office/drawing/2014/main" id="{8FB1FDDF-62D9-10D0-3A15-E051505E9130}"/>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9530564F-FADB-7B9D-90E1-AF826F8D52E1}"/>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226473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89F778-08A9-A6B8-5C93-C5AAB8EAF968}"/>
              </a:ext>
            </a:extLst>
          </p:cNvPr>
          <p:cNvSpPr>
            <a:spLocks noGrp="1"/>
          </p:cNvSpPr>
          <p:nvPr>
            <p:ph type="title"/>
          </p:nvPr>
        </p:nvSpPr>
        <p:spPr>
          <a:xfrm>
            <a:off x="1384776" y="602119"/>
            <a:ext cx="17339786" cy="2185952"/>
          </a:xfrm>
        </p:spPr>
        <p:txBody>
          <a:bodyPr/>
          <a:lstStyle/>
          <a:p>
            <a:r>
              <a:rPr lang="es-MX"/>
              <a:t>Haz clic para modificar el estilo de título del patrón</a:t>
            </a:r>
            <a:endParaRPr lang="es-CL"/>
          </a:p>
        </p:txBody>
      </p:sp>
      <p:sp>
        <p:nvSpPr>
          <p:cNvPr id="3" name="Marcador de texto 2">
            <a:extLst>
              <a:ext uri="{FF2B5EF4-FFF2-40B4-BE49-F238E27FC236}">
                <a16:creationId xmlns:a16="http://schemas.microsoft.com/office/drawing/2014/main" id="{6DB1367A-B26A-422F-D2BD-31866324251D}"/>
              </a:ext>
            </a:extLst>
          </p:cNvPr>
          <p:cNvSpPr>
            <a:spLocks noGrp="1"/>
          </p:cNvSpPr>
          <p:nvPr>
            <p:ph type="body" idx="1"/>
          </p:nvPr>
        </p:nvSpPr>
        <p:spPr>
          <a:xfrm>
            <a:off x="1384776" y="2772362"/>
            <a:ext cx="8504976" cy="1358692"/>
          </a:xfrm>
        </p:spPr>
        <p:txBody>
          <a:bodyPr anchor="b"/>
          <a:lstStyle>
            <a:lvl1pPr marL="0" indent="0">
              <a:buNone/>
              <a:defRPr sz="3958" b="1"/>
            </a:lvl1pPr>
            <a:lvl2pPr marL="753923" indent="0">
              <a:buNone/>
              <a:defRPr sz="3298" b="1"/>
            </a:lvl2pPr>
            <a:lvl3pPr marL="1507846" indent="0">
              <a:buNone/>
              <a:defRPr sz="2968" b="1"/>
            </a:lvl3pPr>
            <a:lvl4pPr marL="2261768" indent="0">
              <a:buNone/>
              <a:defRPr sz="2638" b="1"/>
            </a:lvl4pPr>
            <a:lvl5pPr marL="3015691" indent="0">
              <a:buNone/>
              <a:defRPr sz="2638" b="1"/>
            </a:lvl5pPr>
            <a:lvl6pPr marL="3769614" indent="0">
              <a:buNone/>
              <a:defRPr sz="2638" b="1"/>
            </a:lvl6pPr>
            <a:lvl7pPr marL="4523537" indent="0">
              <a:buNone/>
              <a:defRPr sz="2638" b="1"/>
            </a:lvl7pPr>
            <a:lvl8pPr marL="5277460" indent="0">
              <a:buNone/>
              <a:defRPr sz="2638" b="1"/>
            </a:lvl8pPr>
            <a:lvl9pPr marL="6031382" indent="0">
              <a:buNone/>
              <a:defRPr sz="2638"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A90EB983-DE50-2793-94B1-6282B8FB5EBC}"/>
              </a:ext>
            </a:extLst>
          </p:cNvPr>
          <p:cNvSpPr>
            <a:spLocks noGrp="1"/>
          </p:cNvSpPr>
          <p:nvPr>
            <p:ph sz="half" idx="2"/>
          </p:nvPr>
        </p:nvSpPr>
        <p:spPr>
          <a:xfrm>
            <a:off x="1384776" y="4131054"/>
            <a:ext cx="8504976" cy="6076159"/>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5" name="Marcador de texto 4">
            <a:extLst>
              <a:ext uri="{FF2B5EF4-FFF2-40B4-BE49-F238E27FC236}">
                <a16:creationId xmlns:a16="http://schemas.microsoft.com/office/drawing/2014/main" id="{78D20D19-F20A-717C-BA4D-6B5661EBED5A}"/>
              </a:ext>
            </a:extLst>
          </p:cNvPr>
          <p:cNvSpPr>
            <a:spLocks noGrp="1"/>
          </p:cNvSpPr>
          <p:nvPr>
            <p:ph type="body" sz="quarter" idx="3"/>
          </p:nvPr>
        </p:nvSpPr>
        <p:spPr>
          <a:xfrm>
            <a:off x="10177701" y="2772362"/>
            <a:ext cx="8546861" cy="1358692"/>
          </a:xfrm>
        </p:spPr>
        <p:txBody>
          <a:bodyPr anchor="b"/>
          <a:lstStyle>
            <a:lvl1pPr marL="0" indent="0">
              <a:buNone/>
              <a:defRPr sz="3958" b="1"/>
            </a:lvl1pPr>
            <a:lvl2pPr marL="753923" indent="0">
              <a:buNone/>
              <a:defRPr sz="3298" b="1"/>
            </a:lvl2pPr>
            <a:lvl3pPr marL="1507846" indent="0">
              <a:buNone/>
              <a:defRPr sz="2968" b="1"/>
            </a:lvl3pPr>
            <a:lvl4pPr marL="2261768" indent="0">
              <a:buNone/>
              <a:defRPr sz="2638" b="1"/>
            </a:lvl4pPr>
            <a:lvl5pPr marL="3015691" indent="0">
              <a:buNone/>
              <a:defRPr sz="2638" b="1"/>
            </a:lvl5pPr>
            <a:lvl6pPr marL="3769614" indent="0">
              <a:buNone/>
              <a:defRPr sz="2638" b="1"/>
            </a:lvl6pPr>
            <a:lvl7pPr marL="4523537" indent="0">
              <a:buNone/>
              <a:defRPr sz="2638" b="1"/>
            </a:lvl7pPr>
            <a:lvl8pPr marL="5277460" indent="0">
              <a:buNone/>
              <a:defRPr sz="2638" b="1"/>
            </a:lvl8pPr>
            <a:lvl9pPr marL="6031382" indent="0">
              <a:buNone/>
              <a:defRPr sz="2638"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52562768-89FD-AA2F-EB7A-2C15C13625C1}"/>
              </a:ext>
            </a:extLst>
          </p:cNvPr>
          <p:cNvSpPr>
            <a:spLocks noGrp="1"/>
          </p:cNvSpPr>
          <p:nvPr>
            <p:ph sz="quarter" idx="4"/>
          </p:nvPr>
        </p:nvSpPr>
        <p:spPr>
          <a:xfrm>
            <a:off x="10177701" y="4131054"/>
            <a:ext cx="8546861" cy="6076159"/>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7" name="Marcador de fecha 6">
            <a:extLst>
              <a:ext uri="{FF2B5EF4-FFF2-40B4-BE49-F238E27FC236}">
                <a16:creationId xmlns:a16="http://schemas.microsoft.com/office/drawing/2014/main" id="{C2A6A63F-08A7-06F9-6F36-72AC2E1E9515}"/>
              </a:ext>
            </a:extLst>
          </p:cNvPr>
          <p:cNvSpPr>
            <a:spLocks noGrp="1"/>
          </p:cNvSpPr>
          <p:nvPr>
            <p:ph type="dt" sz="half" idx="10"/>
          </p:nvPr>
        </p:nvSpPr>
        <p:spPr/>
        <p:txBody>
          <a:bodyPr/>
          <a:lstStyle/>
          <a:p>
            <a:fld id="{1D8BD707-D9CF-40AE-B4C6-C98DA3205C09}" type="datetimeFigureOut">
              <a:rPr lang="en-US" smtClean="0"/>
              <a:t>3/16/2026</a:t>
            </a:fld>
            <a:endParaRPr lang="en-US"/>
          </a:p>
        </p:txBody>
      </p:sp>
      <p:sp>
        <p:nvSpPr>
          <p:cNvPr id="8" name="Marcador de pie de página 7">
            <a:extLst>
              <a:ext uri="{FF2B5EF4-FFF2-40B4-BE49-F238E27FC236}">
                <a16:creationId xmlns:a16="http://schemas.microsoft.com/office/drawing/2014/main" id="{C35A53C4-A8EF-EB7C-EA3A-6C78EC4B0E4F}"/>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7910B013-DDC7-D0B3-F289-335856F75D21}"/>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4003713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17347E-68C2-47E3-D5CA-088E9958A544}"/>
              </a:ext>
            </a:extLst>
          </p:cNvPr>
          <p:cNvSpPr>
            <a:spLocks noGrp="1"/>
          </p:cNvSpPr>
          <p:nvPr>
            <p:ph type="title"/>
          </p:nvPr>
        </p:nvSpPr>
        <p:spPr/>
        <p:txBody>
          <a:bodyPr/>
          <a:lstStyle/>
          <a:p>
            <a:r>
              <a:rPr lang="es-MX"/>
              <a:t>Haz clic para modificar el estilo de título del patrón</a:t>
            </a:r>
            <a:endParaRPr lang="es-CL"/>
          </a:p>
        </p:txBody>
      </p:sp>
      <p:sp>
        <p:nvSpPr>
          <p:cNvPr id="3" name="Marcador de fecha 2">
            <a:extLst>
              <a:ext uri="{FF2B5EF4-FFF2-40B4-BE49-F238E27FC236}">
                <a16:creationId xmlns:a16="http://schemas.microsoft.com/office/drawing/2014/main" id="{52526359-41CF-4EFB-0CDE-88ABEEC21FD2}"/>
              </a:ext>
            </a:extLst>
          </p:cNvPr>
          <p:cNvSpPr>
            <a:spLocks noGrp="1"/>
          </p:cNvSpPr>
          <p:nvPr>
            <p:ph type="dt" sz="half" idx="10"/>
          </p:nvPr>
        </p:nvSpPr>
        <p:spPr/>
        <p:txBody>
          <a:bodyPr/>
          <a:lstStyle/>
          <a:p>
            <a:fld id="{1D8BD707-D9CF-40AE-B4C6-C98DA3205C09}" type="datetimeFigureOut">
              <a:rPr lang="en-US" smtClean="0"/>
              <a:t>3/16/2026</a:t>
            </a:fld>
            <a:endParaRPr lang="en-US"/>
          </a:p>
        </p:txBody>
      </p:sp>
      <p:sp>
        <p:nvSpPr>
          <p:cNvPr id="4" name="Marcador de pie de página 3">
            <a:extLst>
              <a:ext uri="{FF2B5EF4-FFF2-40B4-BE49-F238E27FC236}">
                <a16:creationId xmlns:a16="http://schemas.microsoft.com/office/drawing/2014/main" id="{CDB796C5-5685-6789-4FBC-3CF567A02944}"/>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27E7E3A9-9B64-71CD-9D73-9DC2A402D7AF}"/>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415190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686668C-654D-7680-D2F1-5951A5BA383A}"/>
              </a:ext>
            </a:extLst>
          </p:cNvPr>
          <p:cNvSpPr>
            <a:spLocks noGrp="1"/>
          </p:cNvSpPr>
          <p:nvPr>
            <p:ph type="dt" sz="half" idx="10"/>
          </p:nvPr>
        </p:nvSpPr>
        <p:spPr/>
        <p:txBody>
          <a:bodyPr/>
          <a:lstStyle/>
          <a:p>
            <a:fld id="{1D8BD707-D9CF-40AE-B4C6-C98DA3205C09}" type="datetimeFigureOut">
              <a:rPr lang="en-US" smtClean="0"/>
              <a:t>3/16/2026</a:t>
            </a:fld>
            <a:endParaRPr lang="en-US"/>
          </a:p>
        </p:txBody>
      </p:sp>
      <p:sp>
        <p:nvSpPr>
          <p:cNvPr id="3" name="Marcador de pie de página 2">
            <a:extLst>
              <a:ext uri="{FF2B5EF4-FFF2-40B4-BE49-F238E27FC236}">
                <a16:creationId xmlns:a16="http://schemas.microsoft.com/office/drawing/2014/main" id="{C4641BD1-643A-0141-998D-BA2EF4BCA944}"/>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1D63F749-E945-0A95-968F-044A4AC32EE4}"/>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417708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DDA742-F495-D4AC-270C-DA99995119BE}"/>
              </a:ext>
            </a:extLst>
          </p:cNvPr>
          <p:cNvSpPr>
            <a:spLocks noGrp="1"/>
          </p:cNvSpPr>
          <p:nvPr>
            <p:ph type="title"/>
          </p:nvPr>
        </p:nvSpPr>
        <p:spPr>
          <a:xfrm>
            <a:off x="1384776" y="753957"/>
            <a:ext cx="6484095" cy="2638848"/>
          </a:xfrm>
        </p:spPr>
        <p:txBody>
          <a:bodyPr anchor="b"/>
          <a:lstStyle>
            <a:lvl1pPr>
              <a:defRPr sz="5277"/>
            </a:lvl1pPr>
          </a:lstStyle>
          <a:p>
            <a:r>
              <a:rPr lang="es-MX"/>
              <a:t>Haz clic para modificar el estilo de título del patrón</a:t>
            </a:r>
            <a:endParaRPr lang="es-CL"/>
          </a:p>
        </p:txBody>
      </p:sp>
      <p:sp>
        <p:nvSpPr>
          <p:cNvPr id="3" name="Marcador de contenido 2">
            <a:extLst>
              <a:ext uri="{FF2B5EF4-FFF2-40B4-BE49-F238E27FC236}">
                <a16:creationId xmlns:a16="http://schemas.microsoft.com/office/drawing/2014/main" id="{F477B855-60C9-AC83-44EF-14F710C3993D}"/>
              </a:ext>
            </a:extLst>
          </p:cNvPr>
          <p:cNvSpPr>
            <a:spLocks noGrp="1"/>
          </p:cNvSpPr>
          <p:nvPr>
            <p:ph idx="1"/>
          </p:nvPr>
        </p:nvSpPr>
        <p:spPr>
          <a:xfrm>
            <a:off x="8546861" y="1628338"/>
            <a:ext cx="10177701" cy="8036969"/>
          </a:xfrm>
        </p:spPr>
        <p:txBody>
          <a:bodyPr/>
          <a:lstStyle>
            <a:lvl1pPr>
              <a:defRPr sz="5277"/>
            </a:lvl1pPr>
            <a:lvl2pPr>
              <a:defRPr sz="4617"/>
            </a:lvl2pPr>
            <a:lvl3pPr>
              <a:defRPr sz="3958"/>
            </a:lvl3pPr>
            <a:lvl4pPr>
              <a:defRPr sz="3298"/>
            </a:lvl4pPr>
            <a:lvl5pPr>
              <a:defRPr sz="3298"/>
            </a:lvl5pPr>
            <a:lvl6pPr>
              <a:defRPr sz="3298"/>
            </a:lvl6pPr>
            <a:lvl7pPr>
              <a:defRPr sz="3298"/>
            </a:lvl7pPr>
            <a:lvl8pPr>
              <a:defRPr sz="3298"/>
            </a:lvl8pPr>
            <a:lvl9pPr>
              <a:defRPr sz="3298"/>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texto 3">
            <a:extLst>
              <a:ext uri="{FF2B5EF4-FFF2-40B4-BE49-F238E27FC236}">
                <a16:creationId xmlns:a16="http://schemas.microsoft.com/office/drawing/2014/main" id="{1823DF89-AB5E-D209-90B6-FBB140BD184C}"/>
              </a:ext>
            </a:extLst>
          </p:cNvPr>
          <p:cNvSpPr>
            <a:spLocks noGrp="1"/>
          </p:cNvSpPr>
          <p:nvPr>
            <p:ph type="body" sz="half" idx="2"/>
          </p:nvPr>
        </p:nvSpPr>
        <p:spPr>
          <a:xfrm>
            <a:off x="1384776" y="3392805"/>
            <a:ext cx="6484095" cy="6285591"/>
          </a:xfrm>
        </p:spPr>
        <p:txBody>
          <a:bodyPr/>
          <a:lstStyle>
            <a:lvl1pPr marL="0" indent="0">
              <a:buNone/>
              <a:defRPr sz="2638"/>
            </a:lvl1pPr>
            <a:lvl2pPr marL="753923" indent="0">
              <a:buNone/>
              <a:defRPr sz="2309"/>
            </a:lvl2pPr>
            <a:lvl3pPr marL="1507846" indent="0">
              <a:buNone/>
              <a:defRPr sz="1979"/>
            </a:lvl3pPr>
            <a:lvl4pPr marL="2261768" indent="0">
              <a:buNone/>
              <a:defRPr sz="1649"/>
            </a:lvl4pPr>
            <a:lvl5pPr marL="3015691" indent="0">
              <a:buNone/>
              <a:defRPr sz="1649"/>
            </a:lvl5pPr>
            <a:lvl6pPr marL="3769614" indent="0">
              <a:buNone/>
              <a:defRPr sz="1649"/>
            </a:lvl6pPr>
            <a:lvl7pPr marL="4523537" indent="0">
              <a:buNone/>
              <a:defRPr sz="1649"/>
            </a:lvl7pPr>
            <a:lvl8pPr marL="5277460" indent="0">
              <a:buNone/>
              <a:defRPr sz="1649"/>
            </a:lvl8pPr>
            <a:lvl9pPr marL="6031382" indent="0">
              <a:buNone/>
              <a:defRPr sz="1649"/>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4627FB68-BAF2-FAFC-20C5-50840A80BFD3}"/>
              </a:ext>
            </a:extLst>
          </p:cNvPr>
          <p:cNvSpPr>
            <a:spLocks noGrp="1"/>
          </p:cNvSpPr>
          <p:nvPr>
            <p:ph type="dt" sz="half" idx="10"/>
          </p:nvPr>
        </p:nvSpPr>
        <p:spPr/>
        <p:txBody>
          <a:bodyPr/>
          <a:lstStyle/>
          <a:p>
            <a:fld id="{1D8BD707-D9CF-40AE-B4C6-C98DA3205C09}" type="datetimeFigureOut">
              <a:rPr lang="en-US" smtClean="0"/>
              <a:t>3/16/2026</a:t>
            </a:fld>
            <a:endParaRPr lang="en-US"/>
          </a:p>
        </p:txBody>
      </p:sp>
      <p:sp>
        <p:nvSpPr>
          <p:cNvPr id="6" name="Marcador de pie de página 5">
            <a:extLst>
              <a:ext uri="{FF2B5EF4-FFF2-40B4-BE49-F238E27FC236}">
                <a16:creationId xmlns:a16="http://schemas.microsoft.com/office/drawing/2014/main" id="{80E96347-07C2-617F-DA6B-645148352AF2}"/>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52B3FF74-E26C-3624-C160-FD84EBF2DA61}"/>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840625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E3DB23-2B68-8BE6-5BE8-74FB8AC893F3}"/>
              </a:ext>
            </a:extLst>
          </p:cNvPr>
          <p:cNvSpPr>
            <a:spLocks noGrp="1"/>
          </p:cNvSpPr>
          <p:nvPr>
            <p:ph type="title"/>
          </p:nvPr>
        </p:nvSpPr>
        <p:spPr>
          <a:xfrm>
            <a:off x="1384776" y="753957"/>
            <a:ext cx="6484095" cy="2638848"/>
          </a:xfrm>
        </p:spPr>
        <p:txBody>
          <a:bodyPr anchor="b"/>
          <a:lstStyle>
            <a:lvl1pPr>
              <a:defRPr sz="5277"/>
            </a:lvl1pPr>
          </a:lstStyle>
          <a:p>
            <a:r>
              <a:rPr lang="es-MX"/>
              <a:t>Haz clic para modificar el estilo de título del patrón</a:t>
            </a:r>
            <a:endParaRPr lang="es-CL"/>
          </a:p>
        </p:txBody>
      </p:sp>
      <p:sp>
        <p:nvSpPr>
          <p:cNvPr id="3" name="Marcador de posición de imagen 2">
            <a:extLst>
              <a:ext uri="{FF2B5EF4-FFF2-40B4-BE49-F238E27FC236}">
                <a16:creationId xmlns:a16="http://schemas.microsoft.com/office/drawing/2014/main" id="{F212C754-B8E4-3914-A69F-E1B36DCF67FA}"/>
              </a:ext>
            </a:extLst>
          </p:cNvPr>
          <p:cNvSpPr>
            <a:spLocks noGrp="1"/>
          </p:cNvSpPr>
          <p:nvPr>
            <p:ph type="pic" idx="1"/>
          </p:nvPr>
        </p:nvSpPr>
        <p:spPr>
          <a:xfrm>
            <a:off x="8546861" y="1628338"/>
            <a:ext cx="10177701" cy="8036969"/>
          </a:xfrm>
        </p:spPr>
        <p:txBody>
          <a:bodyPr/>
          <a:lstStyle>
            <a:lvl1pPr marL="0" indent="0">
              <a:buNone/>
              <a:defRPr sz="5277"/>
            </a:lvl1pPr>
            <a:lvl2pPr marL="753923" indent="0">
              <a:buNone/>
              <a:defRPr sz="4617"/>
            </a:lvl2pPr>
            <a:lvl3pPr marL="1507846" indent="0">
              <a:buNone/>
              <a:defRPr sz="3958"/>
            </a:lvl3pPr>
            <a:lvl4pPr marL="2261768" indent="0">
              <a:buNone/>
              <a:defRPr sz="3298"/>
            </a:lvl4pPr>
            <a:lvl5pPr marL="3015691" indent="0">
              <a:buNone/>
              <a:defRPr sz="3298"/>
            </a:lvl5pPr>
            <a:lvl6pPr marL="3769614" indent="0">
              <a:buNone/>
              <a:defRPr sz="3298"/>
            </a:lvl6pPr>
            <a:lvl7pPr marL="4523537" indent="0">
              <a:buNone/>
              <a:defRPr sz="3298"/>
            </a:lvl7pPr>
            <a:lvl8pPr marL="5277460" indent="0">
              <a:buNone/>
              <a:defRPr sz="3298"/>
            </a:lvl8pPr>
            <a:lvl9pPr marL="6031382" indent="0">
              <a:buNone/>
              <a:defRPr sz="3298"/>
            </a:lvl9pPr>
          </a:lstStyle>
          <a:p>
            <a:endParaRPr lang="es-CL"/>
          </a:p>
        </p:txBody>
      </p:sp>
      <p:sp>
        <p:nvSpPr>
          <p:cNvPr id="4" name="Marcador de texto 3">
            <a:extLst>
              <a:ext uri="{FF2B5EF4-FFF2-40B4-BE49-F238E27FC236}">
                <a16:creationId xmlns:a16="http://schemas.microsoft.com/office/drawing/2014/main" id="{25A8F03C-2BE0-3A95-F000-ACD6AD1C7C0F}"/>
              </a:ext>
            </a:extLst>
          </p:cNvPr>
          <p:cNvSpPr>
            <a:spLocks noGrp="1"/>
          </p:cNvSpPr>
          <p:nvPr>
            <p:ph type="body" sz="half" idx="2"/>
          </p:nvPr>
        </p:nvSpPr>
        <p:spPr>
          <a:xfrm>
            <a:off x="1384776" y="3392805"/>
            <a:ext cx="6484095" cy="6285591"/>
          </a:xfrm>
        </p:spPr>
        <p:txBody>
          <a:bodyPr/>
          <a:lstStyle>
            <a:lvl1pPr marL="0" indent="0">
              <a:buNone/>
              <a:defRPr sz="2638"/>
            </a:lvl1pPr>
            <a:lvl2pPr marL="753923" indent="0">
              <a:buNone/>
              <a:defRPr sz="2309"/>
            </a:lvl2pPr>
            <a:lvl3pPr marL="1507846" indent="0">
              <a:buNone/>
              <a:defRPr sz="1979"/>
            </a:lvl3pPr>
            <a:lvl4pPr marL="2261768" indent="0">
              <a:buNone/>
              <a:defRPr sz="1649"/>
            </a:lvl4pPr>
            <a:lvl5pPr marL="3015691" indent="0">
              <a:buNone/>
              <a:defRPr sz="1649"/>
            </a:lvl5pPr>
            <a:lvl6pPr marL="3769614" indent="0">
              <a:buNone/>
              <a:defRPr sz="1649"/>
            </a:lvl6pPr>
            <a:lvl7pPr marL="4523537" indent="0">
              <a:buNone/>
              <a:defRPr sz="1649"/>
            </a:lvl7pPr>
            <a:lvl8pPr marL="5277460" indent="0">
              <a:buNone/>
              <a:defRPr sz="1649"/>
            </a:lvl8pPr>
            <a:lvl9pPr marL="6031382" indent="0">
              <a:buNone/>
              <a:defRPr sz="1649"/>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9A51A9BF-B911-5C93-22DE-19FD68991032}"/>
              </a:ext>
            </a:extLst>
          </p:cNvPr>
          <p:cNvSpPr>
            <a:spLocks noGrp="1"/>
          </p:cNvSpPr>
          <p:nvPr>
            <p:ph type="dt" sz="half" idx="10"/>
          </p:nvPr>
        </p:nvSpPr>
        <p:spPr/>
        <p:txBody>
          <a:bodyPr/>
          <a:lstStyle/>
          <a:p>
            <a:fld id="{1D8BD707-D9CF-40AE-B4C6-C98DA3205C09}" type="datetimeFigureOut">
              <a:rPr lang="en-US" smtClean="0"/>
              <a:t>3/16/2026</a:t>
            </a:fld>
            <a:endParaRPr lang="en-US"/>
          </a:p>
        </p:txBody>
      </p:sp>
      <p:sp>
        <p:nvSpPr>
          <p:cNvPr id="6" name="Marcador de pie de página 5">
            <a:extLst>
              <a:ext uri="{FF2B5EF4-FFF2-40B4-BE49-F238E27FC236}">
                <a16:creationId xmlns:a16="http://schemas.microsoft.com/office/drawing/2014/main" id="{BEDF1256-7E86-58E3-6661-FA1D67375CAE}"/>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CF1259D9-D8FC-1B56-BFFA-37357293A55A}"/>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3534611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406267-7792-D819-1250-3B80F216CD76}"/>
              </a:ext>
            </a:extLst>
          </p:cNvPr>
          <p:cNvSpPr>
            <a:spLocks noGrp="1"/>
          </p:cNvSpPr>
          <p:nvPr>
            <p:ph type="title"/>
          </p:nvPr>
        </p:nvSpPr>
        <p:spPr/>
        <p:txBody>
          <a:bodyPr/>
          <a:lstStyle/>
          <a:p>
            <a:r>
              <a:rPr lang="es-MX"/>
              <a:t>Haz clic para modificar el estilo de título del patrón</a:t>
            </a:r>
            <a:endParaRPr lang="es-CL"/>
          </a:p>
        </p:txBody>
      </p:sp>
      <p:sp>
        <p:nvSpPr>
          <p:cNvPr id="3" name="Marcador de texto vertical 2">
            <a:extLst>
              <a:ext uri="{FF2B5EF4-FFF2-40B4-BE49-F238E27FC236}">
                <a16:creationId xmlns:a16="http://schemas.microsoft.com/office/drawing/2014/main" id="{3C545AC6-7292-773C-7509-D7E1D0B69D17}"/>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fecha 3">
            <a:extLst>
              <a:ext uri="{FF2B5EF4-FFF2-40B4-BE49-F238E27FC236}">
                <a16:creationId xmlns:a16="http://schemas.microsoft.com/office/drawing/2014/main" id="{7AC3A385-780F-B272-80CB-E3EE272081C5}"/>
              </a:ext>
            </a:extLst>
          </p:cNvPr>
          <p:cNvSpPr>
            <a:spLocks noGrp="1"/>
          </p:cNvSpPr>
          <p:nvPr>
            <p:ph type="dt" sz="half" idx="10"/>
          </p:nvPr>
        </p:nvSpPr>
        <p:spPr/>
        <p:txBody>
          <a:bodyPr/>
          <a:lstStyle/>
          <a:p>
            <a:fld id="{1D8BD707-D9CF-40AE-B4C6-C98DA3205C09}" type="datetimeFigureOut">
              <a:rPr lang="en-US" smtClean="0"/>
              <a:t>3/16/2026</a:t>
            </a:fld>
            <a:endParaRPr lang="en-US"/>
          </a:p>
        </p:txBody>
      </p:sp>
      <p:sp>
        <p:nvSpPr>
          <p:cNvPr id="5" name="Marcador de pie de página 4">
            <a:extLst>
              <a:ext uri="{FF2B5EF4-FFF2-40B4-BE49-F238E27FC236}">
                <a16:creationId xmlns:a16="http://schemas.microsoft.com/office/drawing/2014/main" id="{FAE7FDF5-4CCA-2A20-13BC-D406ED96A1D6}"/>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EBF13AE1-0243-5662-3E9D-89565B76EF60}"/>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989105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72016D2-D6B9-D0D7-A956-FC3D8BE03CB3}"/>
              </a:ext>
            </a:extLst>
          </p:cNvPr>
          <p:cNvSpPr>
            <a:spLocks noGrp="1"/>
          </p:cNvSpPr>
          <p:nvPr>
            <p:ph type="title" orient="vert"/>
          </p:nvPr>
        </p:nvSpPr>
        <p:spPr>
          <a:xfrm>
            <a:off x="14386996" y="602118"/>
            <a:ext cx="4334947" cy="9584151"/>
          </a:xfrm>
        </p:spPr>
        <p:txBody>
          <a:bodyPr vert="eaVert"/>
          <a:lstStyle/>
          <a:p>
            <a:r>
              <a:rPr lang="es-MX"/>
              <a:t>Haz clic para modificar el estilo de título del patrón</a:t>
            </a:r>
            <a:endParaRPr lang="es-CL"/>
          </a:p>
        </p:txBody>
      </p:sp>
      <p:sp>
        <p:nvSpPr>
          <p:cNvPr id="3" name="Marcador de texto vertical 2">
            <a:extLst>
              <a:ext uri="{FF2B5EF4-FFF2-40B4-BE49-F238E27FC236}">
                <a16:creationId xmlns:a16="http://schemas.microsoft.com/office/drawing/2014/main" id="{0C84FC73-6922-E6BE-8B37-9A3D83C84D8E}"/>
              </a:ext>
            </a:extLst>
          </p:cNvPr>
          <p:cNvSpPr>
            <a:spLocks noGrp="1"/>
          </p:cNvSpPr>
          <p:nvPr>
            <p:ph type="body" orient="vert" idx="1"/>
          </p:nvPr>
        </p:nvSpPr>
        <p:spPr>
          <a:xfrm>
            <a:off x="1382157" y="602118"/>
            <a:ext cx="12753538" cy="9584151"/>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fecha 3">
            <a:extLst>
              <a:ext uri="{FF2B5EF4-FFF2-40B4-BE49-F238E27FC236}">
                <a16:creationId xmlns:a16="http://schemas.microsoft.com/office/drawing/2014/main" id="{65029604-4D94-FF99-EACD-68549E65275D}"/>
              </a:ext>
            </a:extLst>
          </p:cNvPr>
          <p:cNvSpPr>
            <a:spLocks noGrp="1"/>
          </p:cNvSpPr>
          <p:nvPr>
            <p:ph type="dt" sz="half" idx="10"/>
          </p:nvPr>
        </p:nvSpPr>
        <p:spPr/>
        <p:txBody>
          <a:bodyPr/>
          <a:lstStyle/>
          <a:p>
            <a:fld id="{1D8BD707-D9CF-40AE-B4C6-C98DA3205C09}" type="datetimeFigureOut">
              <a:rPr lang="en-US" smtClean="0"/>
              <a:t>3/16/2026</a:t>
            </a:fld>
            <a:endParaRPr lang="en-US"/>
          </a:p>
        </p:txBody>
      </p:sp>
      <p:sp>
        <p:nvSpPr>
          <p:cNvPr id="5" name="Marcador de pie de página 4">
            <a:extLst>
              <a:ext uri="{FF2B5EF4-FFF2-40B4-BE49-F238E27FC236}">
                <a16:creationId xmlns:a16="http://schemas.microsoft.com/office/drawing/2014/main" id="{7AB03D43-86E0-0338-2B20-C4B28C452F3B}"/>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B02D1C4-EEBA-36AC-255B-B421F28F69CB}"/>
              </a:ext>
            </a:extLst>
          </p:cNvPr>
          <p:cNvSpPr>
            <a:spLocks noGrp="1"/>
          </p:cNvSpPr>
          <p:nvPr>
            <p:ph type="sldNum" sz="quarter" idx="12"/>
          </p:nvPr>
        </p:nvSpPr>
        <p:spPr/>
        <p:txBody>
          <a:bodyPr/>
          <a:lstStyle/>
          <a:p>
            <a:fld id="{B6F15528-21DE-4FAA-801E-634DDDAF4B2B}" type="slidenum">
              <a:rPr lang="es-CL" smtClean="0"/>
              <a:t>‹Nº›</a:t>
            </a:fld>
            <a:endParaRPr lang="es-CL"/>
          </a:p>
        </p:txBody>
      </p:sp>
    </p:spTree>
    <p:extLst>
      <p:ext uri="{BB962C8B-B14F-4D97-AF65-F5344CB8AC3E}">
        <p14:creationId xmlns:p14="http://schemas.microsoft.com/office/powerpoint/2010/main" val="19154338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Diapositiva de título">
    <p:spTree>
      <p:nvGrpSpPr>
        <p:cNvPr id="1" name=""/>
        <p:cNvGrpSpPr/>
        <p:nvPr/>
      </p:nvGrpSpPr>
      <p:grpSpPr>
        <a:xfrm>
          <a:off x="0" y="0"/>
          <a:ext cx="0" cy="0"/>
          <a:chOff x="0" y="0"/>
          <a:chExt cx="0" cy="0"/>
        </a:xfrm>
      </p:grpSpPr>
      <p:cxnSp>
        <p:nvCxnSpPr>
          <p:cNvPr id="5" name="Conector recto 4">
            <a:extLst>
              <a:ext uri="{FF2B5EF4-FFF2-40B4-BE49-F238E27FC236}">
                <a16:creationId xmlns:a16="http://schemas.microsoft.com/office/drawing/2014/main" id="{323E6B1A-7AB0-C547-8394-097517D6C818}"/>
              </a:ext>
            </a:extLst>
          </p:cNvPr>
          <p:cNvCxnSpPr>
            <a:cxnSpLocks/>
          </p:cNvCxnSpPr>
          <p:nvPr userDrawn="1"/>
        </p:nvCxnSpPr>
        <p:spPr>
          <a:xfrm flipH="1">
            <a:off x="0" y="10821498"/>
            <a:ext cx="19059478" cy="0"/>
          </a:xfrm>
          <a:prstGeom prst="line">
            <a:avLst/>
          </a:prstGeom>
          <a:ln>
            <a:solidFill>
              <a:schemeClr val="accent4">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80245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F454EFA-1F7B-877B-469B-2D764857A419}"/>
              </a:ext>
            </a:extLst>
          </p:cNvPr>
          <p:cNvSpPr>
            <a:spLocks noGrp="1"/>
          </p:cNvSpPr>
          <p:nvPr>
            <p:ph type="title"/>
          </p:nvPr>
        </p:nvSpPr>
        <p:spPr>
          <a:xfrm>
            <a:off x="1382157" y="602119"/>
            <a:ext cx="17339786" cy="2185952"/>
          </a:xfrm>
          <a:prstGeom prst="rect">
            <a:avLst/>
          </a:prstGeom>
        </p:spPr>
        <p:txBody>
          <a:bodyPr vert="horz" lIns="91440" tIns="45720" rIns="91440" bIns="45720" rtlCol="0" anchor="ctr">
            <a:normAutofit/>
          </a:bodyPr>
          <a:lstStyle/>
          <a:p>
            <a:r>
              <a:rPr lang="es-MX"/>
              <a:t>Haz clic para modificar el estilo de título del patrón</a:t>
            </a:r>
            <a:endParaRPr lang="es-CL"/>
          </a:p>
        </p:txBody>
      </p:sp>
      <p:sp>
        <p:nvSpPr>
          <p:cNvPr id="3" name="Marcador de texto 2">
            <a:extLst>
              <a:ext uri="{FF2B5EF4-FFF2-40B4-BE49-F238E27FC236}">
                <a16:creationId xmlns:a16="http://schemas.microsoft.com/office/drawing/2014/main" id="{1E7C16E2-A185-FEA6-7411-8103675A847E}"/>
              </a:ext>
            </a:extLst>
          </p:cNvPr>
          <p:cNvSpPr>
            <a:spLocks noGrp="1"/>
          </p:cNvSpPr>
          <p:nvPr>
            <p:ph type="body" idx="1"/>
          </p:nvPr>
        </p:nvSpPr>
        <p:spPr>
          <a:xfrm>
            <a:off x="1382157" y="3010591"/>
            <a:ext cx="17339786" cy="7175679"/>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fecha 3">
            <a:extLst>
              <a:ext uri="{FF2B5EF4-FFF2-40B4-BE49-F238E27FC236}">
                <a16:creationId xmlns:a16="http://schemas.microsoft.com/office/drawing/2014/main" id="{73021F49-C348-4F08-D8CA-E6E1125C761E}"/>
              </a:ext>
            </a:extLst>
          </p:cNvPr>
          <p:cNvSpPr>
            <a:spLocks noGrp="1"/>
          </p:cNvSpPr>
          <p:nvPr>
            <p:ph type="dt" sz="half" idx="2"/>
          </p:nvPr>
        </p:nvSpPr>
        <p:spPr>
          <a:xfrm>
            <a:off x="1382157" y="10482093"/>
            <a:ext cx="4523423" cy="602118"/>
          </a:xfrm>
          <a:prstGeom prst="rect">
            <a:avLst/>
          </a:prstGeom>
        </p:spPr>
        <p:txBody>
          <a:bodyPr vert="horz" lIns="91440" tIns="45720" rIns="91440" bIns="45720" rtlCol="0" anchor="ctr"/>
          <a:lstStyle>
            <a:lvl1pPr algn="l">
              <a:defRPr sz="1979">
                <a:solidFill>
                  <a:schemeClr val="tx1">
                    <a:tint val="75000"/>
                  </a:schemeClr>
                </a:solidFill>
              </a:defRPr>
            </a:lvl1pPr>
          </a:lstStyle>
          <a:p>
            <a:fld id="{1D8BD707-D9CF-40AE-B4C6-C98DA3205C09}" type="datetimeFigureOut">
              <a:rPr lang="en-US" smtClean="0"/>
              <a:t>3/16/2026</a:t>
            </a:fld>
            <a:endParaRPr lang="en-US"/>
          </a:p>
        </p:txBody>
      </p:sp>
      <p:sp>
        <p:nvSpPr>
          <p:cNvPr id="5" name="Marcador de pie de página 4">
            <a:extLst>
              <a:ext uri="{FF2B5EF4-FFF2-40B4-BE49-F238E27FC236}">
                <a16:creationId xmlns:a16="http://schemas.microsoft.com/office/drawing/2014/main" id="{B71E2BA2-5BAF-A870-FA74-B2B0C7643BE3}"/>
              </a:ext>
            </a:extLst>
          </p:cNvPr>
          <p:cNvSpPr>
            <a:spLocks noGrp="1"/>
          </p:cNvSpPr>
          <p:nvPr>
            <p:ph type="ftr" sz="quarter" idx="3"/>
          </p:nvPr>
        </p:nvSpPr>
        <p:spPr>
          <a:xfrm>
            <a:off x="6659483" y="10482093"/>
            <a:ext cx="6785134" cy="602118"/>
          </a:xfrm>
          <a:prstGeom prst="rect">
            <a:avLst/>
          </a:prstGeom>
        </p:spPr>
        <p:txBody>
          <a:bodyPr vert="horz" lIns="91440" tIns="45720" rIns="91440" bIns="45720" rtlCol="0" anchor="ctr"/>
          <a:lstStyle>
            <a:lvl1pPr algn="ctr">
              <a:defRPr sz="1979">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926E0C4E-A769-0FA6-B059-676054203232}"/>
              </a:ext>
            </a:extLst>
          </p:cNvPr>
          <p:cNvSpPr>
            <a:spLocks noGrp="1"/>
          </p:cNvSpPr>
          <p:nvPr>
            <p:ph type="sldNum" sz="quarter" idx="4"/>
          </p:nvPr>
        </p:nvSpPr>
        <p:spPr>
          <a:xfrm>
            <a:off x="14198520" y="10482093"/>
            <a:ext cx="4523423" cy="602118"/>
          </a:xfrm>
          <a:prstGeom prst="rect">
            <a:avLst/>
          </a:prstGeom>
        </p:spPr>
        <p:txBody>
          <a:bodyPr vert="horz" lIns="91440" tIns="45720" rIns="91440" bIns="45720" rtlCol="0" anchor="ctr"/>
          <a:lstStyle>
            <a:lvl1pPr algn="r">
              <a:defRPr sz="1979">
                <a:solidFill>
                  <a:schemeClr val="tx1">
                    <a:tint val="75000"/>
                  </a:schemeClr>
                </a:solidFill>
              </a:defRPr>
            </a:lvl1pPr>
          </a:lstStyle>
          <a:p>
            <a:fld id="{B6F15528-21DE-4FAA-801E-634DDDAF4B2B}" type="slidenum">
              <a:rPr lang="es-CL" smtClean="0"/>
              <a:t>‹Nº›</a:t>
            </a:fld>
            <a:endParaRPr lang="es-CL"/>
          </a:p>
        </p:txBody>
      </p:sp>
    </p:spTree>
    <p:extLst>
      <p:ext uri="{BB962C8B-B14F-4D97-AF65-F5344CB8AC3E}">
        <p14:creationId xmlns:p14="http://schemas.microsoft.com/office/powerpoint/2010/main" val="188264041"/>
      </p:ext>
    </p:extLst>
  </p:cSld>
  <p:clrMap bg1="lt1" tx1="dk1" bg2="lt2" tx2="dk2" accent1="accent1" accent2="accent2" accent3="accent3" accent4="accent4" accent5="accent5" accent6="accent6" hlink="hlink" folHlink="folHlink"/>
  <p:sldLayoutIdLst>
    <p:sldLayoutId id="2147485172" r:id="rId1"/>
    <p:sldLayoutId id="2147485173" r:id="rId2"/>
    <p:sldLayoutId id="2147485174" r:id="rId3"/>
    <p:sldLayoutId id="2147485175" r:id="rId4"/>
    <p:sldLayoutId id="2147485176" r:id="rId5"/>
    <p:sldLayoutId id="2147485177" r:id="rId6"/>
    <p:sldLayoutId id="2147485178" r:id="rId7"/>
    <p:sldLayoutId id="2147485179" r:id="rId8"/>
    <p:sldLayoutId id="2147485180" r:id="rId9"/>
    <p:sldLayoutId id="2147485181" r:id="rId10"/>
    <p:sldLayoutId id="2147485182" r:id="rId11"/>
    <p:sldLayoutId id="2147485183" r:id="rId12"/>
  </p:sldLayoutIdLst>
  <p:txStyles>
    <p:titleStyle>
      <a:lvl1pPr algn="l" defTabSz="1507846" rtl="0" eaLnBrk="1" latinLnBrk="0" hangingPunct="1">
        <a:lnSpc>
          <a:spcPct val="90000"/>
        </a:lnSpc>
        <a:spcBef>
          <a:spcPct val="0"/>
        </a:spcBef>
        <a:buNone/>
        <a:defRPr sz="7256" kern="1200">
          <a:solidFill>
            <a:schemeClr val="tx1"/>
          </a:solidFill>
          <a:latin typeface="+mj-lt"/>
          <a:ea typeface="+mj-ea"/>
          <a:cs typeface="+mj-cs"/>
        </a:defRPr>
      </a:lvl1pPr>
    </p:titleStyle>
    <p:bodyStyle>
      <a:lvl1pPr marL="376961" indent="-376961" algn="l" defTabSz="1507846" rtl="0" eaLnBrk="1" latinLnBrk="0" hangingPunct="1">
        <a:lnSpc>
          <a:spcPct val="90000"/>
        </a:lnSpc>
        <a:spcBef>
          <a:spcPts val="1649"/>
        </a:spcBef>
        <a:buFont typeface="Arial" panose="020B0604020202020204" pitchFamily="34" charset="0"/>
        <a:buChar char="•"/>
        <a:defRPr sz="4617" kern="1200">
          <a:solidFill>
            <a:schemeClr val="tx1"/>
          </a:solidFill>
          <a:latin typeface="+mn-lt"/>
          <a:ea typeface="+mn-ea"/>
          <a:cs typeface="+mn-cs"/>
        </a:defRPr>
      </a:lvl1pPr>
      <a:lvl2pPr marL="1130884" indent="-376961" algn="l" defTabSz="1507846" rtl="0" eaLnBrk="1" latinLnBrk="0" hangingPunct="1">
        <a:lnSpc>
          <a:spcPct val="90000"/>
        </a:lnSpc>
        <a:spcBef>
          <a:spcPts val="824"/>
        </a:spcBef>
        <a:buFont typeface="Arial" panose="020B0604020202020204" pitchFamily="34" charset="0"/>
        <a:buChar char="•"/>
        <a:defRPr sz="3958" kern="1200">
          <a:solidFill>
            <a:schemeClr val="tx1"/>
          </a:solidFill>
          <a:latin typeface="+mn-lt"/>
          <a:ea typeface="+mn-ea"/>
          <a:cs typeface="+mn-cs"/>
        </a:defRPr>
      </a:lvl2pPr>
      <a:lvl3pPr marL="1884807" indent="-376961" algn="l" defTabSz="1507846" rtl="0" eaLnBrk="1" latinLnBrk="0" hangingPunct="1">
        <a:lnSpc>
          <a:spcPct val="90000"/>
        </a:lnSpc>
        <a:spcBef>
          <a:spcPts val="824"/>
        </a:spcBef>
        <a:buFont typeface="Arial" panose="020B0604020202020204" pitchFamily="34" charset="0"/>
        <a:buChar char="•"/>
        <a:defRPr sz="3298" kern="1200">
          <a:solidFill>
            <a:schemeClr val="tx1"/>
          </a:solidFill>
          <a:latin typeface="+mn-lt"/>
          <a:ea typeface="+mn-ea"/>
          <a:cs typeface="+mn-cs"/>
        </a:defRPr>
      </a:lvl3pPr>
      <a:lvl4pPr marL="2638730"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4pPr>
      <a:lvl5pPr marL="3392653"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5pPr>
      <a:lvl6pPr marL="4146575"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6pPr>
      <a:lvl7pPr marL="4900498"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7pPr>
      <a:lvl8pPr marL="5654421"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8pPr>
      <a:lvl9pPr marL="6408344"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9pPr>
    </p:bodyStyle>
    <p:otherStyle>
      <a:defPPr>
        <a:defRPr lang="es-CL"/>
      </a:defPPr>
      <a:lvl1pPr marL="0" algn="l" defTabSz="1507846" rtl="0" eaLnBrk="1" latinLnBrk="0" hangingPunct="1">
        <a:defRPr sz="2968" kern="1200">
          <a:solidFill>
            <a:schemeClr val="tx1"/>
          </a:solidFill>
          <a:latin typeface="+mn-lt"/>
          <a:ea typeface="+mn-ea"/>
          <a:cs typeface="+mn-cs"/>
        </a:defRPr>
      </a:lvl1pPr>
      <a:lvl2pPr marL="753923" algn="l" defTabSz="1507846" rtl="0" eaLnBrk="1" latinLnBrk="0" hangingPunct="1">
        <a:defRPr sz="2968" kern="1200">
          <a:solidFill>
            <a:schemeClr val="tx1"/>
          </a:solidFill>
          <a:latin typeface="+mn-lt"/>
          <a:ea typeface="+mn-ea"/>
          <a:cs typeface="+mn-cs"/>
        </a:defRPr>
      </a:lvl2pPr>
      <a:lvl3pPr marL="1507846" algn="l" defTabSz="1507846" rtl="0" eaLnBrk="1" latinLnBrk="0" hangingPunct="1">
        <a:defRPr sz="2968" kern="1200">
          <a:solidFill>
            <a:schemeClr val="tx1"/>
          </a:solidFill>
          <a:latin typeface="+mn-lt"/>
          <a:ea typeface="+mn-ea"/>
          <a:cs typeface="+mn-cs"/>
        </a:defRPr>
      </a:lvl3pPr>
      <a:lvl4pPr marL="2261768" algn="l" defTabSz="1507846" rtl="0" eaLnBrk="1" latinLnBrk="0" hangingPunct="1">
        <a:defRPr sz="2968" kern="1200">
          <a:solidFill>
            <a:schemeClr val="tx1"/>
          </a:solidFill>
          <a:latin typeface="+mn-lt"/>
          <a:ea typeface="+mn-ea"/>
          <a:cs typeface="+mn-cs"/>
        </a:defRPr>
      </a:lvl4pPr>
      <a:lvl5pPr marL="3015691" algn="l" defTabSz="1507846" rtl="0" eaLnBrk="1" latinLnBrk="0" hangingPunct="1">
        <a:defRPr sz="2968" kern="1200">
          <a:solidFill>
            <a:schemeClr val="tx1"/>
          </a:solidFill>
          <a:latin typeface="+mn-lt"/>
          <a:ea typeface="+mn-ea"/>
          <a:cs typeface="+mn-cs"/>
        </a:defRPr>
      </a:lvl5pPr>
      <a:lvl6pPr marL="3769614" algn="l" defTabSz="1507846" rtl="0" eaLnBrk="1" latinLnBrk="0" hangingPunct="1">
        <a:defRPr sz="2968" kern="1200">
          <a:solidFill>
            <a:schemeClr val="tx1"/>
          </a:solidFill>
          <a:latin typeface="+mn-lt"/>
          <a:ea typeface="+mn-ea"/>
          <a:cs typeface="+mn-cs"/>
        </a:defRPr>
      </a:lvl6pPr>
      <a:lvl7pPr marL="4523537" algn="l" defTabSz="1507846" rtl="0" eaLnBrk="1" latinLnBrk="0" hangingPunct="1">
        <a:defRPr sz="2968" kern="1200">
          <a:solidFill>
            <a:schemeClr val="tx1"/>
          </a:solidFill>
          <a:latin typeface="+mn-lt"/>
          <a:ea typeface="+mn-ea"/>
          <a:cs typeface="+mn-cs"/>
        </a:defRPr>
      </a:lvl7pPr>
      <a:lvl8pPr marL="5277460" algn="l" defTabSz="1507846" rtl="0" eaLnBrk="1" latinLnBrk="0" hangingPunct="1">
        <a:defRPr sz="2968" kern="1200">
          <a:solidFill>
            <a:schemeClr val="tx1"/>
          </a:solidFill>
          <a:latin typeface="+mn-lt"/>
          <a:ea typeface="+mn-ea"/>
          <a:cs typeface="+mn-cs"/>
        </a:defRPr>
      </a:lvl8pPr>
      <a:lvl9pPr marL="6031382" algn="l" defTabSz="1507846" rtl="0" eaLnBrk="1" latinLnBrk="0" hangingPunct="1">
        <a:defRPr sz="2968"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jpeg"/><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svg"/><Relationship Id="rId3" Type="http://schemas.openxmlformats.org/officeDocument/2006/relationships/diagramData" Target="../diagrams/data1.xml"/><Relationship Id="rId7" Type="http://schemas.microsoft.com/office/2007/relationships/diagramDrawing" Target="../diagrams/drawing1.xml"/><Relationship Id="rId12" Type="http://schemas.openxmlformats.org/officeDocument/2006/relationships/image" Target="../media/image23.png"/><Relationship Id="rId2" Type="http://schemas.openxmlformats.org/officeDocument/2006/relationships/image" Target="../media/image5.jpg"/><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image" Target="../media/image22.svg"/><Relationship Id="rId5" Type="http://schemas.openxmlformats.org/officeDocument/2006/relationships/diagramQuickStyle" Target="../diagrams/quickStyle1.xml"/><Relationship Id="rId15" Type="http://schemas.openxmlformats.org/officeDocument/2006/relationships/image" Target="../media/image26.svg"/><Relationship Id="rId10" Type="http://schemas.openxmlformats.org/officeDocument/2006/relationships/image" Target="../media/image21.png"/><Relationship Id="rId4" Type="http://schemas.openxmlformats.org/officeDocument/2006/relationships/diagramLayout" Target="../diagrams/layout1.xml"/><Relationship Id="rId9" Type="http://schemas.openxmlformats.org/officeDocument/2006/relationships/image" Target="../media/image20.svg"/><Relationship Id="rId1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5.jp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jpeg"/></Relationships>
</file>

<file path=ppt/slides/_rels/slide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5.jpg"/><Relationship Id="rId7" Type="http://schemas.openxmlformats.org/officeDocument/2006/relationships/image" Target="../media/image48.jpe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jpeg"/><Relationship Id="rId9" Type="http://schemas.openxmlformats.org/officeDocument/2006/relationships/image" Target="../media/image50.jpeg"/></Relationships>
</file>

<file path=ppt/slides/_rels/slide3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3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3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50.jpeg"/></Relationships>
</file>

<file path=ppt/slides/_rels/slide3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3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jpg"/><Relationship Id="rId7" Type="http://schemas.openxmlformats.org/officeDocument/2006/relationships/image" Target="../media/image58.jpe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57.jpeg"/><Relationship Id="rId5" Type="http://schemas.openxmlformats.org/officeDocument/2006/relationships/image" Target="../media/image56.png"/><Relationship Id="rId4" Type="http://schemas.openxmlformats.org/officeDocument/2006/relationships/image" Target="../media/image55.jpeg"/></Relationships>
</file>

<file path=ppt/slides/_rels/slide39.xml.rels><?xml version="1.0" encoding="UTF-8" standalone="yes"?>
<Relationships xmlns="http://schemas.openxmlformats.org/package/2006/relationships"><Relationship Id="rId3" Type="http://schemas.openxmlformats.org/officeDocument/2006/relationships/image" Target="../media/image5.jpg"/><Relationship Id="rId7" Type="http://schemas.openxmlformats.org/officeDocument/2006/relationships/image" Target="../media/image62.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4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png"/></Relationships>
</file>

<file path=ppt/slides/_rels/slide4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4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66.png"/></Relationships>
</file>

<file path=ppt/slides/_rels/slide4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4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4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4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image" Target="../media/image71.png"/></Relationships>
</file>

<file path=ppt/slides/_rels/slide4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image" Target="../media/image73.png"/></Relationships>
</file>

<file path=ppt/slides/_rels/slide50.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5.jpg"/><Relationship Id="rId7" Type="http://schemas.openxmlformats.org/officeDocument/2006/relationships/image" Target="../media/image78.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51.xml.rels><?xml version="1.0" encoding="UTF-8" standalone="yes"?>
<Relationships xmlns="http://schemas.openxmlformats.org/package/2006/relationships"><Relationship Id="rId3" Type="http://schemas.openxmlformats.org/officeDocument/2006/relationships/image" Target="../media/image5.jpg"/><Relationship Id="rId7" Type="http://schemas.openxmlformats.org/officeDocument/2006/relationships/image" Target="../media/image83.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1.gif"/><Relationship Id="rId4" Type="http://schemas.openxmlformats.org/officeDocument/2006/relationships/image" Target="../media/image80.gif"/></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61EB7-9429-938F-2206-0C0DF1A1F764}"/>
            </a:ext>
          </a:extLst>
        </p:cNvPr>
        <p:cNvGrpSpPr/>
        <p:nvPr/>
      </p:nvGrpSpPr>
      <p:grpSpPr>
        <a:xfrm>
          <a:off x="0" y="0"/>
          <a:ext cx="0" cy="0"/>
          <a:chOff x="0" y="0"/>
          <a:chExt cx="0" cy="0"/>
        </a:xfrm>
      </p:grpSpPr>
      <p:sp>
        <p:nvSpPr>
          <p:cNvPr id="2" name="1 Título">
            <a:extLst>
              <a:ext uri="{FF2B5EF4-FFF2-40B4-BE49-F238E27FC236}">
                <a16:creationId xmlns:a16="http://schemas.microsoft.com/office/drawing/2014/main" id="{647993BD-1026-BE53-F0BF-6C1E19F33C17}"/>
              </a:ext>
            </a:extLst>
          </p:cNvPr>
          <p:cNvSpPr>
            <a:spLocks noGrp="1"/>
          </p:cNvSpPr>
          <p:nvPr>
            <p:ph type="title"/>
          </p:nvPr>
        </p:nvSpPr>
        <p:spPr/>
        <p:txBody>
          <a:bodyPr/>
          <a:lstStyle/>
          <a:p>
            <a:endParaRPr lang="es-CL" noProof="0" dirty="0"/>
          </a:p>
        </p:txBody>
      </p:sp>
      <p:pic>
        <p:nvPicPr>
          <p:cNvPr id="2050" name="Picture 2" descr="C:\Users\FHidalgoP\Downloads\Diapositiva1_portada3 (1).jpg">
            <a:extLst>
              <a:ext uri="{FF2B5EF4-FFF2-40B4-BE49-F238E27FC236}">
                <a16:creationId xmlns:a16="http://schemas.microsoft.com/office/drawing/2014/main" id="{E2C98402-7C99-52F0-8BAE-9D1EECF056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74162"/>
            <a:ext cx="20112192" cy="11309350"/>
          </a:xfrm>
          <a:prstGeom prst="rect">
            <a:avLst/>
          </a:prstGeom>
          <a:noFill/>
          <a:extLst>
            <a:ext uri="{909E8E84-426E-40DD-AFC4-6F175D3DCCD1}">
              <a14:hiddenFill xmlns:a14="http://schemas.microsoft.com/office/drawing/2010/main">
                <a:solidFill>
                  <a:srgbClr val="FFFFFF"/>
                </a:solidFill>
              </a14:hiddenFill>
            </a:ext>
          </a:extLst>
        </p:spPr>
      </p:pic>
      <p:sp>
        <p:nvSpPr>
          <p:cNvPr id="5" name="object 3">
            <a:extLst>
              <a:ext uri="{FF2B5EF4-FFF2-40B4-BE49-F238E27FC236}">
                <a16:creationId xmlns:a16="http://schemas.microsoft.com/office/drawing/2014/main" id="{F0EEF1A1-EED1-4A80-05D6-1A782B76E8A3}"/>
              </a:ext>
            </a:extLst>
          </p:cNvPr>
          <p:cNvSpPr txBox="1"/>
          <p:nvPr/>
        </p:nvSpPr>
        <p:spPr>
          <a:xfrm>
            <a:off x="831850" y="8161793"/>
            <a:ext cx="18564837" cy="2223813"/>
          </a:xfrm>
          <a:prstGeom prst="rect">
            <a:avLst/>
          </a:prstGeom>
          <a:noFill/>
          <a:effectLst>
            <a:outerShdw blurRad="50800" dist="38100" dir="5400000" algn="t" rotWithShape="0">
              <a:prstClr val="black">
                <a:alpha val="40000"/>
              </a:prstClr>
            </a:outerShdw>
          </a:effectLst>
        </p:spPr>
        <p:txBody>
          <a:bodyPr vert="horz" wrap="square" lIns="0" tIns="349884" rIns="0" bIns="0" rtlCol="0">
            <a:spAutoFit/>
          </a:bodyPr>
          <a:lstStyle/>
          <a:p>
            <a:pPr>
              <a:lnSpc>
                <a:spcPct val="150000"/>
              </a:lnSpc>
            </a:pPr>
            <a:r>
              <a:rPr lang="es-CL" sz="6000" b="1" kern="100" noProof="0" dirty="0">
                <a:solidFill>
                  <a:schemeClr val="bg1"/>
                </a:solidFill>
                <a:highlight>
                  <a:srgbClr val="000000"/>
                </a:highlight>
                <a:latin typeface="Arial" panose="020B0604020202020204" pitchFamily="34" charset="0"/>
                <a:ea typeface="Roboto" panose="02000000000000000000" pitchFamily="2" charset="0"/>
                <a:cs typeface="Arial" panose="020B0604020202020204" pitchFamily="34" charset="0"/>
              </a:rPr>
              <a:t>SISTEMAS DE TRANSMISIÓN</a:t>
            </a:r>
          </a:p>
          <a:p>
            <a:pPr>
              <a:lnSpc>
                <a:spcPct val="150000"/>
              </a:lnSpc>
            </a:pPr>
            <a:r>
              <a:rPr lang="es-CL" sz="2400" b="1" kern="100" noProof="0" dirty="0">
                <a:solidFill>
                  <a:schemeClr val="bg1"/>
                </a:solidFill>
                <a:latin typeface="Arial" panose="020B0604020202020204" pitchFamily="34" charset="0"/>
                <a:ea typeface="Roboto" panose="02000000000000000000" pitchFamily="2" charset="0"/>
                <a:cs typeface="Arial" panose="020B0604020202020204" pitchFamily="34" charset="0"/>
              </a:rPr>
              <a:t>CAP. JACOB BARQUI PÉREZ</a:t>
            </a:r>
          </a:p>
        </p:txBody>
      </p:sp>
      <p:sp>
        <p:nvSpPr>
          <p:cNvPr id="6" name="CuadroTexto 1">
            <a:extLst>
              <a:ext uri="{FF2B5EF4-FFF2-40B4-BE49-F238E27FC236}">
                <a16:creationId xmlns:a16="http://schemas.microsoft.com/office/drawing/2014/main" id="{04A64BD5-A679-1220-6BE4-18316EBEAFEE}"/>
              </a:ext>
            </a:extLst>
          </p:cNvPr>
          <p:cNvSpPr txBox="1"/>
          <p:nvPr/>
        </p:nvSpPr>
        <p:spPr>
          <a:xfrm>
            <a:off x="17637126" y="1937258"/>
            <a:ext cx="2051049" cy="400110"/>
          </a:xfrm>
          <a:prstGeom prst="rect">
            <a:avLst/>
          </a:prstGeom>
          <a:noFill/>
        </p:spPr>
        <p:txBody>
          <a:bodyPr wrap="square" rtlCol="0">
            <a:spAutoFit/>
          </a:bodyPr>
          <a:lstStyle/>
          <a:p>
            <a:pPr algn="ctr"/>
            <a:r>
              <a:rPr lang="es-CL" sz="2000" noProof="0" dirty="0">
                <a:solidFill>
                  <a:schemeClr val="bg1"/>
                </a:solidFill>
                <a:latin typeface="Arial" panose="020B0604020202020204" pitchFamily="34" charset="0"/>
                <a:ea typeface="Roboto" panose="02000000000000000000" pitchFamily="2" charset="0"/>
                <a:cs typeface="Arial" panose="020B0604020202020204" pitchFamily="34" charset="0"/>
              </a:rPr>
              <a:t> </a:t>
            </a:r>
            <a:r>
              <a:rPr lang="es-CL" sz="2000" b="1" noProof="0" dirty="0">
                <a:solidFill>
                  <a:schemeClr val="bg1"/>
                </a:solidFill>
                <a:highlight>
                  <a:srgbClr val="000000"/>
                </a:highlight>
                <a:latin typeface="Arial" panose="020B0604020202020204" pitchFamily="34" charset="0"/>
                <a:ea typeface="Roboto" panose="02000000000000000000" pitchFamily="2" charset="0"/>
                <a:cs typeface="Arial" panose="020B0604020202020204" pitchFamily="34" charset="0"/>
              </a:rPr>
              <a:t>MAR, 2026</a:t>
            </a:r>
          </a:p>
        </p:txBody>
      </p:sp>
      <p:pic>
        <p:nvPicPr>
          <p:cNvPr id="7" name="Imagen 4">
            <a:extLst>
              <a:ext uri="{FF2B5EF4-FFF2-40B4-BE49-F238E27FC236}">
                <a16:creationId xmlns:a16="http://schemas.microsoft.com/office/drawing/2014/main" id="{75267336-5C6F-233B-B307-ACCAAEB6635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28615" y="168276"/>
            <a:ext cx="1468072" cy="1600200"/>
          </a:xfrm>
          <a:prstGeom prst="rect">
            <a:avLst/>
          </a:prstGeom>
        </p:spPr>
      </p:pic>
      <p:pic>
        <p:nvPicPr>
          <p:cNvPr id="13" name="Imagen 12" descr="Logotipo&#10;&#10;El contenido generado por IA puede ser incorrecto.">
            <a:extLst>
              <a:ext uri="{FF2B5EF4-FFF2-40B4-BE49-F238E27FC236}">
                <a16:creationId xmlns:a16="http://schemas.microsoft.com/office/drawing/2014/main" id="{C9712216-5E15-034A-5027-79B61F1C67F6}"/>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40000"/>
                    </a14:imgEffect>
                  </a14:imgLayer>
                </a14:imgProps>
              </a:ext>
            </a:extLst>
          </a:blip>
          <a:stretch>
            <a:fillRect/>
          </a:stretch>
        </p:blipFill>
        <p:spPr>
          <a:xfrm>
            <a:off x="15657" y="-366510"/>
            <a:ext cx="1632386" cy="1937258"/>
          </a:xfrm>
          <a:prstGeom prst="rect">
            <a:avLst/>
          </a:prstGeom>
        </p:spPr>
      </p:pic>
    </p:spTree>
    <p:extLst>
      <p:ext uri="{BB962C8B-B14F-4D97-AF65-F5344CB8AC3E}">
        <p14:creationId xmlns:p14="http://schemas.microsoft.com/office/powerpoint/2010/main" val="32784614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8" name="Marcador de contenido 2">
            <a:extLst>
              <a:ext uri="{FF2B5EF4-FFF2-40B4-BE49-F238E27FC236}">
                <a16:creationId xmlns:a16="http://schemas.microsoft.com/office/drawing/2014/main" id="{7181627E-945E-922A-A8C8-DEDA2C7AC933}"/>
              </a:ext>
            </a:extLst>
          </p:cNvPr>
          <p:cNvSpPr txBox="1">
            <a:spLocks/>
          </p:cNvSpPr>
          <p:nvPr/>
        </p:nvSpPr>
        <p:spPr>
          <a:xfrm>
            <a:off x="8375650" y="2869622"/>
            <a:ext cx="10591799" cy="6976054"/>
          </a:xfrm>
          <a:prstGeom prst="rect">
            <a:avLst/>
          </a:prstGeom>
          <a:effectLst/>
        </p:spPr>
        <p:txBody>
          <a:bodyPr vert="horz" lIns="91440" tIns="45720" rIns="91440" bIns="45720" rtlCol="0">
            <a:normAutofit/>
          </a:bodyPr>
          <a:lstStyle>
            <a:lvl1pPr marL="376961" indent="-376961" algn="l" defTabSz="1507846" rtl="0" eaLnBrk="1" latinLnBrk="0" hangingPunct="1">
              <a:lnSpc>
                <a:spcPct val="90000"/>
              </a:lnSpc>
              <a:spcBef>
                <a:spcPts val="1649"/>
              </a:spcBef>
              <a:buFont typeface="Arial" panose="020B0604020202020204" pitchFamily="34" charset="0"/>
              <a:buChar char="•"/>
              <a:defRPr sz="4617" kern="1200">
                <a:solidFill>
                  <a:schemeClr val="tx1"/>
                </a:solidFill>
                <a:latin typeface="+mn-lt"/>
                <a:ea typeface="+mn-ea"/>
                <a:cs typeface="+mn-cs"/>
              </a:defRPr>
            </a:lvl1pPr>
            <a:lvl2pPr marL="1130884" indent="-376961" algn="l" defTabSz="1507846" rtl="0" eaLnBrk="1" latinLnBrk="0" hangingPunct="1">
              <a:lnSpc>
                <a:spcPct val="90000"/>
              </a:lnSpc>
              <a:spcBef>
                <a:spcPts val="824"/>
              </a:spcBef>
              <a:buFont typeface="Arial" panose="020B0604020202020204" pitchFamily="34" charset="0"/>
              <a:buChar char="•"/>
              <a:defRPr sz="3958" kern="1200">
                <a:solidFill>
                  <a:schemeClr val="tx1"/>
                </a:solidFill>
                <a:latin typeface="+mn-lt"/>
                <a:ea typeface="+mn-ea"/>
                <a:cs typeface="+mn-cs"/>
              </a:defRPr>
            </a:lvl2pPr>
            <a:lvl3pPr marL="1884807" indent="-376961" algn="l" defTabSz="1507846" rtl="0" eaLnBrk="1" latinLnBrk="0" hangingPunct="1">
              <a:lnSpc>
                <a:spcPct val="90000"/>
              </a:lnSpc>
              <a:spcBef>
                <a:spcPts val="824"/>
              </a:spcBef>
              <a:buFont typeface="Arial" panose="020B0604020202020204" pitchFamily="34" charset="0"/>
              <a:buChar char="•"/>
              <a:defRPr sz="3298" kern="1200">
                <a:solidFill>
                  <a:schemeClr val="tx1"/>
                </a:solidFill>
                <a:latin typeface="+mn-lt"/>
                <a:ea typeface="+mn-ea"/>
                <a:cs typeface="+mn-cs"/>
              </a:defRPr>
            </a:lvl3pPr>
            <a:lvl4pPr marL="2638730"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4pPr>
            <a:lvl5pPr marL="3392653"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5pPr>
            <a:lvl6pPr marL="4146575"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6pPr>
            <a:lvl7pPr marL="4900498"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7pPr>
            <a:lvl8pPr marL="5654421"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8pPr>
            <a:lvl9pPr marL="6408344"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9pPr>
          </a:lstStyle>
          <a:p>
            <a:pPr marL="0" indent="0">
              <a:buNone/>
            </a:pPr>
            <a:r>
              <a:rPr lang="es-CL" sz="3200" b="1" noProof="0" dirty="0">
                <a:latin typeface="Atkinson Hyperlegible" pitchFamily="2" charset="77"/>
              </a:rPr>
              <a:t>1. OBJETIVO DE LA UNIDAD DE APRENDIZAJE.</a:t>
            </a:r>
          </a:p>
          <a:p>
            <a:pPr marL="457200" indent="-457200">
              <a:buFont typeface="+mj-lt"/>
              <a:buAutoNum type="arabicPeriod"/>
            </a:pPr>
            <a:endParaRPr lang="es-CL" sz="2400" noProof="0" dirty="0">
              <a:latin typeface="Atkinson Hyperlegible" pitchFamily="2" charset="77"/>
            </a:endParaRPr>
          </a:p>
          <a:p>
            <a:pPr marL="0" indent="0">
              <a:buNone/>
            </a:pPr>
            <a:r>
              <a:rPr lang="es-CL" sz="3200" b="1" noProof="0" dirty="0">
                <a:latin typeface="Atkinson Hyperlegible" pitchFamily="2" charset="77"/>
              </a:rPr>
              <a:t>2. INTRODUCCIÓN A LA PROPAGACIÓN DE ONDAS DE RADIO</a:t>
            </a:r>
          </a:p>
          <a:p>
            <a:pPr marL="0" indent="0">
              <a:buNone/>
            </a:pPr>
            <a:endParaRPr lang="es-CL" sz="2400" noProof="0" dirty="0">
              <a:latin typeface="Atkinson Hyperlegible" pitchFamily="2" charset="77"/>
            </a:endParaRPr>
          </a:p>
          <a:p>
            <a:pPr marL="0" indent="0">
              <a:buNone/>
            </a:pPr>
            <a:r>
              <a:rPr lang="es-CL" sz="3200" b="1" noProof="0" dirty="0">
                <a:latin typeface="Atkinson Hyperlegible" pitchFamily="2" charset="77"/>
              </a:rPr>
              <a:t>3. BANDAS DE FRECUENCIAS</a:t>
            </a:r>
          </a:p>
          <a:p>
            <a:pPr marL="0" indent="0">
              <a:buNone/>
            </a:pPr>
            <a:endParaRPr lang="es-CL" sz="3200" b="1" noProof="0" dirty="0">
              <a:latin typeface="Atkinson Hyperlegible" pitchFamily="2" charset="77"/>
            </a:endParaRPr>
          </a:p>
          <a:p>
            <a:pPr marL="0" indent="0">
              <a:buNone/>
            </a:pPr>
            <a:r>
              <a:rPr lang="es-CL" sz="3200" b="1" noProof="0" dirty="0">
                <a:latin typeface="Atkinson Hyperlegible" pitchFamily="2" charset="77"/>
              </a:rPr>
              <a:t>4. PROPAGACIÓN EN LA ATMÓSFERA</a:t>
            </a:r>
          </a:p>
          <a:p>
            <a:pPr marL="0" indent="0">
              <a:buNone/>
            </a:pPr>
            <a:endParaRPr lang="es-CL" sz="3200" b="1" noProof="0" dirty="0">
              <a:latin typeface="Atkinson Hyperlegible" pitchFamily="2" charset="77"/>
            </a:endParaRPr>
          </a:p>
          <a:p>
            <a:pPr marL="0" indent="0">
              <a:buNone/>
            </a:pPr>
            <a:r>
              <a:rPr lang="es-CL" sz="3200" b="1" noProof="0" dirty="0">
                <a:latin typeface="Atkinson Hyperlegible" pitchFamily="2" charset="77"/>
              </a:rPr>
              <a:t>5. ANTENAS Y REFLECTORES</a:t>
            </a:r>
          </a:p>
          <a:p>
            <a:pPr marL="0" indent="0">
              <a:buNone/>
            </a:pPr>
            <a:endParaRPr lang="es-CL" sz="3200" b="1" noProof="0" dirty="0">
              <a:latin typeface="Atkinson Hyperlegible" pitchFamily="2" charset="77"/>
            </a:endParaRPr>
          </a:p>
          <a:p>
            <a:pPr marL="0" indent="0">
              <a:buNone/>
            </a:pPr>
            <a:r>
              <a:rPr lang="es-CL" sz="3200" b="1" noProof="0" dirty="0">
                <a:latin typeface="Atkinson Hyperlegible" pitchFamily="2" charset="77"/>
              </a:rPr>
              <a:t>6. CONSULTAS.</a:t>
            </a:r>
          </a:p>
          <a:p>
            <a:pPr marL="0" indent="0">
              <a:buNone/>
            </a:pPr>
            <a:endParaRPr lang="es-CL" sz="3200" b="1" noProof="0" dirty="0">
              <a:latin typeface="Atkinson Hyperlegible" pitchFamily="2" charset="77"/>
            </a:endParaRPr>
          </a:p>
          <a:p>
            <a:pPr marL="0" indent="0">
              <a:buNone/>
            </a:pPr>
            <a:endParaRPr lang="es-CL" sz="3200" b="1" noProof="0" dirty="0">
              <a:latin typeface="Atkinson Hyperlegible" pitchFamily="2" charset="77"/>
            </a:endParaRPr>
          </a:p>
          <a:p>
            <a:pPr marL="0" indent="0">
              <a:buNone/>
            </a:pPr>
            <a:endParaRPr lang="es-CL" sz="3200" b="1" noProof="0" dirty="0">
              <a:latin typeface="Atkinson Hyperlegible" pitchFamily="2" charset="77"/>
            </a:endParaRPr>
          </a:p>
          <a:p>
            <a:pPr marL="0" indent="0">
              <a:buNone/>
            </a:pPr>
            <a:endParaRPr lang="es-CL" sz="3200" b="1" noProof="0" dirty="0">
              <a:latin typeface="Atkinson Hyperlegible" pitchFamily="2" charset="77"/>
            </a:endParaRPr>
          </a:p>
          <a:p>
            <a:pPr marL="0" indent="0">
              <a:buNone/>
            </a:pPr>
            <a:endParaRPr lang="es-CL" sz="2400" noProof="0" dirty="0">
              <a:latin typeface="Atkinson Hyperlegible" pitchFamily="2" charset="77"/>
            </a:endParaRPr>
          </a:p>
          <a:p>
            <a:pPr marL="0" indent="0">
              <a:buNone/>
            </a:pPr>
            <a:endParaRPr lang="es-CL" sz="2400" noProof="0" dirty="0"/>
          </a:p>
          <a:p>
            <a:pPr marL="0" indent="0">
              <a:buNone/>
            </a:pPr>
            <a:endParaRPr lang="es-CL" sz="2400" noProof="0" dirty="0"/>
          </a:p>
          <a:p>
            <a:pPr marL="0" indent="0">
              <a:buNone/>
            </a:pPr>
            <a:endParaRPr lang="es-CL" sz="2400" noProof="0" dirty="0"/>
          </a:p>
          <a:p>
            <a:pPr marL="0" indent="0">
              <a:buFont typeface="Arial" panose="020B0604020202020204" pitchFamily="34" charset="0"/>
              <a:buNone/>
            </a:pPr>
            <a:endParaRPr lang="es-CL" sz="3200" noProof="0" dirty="0"/>
          </a:p>
          <a:p>
            <a:endParaRPr lang="es-CL" sz="3200" noProof="0" dirty="0"/>
          </a:p>
        </p:txBody>
      </p:sp>
      <p:sp>
        <p:nvSpPr>
          <p:cNvPr id="9" name="object 3">
            <a:extLst>
              <a:ext uri="{FF2B5EF4-FFF2-40B4-BE49-F238E27FC236}">
                <a16:creationId xmlns:a16="http://schemas.microsoft.com/office/drawing/2014/main" id="{CF8EB62E-9478-2731-9162-83AA65AA10D2}"/>
              </a:ext>
            </a:extLst>
          </p:cNvPr>
          <p:cNvSpPr txBox="1"/>
          <p:nvPr/>
        </p:nvSpPr>
        <p:spPr>
          <a:xfrm>
            <a:off x="8375650" y="24840"/>
            <a:ext cx="8610595" cy="1482522"/>
          </a:xfrm>
          <a:prstGeom prst="rect">
            <a:avLst/>
          </a:prstGeom>
          <a:noFill/>
        </p:spPr>
        <p:txBody>
          <a:bodyPr vert="horz" wrap="square" lIns="0" tIns="349885" rIns="0" bIns="0" rtlCol="0">
            <a:spAutoFit/>
          </a:bodyPr>
          <a:lstStyle/>
          <a:p>
            <a:pPr>
              <a:lnSpc>
                <a:spcPct val="150000"/>
              </a:lnSpc>
            </a:pPr>
            <a:r>
              <a:rPr lang="es-CL" sz="5400" b="1" kern="100" noProof="0" dirty="0">
                <a:latin typeface="Atkinson Hyperlegible" pitchFamily="2" charset="77"/>
                <a:ea typeface="Calibri" panose="020F0502020204030204" pitchFamily="34" charset="0"/>
                <a:cs typeface="Gotham" pitchFamily="2" charset="0"/>
              </a:rPr>
              <a:t>TEMARIO</a:t>
            </a:r>
            <a:endParaRPr lang="es-CL" sz="5400" b="1" kern="100" noProof="0" dirty="0">
              <a:effectLst/>
              <a:latin typeface="Atkinson Hyperlegible" pitchFamily="2" charset="77"/>
              <a:ea typeface="Calibri" panose="020F0502020204030204" pitchFamily="34" charset="0"/>
              <a:cs typeface="Gotham" pitchFamily="2" charset="0"/>
            </a:endParaRPr>
          </a:p>
        </p:txBody>
      </p:sp>
      <p:cxnSp>
        <p:nvCxnSpPr>
          <p:cNvPr id="10" name="Conector recto 9">
            <a:extLst>
              <a:ext uri="{FF2B5EF4-FFF2-40B4-BE49-F238E27FC236}">
                <a16:creationId xmlns:a16="http://schemas.microsoft.com/office/drawing/2014/main" id="{80913B85-DB62-6753-27C9-B93610CCB519}"/>
              </a:ext>
            </a:extLst>
          </p:cNvPr>
          <p:cNvCxnSpPr>
            <a:cxnSpLocks/>
          </p:cNvCxnSpPr>
          <p:nvPr/>
        </p:nvCxnSpPr>
        <p:spPr>
          <a:xfrm>
            <a:off x="80708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pic>
        <p:nvPicPr>
          <p:cNvPr id="11" name="Picture 2" descr="C:\Users\FHidalgoP\Downloads\WhatsApp Image 2025-03-12 at 14.35.36.jpeg"/>
          <p:cNvPicPr>
            <a:picLocks noChangeAspect="1" noChangeArrowheads="1"/>
          </p:cNvPicPr>
          <p:nvPr/>
        </p:nvPicPr>
        <p:blipFill rotWithShape="1">
          <a:blip r:embed="rId4">
            <a:extLst>
              <a:ext uri="{28A0092B-C50C-407E-A947-70E740481C1C}">
                <a14:useLocalDpi xmlns:a14="http://schemas.microsoft.com/office/drawing/2010/main" val="0"/>
              </a:ext>
            </a:extLst>
          </a:blip>
          <a:srcRect l="21148" r="43683" b="714"/>
          <a:stretch/>
        </p:blipFill>
        <p:spPr bwMode="auto">
          <a:xfrm>
            <a:off x="0" y="0"/>
            <a:ext cx="7308850" cy="104899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601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46BDD0DA-35A7-19FD-C84B-195C6F463A82}"/>
              </a:ext>
            </a:extLst>
          </p:cNvPr>
          <p:cNvSpPr txBox="1"/>
          <p:nvPr/>
        </p:nvSpPr>
        <p:spPr>
          <a:xfrm>
            <a:off x="7766631" y="6036368"/>
            <a:ext cx="4523423" cy="406040"/>
          </a:xfrm>
          <a:prstGeom prst="rect">
            <a:avLst/>
          </a:prstGeom>
          <a:noFill/>
        </p:spPr>
        <p:txBody>
          <a:bodyPr rot="0" spcFirstLastPara="0" vertOverflow="overflow" horzOverflow="overflow" vert="horz" wrap="square" lIns="150781" tIns="75390" rIns="150781" bIns="75390" numCol="1" spcCol="0" rtlCol="0" fromWordArt="0" anchor="t" anchorCtr="0" forceAA="0" compatLnSpc="1">
            <a:prstTxWarp prst="textNoShape">
              <a:avLst/>
            </a:prstTxWarp>
            <a:spAutoFit/>
          </a:bodyPr>
          <a:lstStyle/>
          <a:p>
            <a:pPr algn="just"/>
            <a:endParaRPr lang="es-CL" sz="1649" noProof="0" dirty="0"/>
          </a:p>
        </p:txBody>
      </p:sp>
      <p:sp>
        <p:nvSpPr>
          <p:cNvPr id="2" name="CuadroTexto 1">
            <a:extLst>
              <a:ext uri="{FF2B5EF4-FFF2-40B4-BE49-F238E27FC236}">
                <a16:creationId xmlns:a16="http://schemas.microsoft.com/office/drawing/2014/main" id="{094B6FE4-EB02-E344-53F4-F643E93825FE}"/>
              </a:ext>
            </a:extLst>
          </p:cNvPr>
          <p:cNvSpPr txBox="1"/>
          <p:nvPr/>
        </p:nvSpPr>
        <p:spPr>
          <a:xfrm>
            <a:off x="2598359" y="1294836"/>
            <a:ext cx="16638039" cy="608981"/>
          </a:xfrm>
          <a:prstGeom prst="rect">
            <a:avLst/>
          </a:prstGeom>
          <a:noFill/>
        </p:spPr>
        <p:txBody>
          <a:bodyPr rot="0" spcFirstLastPara="0" vertOverflow="overflow" horzOverflow="overflow" vert="horz" wrap="square" lIns="150781" tIns="75390" rIns="150781" bIns="75390" numCol="1" spcCol="0" rtlCol="0" fromWordArt="0" anchor="t" anchorCtr="0" forceAA="0" compatLnSpc="1">
            <a:prstTxWarp prst="textNoShape">
              <a:avLst/>
            </a:prstTxWarp>
            <a:spAutoFit/>
          </a:bodyPr>
          <a:lstStyle/>
          <a:p>
            <a:endParaRPr lang="es-CL" sz="2968" b="1" noProof="0" dirty="0">
              <a:latin typeface="Calibri"/>
              <a:cs typeface="Calibri"/>
            </a:endParaRPr>
          </a:p>
        </p:txBody>
      </p:sp>
      <p:sp>
        <p:nvSpPr>
          <p:cNvPr id="3" name="object 3">
            <a:extLst>
              <a:ext uri="{FF2B5EF4-FFF2-40B4-BE49-F238E27FC236}">
                <a16:creationId xmlns:a16="http://schemas.microsoft.com/office/drawing/2014/main" id="{E0D695D3-82B4-0843-C646-1FDE68CDAE13}"/>
              </a:ext>
            </a:extLst>
          </p:cNvPr>
          <p:cNvSpPr txBox="1"/>
          <p:nvPr/>
        </p:nvSpPr>
        <p:spPr>
          <a:xfrm>
            <a:off x="1382157" y="-44605"/>
            <a:ext cx="12604775" cy="2179315"/>
          </a:xfrm>
          <a:prstGeom prst="rect">
            <a:avLst/>
          </a:prstGeom>
          <a:noFill/>
        </p:spPr>
        <p:txBody>
          <a:bodyPr vert="horz" wrap="square" lIns="0" tIns="349885" rIns="0" bIns="0" rtlCol="0">
            <a:spAutoFit/>
          </a:bodyPr>
          <a:lstStyle/>
          <a:p>
            <a:pPr>
              <a:lnSpc>
                <a:spcPct val="150000"/>
              </a:lnSpc>
            </a:pPr>
            <a:r>
              <a:rPr lang="es-CL" sz="5400" b="1" noProof="0" dirty="0">
                <a:latin typeface="Atkinson Hyperlegible" pitchFamily="2" charset="77"/>
              </a:rPr>
              <a:t>OBJETIVO DE LA UNIDAD DE APRENDIZAJE </a:t>
            </a:r>
            <a:r>
              <a:rPr lang="es-CL" sz="2800" b="1" kern="100" noProof="0" dirty="0">
                <a:latin typeface="Atkinson Hyperlegible" pitchFamily="2" charset="77"/>
                <a:ea typeface="Calibri" panose="020F0502020204030204" pitchFamily="34" charset="0"/>
              </a:rPr>
              <a:t>OBJETIVO PRINCIPAL</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8" name="5 Rectángulo">
            <a:extLst>
              <a:ext uri="{FF2B5EF4-FFF2-40B4-BE49-F238E27FC236}">
                <a16:creationId xmlns:a16="http://schemas.microsoft.com/office/drawing/2014/main" id="{AC5A5358-5A9B-B423-3443-E2F3ABECD712}"/>
              </a:ext>
            </a:extLst>
          </p:cNvPr>
          <p:cNvSpPr/>
          <p:nvPr/>
        </p:nvSpPr>
        <p:spPr>
          <a:xfrm>
            <a:off x="846666" y="3316256"/>
            <a:ext cx="7653867" cy="290913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lIns="91440" tIns="45720" rIns="91440" bIns="45720" anchor="t">
            <a:spAutoFit/>
          </a:bodyPr>
          <a:lstStyle/>
          <a:p>
            <a:pPr algn="just">
              <a:lnSpc>
                <a:spcPct val="200000"/>
              </a:lnSpc>
              <a:defRPr/>
            </a:pPr>
            <a:r>
              <a:rPr lang="es-CL" sz="3200" b="1" noProof="0" dirty="0">
                <a:effectLst/>
                <a:latin typeface="Atkinson Hyperlegible"/>
                <a:ea typeface="Times New Roman" panose="02020603050405020304" pitchFamily="18" charset="0"/>
              </a:rPr>
              <a:t>Aplicar conocimientos en los distintos medios de transmisión físicos y guiados de </a:t>
            </a:r>
          </a:p>
          <a:p>
            <a:pPr algn="just">
              <a:lnSpc>
                <a:spcPct val="200000"/>
              </a:lnSpc>
              <a:defRPr/>
            </a:pPr>
            <a:r>
              <a:rPr lang="es-CL" sz="3200" b="1" noProof="0" dirty="0">
                <a:effectLst/>
                <a:latin typeface="Atkinson Hyperlegible"/>
                <a:ea typeface="Times New Roman" panose="02020603050405020304" pitchFamily="18" charset="0"/>
              </a:rPr>
              <a:t>redes de transmisión.</a:t>
            </a:r>
            <a:endParaRPr lang="es-CL" sz="3200" b="1" noProof="0" dirty="0">
              <a:latin typeface="Atkinson Hyperlegible"/>
              <a:cs typeface="Times New Roman" pitchFamily="18" charset="0"/>
            </a:endParaRPr>
          </a:p>
        </p:txBody>
      </p:sp>
      <p:pic>
        <p:nvPicPr>
          <p:cNvPr id="2054" name="Picture 6" descr="Cómo funciona un conector de fibra óptica - Exposición - Focc Technology  Co., Ltd">
            <a:extLst>
              <a:ext uri="{FF2B5EF4-FFF2-40B4-BE49-F238E27FC236}">
                <a16:creationId xmlns:a16="http://schemas.microsoft.com/office/drawing/2014/main" id="{0E0CC03A-4C48-3252-B353-458D3BE4D8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38969" y="2997364"/>
            <a:ext cx="4074634" cy="503415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056" name="Picture 8" descr="Qué Topologías de Red Existen">
            <a:extLst>
              <a:ext uri="{FF2B5EF4-FFF2-40B4-BE49-F238E27FC236}">
                <a16:creationId xmlns:a16="http://schemas.microsoft.com/office/drawing/2014/main" id="{8F3833C3-0150-146D-7061-E3C3902909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55198" y="3049332"/>
            <a:ext cx="6062274" cy="682005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058" name="Picture 10" descr="Redes por Medios No Guiados – Herramientas Tecnológicas">
            <a:extLst>
              <a:ext uri="{FF2B5EF4-FFF2-40B4-BE49-F238E27FC236}">
                <a16:creationId xmlns:a16="http://schemas.microsoft.com/office/drawing/2014/main" id="{6B114107-2BA0-8A26-35AF-3B03D63629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154" y="7416455"/>
            <a:ext cx="6055369" cy="30276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050" name="Picture 2" descr="tipos-de-cable-red-">
            <a:extLst>
              <a:ext uri="{FF2B5EF4-FFF2-40B4-BE49-F238E27FC236}">
                <a16:creationId xmlns:a16="http://schemas.microsoft.com/office/drawing/2014/main" id="{0DADB60D-8609-A6A6-C7D1-9EF835B286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9014" y="7383944"/>
            <a:ext cx="3956946" cy="22309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4" name="Imagen 3">
            <a:extLst>
              <a:ext uri="{FF2B5EF4-FFF2-40B4-BE49-F238E27FC236}">
                <a16:creationId xmlns:a16="http://schemas.microsoft.com/office/drawing/2014/main" id="{C8034206-837D-C333-5695-2E829BF0D9B1}"/>
              </a:ext>
            </a:extLst>
          </p:cNvPr>
          <p:cNvPicPr>
            <a:picLocks noChangeAspect="1"/>
          </p:cNvPicPr>
          <p:nvPr/>
        </p:nvPicPr>
        <p:blipFill>
          <a:blip r:embed="rId6"/>
          <a:stretch>
            <a:fillRect/>
          </a:stretch>
        </p:blipFill>
        <p:spPr>
          <a:xfrm>
            <a:off x="8886932" y="2912254"/>
            <a:ext cx="11010014" cy="751903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8372634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2058"/>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20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E8161-E743-BE49-064B-CB7D07D71B0C}"/>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DE1DF841-C4F9-3803-3EC3-7ADDE2C2B736}"/>
              </a:ext>
            </a:extLst>
          </p:cNvPr>
          <p:cNvSpPr txBox="1"/>
          <p:nvPr/>
        </p:nvSpPr>
        <p:spPr>
          <a:xfrm>
            <a:off x="2598359" y="1294836"/>
            <a:ext cx="16638039" cy="608981"/>
          </a:xfrm>
          <a:prstGeom prst="rect">
            <a:avLst/>
          </a:prstGeom>
          <a:noFill/>
        </p:spPr>
        <p:txBody>
          <a:bodyPr rot="0" spcFirstLastPara="0" vertOverflow="overflow" horzOverflow="overflow" vert="horz" wrap="square" lIns="150781" tIns="75390" rIns="150781" bIns="75390" numCol="1" spcCol="0" rtlCol="0" fromWordArt="0" anchor="t" anchorCtr="0" forceAA="0" compatLnSpc="1">
            <a:prstTxWarp prst="textNoShape">
              <a:avLst/>
            </a:prstTxWarp>
            <a:spAutoFit/>
          </a:bodyPr>
          <a:lstStyle/>
          <a:p>
            <a:endParaRPr lang="es-CL" sz="2968" b="1" noProof="0" dirty="0">
              <a:latin typeface="Calibri"/>
              <a:cs typeface="Calibri"/>
            </a:endParaRPr>
          </a:p>
        </p:txBody>
      </p:sp>
      <p:sp>
        <p:nvSpPr>
          <p:cNvPr id="3" name="object 3">
            <a:extLst>
              <a:ext uri="{FF2B5EF4-FFF2-40B4-BE49-F238E27FC236}">
                <a16:creationId xmlns:a16="http://schemas.microsoft.com/office/drawing/2014/main" id="{77A41CF5-6C7A-894F-1885-A65049BB8B4B}"/>
              </a:ext>
            </a:extLst>
          </p:cNvPr>
          <p:cNvSpPr txBox="1"/>
          <p:nvPr/>
        </p:nvSpPr>
        <p:spPr>
          <a:xfrm>
            <a:off x="1382157" y="-44605"/>
            <a:ext cx="12604775" cy="2179315"/>
          </a:xfrm>
          <a:prstGeom prst="rect">
            <a:avLst/>
          </a:prstGeom>
          <a:noFill/>
        </p:spPr>
        <p:txBody>
          <a:bodyPr vert="horz" wrap="square" lIns="0" tIns="349885" rIns="0" bIns="0" rtlCol="0">
            <a:spAutoFit/>
          </a:bodyPr>
          <a:lstStyle/>
          <a:p>
            <a:pPr>
              <a:lnSpc>
                <a:spcPct val="150000"/>
              </a:lnSpc>
            </a:pPr>
            <a:r>
              <a:rPr lang="es-CL" sz="5400" b="1" noProof="0" dirty="0">
                <a:latin typeface="Atkinson Hyperlegible" pitchFamily="2" charset="77"/>
              </a:rPr>
              <a:t>OBJETIVO DE LA UNIDAD DE APRENDIZAJE </a:t>
            </a:r>
            <a:r>
              <a:rPr lang="es-CL" sz="2800" b="1" kern="100" noProof="0" dirty="0">
                <a:latin typeface="Atkinson Hyperlegible" pitchFamily="2" charset="77"/>
                <a:ea typeface="Calibri" panose="020F0502020204030204" pitchFamily="34" charset="0"/>
              </a:rPr>
              <a:t>TAREA</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8" name="5 Rectángulo">
            <a:extLst>
              <a:ext uri="{FF2B5EF4-FFF2-40B4-BE49-F238E27FC236}">
                <a16:creationId xmlns:a16="http://schemas.microsoft.com/office/drawing/2014/main" id="{BB1A79F7-0E03-99C9-7F6F-A149134A742D}"/>
              </a:ext>
            </a:extLst>
          </p:cNvPr>
          <p:cNvSpPr/>
          <p:nvPr/>
        </p:nvSpPr>
        <p:spPr>
          <a:xfrm>
            <a:off x="846666" y="3316256"/>
            <a:ext cx="7653867" cy="290913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lIns="91440" tIns="45720" rIns="91440" bIns="45720" anchor="t">
            <a:spAutoFit/>
          </a:bodyPr>
          <a:lstStyle/>
          <a:p>
            <a:pPr algn="just">
              <a:lnSpc>
                <a:spcPct val="200000"/>
              </a:lnSpc>
              <a:defRPr/>
            </a:pPr>
            <a:r>
              <a:rPr lang="es-CL" sz="3200" b="1" noProof="0" dirty="0">
                <a:latin typeface="Atkinson Hyperlegible"/>
              </a:rPr>
              <a:t>Analizar sistemas transmisión desde los fundamentos que sustentan las tecnologías de la aplicación militar. </a:t>
            </a:r>
            <a:endParaRPr lang="es-CL" sz="3200" b="1" noProof="0" dirty="0">
              <a:latin typeface="Atkinson Hyperlegible"/>
              <a:cs typeface="Times New Roman" pitchFamily="18" charset="0"/>
            </a:endParaRPr>
          </a:p>
        </p:txBody>
      </p:sp>
      <p:pic>
        <p:nvPicPr>
          <p:cNvPr id="6146" name="Picture 2">
            <a:extLst>
              <a:ext uri="{FF2B5EF4-FFF2-40B4-BE49-F238E27FC236}">
                <a16:creationId xmlns:a16="http://schemas.microsoft.com/office/drawing/2014/main" id="{010472D1-4E4B-226B-3FB0-F6851B1F8C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99614" y="3243258"/>
            <a:ext cx="8748150" cy="719097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6411829"/>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651B1-2380-EAA3-522C-C9153F803C11}"/>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B00A7AD0-808B-F2F0-1A64-D80879603938}"/>
              </a:ext>
            </a:extLst>
          </p:cNvPr>
          <p:cNvSpPr txBox="1"/>
          <p:nvPr/>
        </p:nvSpPr>
        <p:spPr>
          <a:xfrm>
            <a:off x="2598359" y="1294836"/>
            <a:ext cx="16638039" cy="608981"/>
          </a:xfrm>
          <a:prstGeom prst="rect">
            <a:avLst/>
          </a:prstGeom>
          <a:noFill/>
        </p:spPr>
        <p:txBody>
          <a:bodyPr rot="0" spcFirstLastPara="0" vertOverflow="overflow" horzOverflow="overflow" vert="horz" wrap="square" lIns="150781" tIns="75390" rIns="150781" bIns="75390" numCol="1" spcCol="0" rtlCol="0" fromWordArt="0" anchor="t" anchorCtr="0" forceAA="0" compatLnSpc="1">
            <a:prstTxWarp prst="textNoShape">
              <a:avLst/>
            </a:prstTxWarp>
            <a:spAutoFit/>
          </a:bodyPr>
          <a:lstStyle/>
          <a:p>
            <a:endParaRPr lang="es-CL" sz="2968" b="1" noProof="0" dirty="0">
              <a:latin typeface="Calibri"/>
              <a:cs typeface="Calibri"/>
            </a:endParaRPr>
          </a:p>
        </p:txBody>
      </p:sp>
      <p:sp>
        <p:nvSpPr>
          <p:cNvPr id="3" name="object 3">
            <a:extLst>
              <a:ext uri="{FF2B5EF4-FFF2-40B4-BE49-F238E27FC236}">
                <a16:creationId xmlns:a16="http://schemas.microsoft.com/office/drawing/2014/main" id="{EFDF1386-B050-7714-150D-67856E0AD2D5}"/>
              </a:ext>
            </a:extLst>
          </p:cNvPr>
          <p:cNvSpPr txBox="1"/>
          <p:nvPr/>
        </p:nvSpPr>
        <p:spPr>
          <a:xfrm>
            <a:off x="1382157" y="-44605"/>
            <a:ext cx="12604775" cy="2179315"/>
          </a:xfrm>
          <a:prstGeom prst="rect">
            <a:avLst/>
          </a:prstGeom>
          <a:noFill/>
        </p:spPr>
        <p:txBody>
          <a:bodyPr vert="horz" wrap="square" lIns="0" tIns="349885" rIns="0" bIns="0" rtlCol="0">
            <a:spAutoFit/>
          </a:bodyPr>
          <a:lstStyle/>
          <a:p>
            <a:pPr>
              <a:lnSpc>
                <a:spcPct val="150000"/>
              </a:lnSpc>
            </a:pPr>
            <a:r>
              <a:rPr lang="es-CL" sz="5400" b="1" noProof="0" dirty="0">
                <a:latin typeface="Atkinson Hyperlegible" pitchFamily="2" charset="77"/>
              </a:rPr>
              <a:t>OBJETIVO DE LA UNIDAD DE APRENDIZAJE </a:t>
            </a:r>
            <a:r>
              <a:rPr lang="es-CL" sz="2800" b="1" kern="100" noProof="0" dirty="0">
                <a:latin typeface="Atkinson Hyperlegible" pitchFamily="2" charset="77"/>
                <a:ea typeface="Calibri" panose="020F0502020204030204" pitchFamily="34" charset="0"/>
              </a:rPr>
              <a:t>OBJETIVO PRINCIPAL DE LA CLASE</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6" name="5 Rectángulo">
            <a:extLst>
              <a:ext uri="{FF2B5EF4-FFF2-40B4-BE49-F238E27FC236}">
                <a16:creationId xmlns:a16="http://schemas.microsoft.com/office/drawing/2014/main" id="{B0F417D9-033E-D5F5-9726-8037B9002420}"/>
              </a:ext>
            </a:extLst>
          </p:cNvPr>
          <p:cNvSpPr/>
          <p:nvPr/>
        </p:nvSpPr>
        <p:spPr>
          <a:xfrm>
            <a:off x="1696951" y="3795530"/>
            <a:ext cx="17775273" cy="3231654"/>
          </a:xfrm>
          <a:prstGeom prst="rect">
            <a:avLst/>
          </a:prstGeom>
          <a:noFill/>
          <a:effectLst/>
        </p:spPr>
        <p:txBody>
          <a:bodyPr wrap="square" lIns="91440" tIns="45720" rIns="91440" bIns="45720" anchor="t">
            <a:spAutoFit/>
          </a:bodyPr>
          <a:lstStyle/>
          <a:p>
            <a:pPr marL="742950" indent="-742950" algn="just">
              <a:lnSpc>
                <a:spcPct val="150000"/>
              </a:lnSpc>
              <a:buAutoNum type="arabicPeriod" startAt="2"/>
              <a:defRPr/>
            </a:pPr>
            <a:r>
              <a:rPr lang="es-CL" sz="3600" b="1" noProof="0" dirty="0">
                <a:effectLst/>
                <a:latin typeface="Atkinson Hyperlegible"/>
                <a:ea typeface="Times New Roman" panose="02020603050405020304" pitchFamily="18" charset="0"/>
              </a:rPr>
              <a:t>Sistemas de transmisión no guiados (RF)</a:t>
            </a:r>
          </a:p>
          <a:p>
            <a:pPr lvl="1" algn="just"/>
            <a:r>
              <a:rPr lang="es-CL" sz="3600" noProof="0" dirty="0">
                <a:latin typeface="Atkinson Hyperlegible" pitchFamily="2" charset="77"/>
              </a:rPr>
              <a:t>2.1.	Introducción a la propagación de ondas de radio.</a:t>
            </a:r>
          </a:p>
          <a:p>
            <a:pPr lvl="1" algn="just"/>
            <a:r>
              <a:rPr lang="es-CL" sz="3600" noProof="0" dirty="0">
                <a:latin typeface="Atkinson Hyperlegible" pitchFamily="2" charset="77"/>
              </a:rPr>
              <a:t>2.2.	Bandas de frecuencias.</a:t>
            </a:r>
          </a:p>
          <a:p>
            <a:pPr lvl="1" algn="just"/>
            <a:r>
              <a:rPr lang="es-CL" sz="3600" noProof="0" dirty="0">
                <a:latin typeface="Atkinson Hyperlegible" pitchFamily="2" charset="77"/>
              </a:rPr>
              <a:t>2.3.	Propagación en la atmósfera. </a:t>
            </a:r>
          </a:p>
          <a:p>
            <a:pPr lvl="1" algn="just"/>
            <a:r>
              <a:rPr lang="es-CL" sz="3600" noProof="0" dirty="0">
                <a:latin typeface="Atkinson Hyperlegible" pitchFamily="2" charset="77"/>
              </a:rPr>
              <a:t>2.4.	Antenas y reflectores.</a:t>
            </a:r>
          </a:p>
        </p:txBody>
      </p:sp>
      <p:sp>
        <p:nvSpPr>
          <p:cNvPr id="8" name="CuadroTexto 7">
            <a:extLst>
              <a:ext uri="{FF2B5EF4-FFF2-40B4-BE49-F238E27FC236}">
                <a16:creationId xmlns:a16="http://schemas.microsoft.com/office/drawing/2014/main" id="{BFE4BD31-0C5E-EFE9-1AA1-3F00F2CADD93}"/>
              </a:ext>
            </a:extLst>
          </p:cNvPr>
          <p:cNvSpPr txBox="1"/>
          <p:nvPr/>
        </p:nvSpPr>
        <p:spPr>
          <a:xfrm>
            <a:off x="8917065" y="2889315"/>
            <a:ext cx="3113687" cy="707886"/>
          </a:xfrm>
          <a:prstGeom prst="rect">
            <a:avLst/>
          </a:prstGeom>
          <a:noFill/>
        </p:spPr>
        <p:txBody>
          <a:bodyPr wrap="square">
            <a:spAutoFit/>
          </a:bodyPr>
          <a:lstStyle/>
          <a:p>
            <a:r>
              <a:rPr lang="es-CL" sz="4000" b="1" kern="100" noProof="0" dirty="0">
                <a:latin typeface="Atkinson Hyperlegible" pitchFamily="2" charset="77"/>
                <a:ea typeface="Calibri" panose="020F0502020204030204" pitchFamily="34" charset="0"/>
              </a:rPr>
              <a:t>CONTENIDOS</a:t>
            </a:r>
            <a:endParaRPr lang="es-CL" sz="4000" noProof="0" dirty="0"/>
          </a:p>
        </p:txBody>
      </p:sp>
      <p:sp>
        <p:nvSpPr>
          <p:cNvPr id="14" name="Marcador de número de diapositiva 1">
            <a:extLst>
              <a:ext uri="{FF2B5EF4-FFF2-40B4-BE49-F238E27FC236}">
                <a16:creationId xmlns:a16="http://schemas.microsoft.com/office/drawing/2014/main" id="{52EEEA47-11D0-9A27-8331-6389403D15CF}"/>
              </a:ext>
            </a:extLst>
          </p:cNvPr>
          <p:cNvSpPr txBox="1">
            <a:spLocks/>
          </p:cNvSpPr>
          <p:nvPr/>
        </p:nvSpPr>
        <p:spPr>
          <a:xfrm>
            <a:off x="14198520" y="10482093"/>
            <a:ext cx="4523423" cy="602118"/>
          </a:xfrm>
          <a:prstGeom prst="rect">
            <a:avLst/>
          </a:prstGeom>
        </p:spPr>
        <p:txBody>
          <a:bodyPr/>
          <a:lstStyle>
            <a:defPPr lvl="0">
              <a:defRPr lang="es-CL"/>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fld id="{B6F15528-21DE-4FAA-801E-634DDDAF4B2B}" type="slidenum">
              <a:rPr lang="es-CL" noProof="0" smtClean="0"/>
              <a:pPr/>
              <a:t>5</a:t>
            </a:fld>
            <a:endParaRPr lang="es-CL" noProof="0" dirty="0"/>
          </a:p>
        </p:txBody>
      </p:sp>
    </p:spTree>
    <p:extLst>
      <p:ext uri="{BB962C8B-B14F-4D97-AF65-F5344CB8AC3E}">
        <p14:creationId xmlns:p14="http://schemas.microsoft.com/office/powerpoint/2010/main" val="523277005"/>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E8D25-85D9-E04C-486C-47D90C11FDDF}"/>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4A0F57B8-3A8B-5EB4-1FE2-C04A71699F61}"/>
              </a:ext>
            </a:extLst>
          </p:cNvPr>
          <p:cNvSpPr txBox="1"/>
          <p:nvPr/>
        </p:nvSpPr>
        <p:spPr>
          <a:xfrm>
            <a:off x="2598359" y="1294836"/>
            <a:ext cx="16638039" cy="608981"/>
          </a:xfrm>
          <a:prstGeom prst="rect">
            <a:avLst/>
          </a:prstGeom>
          <a:noFill/>
        </p:spPr>
        <p:txBody>
          <a:bodyPr rot="0" spcFirstLastPara="0" vertOverflow="overflow" horzOverflow="overflow" vert="horz" wrap="square" lIns="150781" tIns="75390" rIns="150781" bIns="75390" numCol="1" spcCol="0" rtlCol="0" fromWordArt="0" anchor="t" anchorCtr="0" forceAA="0" compatLnSpc="1">
            <a:prstTxWarp prst="textNoShape">
              <a:avLst/>
            </a:prstTxWarp>
            <a:spAutoFit/>
          </a:bodyPr>
          <a:lstStyle/>
          <a:p>
            <a:endParaRPr lang="es-CL" sz="2968" b="1" noProof="0" dirty="0">
              <a:latin typeface="Calibri"/>
              <a:cs typeface="Calibri"/>
            </a:endParaRPr>
          </a:p>
        </p:txBody>
      </p:sp>
      <p:sp>
        <p:nvSpPr>
          <p:cNvPr id="3" name="object 3">
            <a:extLst>
              <a:ext uri="{FF2B5EF4-FFF2-40B4-BE49-F238E27FC236}">
                <a16:creationId xmlns:a16="http://schemas.microsoft.com/office/drawing/2014/main" id="{09290603-0D84-307D-6C66-78F87FE24653}"/>
              </a:ext>
            </a:extLst>
          </p:cNvPr>
          <p:cNvSpPr txBox="1"/>
          <p:nvPr/>
        </p:nvSpPr>
        <p:spPr>
          <a:xfrm>
            <a:off x="1382157" y="-44605"/>
            <a:ext cx="12604775" cy="2179315"/>
          </a:xfrm>
          <a:prstGeom prst="rect">
            <a:avLst/>
          </a:prstGeom>
          <a:noFill/>
        </p:spPr>
        <p:txBody>
          <a:bodyPr vert="horz" wrap="square" lIns="0" tIns="349885" rIns="0" bIns="0" rtlCol="0">
            <a:spAutoFit/>
          </a:bodyPr>
          <a:lstStyle/>
          <a:p>
            <a:pPr>
              <a:lnSpc>
                <a:spcPct val="150000"/>
              </a:lnSpc>
            </a:pPr>
            <a:r>
              <a:rPr lang="es-CL" sz="5400" b="1" noProof="0" dirty="0">
                <a:latin typeface="Atkinson Hyperlegible" pitchFamily="2" charset="77"/>
              </a:rPr>
              <a:t>OBJETIVO DE LA UNIDAD DE APRENDIZAJE </a:t>
            </a:r>
            <a:r>
              <a:rPr lang="es-CL" sz="2800" b="1" kern="100" noProof="0" dirty="0">
                <a:latin typeface="Atkinson Hyperlegible" pitchFamily="2" charset="77"/>
                <a:ea typeface="Calibri" panose="020F0502020204030204" pitchFamily="34" charset="0"/>
              </a:rPr>
              <a:t>OBJETIVO PRINCIPAL DE LA CLASE</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14" name="Marcador de número de diapositiva 1">
            <a:extLst>
              <a:ext uri="{FF2B5EF4-FFF2-40B4-BE49-F238E27FC236}">
                <a16:creationId xmlns:a16="http://schemas.microsoft.com/office/drawing/2014/main" id="{D2CF2888-6C70-521D-1E85-724AFFDC56A4}"/>
              </a:ext>
            </a:extLst>
          </p:cNvPr>
          <p:cNvSpPr txBox="1">
            <a:spLocks/>
          </p:cNvSpPr>
          <p:nvPr/>
        </p:nvSpPr>
        <p:spPr>
          <a:xfrm>
            <a:off x="14198520" y="10482093"/>
            <a:ext cx="4523423" cy="602118"/>
          </a:xfrm>
          <a:prstGeom prst="rect">
            <a:avLst/>
          </a:prstGeom>
        </p:spPr>
        <p:txBody>
          <a:bodyPr/>
          <a:lstStyle>
            <a:defPPr lvl="0">
              <a:defRPr lang="es-CL"/>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a:lstStyle>
          <a:p>
            <a:fld id="{B6F15528-21DE-4FAA-801E-634DDDAF4B2B}" type="slidenum">
              <a:rPr lang="es-CL" noProof="0" smtClean="0"/>
              <a:pPr/>
              <a:t>6</a:t>
            </a:fld>
            <a:endParaRPr lang="es-CL" noProof="0" dirty="0"/>
          </a:p>
        </p:txBody>
      </p:sp>
      <p:sp>
        <p:nvSpPr>
          <p:cNvPr id="7" name="CuadroTexto 6">
            <a:extLst>
              <a:ext uri="{FF2B5EF4-FFF2-40B4-BE49-F238E27FC236}">
                <a16:creationId xmlns:a16="http://schemas.microsoft.com/office/drawing/2014/main" id="{4BF20D85-CAB9-8520-3FEA-7DACC72DF43F}"/>
              </a:ext>
            </a:extLst>
          </p:cNvPr>
          <p:cNvSpPr txBox="1"/>
          <p:nvPr/>
        </p:nvSpPr>
        <p:spPr>
          <a:xfrm>
            <a:off x="6938363" y="2889315"/>
            <a:ext cx="6629539" cy="707886"/>
          </a:xfrm>
          <a:prstGeom prst="rect">
            <a:avLst/>
          </a:prstGeom>
          <a:noFill/>
        </p:spPr>
        <p:txBody>
          <a:bodyPr wrap="square">
            <a:spAutoFit/>
          </a:bodyPr>
          <a:lstStyle/>
          <a:p>
            <a:r>
              <a:rPr lang="es-CL" sz="4000" b="1" kern="100" noProof="0" dirty="0">
                <a:latin typeface="Atkinson Hyperlegible" pitchFamily="2" charset="77"/>
                <a:ea typeface="Calibri" panose="020F0502020204030204" pitchFamily="34" charset="0"/>
              </a:rPr>
              <a:t>INDICADORES DE DESEMPEÑO</a:t>
            </a:r>
            <a:endParaRPr lang="es-CL" sz="4000" noProof="0" dirty="0"/>
          </a:p>
        </p:txBody>
      </p:sp>
      <p:sp>
        <p:nvSpPr>
          <p:cNvPr id="13" name="CuadroTexto 12">
            <a:extLst>
              <a:ext uri="{FF2B5EF4-FFF2-40B4-BE49-F238E27FC236}">
                <a16:creationId xmlns:a16="http://schemas.microsoft.com/office/drawing/2014/main" id="{D666A7B3-1BC9-38CE-CE52-7326808F0116}"/>
              </a:ext>
            </a:extLst>
          </p:cNvPr>
          <p:cNvSpPr txBox="1"/>
          <p:nvPr/>
        </p:nvSpPr>
        <p:spPr>
          <a:xfrm>
            <a:off x="6938363" y="5855450"/>
            <a:ext cx="5533453" cy="707886"/>
          </a:xfrm>
          <a:prstGeom prst="rect">
            <a:avLst/>
          </a:prstGeom>
          <a:noFill/>
        </p:spPr>
        <p:txBody>
          <a:bodyPr wrap="square">
            <a:spAutoFit/>
          </a:bodyPr>
          <a:lstStyle/>
          <a:p>
            <a:r>
              <a:rPr lang="es-CL" sz="4000" b="1" kern="100" noProof="0" dirty="0">
                <a:latin typeface="Atkinson Hyperlegible" pitchFamily="2" charset="77"/>
                <a:ea typeface="Calibri" panose="020F0502020204030204" pitchFamily="34" charset="0"/>
              </a:rPr>
              <a:t>APRENDIZAJE ESPERADO</a:t>
            </a:r>
            <a:endParaRPr lang="es-CL" sz="4000" noProof="0" dirty="0"/>
          </a:p>
        </p:txBody>
      </p:sp>
      <p:graphicFrame>
        <p:nvGraphicFramePr>
          <p:cNvPr id="5" name="Tabla 4">
            <a:extLst>
              <a:ext uri="{FF2B5EF4-FFF2-40B4-BE49-F238E27FC236}">
                <a16:creationId xmlns:a16="http://schemas.microsoft.com/office/drawing/2014/main" id="{C31C0C65-5FB0-FC55-34FB-3885FAD55A1B}"/>
              </a:ext>
            </a:extLst>
          </p:cNvPr>
          <p:cNvGraphicFramePr>
            <a:graphicFrameLocks noGrp="1"/>
          </p:cNvGraphicFramePr>
          <p:nvPr>
            <p:extLst>
              <p:ext uri="{D42A27DB-BD31-4B8C-83A1-F6EECF244321}">
                <p14:modId xmlns:p14="http://schemas.microsoft.com/office/powerpoint/2010/main" val="3242520137"/>
              </p:ext>
            </p:extLst>
          </p:nvPr>
        </p:nvGraphicFramePr>
        <p:xfrm>
          <a:off x="1528996" y="4046211"/>
          <a:ext cx="17478531" cy="1699833"/>
        </p:xfrm>
        <a:graphic>
          <a:graphicData uri="http://schemas.openxmlformats.org/drawingml/2006/table">
            <a:tbl>
              <a:tblPr/>
              <a:tblGrid>
                <a:gridCol w="17478531">
                  <a:extLst>
                    <a:ext uri="{9D8B030D-6E8A-4147-A177-3AD203B41FA5}">
                      <a16:colId xmlns:a16="http://schemas.microsoft.com/office/drawing/2014/main" val="3873856205"/>
                    </a:ext>
                  </a:extLst>
                </a:gridCol>
              </a:tblGrid>
              <a:tr h="0">
                <a:tc>
                  <a:txBody>
                    <a:bodyPr/>
                    <a:lstStyle/>
                    <a:p>
                      <a:pPr fontAlgn="t">
                        <a:buNone/>
                      </a:pPr>
                      <a:r>
                        <a:rPr lang="es-CL" noProof="0" dirty="0">
                          <a:effectLst/>
                        </a:rPr>
                        <a:t>2. Analiza los medios de transmisión no guiados.</a:t>
                      </a:r>
                    </a:p>
                  </a:txBody>
                  <a:tcPr marL="57150" marR="57150" marT="57150" marB="5715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205269554"/>
                  </a:ext>
                </a:extLst>
              </a:tr>
              <a:tr h="0">
                <a:tc>
                  <a:txBody>
                    <a:bodyPr/>
                    <a:lstStyle/>
                    <a:p>
                      <a:pPr fontAlgn="t">
                        <a:buNone/>
                      </a:pPr>
                      <a:r>
                        <a:rPr lang="es-CL" sz="2968" b="0" i="0" kern="1200" noProof="0" dirty="0">
                          <a:solidFill>
                            <a:schemeClr val="tx1"/>
                          </a:solidFill>
                          <a:effectLst/>
                          <a:latin typeface="+mn-lt"/>
                          <a:ea typeface="+mn-ea"/>
                          <a:cs typeface="+mn-cs"/>
                        </a:rPr>
                        <a:t>2.1. Examina los procesos de propagación de ondas.</a:t>
                      </a:r>
                      <a:endParaRPr lang="es-CL" noProof="0" dirty="0">
                        <a:effectLst/>
                      </a:endParaRPr>
                    </a:p>
                  </a:txBody>
                  <a:tcPr marL="57150" marR="57150" marT="57150" marB="5715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52702876"/>
                  </a:ext>
                </a:extLst>
              </a:tr>
              <a:tr h="0">
                <a:tc>
                  <a:txBody>
                    <a:bodyPr/>
                    <a:lstStyle/>
                    <a:p>
                      <a:pPr fontAlgn="t">
                        <a:buNone/>
                      </a:pPr>
                      <a:r>
                        <a:rPr lang="es-CL" sz="2968" b="0" i="0" kern="1200" noProof="0" dirty="0">
                          <a:solidFill>
                            <a:schemeClr val="tx1"/>
                          </a:solidFill>
                          <a:effectLst/>
                          <a:latin typeface="+mn-lt"/>
                          <a:ea typeface="+mn-ea"/>
                          <a:cs typeface="+mn-cs"/>
                        </a:rPr>
                        <a:t>2.2. Interpreta las bandas de frecuencia.</a:t>
                      </a:r>
                      <a:endParaRPr lang="es-CL" noProof="0" dirty="0">
                        <a:effectLst/>
                      </a:endParaRPr>
                    </a:p>
                  </a:txBody>
                  <a:tcPr marL="57150" marR="57150" marT="57150" marB="5715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65074528"/>
                  </a:ext>
                </a:extLst>
              </a:tr>
            </a:tbl>
          </a:graphicData>
        </a:graphic>
      </p:graphicFrame>
      <p:graphicFrame>
        <p:nvGraphicFramePr>
          <p:cNvPr id="4" name="Tabla 3">
            <a:extLst>
              <a:ext uri="{FF2B5EF4-FFF2-40B4-BE49-F238E27FC236}">
                <a16:creationId xmlns:a16="http://schemas.microsoft.com/office/drawing/2014/main" id="{9D158B62-663F-28D1-254B-3225035F5508}"/>
              </a:ext>
            </a:extLst>
          </p:cNvPr>
          <p:cNvGraphicFramePr>
            <a:graphicFrameLocks noGrp="1"/>
          </p:cNvGraphicFramePr>
          <p:nvPr>
            <p:extLst>
              <p:ext uri="{D42A27DB-BD31-4B8C-83A1-F6EECF244321}">
                <p14:modId xmlns:p14="http://schemas.microsoft.com/office/powerpoint/2010/main" val="1509180216"/>
              </p:ext>
            </p:extLst>
          </p:nvPr>
        </p:nvGraphicFramePr>
        <p:xfrm>
          <a:off x="1528996" y="6672742"/>
          <a:ext cx="17478531" cy="1699833"/>
        </p:xfrm>
        <a:graphic>
          <a:graphicData uri="http://schemas.openxmlformats.org/drawingml/2006/table">
            <a:tbl>
              <a:tblPr/>
              <a:tblGrid>
                <a:gridCol w="17478531">
                  <a:extLst>
                    <a:ext uri="{9D8B030D-6E8A-4147-A177-3AD203B41FA5}">
                      <a16:colId xmlns:a16="http://schemas.microsoft.com/office/drawing/2014/main" val="3873856205"/>
                    </a:ext>
                  </a:extLst>
                </a:gridCol>
              </a:tblGrid>
              <a:tr h="0">
                <a:tc>
                  <a:txBody>
                    <a:bodyPr/>
                    <a:lstStyle/>
                    <a:p>
                      <a:pPr fontAlgn="t">
                        <a:buNone/>
                      </a:pPr>
                      <a:r>
                        <a:rPr lang="es-CL" noProof="0" dirty="0">
                          <a:effectLst/>
                        </a:rPr>
                        <a:t>2. Analizar los medios de transmisión no guiados.</a:t>
                      </a:r>
                    </a:p>
                  </a:txBody>
                  <a:tcPr marL="57150" marR="57150" marT="57150" marB="5715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205269554"/>
                  </a:ext>
                </a:extLst>
              </a:tr>
              <a:tr h="0">
                <a:tc>
                  <a:txBody>
                    <a:bodyPr/>
                    <a:lstStyle/>
                    <a:p>
                      <a:pPr fontAlgn="t">
                        <a:buNone/>
                      </a:pPr>
                      <a:r>
                        <a:rPr lang="es-CL" sz="2968" b="0" i="0" kern="1200" noProof="0" dirty="0">
                          <a:solidFill>
                            <a:schemeClr val="tx1"/>
                          </a:solidFill>
                          <a:effectLst/>
                          <a:latin typeface="+mn-lt"/>
                          <a:ea typeface="+mn-ea"/>
                          <a:cs typeface="+mn-cs"/>
                        </a:rPr>
                        <a:t>2.1. Examinar los procesos de propagación de ondas.</a:t>
                      </a:r>
                      <a:endParaRPr lang="es-CL" noProof="0" dirty="0">
                        <a:effectLst/>
                      </a:endParaRPr>
                    </a:p>
                  </a:txBody>
                  <a:tcPr marL="57150" marR="57150" marT="57150" marB="5715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52702876"/>
                  </a:ext>
                </a:extLst>
              </a:tr>
              <a:tr h="0">
                <a:tc>
                  <a:txBody>
                    <a:bodyPr/>
                    <a:lstStyle/>
                    <a:p>
                      <a:pPr fontAlgn="t">
                        <a:buNone/>
                      </a:pPr>
                      <a:r>
                        <a:rPr lang="es-CL" sz="2968" b="0" i="0" kern="1200" noProof="0" dirty="0">
                          <a:solidFill>
                            <a:schemeClr val="tx1"/>
                          </a:solidFill>
                          <a:effectLst/>
                          <a:latin typeface="+mn-lt"/>
                          <a:ea typeface="+mn-ea"/>
                          <a:cs typeface="+mn-cs"/>
                        </a:rPr>
                        <a:t>2.2. Interpretar las bandas de frecuencia.</a:t>
                      </a:r>
                      <a:endParaRPr lang="es-CL" noProof="0" dirty="0">
                        <a:effectLst/>
                      </a:endParaRPr>
                    </a:p>
                  </a:txBody>
                  <a:tcPr marL="57150" marR="57150" marT="57150" marB="5715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65074528"/>
                  </a:ext>
                </a:extLst>
              </a:tr>
            </a:tbl>
          </a:graphicData>
        </a:graphic>
      </p:graphicFrame>
    </p:spTree>
    <p:extLst>
      <p:ext uri="{BB962C8B-B14F-4D97-AF65-F5344CB8AC3E}">
        <p14:creationId xmlns:p14="http://schemas.microsoft.com/office/powerpoint/2010/main" val="3820426612"/>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58C9E09E-3FC0-77B2-B1B8-8811E5C677C3}"/>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A047D558-B041-89D7-5104-0E5C5F5AC9D4}"/>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F099BBEA-3137-2CAB-C501-00C749EB7475}"/>
              </a:ext>
            </a:extLst>
          </p:cNvPr>
          <p:cNvSpPr txBox="1"/>
          <p:nvPr/>
        </p:nvSpPr>
        <p:spPr>
          <a:xfrm>
            <a:off x="1382157" y="-44605"/>
            <a:ext cx="18277439" cy="1609928"/>
          </a:xfrm>
          <a:prstGeom prst="rect">
            <a:avLst/>
          </a:prstGeom>
          <a:noFill/>
        </p:spPr>
        <p:txBody>
          <a:bodyPr vert="horz" wrap="square" lIns="0" tIns="349885" rIns="0" bIns="0" rtlCol="0">
            <a:spAutoFit/>
          </a:bodyPr>
          <a:lstStyle/>
          <a:p>
            <a:r>
              <a:rPr lang="es-CL" sz="4400" b="1" noProof="0" dirty="0">
                <a:latin typeface="Atkinson Hyperlegible" pitchFamily="2" charset="77"/>
              </a:rPr>
              <a:t>REPASO CLASE ANTERIOR</a:t>
            </a:r>
          </a:p>
          <a:p>
            <a:pPr>
              <a:lnSpc>
                <a:spcPct val="150000"/>
              </a:lnSpc>
            </a:pP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57522DAB-11A9-5295-81B7-56DA60F45279}"/>
              </a:ext>
            </a:extLst>
          </p:cNvPr>
          <p:cNvSpPr txBox="1"/>
          <p:nvPr/>
        </p:nvSpPr>
        <p:spPr>
          <a:xfrm>
            <a:off x="1382157" y="1558645"/>
            <a:ext cx="6877422" cy="707886"/>
          </a:xfrm>
          <a:prstGeom prst="rect">
            <a:avLst/>
          </a:prstGeom>
          <a:noFill/>
        </p:spPr>
        <p:txBody>
          <a:bodyPr wrap="square">
            <a:spAutoFit/>
          </a:bodyPr>
          <a:lstStyle/>
          <a:p>
            <a:r>
              <a:rPr lang="es-CL" sz="4000" noProof="0" dirty="0">
                <a:latin typeface="Atkinson Hyperlegible"/>
              </a:rPr>
              <a:t>Emisor → Medio → Receptor</a:t>
            </a:r>
          </a:p>
        </p:txBody>
      </p:sp>
      <p:graphicFrame>
        <p:nvGraphicFramePr>
          <p:cNvPr id="3" name="Diagrama 2">
            <a:extLst>
              <a:ext uri="{FF2B5EF4-FFF2-40B4-BE49-F238E27FC236}">
                <a16:creationId xmlns:a16="http://schemas.microsoft.com/office/drawing/2014/main" id="{E6CA4674-7A36-30BA-C044-31ED1F2AF9F4}"/>
              </a:ext>
            </a:extLst>
          </p:cNvPr>
          <p:cNvGraphicFramePr/>
          <p:nvPr>
            <p:extLst>
              <p:ext uri="{D42A27DB-BD31-4B8C-83A1-F6EECF244321}">
                <p14:modId xmlns:p14="http://schemas.microsoft.com/office/powerpoint/2010/main" val="3079525679"/>
              </p:ext>
            </p:extLst>
          </p:nvPr>
        </p:nvGraphicFramePr>
        <p:xfrm>
          <a:off x="902948" y="3618720"/>
          <a:ext cx="10157744" cy="52504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Gráfico 9" descr="Voz contorno">
            <a:extLst>
              <a:ext uri="{FF2B5EF4-FFF2-40B4-BE49-F238E27FC236}">
                <a16:creationId xmlns:a16="http://schemas.microsoft.com/office/drawing/2014/main" id="{FFAF54F3-297D-4D54-36FC-58E1A59A869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661091" y="8701935"/>
            <a:ext cx="914400" cy="914400"/>
          </a:xfrm>
          <a:prstGeom prst="rect">
            <a:avLst/>
          </a:prstGeom>
        </p:spPr>
      </p:pic>
      <p:pic>
        <p:nvPicPr>
          <p:cNvPr id="12" name="Gráfico 11" descr="Abrir sobre contorno">
            <a:extLst>
              <a:ext uri="{FF2B5EF4-FFF2-40B4-BE49-F238E27FC236}">
                <a16:creationId xmlns:a16="http://schemas.microsoft.com/office/drawing/2014/main" id="{3C4D6AA9-F2DA-A129-6A08-DB61EA02880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651897" y="8534700"/>
            <a:ext cx="914400" cy="914400"/>
          </a:xfrm>
          <a:prstGeom prst="rect">
            <a:avLst/>
          </a:prstGeom>
        </p:spPr>
      </p:pic>
      <p:pic>
        <p:nvPicPr>
          <p:cNvPr id="17" name="Gráfico 16" descr="Sellos discográfico con relleno sólido">
            <a:extLst>
              <a:ext uri="{FF2B5EF4-FFF2-40B4-BE49-F238E27FC236}">
                <a16:creationId xmlns:a16="http://schemas.microsoft.com/office/drawing/2014/main" id="{D3492ECD-3B6E-D9B4-8B8A-3A0F7B1D64F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642703" y="8701935"/>
            <a:ext cx="914400" cy="914400"/>
          </a:xfrm>
          <a:prstGeom prst="rect">
            <a:avLst/>
          </a:prstGeom>
        </p:spPr>
      </p:pic>
      <p:sp>
        <p:nvSpPr>
          <p:cNvPr id="18" name="CuadroTexto 17">
            <a:extLst>
              <a:ext uri="{FF2B5EF4-FFF2-40B4-BE49-F238E27FC236}">
                <a16:creationId xmlns:a16="http://schemas.microsoft.com/office/drawing/2014/main" id="{77EA4B79-7285-EF13-074F-029DAB95B95B}"/>
              </a:ext>
            </a:extLst>
          </p:cNvPr>
          <p:cNvSpPr txBox="1"/>
          <p:nvPr/>
        </p:nvSpPr>
        <p:spPr>
          <a:xfrm>
            <a:off x="5158700" y="7987955"/>
            <a:ext cx="1646240" cy="523220"/>
          </a:xfrm>
          <a:prstGeom prst="rect">
            <a:avLst/>
          </a:prstGeom>
          <a:noFill/>
        </p:spPr>
        <p:txBody>
          <a:bodyPr wrap="square">
            <a:spAutoFit/>
          </a:bodyPr>
          <a:lstStyle/>
          <a:p>
            <a:r>
              <a:rPr lang="es-CL" sz="2800" noProof="0" dirty="0">
                <a:latin typeface="Atkinson Hyperlegible"/>
              </a:rPr>
              <a:t>MENSAJE</a:t>
            </a:r>
          </a:p>
        </p:txBody>
      </p:sp>
      <p:pic>
        <p:nvPicPr>
          <p:cNvPr id="19" name="Gráfico 18" descr="Signo de interrogación con relleno sólido">
            <a:extLst>
              <a:ext uri="{FF2B5EF4-FFF2-40B4-BE49-F238E27FC236}">
                <a16:creationId xmlns:a16="http://schemas.microsoft.com/office/drawing/2014/main" id="{F1B33380-9663-9496-E515-B43063674F09}"/>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2873459" y="4760559"/>
            <a:ext cx="1179439" cy="1179439"/>
          </a:xfrm>
          <a:prstGeom prst="rect">
            <a:avLst/>
          </a:prstGeom>
        </p:spPr>
      </p:pic>
      <p:sp>
        <p:nvSpPr>
          <p:cNvPr id="20" name="CuadroTexto 19">
            <a:extLst>
              <a:ext uri="{FF2B5EF4-FFF2-40B4-BE49-F238E27FC236}">
                <a16:creationId xmlns:a16="http://schemas.microsoft.com/office/drawing/2014/main" id="{FEBAE6F5-E4FF-59F2-9C82-6ECCD0741C26}"/>
              </a:ext>
            </a:extLst>
          </p:cNvPr>
          <p:cNvSpPr txBox="1"/>
          <p:nvPr/>
        </p:nvSpPr>
        <p:spPr>
          <a:xfrm>
            <a:off x="12240371" y="5906355"/>
            <a:ext cx="2367802" cy="461665"/>
          </a:xfrm>
          <a:prstGeom prst="rect">
            <a:avLst/>
          </a:prstGeom>
          <a:noFill/>
        </p:spPr>
        <p:txBody>
          <a:bodyPr wrap="square">
            <a:spAutoFit/>
          </a:bodyPr>
          <a:lstStyle/>
          <a:p>
            <a:r>
              <a:rPr lang="es-CL" sz="2400" b="1" noProof="0" dirty="0">
                <a:latin typeface="Atkinson Hyperlegible"/>
              </a:rPr>
              <a:t>🧩Problemática</a:t>
            </a:r>
          </a:p>
        </p:txBody>
      </p:sp>
      <p:sp>
        <p:nvSpPr>
          <p:cNvPr id="21" name="CuadroTexto 20">
            <a:extLst>
              <a:ext uri="{FF2B5EF4-FFF2-40B4-BE49-F238E27FC236}">
                <a16:creationId xmlns:a16="http://schemas.microsoft.com/office/drawing/2014/main" id="{756C58BD-4438-4813-EBAF-900D079E0458}"/>
              </a:ext>
            </a:extLst>
          </p:cNvPr>
          <p:cNvSpPr txBox="1"/>
          <p:nvPr/>
        </p:nvSpPr>
        <p:spPr>
          <a:xfrm>
            <a:off x="13589486" y="9016170"/>
            <a:ext cx="6395298" cy="1200329"/>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i="1" noProof="0" dirty="0"/>
              <a:t>“El medio impone límites: alcance, capacidad, atenuación e interferencias.”</a:t>
            </a:r>
            <a:endParaRPr lang="es-CL" sz="2400" noProof="0" dirty="0"/>
          </a:p>
        </p:txBody>
      </p:sp>
    </p:spTree>
    <p:extLst>
      <p:ext uri="{BB962C8B-B14F-4D97-AF65-F5344CB8AC3E}">
        <p14:creationId xmlns:p14="http://schemas.microsoft.com/office/powerpoint/2010/main" val="1389071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E8E293D-C5C5-785C-1300-3ACB3D4ED9E9}"/>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4928133D-E7FB-A5AB-E3A0-F3981F0AE038}"/>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44253AAB-6D96-8A6F-067B-DC50E1E0498A}"/>
              </a:ext>
            </a:extLst>
          </p:cNvPr>
          <p:cNvSpPr txBox="1"/>
          <p:nvPr/>
        </p:nvSpPr>
        <p:spPr>
          <a:xfrm>
            <a:off x="1382157" y="-44605"/>
            <a:ext cx="18277439" cy="1609928"/>
          </a:xfrm>
          <a:prstGeom prst="rect">
            <a:avLst/>
          </a:prstGeom>
          <a:noFill/>
        </p:spPr>
        <p:txBody>
          <a:bodyPr vert="horz" wrap="square" lIns="0" tIns="349885" rIns="0" bIns="0" rtlCol="0">
            <a:spAutoFit/>
          </a:bodyPr>
          <a:lstStyle/>
          <a:p>
            <a:r>
              <a:rPr lang="es-CL" sz="4400" b="1" noProof="0" dirty="0">
                <a:latin typeface="Atkinson Hyperlegible" pitchFamily="2" charset="77"/>
              </a:rPr>
              <a:t>REPASO CLASE ANTERIOR</a:t>
            </a:r>
          </a:p>
          <a:p>
            <a:pPr>
              <a:lnSpc>
                <a:spcPct val="150000"/>
              </a:lnSpc>
            </a:pP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32238201-6D6A-67F0-03E8-34E84E11AF37}"/>
              </a:ext>
            </a:extLst>
          </p:cNvPr>
          <p:cNvSpPr txBox="1"/>
          <p:nvPr/>
        </p:nvSpPr>
        <p:spPr>
          <a:xfrm>
            <a:off x="1142314" y="1642267"/>
            <a:ext cx="17055745" cy="707886"/>
          </a:xfrm>
          <a:prstGeom prst="rect">
            <a:avLst/>
          </a:prstGeom>
          <a:noFill/>
        </p:spPr>
        <p:txBody>
          <a:bodyPr wrap="square">
            <a:spAutoFit/>
          </a:bodyPr>
          <a:lstStyle/>
          <a:p>
            <a:r>
              <a:rPr lang="es-CL" sz="4000" noProof="0" dirty="0">
                <a:latin typeface="Atkinson Hyperlegible"/>
              </a:rPr>
              <a:t>Clasificación de los medios de </a:t>
            </a:r>
            <a:r>
              <a:rPr lang="es-CL" sz="4000" noProof="0" dirty="0" err="1">
                <a:latin typeface="Atkinson Hyperlegible"/>
              </a:rPr>
              <a:t>Tx</a:t>
            </a:r>
            <a:endParaRPr lang="es-CL" sz="4000" noProof="0" dirty="0">
              <a:latin typeface="Atkinson Hyperlegible"/>
            </a:endParaRPr>
          </a:p>
        </p:txBody>
      </p:sp>
      <p:sp>
        <p:nvSpPr>
          <p:cNvPr id="21" name="CuadroTexto 20">
            <a:extLst>
              <a:ext uri="{FF2B5EF4-FFF2-40B4-BE49-F238E27FC236}">
                <a16:creationId xmlns:a16="http://schemas.microsoft.com/office/drawing/2014/main" id="{A82CE652-6B5D-EE9A-2C96-D974CF74E909}"/>
              </a:ext>
            </a:extLst>
          </p:cNvPr>
          <p:cNvSpPr txBox="1"/>
          <p:nvPr/>
        </p:nvSpPr>
        <p:spPr>
          <a:xfrm>
            <a:off x="3064753" y="8952707"/>
            <a:ext cx="15975650" cy="1200329"/>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noProof="0" dirty="0">
                <a:latin typeface="Atkinson Hyperlegible"/>
              </a:rPr>
              <a:t>Esta clasificación es la base del curso: </a:t>
            </a:r>
            <a:r>
              <a:rPr lang="es-CL" sz="2400" b="1" noProof="0" dirty="0">
                <a:latin typeface="Atkinson Hyperlegible"/>
              </a:rPr>
              <a:t>guiado</a:t>
            </a:r>
            <a:r>
              <a:rPr lang="es-CL" sz="2400" noProof="0" dirty="0">
                <a:latin typeface="Atkinson Hyperlegible"/>
              </a:rPr>
              <a:t> significa que el medio limita/define la señal por su estructura física; </a:t>
            </a:r>
            <a:r>
              <a:rPr lang="es-CL" sz="2400" b="1" noProof="0" dirty="0">
                <a:latin typeface="Atkinson Hyperlegible"/>
              </a:rPr>
              <a:t>no guiado</a:t>
            </a:r>
            <a:r>
              <a:rPr lang="es-CL" sz="2400" noProof="0" dirty="0">
                <a:latin typeface="Atkinson Hyperlegible"/>
              </a:rPr>
              <a:t> significa que el canal es el espacio y entran factores como interferencia y propagación.</a:t>
            </a:r>
          </a:p>
        </p:txBody>
      </p:sp>
      <p:graphicFrame>
        <p:nvGraphicFramePr>
          <p:cNvPr id="4" name="Diagrama 3">
            <a:extLst>
              <a:ext uri="{FF2B5EF4-FFF2-40B4-BE49-F238E27FC236}">
                <a16:creationId xmlns:a16="http://schemas.microsoft.com/office/drawing/2014/main" id="{10BBC63F-27B6-8463-0376-521924FBA6F4}"/>
              </a:ext>
            </a:extLst>
          </p:cNvPr>
          <p:cNvGraphicFramePr/>
          <p:nvPr>
            <p:extLst>
              <p:ext uri="{D42A27DB-BD31-4B8C-83A1-F6EECF244321}">
                <p14:modId xmlns:p14="http://schemas.microsoft.com/office/powerpoint/2010/main" val="3005336358"/>
              </p:ext>
            </p:extLst>
          </p:nvPr>
        </p:nvGraphicFramePr>
        <p:xfrm>
          <a:off x="4928207" y="3021354"/>
          <a:ext cx="10376750" cy="59313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16089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5AFA625-675A-3752-8687-5B00EC0BDEB2}"/>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81346A36-E85D-36ED-FA65-06AB66E9A8A6}"/>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C4AA5EC9-FA50-57B3-C64D-F0D40C3354D8}"/>
              </a:ext>
            </a:extLst>
          </p:cNvPr>
          <p:cNvSpPr txBox="1"/>
          <p:nvPr/>
        </p:nvSpPr>
        <p:spPr>
          <a:xfrm>
            <a:off x="1382157" y="-44605"/>
            <a:ext cx="18277439" cy="1609928"/>
          </a:xfrm>
          <a:prstGeom prst="rect">
            <a:avLst/>
          </a:prstGeom>
          <a:noFill/>
        </p:spPr>
        <p:txBody>
          <a:bodyPr vert="horz" wrap="square" lIns="0" tIns="349885" rIns="0" bIns="0" rtlCol="0">
            <a:spAutoFit/>
          </a:bodyPr>
          <a:lstStyle/>
          <a:p>
            <a:r>
              <a:rPr lang="es-CL" sz="4400" b="1" noProof="0" dirty="0">
                <a:latin typeface="Atkinson Hyperlegible" pitchFamily="2" charset="77"/>
              </a:rPr>
              <a:t>INTRODUCCIÓN A LA PROPAGACIÓN DE ONDAS DE RADIO</a:t>
            </a:r>
          </a:p>
          <a:p>
            <a:pPr>
              <a:lnSpc>
                <a:spcPct val="150000"/>
              </a:lnSpc>
            </a:pP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1B8DF272-D90E-A822-23E5-45828A92DB84}"/>
              </a:ext>
            </a:extLst>
          </p:cNvPr>
          <p:cNvSpPr txBox="1"/>
          <p:nvPr/>
        </p:nvSpPr>
        <p:spPr>
          <a:xfrm>
            <a:off x="1382157" y="898721"/>
            <a:ext cx="17055745" cy="707886"/>
          </a:xfrm>
          <a:prstGeom prst="rect">
            <a:avLst/>
          </a:prstGeom>
          <a:noFill/>
        </p:spPr>
        <p:txBody>
          <a:bodyPr wrap="square">
            <a:spAutoFit/>
          </a:bodyPr>
          <a:lstStyle/>
          <a:p>
            <a:r>
              <a:rPr lang="es-CL" sz="4000" noProof="0" dirty="0">
                <a:latin typeface="Atkinson Hyperlegible"/>
              </a:rPr>
              <a:t>Propagación RF: modelo mínimo y variables clave</a:t>
            </a:r>
          </a:p>
        </p:txBody>
      </p:sp>
      <p:pic>
        <p:nvPicPr>
          <p:cNvPr id="2" name="Picture 8">
            <a:extLst>
              <a:ext uri="{FF2B5EF4-FFF2-40B4-BE49-F238E27FC236}">
                <a16:creationId xmlns:a16="http://schemas.microsoft.com/office/drawing/2014/main" id="{A768B0DC-51BB-4158-2F3B-302B08335B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02605" y="3652774"/>
            <a:ext cx="8609835" cy="4217062"/>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esquinas redondeadas 5">
            <a:extLst>
              <a:ext uri="{FF2B5EF4-FFF2-40B4-BE49-F238E27FC236}">
                <a16:creationId xmlns:a16="http://schemas.microsoft.com/office/drawing/2014/main" id="{F01878AA-7AF6-4FF2-43C5-2CE40F1CAB7D}"/>
              </a:ext>
            </a:extLst>
          </p:cNvPr>
          <p:cNvSpPr/>
          <p:nvPr/>
        </p:nvSpPr>
        <p:spPr>
          <a:xfrm>
            <a:off x="10302605" y="8094689"/>
            <a:ext cx="2083633" cy="9144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s-CL" sz="4000" b="1" noProof="0" dirty="0">
                <a:latin typeface="Atkinson Hyperlegible"/>
              </a:rPr>
              <a:t>TX</a:t>
            </a:r>
          </a:p>
        </p:txBody>
      </p:sp>
      <p:sp>
        <p:nvSpPr>
          <p:cNvPr id="8" name="Rectángulo: esquinas redondeadas 7">
            <a:extLst>
              <a:ext uri="{FF2B5EF4-FFF2-40B4-BE49-F238E27FC236}">
                <a16:creationId xmlns:a16="http://schemas.microsoft.com/office/drawing/2014/main" id="{8602826E-19FC-C342-D6DA-92E185A8D3CA}"/>
              </a:ext>
            </a:extLst>
          </p:cNvPr>
          <p:cNvSpPr/>
          <p:nvPr/>
        </p:nvSpPr>
        <p:spPr>
          <a:xfrm>
            <a:off x="16828807" y="8094689"/>
            <a:ext cx="2083633" cy="9144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s-CL" sz="4000" b="1" noProof="0" dirty="0" err="1">
                <a:latin typeface="Atkinson Hyperlegible"/>
              </a:rPr>
              <a:t>RX</a:t>
            </a:r>
            <a:endParaRPr lang="es-CL" sz="4000" b="1" noProof="0" dirty="0">
              <a:latin typeface="Atkinson Hyperlegible"/>
            </a:endParaRPr>
          </a:p>
        </p:txBody>
      </p:sp>
      <p:sp>
        <p:nvSpPr>
          <p:cNvPr id="10" name="CuadroTexto 9">
            <a:extLst>
              <a:ext uri="{FF2B5EF4-FFF2-40B4-BE49-F238E27FC236}">
                <a16:creationId xmlns:a16="http://schemas.microsoft.com/office/drawing/2014/main" id="{D3100B0A-8AF6-6FA0-4915-914EA4FFB58E}"/>
              </a:ext>
            </a:extLst>
          </p:cNvPr>
          <p:cNvSpPr txBox="1"/>
          <p:nvPr/>
        </p:nvSpPr>
        <p:spPr>
          <a:xfrm>
            <a:off x="921617" y="9366139"/>
            <a:ext cx="6395298" cy="830997"/>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noProof="0" dirty="0" err="1">
                <a:latin typeface="Atkinson Hyperlegible"/>
              </a:rPr>
              <a:t>ITU</a:t>
            </a:r>
            <a:r>
              <a:rPr lang="es-CL" sz="2400" noProof="0" dirty="0">
                <a:latin typeface="Atkinson Hyperlegible"/>
              </a:rPr>
              <a:t> Radio </a:t>
            </a:r>
            <a:r>
              <a:rPr lang="es-CL" sz="2400" noProof="0" dirty="0" err="1">
                <a:latin typeface="Atkinson Hyperlegible"/>
              </a:rPr>
              <a:t>Regulations</a:t>
            </a:r>
            <a:r>
              <a:rPr lang="es-CL" sz="2400" noProof="0" dirty="0">
                <a:latin typeface="Atkinson Hyperlegible"/>
              </a:rPr>
              <a:t> (Ed. 2024</a:t>
            </a:r>
            <a:r>
              <a:rPr lang="es-CL" sz="2400" noProof="0" dirty="0"/>
              <a:t>)</a:t>
            </a:r>
            <a:endParaRPr lang="es-CL" sz="2400" noProof="0" dirty="0">
              <a:latin typeface="Atkinson Hyperlegible"/>
            </a:endParaRPr>
          </a:p>
        </p:txBody>
      </p:sp>
      <p:sp>
        <p:nvSpPr>
          <p:cNvPr id="11" name="Rectángulo: esquinas redondeadas 10">
            <a:extLst>
              <a:ext uri="{FF2B5EF4-FFF2-40B4-BE49-F238E27FC236}">
                <a16:creationId xmlns:a16="http://schemas.microsoft.com/office/drawing/2014/main" id="{9742F096-6DBC-D2ED-8992-EA543FF2D1E2}"/>
              </a:ext>
            </a:extLst>
          </p:cNvPr>
          <p:cNvSpPr/>
          <p:nvPr/>
        </p:nvSpPr>
        <p:spPr>
          <a:xfrm>
            <a:off x="13565705" y="8094689"/>
            <a:ext cx="2083633" cy="9144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s-CL" sz="4000" b="1" noProof="0" dirty="0">
                <a:latin typeface="Atkinson Hyperlegible"/>
              </a:rPr>
              <a:t>?</a:t>
            </a:r>
          </a:p>
        </p:txBody>
      </p:sp>
      <p:pic>
        <p:nvPicPr>
          <p:cNvPr id="12" name="Imagen 11">
            <a:extLst>
              <a:ext uri="{FF2B5EF4-FFF2-40B4-BE49-F238E27FC236}">
                <a16:creationId xmlns:a16="http://schemas.microsoft.com/office/drawing/2014/main" id="{A843570C-D650-963B-E640-F19DCE03930A}"/>
              </a:ext>
            </a:extLst>
          </p:cNvPr>
          <p:cNvPicPr>
            <a:picLocks noChangeAspect="1"/>
          </p:cNvPicPr>
          <p:nvPr/>
        </p:nvPicPr>
        <p:blipFill>
          <a:blip r:embed="rId5"/>
          <a:stretch>
            <a:fillRect/>
          </a:stretch>
        </p:blipFill>
        <p:spPr>
          <a:xfrm>
            <a:off x="9110945" y="7045196"/>
            <a:ext cx="1626373" cy="824640"/>
          </a:xfrm>
          <a:prstGeom prst="rect">
            <a:avLst/>
          </a:prstGeom>
        </p:spPr>
      </p:pic>
      <p:pic>
        <p:nvPicPr>
          <p:cNvPr id="13" name="Imagen 12">
            <a:extLst>
              <a:ext uri="{FF2B5EF4-FFF2-40B4-BE49-F238E27FC236}">
                <a16:creationId xmlns:a16="http://schemas.microsoft.com/office/drawing/2014/main" id="{11767BC1-74B9-95C0-8A0B-ECBCE7CB19AC}"/>
              </a:ext>
            </a:extLst>
          </p:cNvPr>
          <p:cNvPicPr>
            <a:picLocks noChangeAspect="1"/>
          </p:cNvPicPr>
          <p:nvPr/>
        </p:nvPicPr>
        <p:blipFill>
          <a:blip r:embed="rId5"/>
          <a:stretch>
            <a:fillRect/>
          </a:stretch>
        </p:blipFill>
        <p:spPr>
          <a:xfrm>
            <a:off x="18477727" y="7045196"/>
            <a:ext cx="1626373" cy="824640"/>
          </a:xfrm>
          <a:prstGeom prst="rect">
            <a:avLst/>
          </a:prstGeom>
        </p:spPr>
      </p:pic>
      <p:sp>
        <p:nvSpPr>
          <p:cNvPr id="15" name="5 Rectángulo">
            <a:extLst>
              <a:ext uri="{FF2B5EF4-FFF2-40B4-BE49-F238E27FC236}">
                <a16:creationId xmlns:a16="http://schemas.microsoft.com/office/drawing/2014/main" id="{2EA2810E-3F16-1DDE-F6AA-ABD8DA970DF1}"/>
              </a:ext>
            </a:extLst>
          </p:cNvPr>
          <p:cNvSpPr/>
          <p:nvPr/>
        </p:nvSpPr>
        <p:spPr>
          <a:xfrm>
            <a:off x="13254520" y="1680465"/>
            <a:ext cx="4789636" cy="1815882"/>
          </a:xfrm>
          <a:prstGeom prst="rect">
            <a:avLst/>
          </a:prstGeom>
          <a:noFill/>
          <a:effectLst/>
        </p:spPr>
        <p:txBody>
          <a:bodyPr wrap="square" lIns="91440" tIns="45720" rIns="91440" bIns="45720" anchor="t">
            <a:spAutoFit/>
          </a:bodyPr>
          <a:lstStyle/>
          <a:p>
            <a:pPr marL="571500" indent="-571500">
              <a:buFont typeface="Arial" panose="020B0604020202020204" pitchFamily="34" charset="0"/>
              <a:buChar char="•"/>
            </a:pPr>
            <a:r>
              <a:rPr lang="es-CL" sz="2800" noProof="0" dirty="0">
                <a:latin typeface="Atkinson Hyperlegible"/>
              </a:rPr>
              <a:t>TX(transmisor)</a:t>
            </a:r>
          </a:p>
          <a:p>
            <a:pPr marL="571500" indent="-571500">
              <a:buFont typeface="Arial" panose="020B0604020202020204" pitchFamily="34" charset="0"/>
              <a:buChar char="•"/>
            </a:pPr>
            <a:r>
              <a:rPr lang="es-CL" sz="2800" noProof="0" dirty="0">
                <a:latin typeface="Atkinson Hyperlegible"/>
              </a:rPr>
              <a:t>Antenas (TX / </a:t>
            </a:r>
            <a:r>
              <a:rPr lang="es-CL" sz="2800" noProof="0" dirty="0" err="1">
                <a:latin typeface="Atkinson Hyperlegible"/>
              </a:rPr>
              <a:t>RX</a:t>
            </a:r>
            <a:r>
              <a:rPr lang="es-CL" sz="2800" noProof="0" dirty="0">
                <a:latin typeface="Atkinson Hyperlegible"/>
              </a:rPr>
              <a:t>)</a:t>
            </a:r>
          </a:p>
          <a:p>
            <a:pPr marL="571500" indent="-571500">
              <a:buFont typeface="Arial" panose="020B0604020202020204" pitchFamily="34" charset="0"/>
              <a:buChar char="•"/>
            </a:pPr>
            <a:r>
              <a:rPr lang="es-CL" sz="2800" noProof="0" dirty="0">
                <a:latin typeface="Atkinson Hyperlegible"/>
              </a:rPr>
              <a:t>Canal (medio)</a:t>
            </a:r>
          </a:p>
          <a:p>
            <a:pPr marL="571500" indent="-571500">
              <a:buFont typeface="Arial" panose="020B0604020202020204" pitchFamily="34" charset="0"/>
              <a:buChar char="•"/>
            </a:pPr>
            <a:r>
              <a:rPr lang="es-CL" sz="2800" noProof="0" dirty="0" err="1">
                <a:latin typeface="Atkinson Hyperlegible"/>
              </a:rPr>
              <a:t>RX</a:t>
            </a:r>
            <a:r>
              <a:rPr lang="es-CL" sz="2800" noProof="0" dirty="0">
                <a:latin typeface="Atkinson Hyperlegible"/>
              </a:rPr>
              <a:t>(receptor)</a:t>
            </a:r>
          </a:p>
        </p:txBody>
      </p:sp>
      <p:sp>
        <p:nvSpPr>
          <p:cNvPr id="16" name="CuadroTexto 15">
            <a:extLst>
              <a:ext uri="{FF2B5EF4-FFF2-40B4-BE49-F238E27FC236}">
                <a16:creationId xmlns:a16="http://schemas.microsoft.com/office/drawing/2014/main" id="{42B1A856-7D28-E714-DA46-E3E741CC29C8}"/>
              </a:ext>
            </a:extLst>
          </p:cNvPr>
          <p:cNvSpPr txBox="1"/>
          <p:nvPr/>
        </p:nvSpPr>
        <p:spPr>
          <a:xfrm>
            <a:off x="13603144" y="9363425"/>
            <a:ext cx="6395298" cy="1200329"/>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noProof="0" dirty="0">
                <a:latin typeface="Atkinson Hyperlegible"/>
              </a:rPr>
              <a:t>En RF, el canal es variable: el entorno modifica el enlace, </a:t>
            </a:r>
            <a:r>
              <a:rPr lang="es-CL" sz="2400" b="1" noProof="0" dirty="0">
                <a:latin typeface="Atkinson Hyperlegible"/>
              </a:rPr>
              <a:t>pérdidas • ruido • interferencia.</a:t>
            </a:r>
          </a:p>
        </p:txBody>
      </p:sp>
      <p:sp>
        <p:nvSpPr>
          <p:cNvPr id="17" name="5 Rectángulo">
            <a:extLst>
              <a:ext uri="{FF2B5EF4-FFF2-40B4-BE49-F238E27FC236}">
                <a16:creationId xmlns:a16="http://schemas.microsoft.com/office/drawing/2014/main" id="{5A23FDA8-493C-2F0B-C6FD-642D21A0342B}"/>
              </a:ext>
            </a:extLst>
          </p:cNvPr>
          <p:cNvSpPr/>
          <p:nvPr/>
        </p:nvSpPr>
        <p:spPr>
          <a:xfrm>
            <a:off x="1233601" y="2001996"/>
            <a:ext cx="8132222" cy="4524315"/>
          </a:xfrm>
          <a:prstGeom prst="rect">
            <a:avLst/>
          </a:prstGeom>
          <a:noFill/>
          <a:effectLst/>
        </p:spPr>
        <p:txBody>
          <a:bodyPr wrap="square" lIns="91440" tIns="45720" rIns="91440" bIns="45720" anchor="t">
            <a:spAutoFit/>
          </a:bodyPr>
          <a:lstStyle/>
          <a:p>
            <a:pPr marL="571500" indent="-571500">
              <a:buFont typeface="Arial" panose="020B0604020202020204" pitchFamily="34" charset="0"/>
              <a:buChar char="•"/>
            </a:pPr>
            <a:r>
              <a:rPr lang="es-CL" sz="3200" noProof="0" dirty="0">
                <a:latin typeface="Atkinson Hyperlegible"/>
              </a:rPr>
              <a:t>Frecuencia (f): cuántas oscilaciones por segundo (Hz).</a:t>
            </a:r>
          </a:p>
          <a:p>
            <a:pPr marL="571500" indent="-571500">
              <a:buFont typeface="Arial" panose="020B0604020202020204" pitchFamily="34" charset="0"/>
              <a:buChar char="•"/>
            </a:pPr>
            <a:r>
              <a:rPr lang="es-CL" sz="3200" noProof="0" dirty="0">
                <a:latin typeface="Atkinson Hyperlegible"/>
              </a:rPr>
              <a:t>Longitud de onda (λ): distancia entre crestas (m).</a:t>
            </a:r>
          </a:p>
          <a:p>
            <a:pPr marL="571500" indent="-571500">
              <a:buFont typeface="Arial" panose="020B0604020202020204" pitchFamily="34" charset="0"/>
              <a:buChar char="•"/>
            </a:pPr>
            <a:r>
              <a:rPr lang="es-CL" sz="3200" noProof="0" dirty="0">
                <a:latin typeface="Atkinson Hyperlegible"/>
              </a:rPr>
              <a:t>Relación básica: </a:t>
            </a:r>
            <a:r>
              <a:rPr lang="es-CL" sz="3200" b="1" noProof="0" dirty="0">
                <a:effectLst>
                  <a:outerShdw blurRad="38100" dist="38100" dir="2700000" algn="tl">
                    <a:srgbClr val="000000">
                      <a:alpha val="43137"/>
                    </a:srgbClr>
                  </a:outerShdw>
                </a:effectLst>
                <a:latin typeface="Atkinson Hyperlegible"/>
              </a:rPr>
              <a:t>𝑐=𝑓⋅𝜆c=</a:t>
            </a:r>
            <a:r>
              <a:rPr lang="es-CL" sz="3200" b="1" noProof="0" dirty="0" err="1">
                <a:effectLst>
                  <a:outerShdw blurRad="38100" dist="38100" dir="2700000" algn="tl">
                    <a:srgbClr val="000000">
                      <a:alpha val="43137"/>
                    </a:srgbClr>
                  </a:outerShdw>
                </a:effectLst>
                <a:latin typeface="Atkinson Hyperlegible"/>
              </a:rPr>
              <a:t>f⋅λ</a:t>
            </a:r>
            <a:r>
              <a:rPr lang="es-CL" sz="3200" b="1" noProof="0" dirty="0">
                <a:effectLst>
                  <a:outerShdw blurRad="38100" dist="38100" dir="2700000" algn="tl">
                    <a:srgbClr val="000000">
                      <a:alpha val="43137"/>
                    </a:srgbClr>
                  </a:outerShdw>
                </a:effectLst>
                <a:latin typeface="Atkinson Hyperlegible"/>
              </a:rPr>
              <a:t> (c ≈ velocidad de la luz).</a:t>
            </a:r>
          </a:p>
          <a:p>
            <a:pPr marL="571500" indent="-571500">
              <a:buFont typeface="Arial" panose="020B0604020202020204" pitchFamily="34" charset="0"/>
              <a:buChar char="•"/>
            </a:pPr>
            <a:r>
              <a:rPr lang="es-CL" sz="3200" b="1" noProof="0" dirty="0">
                <a:latin typeface="Atkinson Hyperlegible"/>
              </a:rPr>
              <a:t>Idea clave: al cambiar f, cambia el comportamiento del enlace y la forma de usar el espectro.</a:t>
            </a:r>
          </a:p>
        </p:txBody>
      </p:sp>
      <p:pic>
        <p:nvPicPr>
          <p:cNvPr id="1027" name="Picture 3" descr="Ilustracion 3 Longitud de onda">
            <a:extLst>
              <a:ext uri="{FF2B5EF4-FFF2-40B4-BE49-F238E27FC236}">
                <a16:creationId xmlns:a16="http://schemas.microsoft.com/office/drawing/2014/main" id="{2D70D556-8F6A-4970-4531-34D431F0377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5949" y="6486041"/>
            <a:ext cx="4610016" cy="3217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6231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FF29F5F-7792-F148-55C4-0E4551A9B3BC}"/>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0CB8F636-F09E-47E1-78C3-32EC71904020}"/>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FE620382-D516-4F60-9D7C-83F05D60EF79}"/>
              </a:ext>
            </a:extLst>
          </p:cNvPr>
          <p:cNvSpPr txBox="1"/>
          <p:nvPr/>
        </p:nvSpPr>
        <p:spPr>
          <a:xfrm>
            <a:off x="1382157" y="-44605"/>
            <a:ext cx="18277439" cy="1609928"/>
          </a:xfrm>
          <a:prstGeom prst="rect">
            <a:avLst/>
          </a:prstGeom>
          <a:noFill/>
        </p:spPr>
        <p:txBody>
          <a:bodyPr vert="horz" wrap="square" lIns="0" tIns="349885" rIns="0" bIns="0" rtlCol="0">
            <a:spAutoFit/>
          </a:bodyPr>
          <a:lstStyle/>
          <a:p>
            <a:r>
              <a:rPr lang="es-CL" sz="4400" b="1" noProof="0" dirty="0">
                <a:latin typeface="Atkinson Hyperlegible" pitchFamily="2" charset="77"/>
              </a:rPr>
              <a:t>INTRODUCCIÓN A LA PROPAGACIÓN DE ONDAS DE RADIO</a:t>
            </a:r>
          </a:p>
          <a:p>
            <a:pPr>
              <a:lnSpc>
                <a:spcPct val="150000"/>
              </a:lnSpc>
            </a:pP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E2AA5F6B-E8C2-CEB6-7BAF-BE53E45B4D1E}"/>
              </a:ext>
            </a:extLst>
          </p:cNvPr>
          <p:cNvSpPr txBox="1"/>
          <p:nvPr/>
        </p:nvSpPr>
        <p:spPr>
          <a:xfrm>
            <a:off x="1382157" y="898721"/>
            <a:ext cx="17055745" cy="707886"/>
          </a:xfrm>
          <a:prstGeom prst="rect">
            <a:avLst/>
          </a:prstGeom>
          <a:noFill/>
        </p:spPr>
        <p:txBody>
          <a:bodyPr wrap="square">
            <a:spAutoFit/>
          </a:bodyPr>
          <a:lstStyle/>
          <a:p>
            <a:r>
              <a:rPr lang="es-CL" sz="4000" noProof="0" dirty="0" err="1">
                <a:latin typeface="Atkinson Hyperlegible"/>
              </a:rPr>
              <a:t>ITU</a:t>
            </a:r>
            <a:endParaRPr lang="es-CL" sz="4000" noProof="0" dirty="0">
              <a:latin typeface="Atkinson Hyperlegible"/>
            </a:endParaRPr>
          </a:p>
        </p:txBody>
      </p:sp>
      <p:sp>
        <p:nvSpPr>
          <p:cNvPr id="10" name="CuadroTexto 9">
            <a:extLst>
              <a:ext uri="{FF2B5EF4-FFF2-40B4-BE49-F238E27FC236}">
                <a16:creationId xmlns:a16="http://schemas.microsoft.com/office/drawing/2014/main" id="{A1E951CB-3CA9-2F4F-A046-BCEB72716C5A}"/>
              </a:ext>
            </a:extLst>
          </p:cNvPr>
          <p:cNvSpPr txBox="1"/>
          <p:nvPr/>
        </p:nvSpPr>
        <p:spPr>
          <a:xfrm>
            <a:off x="921617" y="9579632"/>
            <a:ext cx="6395298" cy="830997"/>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noProof="0" dirty="0" err="1">
                <a:latin typeface="Atkinson Hyperlegible"/>
              </a:rPr>
              <a:t>ITU</a:t>
            </a:r>
            <a:r>
              <a:rPr lang="es-CL" sz="2400" noProof="0" dirty="0">
                <a:latin typeface="Atkinson Hyperlegible"/>
              </a:rPr>
              <a:t> Radio </a:t>
            </a:r>
            <a:r>
              <a:rPr lang="es-CL" sz="2400" noProof="0" dirty="0" err="1">
                <a:latin typeface="Atkinson Hyperlegible"/>
              </a:rPr>
              <a:t>Regulations</a:t>
            </a:r>
            <a:r>
              <a:rPr lang="es-CL" sz="2400" noProof="0" dirty="0">
                <a:latin typeface="Atkinson Hyperlegible"/>
              </a:rPr>
              <a:t> (Ed. 2024</a:t>
            </a:r>
            <a:r>
              <a:rPr lang="es-CL" sz="2400" noProof="0" dirty="0"/>
              <a:t>)</a:t>
            </a:r>
            <a:endParaRPr lang="es-CL" sz="2400" noProof="0" dirty="0">
              <a:latin typeface="Atkinson Hyperlegible"/>
            </a:endParaRPr>
          </a:p>
        </p:txBody>
      </p:sp>
      <p:sp>
        <p:nvSpPr>
          <p:cNvPr id="17" name="5 Rectángulo">
            <a:extLst>
              <a:ext uri="{FF2B5EF4-FFF2-40B4-BE49-F238E27FC236}">
                <a16:creationId xmlns:a16="http://schemas.microsoft.com/office/drawing/2014/main" id="{311A2B4E-9FDD-200D-9C27-A90A23A13F4B}"/>
              </a:ext>
            </a:extLst>
          </p:cNvPr>
          <p:cNvSpPr/>
          <p:nvPr/>
        </p:nvSpPr>
        <p:spPr>
          <a:xfrm>
            <a:off x="1382158" y="1679262"/>
            <a:ext cx="18277438" cy="1569660"/>
          </a:xfrm>
          <a:prstGeom prst="rect">
            <a:avLst/>
          </a:prstGeom>
          <a:noFill/>
          <a:effectLst/>
        </p:spPr>
        <p:txBody>
          <a:bodyPr wrap="square" lIns="91440" tIns="45720" rIns="91440" bIns="45720" anchor="t">
            <a:spAutoFit/>
          </a:bodyPr>
          <a:lstStyle/>
          <a:p>
            <a:pPr marL="571500" indent="-571500" algn="just">
              <a:buFont typeface="Arial" panose="020B0604020202020204" pitchFamily="34" charset="0"/>
              <a:buChar char="•"/>
            </a:pPr>
            <a:r>
              <a:rPr lang="es-CL" sz="3200" noProof="0" dirty="0">
                <a:latin typeface="Atkinson Hyperlegible"/>
              </a:rPr>
              <a:t>La Unión Internacional de Telecomunicaciones (UIT) es el organismo especializado en telecomunicaciones de la Organización de las Naciones Unidas (ONU), encargado de regular las telecomunicaciones a nivel internacional</a:t>
            </a:r>
            <a:r>
              <a:rPr lang="es-CL" sz="3200" b="1" noProof="0" dirty="0">
                <a:latin typeface="Atkinson Hyperlegible"/>
              </a:rPr>
              <a:t>.</a:t>
            </a:r>
          </a:p>
        </p:txBody>
      </p:sp>
      <p:pic>
        <p:nvPicPr>
          <p:cNvPr id="4102" name="Picture 6">
            <a:extLst>
              <a:ext uri="{FF2B5EF4-FFF2-40B4-BE49-F238E27FC236}">
                <a16:creationId xmlns:a16="http://schemas.microsoft.com/office/drawing/2014/main" id="{6E1947CE-44B4-53F9-269D-AB8CF9FBCD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89425" y="3248922"/>
            <a:ext cx="3662902" cy="4322224"/>
          </a:xfrm>
          <a:prstGeom prst="rect">
            <a:avLst/>
          </a:prstGeom>
          <a:noFill/>
          <a:extLst>
            <a:ext uri="{909E8E84-426E-40DD-AFC4-6F175D3DCCD1}">
              <a14:hiddenFill xmlns:a14="http://schemas.microsoft.com/office/drawing/2010/main">
                <a:solidFill>
                  <a:srgbClr val="FFFFFF"/>
                </a:solidFill>
              </a14:hiddenFill>
            </a:ext>
          </a:extLst>
        </p:spPr>
      </p:pic>
      <p:sp>
        <p:nvSpPr>
          <p:cNvPr id="5" name="5 Rectángulo">
            <a:extLst>
              <a:ext uri="{FF2B5EF4-FFF2-40B4-BE49-F238E27FC236}">
                <a16:creationId xmlns:a16="http://schemas.microsoft.com/office/drawing/2014/main" id="{4CBF0A9E-4C86-C65E-EAA2-42C823538EC1}"/>
              </a:ext>
            </a:extLst>
          </p:cNvPr>
          <p:cNvSpPr/>
          <p:nvPr/>
        </p:nvSpPr>
        <p:spPr>
          <a:xfrm>
            <a:off x="1382158" y="7372427"/>
            <a:ext cx="18277438" cy="2062103"/>
          </a:xfrm>
          <a:prstGeom prst="rect">
            <a:avLst/>
          </a:prstGeom>
          <a:noFill/>
          <a:effectLst/>
        </p:spPr>
        <p:txBody>
          <a:bodyPr wrap="square" lIns="91440" tIns="45720" rIns="91440" bIns="45720" anchor="t">
            <a:spAutoFit/>
          </a:bodyPr>
          <a:lstStyle/>
          <a:p>
            <a:pPr marL="571500" indent="-571500" algn="just">
              <a:buFont typeface="Arial" panose="020B0604020202020204" pitchFamily="34" charset="0"/>
              <a:buChar char="•"/>
            </a:pPr>
            <a:r>
              <a:rPr lang="es-CL" sz="3200" noProof="0" dirty="0">
                <a:latin typeface="Atkinson Hyperlegible"/>
              </a:rPr>
              <a:t>La misión del Sector de Radiocomunicaciones de la UIT es, entre otras cosas, garantizar la utilización racional, equitativa, eficaz y económica del espectro de frecuencias radioeléctricas por todos los servicios de radiocomunicaciones, incluidos los que utilizan órbitas de satélites, así como la de realizar estudios y adoptar recomendaciones en materia de radiocomunicaciones.</a:t>
            </a:r>
            <a:endParaRPr lang="es-CL" sz="3200" b="1" noProof="0" dirty="0">
              <a:latin typeface="Atkinson Hyperlegible"/>
            </a:endParaRPr>
          </a:p>
        </p:txBody>
      </p:sp>
    </p:spTree>
    <p:extLst>
      <p:ext uri="{BB962C8B-B14F-4D97-AF65-F5344CB8AC3E}">
        <p14:creationId xmlns:p14="http://schemas.microsoft.com/office/powerpoint/2010/main" val="4261099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C36A3C0-FB9B-41C4-179A-646A20EB4205}"/>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E035860E-E7D4-857E-042A-5CEB1348A225}"/>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BE559558-3D54-2333-E4EF-0EC774730462}"/>
              </a:ext>
            </a:extLst>
          </p:cNvPr>
          <p:cNvSpPr txBox="1"/>
          <p:nvPr/>
        </p:nvSpPr>
        <p:spPr>
          <a:xfrm>
            <a:off x="1382157" y="-44605"/>
            <a:ext cx="18277439" cy="1609928"/>
          </a:xfrm>
          <a:prstGeom prst="rect">
            <a:avLst/>
          </a:prstGeom>
          <a:noFill/>
        </p:spPr>
        <p:txBody>
          <a:bodyPr vert="horz" wrap="square" lIns="0" tIns="349885" rIns="0" bIns="0" rtlCol="0">
            <a:spAutoFit/>
          </a:bodyPr>
          <a:lstStyle/>
          <a:p>
            <a:r>
              <a:rPr lang="es-CL" sz="4400" b="1" noProof="0" dirty="0">
                <a:latin typeface="Atkinson Hyperlegible" pitchFamily="2" charset="77"/>
              </a:rPr>
              <a:t>INTRODUCCIÓN A LA PROPAGACIÓN DE ONDAS DE RADIO</a:t>
            </a:r>
          </a:p>
          <a:p>
            <a:pPr>
              <a:lnSpc>
                <a:spcPct val="150000"/>
              </a:lnSpc>
            </a:pP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94602F30-FC65-D378-BB40-E82DD3CB41FF}"/>
              </a:ext>
            </a:extLst>
          </p:cNvPr>
          <p:cNvSpPr txBox="1"/>
          <p:nvPr/>
        </p:nvSpPr>
        <p:spPr>
          <a:xfrm>
            <a:off x="1382157" y="898721"/>
            <a:ext cx="17055745" cy="707886"/>
          </a:xfrm>
          <a:prstGeom prst="rect">
            <a:avLst/>
          </a:prstGeom>
          <a:noFill/>
        </p:spPr>
        <p:txBody>
          <a:bodyPr wrap="square">
            <a:spAutoFit/>
          </a:bodyPr>
          <a:lstStyle/>
          <a:p>
            <a:r>
              <a:rPr lang="es-CL" sz="4000" noProof="0" dirty="0" err="1">
                <a:latin typeface="Atkinson Hyperlegible"/>
              </a:rPr>
              <a:t>ITU</a:t>
            </a:r>
            <a:endParaRPr lang="es-CL" sz="4000" noProof="0" dirty="0">
              <a:latin typeface="Atkinson Hyperlegible"/>
            </a:endParaRPr>
          </a:p>
        </p:txBody>
      </p:sp>
      <p:sp>
        <p:nvSpPr>
          <p:cNvPr id="17" name="5 Rectángulo">
            <a:extLst>
              <a:ext uri="{FF2B5EF4-FFF2-40B4-BE49-F238E27FC236}">
                <a16:creationId xmlns:a16="http://schemas.microsoft.com/office/drawing/2014/main" id="{F1865F2B-6C46-5789-2A80-9FBE1E4E5EA4}"/>
              </a:ext>
            </a:extLst>
          </p:cNvPr>
          <p:cNvSpPr/>
          <p:nvPr/>
        </p:nvSpPr>
        <p:spPr>
          <a:xfrm>
            <a:off x="1382157" y="7708834"/>
            <a:ext cx="18277438" cy="2554545"/>
          </a:xfrm>
          <a:prstGeom prst="rect">
            <a:avLst/>
          </a:prstGeom>
          <a:noFill/>
          <a:effectLst/>
        </p:spPr>
        <p:txBody>
          <a:bodyPr wrap="square" lIns="91440" tIns="45720" rIns="91440" bIns="45720" anchor="t">
            <a:spAutoFit/>
          </a:bodyPr>
          <a:lstStyle/>
          <a:p>
            <a:pPr marL="571500" indent="-571500" algn="just">
              <a:buFont typeface="Arial" panose="020B0604020202020204" pitchFamily="34" charset="0"/>
              <a:buChar char="•"/>
            </a:pPr>
            <a:r>
              <a:rPr lang="es-CL" sz="3200" noProof="0" dirty="0">
                <a:latin typeface="Atkinson Hyperlegible"/>
              </a:rPr>
              <a:t>Tiene como principales funciones proponer las políticas nacionales en materias de transportes y telecomunicaciones, de acuerdo a las directrices del Gobierno y ejercer la dirección y control de su puesta en práctica; supervisar las empresas públicas y privadas que operen medios de transportes y comunicaciones en el país, y coordinar y promover el desarrollo de estas actividades y controlar el cumplimiento de las leyes, reglamentos y normas pertinentes.</a:t>
            </a:r>
            <a:endParaRPr lang="es-CL" sz="3200" b="1" noProof="0" dirty="0">
              <a:latin typeface="Atkinson Hyperlegible"/>
            </a:endParaRPr>
          </a:p>
        </p:txBody>
      </p:sp>
      <p:sp>
        <p:nvSpPr>
          <p:cNvPr id="5" name="5 Rectángulo">
            <a:extLst>
              <a:ext uri="{FF2B5EF4-FFF2-40B4-BE49-F238E27FC236}">
                <a16:creationId xmlns:a16="http://schemas.microsoft.com/office/drawing/2014/main" id="{00F43E92-0E99-AC63-5316-7DEBBA48A2BC}"/>
              </a:ext>
            </a:extLst>
          </p:cNvPr>
          <p:cNvSpPr/>
          <p:nvPr/>
        </p:nvSpPr>
        <p:spPr>
          <a:xfrm>
            <a:off x="1382157" y="1635242"/>
            <a:ext cx="18277438" cy="1569660"/>
          </a:xfrm>
          <a:prstGeom prst="rect">
            <a:avLst/>
          </a:prstGeom>
          <a:noFill/>
          <a:effectLst/>
        </p:spPr>
        <p:txBody>
          <a:bodyPr wrap="square" lIns="91440" tIns="45720" rIns="91440" bIns="45720" anchor="t">
            <a:spAutoFit/>
          </a:bodyPr>
          <a:lstStyle/>
          <a:p>
            <a:pPr marL="571500" indent="-571500" algn="just">
              <a:buFont typeface="Arial" panose="020B0604020202020204" pitchFamily="34" charset="0"/>
              <a:buChar char="•"/>
            </a:pPr>
            <a:r>
              <a:rPr lang="es-CL" sz="3200" noProof="0" dirty="0">
                <a:latin typeface="Atkinson Hyperlegible"/>
              </a:rPr>
              <a:t>El Ministerio de Transportes y Telecomunicaciones fue creado mediante el Decreto Ley </a:t>
            </a:r>
            <a:r>
              <a:rPr lang="es-CL" sz="3200" noProof="0" dirty="0" err="1">
                <a:latin typeface="Atkinson Hyperlegible"/>
              </a:rPr>
              <a:t>Nº</a:t>
            </a:r>
            <a:r>
              <a:rPr lang="es-CL" sz="3200" noProof="0" dirty="0">
                <a:latin typeface="Atkinson Hyperlegible"/>
              </a:rPr>
              <a:t> 557, publicado en el Diario Oficial el 10 de julio de 1974. El Ministerio está integrado por la Subsecretaría de Telecomunicaciones</a:t>
            </a:r>
            <a:endParaRPr lang="es-CL" sz="3200" b="1" noProof="0" dirty="0">
              <a:latin typeface="Atkinson Hyperlegible"/>
            </a:endParaRPr>
          </a:p>
        </p:txBody>
      </p:sp>
      <p:pic>
        <p:nvPicPr>
          <p:cNvPr id="7170" name="Picture 2" descr="Inicio - Ministerio de Transportes y Telecomunicaciones">
            <a:extLst>
              <a:ext uri="{FF2B5EF4-FFF2-40B4-BE49-F238E27FC236}">
                <a16:creationId xmlns:a16="http://schemas.microsoft.com/office/drawing/2014/main" id="{C5707497-BAEB-AC8F-82C2-A19BABB29F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40447" y="3274821"/>
            <a:ext cx="6959345" cy="40853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42542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0C87EE9-53A3-BE79-5A06-38EF079F0855}"/>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0578EBD8-8519-C29B-DF43-55B6275396D5}"/>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96364B1F-6BEB-16A3-28BA-AA85A38BFBA3}"/>
              </a:ext>
            </a:extLst>
          </p:cNvPr>
          <p:cNvSpPr txBox="1"/>
          <p:nvPr/>
        </p:nvSpPr>
        <p:spPr>
          <a:xfrm>
            <a:off x="1382157" y="-44605"/>
            <a:ext cx="18277439" cy="1609928"/>
          </a:xfrm>
          <a:prstGeom prst="rect">
            <a:avLst/>
          </a:prstGeom>
          <a:noFill/>
        </p:spPr>
        <p:txBody>
          <a:bodyPr vert="horz" wrap="square" lIns="0" tIns="349885" rIns="0" bIns="0" rtlCol="0">
            <a:spAutoFit/>
          </a:bodyPr>
          <a:lstStyle/>
          <a:p>
            <a:r>
              <a:rPr lang="es-CL" sz="4400" b="1" noProof="0" dirty="0">
                <a:latin typeface="Atkinson Hyperlegible" pitchFamily="2" charset="77"/>
              </a:rPr>
              <a:t>INTRODUCCIÓN A LA PROPAGACIÓN DE ONDAS DE RADIO</a:t>
            </a:r>
          </a:p>
          <a:p>
            <a:pPr>
              <a:lnSpc>
                <a:spcPct val="150000"/>
              </a:lnSpc>
            </a:pP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6E167DDA-6AC7-4DDE-E5E2-DB2919B1556F}"/>
              </a:ext>
            </a:extLst>
          </p:cNvPr>
          <p:cNvSpPr txBox="1"/>
          <p:nvPr/>
        </p:nvSpPr>
        <p:spPr>
          <a:xfrm>
            <a:off x="1382157" y="898721"/>
            <a:ext cx="17055745" cy="707886"/>
          </a:xfrm>
          <a:prstGeom prst="rect">
            <a:avLst/>
          </a:prstGeom>
          <a:noFill/>
        </p:spPr>
        <p:txBody>
          <a:bodyPr wrap="square">
            <a:spAutoFit/>
          </a:bodyPr>
          <a:lstStyle/>
          <a:p>
            <a:r>
              <a:rPr lang="es-CL" sz="4000" noProof="0" dirty="0" err="1">
                <a:latin typeface="Atkinson Hyperlegible"/>
              </a:rPr>
              <a:t>SUBTEL</a:t>
            </a:r>
            <a:endParaRPr lang="es-CL" sz="4000" noProof="0" dirty="0">
              <a:latin typeface="Atkinson Hyperlegible"/>
            </a:endParaRPr>
          </a:p>
        </p:txBody>
      </p:sp>
      <p:sp>
        <p:nvSpPr>
          <p:cNvPr id="17" name="5 Rectángulo">
            <a:extLst>
              <a:ext uri="{FF2B5EF4-FFF2-40B4-BE49-F238E27FC236}">
                <a16:creationId xmlns:a16="http://schemas.microsoft.com/office/drawing/2014/main" id="{51BA5900-5F2A-BDAE-D681-ABE3E9750B16}"/>
              </a:ext>
            </a:extLst>
          </p:cNvPr>
          <p:cNvSpPr/>
          <p:nvPr/>
        </p:nvSpPr>
        <p:spPr>
          <a:xfrm>
            <a:off x="1382158" y="1679262"/>
            <a:ext cx="18277438" cy="2062103"/>
          </a:xfrm>
          <a:prstGeom prst="rect">
            <a:avLst/>
          </a:prstGeom>
          <a:noFill/>
          <a:effectLst/>
        </p:spPr>
        <p:txBody>
          <a:bodyPr wrap="square" lIns="91440" tIns="45720" rIns="91440" bIns="45720" anchor="t">
            <a:spAutoFit/>
          </a:bodyPr>
          <a:lstStyle/>
          <a:p>
            <a:pPr marL="571500" indent="-571500" algn="just">
              <a:buFont typeface="Arial" panose="020B0604020202020204" pitchFamily="34" charset="0"/>
              <a:buChar char="•"/>
            </a:pPr>
            <a:r>
              <a:rPr lang="es-CL" sz="3200" noProof="0" dirty="0">
                <a:latin typeface="Atkinson Hyperlegible"/>
              </a:rPr>
              <a:t>La Subsecretaría de Telecomunicaciones es un organismo dependiente del Ministerio de Transportes y Telecomunicaciones. Su trabajo está orientado a coordinar, promover, fomentar y desarrollar las telecomunicaciones en Chile, transformando a este sector en motor para el desarrollo económico y social del país.</a:t>
            </a:r>
          </a:p>
        </p:txBody>
      </p:sp>
      <p:sp>
        <p:nvSpPr>
          <p:cNvPr id="5" name="5 Rectángulo">
            <a:extLst>
              <a:ext uri="{FF2B5EF4-FFF2-40B4-BE49-F238E27FC236}">
                <a16:creationId xmlns:a16="http://schemas.microsoft.com/office/drawing/2014/main" id="{1A32314A-0057-9248-566C-0DFE30C9E53F}"/>
              </a:ext>
            </a:extLst>
          </p:cNvPr>
          <p:cNvSpPr/>
          <p:nvPr/>
        </p:nvSpPr>
        <p:spPr>
          <a:xfrm>
            <a:off x="1382157" y="7204819"/>
            <a:ext cx="18277438" cy="2554545"/>
          </a:xfrm>
          <a:prstGeom prst="rect">
            <a:avLst/>
          </a:prstGeom>
          <a:noFill/>
          <a:effectLst/>
        </p:spPr>
        <p:txBody>
          <a:bodyPr wrap="square" lIns="91440" tIns="45720" rIns="91440" bIns="45720" anchor="t">
            <a:spAutoFit/>
          </a:bodyPr>
          <a:lstStyle/>
          <a:p>
            <a:pPr marL="571500" indent="-571500" algn="just">
              <a:buFont typeface="Arial" panose="020B0604020202020204" pitchFamily="34" charset="0"/>
              <a:buChar char="•"/>
            </a:pPr>
            <a:endParaRPr lang="es-CL" sz="3200" noProof="0" dirty="0">
              <a:latin typeface="Atkinson Hyperlegible"/>
            </a:endParaRPr>
          </a:p>
          <a:p>
            <a:pPr marL="571500" indent="-571500" algn="just">
              <a:buFont typeface="Arial" panose="020B0604020202020204" pitchFamily="34" charset="0"/>
              <a:buChar char="•"/>
            </a:pPr>
            <a:r>
              <a:rPr lang="es-CL" sz="3200" noProof="0" dirty="0">
                <a:latin typeface="Atkinson Hyperlegible"/>
              </a:rPr>
              <a:t>Tiene como principales funciones proponer las políticas nacionales en materias de telecomunicaciones, de acuerdo a las directrices del Gobierno, ejercer la dirección y control de su puesta en práctica, supervisar a las empresas públicas y privadas del sector en el país, controlando el cumplimiento de las leyes, reglamentos y normas pertinentes.</a:t>
            </a:r>
            <a:endParaRPr lang="es-CL" sz="3200" b="1" noProof="0" dirty="0">
              <a:latin typeface="Atkinson Hyperlegible"/>
            </a:endParaRPr>
          </a:p>
        </p:txBody>
      </p:sp>
      <p:pic>
        <p:nvPicPr>
          <p:cNvPr id="6146" name="Picture 2" descr="Consulta Cobertura - Dev">
            <a:extLst>
              <a:ext uri="{FF2B5EF4-FFF2-40B4-BE49-F238E27FC236}">
                <a16:creationId xmlns:a16="http://schemas.microsoft.com/office/drawing/2014/main" id="{3435C28E-7220-E2B3-7E70-FB4AB37047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5526" y="3366244"/>
            <a:ext cx="9410700" cy="3838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77468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F1A157E-FE87-54CB-9E6D-59048BC5245C}"/>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FD3DE59C-136D-BA00-C85F-61687A8C136F}"/>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18995A42-A9AE-C279-23FA-B6CBC322CE8D}"/>
              </a:ext>
            </a:extLst>
          </p:cNvPr>
          <p:cNvSpPr txBox="1"/>
          <p:nvPr/>
        </p:nvSpPr>
        <p:spPr>
          <a:xfrm>
            <a:off x="1382157" y="-44605"/>
            <a:ext cx="18277439" cy="1609928"/>
          </a:xfrm>
          <a:prstGeom prst="rect">
            <a:avLst/>
          </a:prstGeom>
          <a:noFill/>
        </p:spPr>
        <p:txBody>
          <a:bodyPr vert="horz" wrap="square" lIns="0" tIns="349885" rIns="0" bIns="0" rtlCol="0">
            <a:spAutoFit/>
          </a:bodyPr>
          <a:lstStyle/>
          <a:p>
            <a:r>
              <a:rPr lang="es-CL" sz="4400" b="1" noProof="0" dirty="0">
                <a:latin typeface="Atkinson Hyperlegible" pitchFamily="2" charset="77"/>
              </a:rPr>
              <a:t>INTRODUCCIÓN A LA PROPAGACIÓN DE ONDAS DE RADIO</a:t>
            </a:r>
          </a:p>
          <a:p>
            <a:pPr>
              <a:lnSpc>
                <a:spcPct val="150000"/>
              </a:lnSpc>
            </a:pP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E5E855D0-3D85-4D6B-8B1A-99F2D47C9DD2}"/>
              </a:ext>
            </a:extLst>
          </p:cNvPr>
          <p:cNvSpPr txBox="1"/>
          <p:nvPr/>
        </p:nvSpPr>
        <p:spPr>
          <a:xfrm>
            <a:off x="1382157" y="898721"/>
            <a:ext cx="17055745" cy="707886"/>
          </a:xfrm>
          <a:prstGeom prst="rect">
            <a:avLst/>
          </a:prstGeom>
          <a:noFill/>
        </p:spPr>
        <p:txBody>
          <a:bodyPr wrap="square">
            <a:spAutoFit/>
          </a:bodyPr>
          <a:lstStyle/>
          <a:p>
            <a:r>
              <a:rPr lang="es-CL" sz="4000" noProof="0" dirty="0">
                <a:latin typeface="Atkinson Hyperlegible"/>
              </a:rPr>
              <a:t>Espectro electromagnético y concepto de bandas</a:t>
            </a:r>
          </a:p>
        </p:txBody>
      </p:sp>
      <p:sp>
        <p:nvSpPr>
          <p:cNvPr id="10" name="CuadroTexto 9">
            <a:extLst>
              <a:ext uri="{FF2B5EF4-FFF2-40B4-BE49-F238E27FC236}">
                <a16:creationId xmlns:a16="http://schemas.microsoft.com/office/drawing/2014/main" id="{33FF34B4-60CB-2349-D942-30D9EA37DA75}"/>
              </a:ext>
            </a:extLst>
          </p:cNvPr>
          <p:cNvSpPr txBox="1"/>
          <p:nvPr/>
        </p:nvSpPr>
        <p:spPr>
          <a:xfrm>
            <a:off x="921616" y="8840969"/>
            <a:ext cx="10785701" cy="1200329"/>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noProof="0" dirty="0" err="1">
                <a:latin typeface="Atkinson Hyperlegible"/>
              </a:rPr>
              <a:t>ITU</a:t>
            </a:r>
            <a:r>
              <a:rPr lang="es-CL" sz="2400" noProof="0" dirty="0">
                <a:latin typeface="Atkinson Hyperlegible"/>
              </a:rPr>
              <a:t> Radio </a:t>
            </a:r>
            <a:r>
              <a:rPr lang="es-CL" sz="2400" noProof="0" dirty="0" err="1">
                <a:latin typeface="Atkinson Hyperlegible"/>
              </a:rPr>
              <a:t>Regulations</a:t>
            </a:r>
            <a:r>
              <a:rPr lang="es-CL" sz="2400" noProof="0" dirty="0">
                <a:latin typeface="Atkinson Hyperlegible"/>
              </a:rPr>
              <a:t> (Ed. 2024</a:t>
            </a:r>
            <a:r>
              <a:rPr lang="es-CL" sz="2400" noProof="0" dirty="0"/>
              <a:t>)</a:t>
            </a:r>
          </a:p>
          <a:p>
            <a:r>
              <a:rPr lang="es-CL" sz="2400" b="1" noProof="0" dirty="0" err="1"/>
              <a:t>Article</a:t>
            </a:r>
            <a:r>
              <a:rPr lang="es-CL" sz="2400" b="1" noProof="0" dirty="0"/>
              <a:t> 5 – Table </a:t>
            </a:r>
            <a:r>
              <a:rPr lang="es-CL" sz="2400" b="1" noProof="0" dirty="0" err="1"/>
              <a:t>of</a:t>
            </a:r>
            <a:r>
              <a:rPr lang="es-CL" sz="2400" b="1" noProof="0" dirty="0"/>
              <a:t> </a:t>
            </a:r>
            <a:r>
              <a:rPr lang="es-CL" sz="2400" b="1" noProof="0" dirty="0" err="1"/>
              <a:t>Frequency</a:t>
            </a:r>
            <a:r>
              <a:rPr lang="es-CL" sz="2400" b="1" noProof="0" dirty="0"/>
              <a:t> </a:t>
            </a:r>
            <a:r>
              <a:rPr lang="es-CL" sz="2400" b="1" noProof="0" dirty="0" err="1"/>
              <a:t>Allocations</a:t>
            </a:r>
            <a:r>
              <a:rPr lang="es-CL" sz="2400" b="1" noProof="0" dirty="0"/>
              <a:t>”</a:t>
            </a:r>
            <a:r>
              <a:rPr lang="es-CL" sz="2400" noProof="0" dirty="0"/>
              <a:t> (Tabla de atribución de frecuencias).</a:t>
            </a:r>
            <a:endParaRPr lang="es-CL" sz="2400" noProof="0" dirty="0">
              <a:latin typeface="Atkinson Hyperlegible"/>
            </a:endParaRPr>
          </a:p>
        </p:txBody>
      </p:sp>
      <p:sp>
        <p:nvSpPr>
          <p:cNvPr id="16" name="CuadroTexto 15">
            <a:extLst>
              <a:ext uri="{FF2B5EF4-FFF2-40B4-BE49-F238E27FC236}">
                <a16:creationId xmlns:a16="http://schemas.microsoft.com/office/drawing/2014/main" id="{A8B3C692-B882-59E5-7062-549C4725F3DC}"/>
              </a:ext>
            </a:extLst>
          </p:cNvPr>
          <p:cNvSpPr txBox="1"/>
          <p:nvPr/>
        </p:nvSpPr>
        <p:spPr>
          <a:xfrm>
            <a:off x="13603144" y="9363425"/>
            <a:ext cx="6395298" cy="1200329"/>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noProof="0" dirty="0">
                <a:latin typeface="Atkinson Hyperlegible"/>
              </a:rPr>
              <a:t>En RF, el canal es variable: el entorno modifica el enlace, </a:t>
            </a:r>
            <a:r>
              <a:rPr lang="es-CL" sz="2400" b="1" noProof="0" dirty="0">
                <a:latin typeface="Atkinson Hyperlegible"/>
              </a:rPr>
              <a:t>pérdidas • ruido • interferencia.</a:t>
            </a:r>
          </a:p>
        </p:txBody>
      </p:sp>
      <p:sp>
        <p:nvSpPr>
          <p:cNvPr id="17" name="5 Rectángulo">
            <a:extLst>
              <a:ext uri="{FF2B5EF4-FFF2-40B4-BE49-F238E27FC236}">
                <a16:creationId xmlns:a16="http://schemas.microsoft.com/office/drawing/2014/main" id="{8EE2CEF1-0B2D-8F55-F679-CFF8CAE45628}"/>
              </a:ext>
            </a:extLst>
          </p:cNvPr>
          <p:cNvSpPr/>
          <p:nvPr/>
        </p:nvSpPr>
        <p:spPr>
          <a:xfrm>
            <a:off x="1233601" y="2001996"/>
            <a:ext cx="18628366" cy="6555641"/>
          </a:xfrm>
          <a:prstGeom prst="rect">
            <a:avLst/>
          </a:prstGeom>
          <a:noFill/>
          <a:effectLst/>
        </p:spPr>
        <p:txBody>
          <a:bodyPr wrap="square" lIns="91440" tIns="45720" rIns="91440" bIns="45720" anchor="t">
            <a:spAutoFit/>
          </a:bodyPr>
          <a:lstStyle/>
          <a:p>
            <a:pPr marL="571500" indent="-571500" algn="just">
              <a:buFont typeface="Arial" panose="020B0604020202020204" pitchFamily="34" charset="0"/>
              <a:buChar char="•"/>
            </a:pPr>
            <a:r>
              <a:rPr lang="es-CL" sz="3200" noProof="0" dirty="0">
                <a:latin typeface="Atkinson Hyperlegible"/>
              </a:rPr>
              <a:t>Espectro electromagnético: conjunto de frecuencias disponibles para transmitir energía/información.</a:t>
            </a:r>
          </a:p>
          <a:p>
            <a:pPr marL="571500" indent="-571500" algn="just">
              <a:buFont typeface="Arial" panose="020B0604020202020204" pitchFamily="34" charset="0"/>
              <a:buChar char="•"/>
            </a:pPr>
            <a:endParaRPr lang="es-CL" sz="3200" noProof="0" dirty="0">
              <a:latin typeface="Atkinson Hyperlegible"/>
            </a:endParaRPr>
          </a:p>
          <a:p>
            <a:pPr marL="571500" indent="-571500" algn="just">
              <a:buFont typeface="Arial" panose="020B0604020202020204" pitchFamily="34" charset="0"/>
              <a:buChar char="•"/>
            </a:pPr>
            <a:r>
              <a:rPr lang="es-CL" sz="3200" noProof="0" dirty="0">
                <a:latin typeface="Atkinson Hyperlegible"/>
              </a:rPr>
              <a:t>En telecomunicaciones se usa una parte del espectro como radiofrecuencia (RF).</a:t>
            </a:r>
          </a:p>
          <a:p>
            <a:pPr marL="571500" indent="-571500" algn="just">
              <a:buFont typeface="Arial" panose="020B0604020202020204" pitchFamily="34" charset="0"/>
              <a:buChar char="•"/>
            </a:pPr>
            <a:endParaRPr lang="es-CL" sz="3200" noProof="0" dirty="0">
              <a:latin typeface="Atkinson Hyperlegible"/>
            </a:endParaRPr>
          </a:p>
          <a:p>
            <a:pPr marL="571500" indent="-571500" algn="just">
              <a:buFont typeface="Arial" panose="020B0604020202020204" pitchFamily="34" charset="0"/>
              <a:buChar char="•"/>
            </a:pPr>
            <a:r>
              <a:rPr lang="es-CL" sz="3200" noProof="0" dirty="0">
                <a:latin typeface="Atkinson Hyperlegible"/>
              </a:rPr>
              <a:t>Banda de frecuencia: un rango continuo de frecuencias (por ejemplo, una “franja” del espectro).</a:t>
            </a:r>
          </a:p>
          <a:p>
            <a:pPr marL="571500" indent="-571500" algn="just">
              <a:buFont typeface="Arial" panose="020B0604020202020204" pitchFamily="34" charset="0"/>
              <a:buChar char="•"/>
            </a:pPr>
            <a:endParaRPr lang="es-CL" sz="3200" noProof="0" dirty="0">
              <a:latin typeface="Atkinson Hyperlegible"/>
            </a:endParaRPr>
          </a:p>
          <a:p>
            <a:pPr marL="571500" indent="-571500" algn="just">
              <a:buFont typeface="Arial" panose="020B0604020202020204" pitchFamily="34" charset="0"/>
              <a:buChar char="•"/>
            </a:pPr>
            <a:r>
              <a:rPr lang="es-CL" sz="3200" noProof="0" dirty="0">
                <a:latin typeface="Atkinson Hyperlegible"/>
              </a:rPr>
              <a:t>Canal: porción más pequeña dentro de una banda, asignada para un servicio/enlace.</a:t>
            </a:r>
          </a:p>
          <a:p>
            <a:pPr marL="571500" indent="-571500" algn="just">
              <a:buFont typeface="Arial" panose="020B0604020202020204" pitchFamily="34" charset="0"/>
              <a:buChar char="•"/>
            </a:pPr>
            <a:endParaRPr lang="es-CL" sz="3200" noProof="0" dirty="0">
              <a:latin typeface="Atkinson Hyperlegible"/>
            </a:endParaRPr>
          </a:p>
          <a:p>
            <a:pPr marL="571500" indent="-571500" algn="just">
              <a:buFont typeface="Arial" panose="020B0604020202020204" pitchFamily="34" charset="0"/>
              <a:buChar char="•"/>
            </a:pPr>
            <a:r>
              <a:rPr lang="es-CL" sz="3200" noProof="0" dirty="0">
                <a:latin typeface="Atkinson Hyperlegible"/>
              </a:rPr>
              <a:t>El espectro se organiza en bandas para evitar interferencias, coordinar usos y ordenar servicios.</a:t>
            </a:r>
          </a:p>
          <a:p>
            <a:pPr marL="571500" indent="-571500" algn="just">
              <a:buFont typeface="Arial" panose="020B0604020202020204" pitchFamily="34" charset="0"/>
              <a:buChar char="•"/>
            </a:pPr>
            <a:endParaRPr lang="es-CL" sz="3200" noProof="0" dirty="0">
              <a:latin typeface="Atkinson Hyperlegible"/>
            </a:endParaRPr>
          </a:p>
          <a:p>
            <a:pPr marL="571500" indent="-571500" algn="just">
              <a:buFont typeface="Arial" panose="020B0604020202020204" pitchFamily="34" charset="0"/>
              <a:buChar char="•"/>
            </a:pPr>
            <a:r>
              <a:rPr lang="es-CL" sz="3200" noProof="0" dirty="0">
                <a:latin typeface="Atkinson Hyperlegible"/>
              </a:rPr>
              <a:t>La asignación/uso del espectro se define por marcos regulatorios (internacional y nacional).</a:t>
            </a:r>
          </a:p>
          <a:p>
            <a:pPr marL="571500" indent="-571500" algn="just">
              <a:buFont typeface="Arial" panose="020B0604020202020204" pitchFamily="34" charset="0"/>
              <a:buChar char="•"/>
            </a:pPr>
            <a:endParaRPr lang="es-CL" sz="3200" b="1" noProof="0" dirty="0">
              <a:latin typeface="Atkinson Hyperlegible"/>
            </a:endParaRPr>
          </a:p>
          <a:p>
            <a:pPr algn="ctr"/>
            <a:r>
              <a:rPr lang="es-CL" sz="3600" b="1" noProof="0" dirty="0">
                <a:effectLst>
                  <a:outerShdw blurRad="38100" dist="38100" dir="2700000" algn="tl">
                    <a:srgbClr val="000000">
                      <a:alpha val="43137"/>
                    </a:srgbClr>
                  </a:outerShdw>
                </a:effectLst>
                <a:latin typeface="Atkinson Hyperlegible"/>
              </a:rPr>
              <a:t>“Banda” = rango de frecuencias; “canal” = parte específica usada dentro de esa banda.</a:t>
            </a:r>
          </a:p>
        </p:txBody>
      </p:sp>
    </p:spTree>
    <p:extLst>
      <p:ext uri="{BB962C8B-B14F-4D97-AF65-F5344CB8AC3E}">
        <p14:creationId xmlns:p14="http://schemas.microsoft.com/office/powerpoint/2010/main" val="3370162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504B99E-A62E-CDAF-6116-44352B570058}"/>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8CC9E332-B723-47C2-15A3-0B3F32AE71F6}"/>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FEFECA62-C27F-15C7-5F25-B3AD92A04E67}"/>
              </a:ext>
            </a:extLst>
          </p:cNvPr>
          <p:cNvSpPr txBox="1"/>
          <p:nvPr/>
        </p:nvSpPr>
        <p:spPr>
          <a:xfrm>
            <a:off x="1382157" y="-44605"/>
            <a:ext cx="18277439" cy="1609928"/>
          </a:xfrm>
          <a:prstGeom prst="rect">
            <a:avLst/>
          </a:prstGeom>
          <a:noFill/>
        </p:spPr>
        <p:txBody>
          <a:bodyPr vert="horz" wrap="square" lIns="0" tIns="349885" rIns="0" bIns="0" rtlCol="0">
            <a:spAutoFit/>
          </a:bodyPr>
          <a:lstStyle/>
          <a:p>
            <a:r>
              <a:rPr lang="es-CL" sz="4400" b="1" noProof="0" dirty="0">
                <a:latin typeface="Atkinson Hyperlegible" pitchFamily="2" charset="77"/>
              </a:rPr>
              <a:t>INTRODUCCIÓN A LA PROPAGACIÓN DE ONDAS DE RADIO</a:t>
            </a:r>
          </a:p>
          <a:p>
            <a:pPr>
              <a:lnSpc>
                <a:spcPct val="150000"/>
              </a:lnSpc>
            </a:pP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FCC1CAE0-D326-78D7-B449-47B0C40D2BCC}"/>
              </a:ext>
            </a:extLst>
          </p:cNvPr>
          <p:cNvSpPr txBox="1"/>
          <p:nvPr/>
        </p:nvSpPr>
        <p:spPr>
          <a:xfrm>
            <a:off x="1382157" y="898721"/>
            <a:ext cx="17055745" cy="707886"/>
          </a:xfrm>
          <a:prstGeom prst="rect">
            <a:avLst/>
          </a:prstGeom>
          <a:noFill/>
        </p:spPr>
        <p:txBody>
          <a:bodyPr wrap="square">
            <a:spAutoFit/>
          </a:bodyPr>
          <a:lstStyle/>
          <a:p>
            <a:r>
              <a:rPr lang="es-CL" sz="4000" noProof="0" dirty="0">
                <a:latin typeface="Atkinson Hyperlegible"/>
              </a:rPr>
              <a:t>Espectro electromagnético y concepto de bandas</a:t>
            </a:r>
          </a:p>
        </p:txBody>
      </p:sp>
      <p:sp>
        <p:nvSpPr>
          <p:cNvPr id="10" name="CuadroTexto 9">
            <a:extLst>
              <a:ext uri="{FF2B5EF4-FFF2-40B4-BE49-F238E27FC236}">
                <a16:creationId xmlns:a16="http://schemas.microsoft.com/office/drawing/2014/main" id="{C413AC9D-8731-D5CC-A93D-8A0DF3C23E2B}"/>
              </a:ext>
            </a:extLst>
          </p:cNvPr>
          <p:cNvSpPr txBox="1"/>
          <p:nvPr/>
        </p:nvSpPr>
        <p:spPr>
          <a:xfrm>
            <a:off x="921616" y="8840969"/>
            <a:ext cx="10785701" cy="1200329"/>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noProof="0" dirty="0" err="1">
                <a:latin typeface="Atkinson Hyperlegible"/>
              </a:rPr>
              <a:t>ITU</a:t>
            </a:r>
            <a:r>
              <a:rPr lang="es-CL" sz="2400" noProof="0" dirty="0">
                <a:latin typeface="Atkinson Hyperlegible"/>
              </a:rPr>
              <a:t> Radio </a:t>
            </a:r>
            <a:r>
              <a:rPr lang="es-CL" sz="2400" noProof="0" dirty="0" err="1">
                <a:latin typeface="Atkinson Hyperlegible"/>
              </a:rPr>
              <a:t>Regulations</a:t>
            </a:r>
            <a:r>
              <a:rPr lang="es-CL" sz="2400" noProof="0" dirty="0">
                <a:latin typeface="Atkinson Hyperlegible"/>
              </a:rPr>
              <a:t> (Ed. 2024</a:t>
            </a:r>
            <a:r>
              <a:rPr lang="es-CL" sz="2400" noProof="0" dirty="0"/>
              <a:t>)</a:t>
            </a:r>
          </a:p>
          <a:p>
            <a:r>
              <a:rPr lang="es-CL" sz="2400" b="1" noProof="0" dirty="0" err="1"/>
              <a:t>Article</a:t>
            </a:r>
            <a:r>
              <a:rPr lang="es-CL" sz="2400" b="1" noProof="0" dirty="0"/>
              <a:t> 5 – Table </a:t>
            </a:r>
            <a:r>
              <a:rPr lang="es-CL" sz="2400" b="1" noProof="0" dirty="0" err="1"/>
              <a:t>of</a:t>
            </a:r>
            <a:r>
              <a:rPr lang="es-CL" sz="2400" b="1" noProof="0" dirty="0"/>
              <a:t> </a:t>
            </a:r>
            <a:r>
              <a:rPr lang="es-CL" sz="2400" b="1" noProof="0" dirty="0" err="1"/>
              <a:t>Frequency</a:t>
            </a:r>
            <a:r>
              <a:rPr lang="es-CL" sz="2400" b="1" noProof="0" dirty="0"/>
              <a:t> </a:t>
            </a:r>
            <a:r>
              <a:rPr lang="es-CL" sz="2400" b="1" noProof="0" dirty="0" err="1"/>
              <a:t>Allocations</a:t>
            </a:r>
            <a:r>
              <a:rPr lang="es-CL" sz="2400" b="1" noProof="0" dirty="0"/>
              <a:t>”</a:t>
            </a:r>
            <a:r>
              <a:rPr lang="es-CL" sz="2400" noProof="0" dirty="0"/>
              <a:t> (Tabla de atribución de frecuencias).</a:t>
            </a:r>
            <a:endParaRPr lang="es-CL" sz="2400" noProof="0" dirty="0">
              <a:latin typeface="Atkinson Hyperlegible"/>
            </a:endParaRPr>
          </a:p>
        </p:txBody>
      </p:sp>
      <p:pic>
        <p:nvPicPr>
          <p:cNvPr id="3074" name="Picture 2" descr="undefined">
            <a:extLst>
              <a:ext uri="{FF2B5EF4-FFF2-40B4-BE49-F238E27FC236}">
                <a16:creationId xmlns:a16="http://schemas.microsoft.com/office/drawing/2014/main" id="{25F09A5D-2A49-ACDE-E361-19AD271941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756" y="1879963"/>
            <a:ext cx="19950344" cy="6109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9452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05EC53F-FF85-730C-C6A4-DBB3B7F577DB}"/>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E09884E4-5929-BD76-E448-94B79A724C8E}"/>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3FEAD76C-1C68-0CA8-9D4E-2789F9454808}"/>
              </a:ext>
            </a:extLst>
          </p:cNvPr>
          <p:cNvSpPr txBox="1"/>
          <p:nvPr/>
        </p:nvSpPr>
        <p:spPr>
          <a:xfrm>
            <a:off x="1382157" y="-44605"/>
            <a:ext cx="18277439" cy="1609928"/>
          </a:xfrm>
          <a:prstGeom prst="rect">
            <a:avLst/>
          </a:prstGeom>
          <a:noFill/>
        </p:spPr>
        <p:txBody>
          <a:bodyPr vert="horz" wrap="square" lIns="0" tIns="349885" rIns="0" bIns="0" rtlCol="0">
            <a:spAutoFit/>
          </a:bodyPr>
          <a:lstStyle/>
          <a:p>
            <a:r>
              <a:rPr lang="es-CL" sz="4400" b="1" noProof="0" dirty="0">
                <a:latin typeface="Atkinson Hyperlegible" pitchFamily="2" charset="77"/>
              </a:rPr>
              <a:t>INTRODUCCIÓN A LA PROPAGACIÓN DE ONDAS DE RADIO</a:t>
            </a:r>
          </a:p>
          <a:p>
            <a:pPr>
              <a:lnSpc>
                <a:spcPct val="150000"/>
              </a:lnSpc>
            </a:pP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FEDD59D0-FAA2-77AB-02CD-FACCCEB759F1}"/>
              </a:ext>
            </a:extLst>
          </p:cNvPr>
          <p:cNvSpPr txBox="1"/>
          <p:nvPr/>
        </p:nvSpPr>
        <p:spPr>
          <a:xfrm>
            <a:off x="1382157" y="898721"/>
            <a:ext cx="17055745" cy="707886"/>
          </a:xfrm>
          <a:prstGeom prst="rect">
            <a:avLst/>
          </a:prstGeom>
          <a:noFill/>
        </p:spPr>
        <p:txBody>
          <a:bodyPr wrap="square">
            <a:spAutoFit/>
          </a:bodyPr>
          <a:lstStyle/>
          <a:p>
            <a:r>
              <a:rPr lang="es-CL" sz="4000" noProof="0" dirty="0">
                <a:latin typeface="Atkinson Hyperlegible"/>
              </a:rPr>
              <a:t>Espectro electromagnético y concepto de bandas</a:t>
            </a:r>
          </a:p>
        </p:txBody>
      </p:sp>
      <p:sp>
        <p:nvSpPr>
          <p:cNvPr id="10" name="CuadroTexto 9">
            <a:extLst>
              <a:ext uri="{FF2B5EF4-FFF2-40B4-BE49-F238E27FC236}">
                <a16:creationId xmlns:a16="http://schemas.microsoft.com/office/drawing/2014/main" id="{DA5B0B2F-1B4E-F5B5-8281-5602099426FB}"/>
              </a:ext>
            </a:extLst>
          </p:cNvPr>
          <p:cNvSpPr txBox="1"/>
          <p:nvPr/>
        </p:nvSpPr>
        <p:spPr>
          <a:xfrm>
            <a:off x="921616" y="8840969"/>
            <a:ext cx="10785701" cy="1200329"/>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noProof="0" dirty="0" err="1">
                <a:latin typeface="Atkinson Hyperlegible"/>
              </a:rPr>
              <a:t>ITU</a:t>
            </a:r>
            <a:r>
              <a:rPr lang="es-CL" sz="2400" noProof="0" dirty="0">
                <a:latin typeface="Atkinson Hyperlegible"/>
              </a:rPr>
              <a:t> Radio </a:t>
            </a:r>
            <a:r>
              <a:rPr lang="es-CL" sz="2400" noProof="0" dirty="0" err="1">
                <a:latin typeface="Atkinson Hyperlegible"/>
              </a:rPr>
              <a:t>Regulations</a:t>
            </a:r>
            <a:r>
              <a:rPr lang="es-CL" sz="2400" noProof="0" dirty="0">
                <a:latin typeface="Atkinson Hyperlegible"/>
              </a:rPr>
              <a:t> (Ed. 2024</a:t>
            </a:r>
            <a:r>
              <a:rPr lang="es-CL" sz="2400" noProof="0" dirty="0"/>
              <a:t>)</a:t>
            </a:r>
          </a:p>
          <a:p>
            <a:r>
              <a:rPr lang="es-CL" sz="2400" b="1" noProof="0" dirty="0" err="1"/>
              <a:t>Article</a:t>
            </a:r>
            <a:r>
              <a:rPr lang="es-CL" sz="2400" b="1" noProof="0" dirty="0"/>
              <a:t> 5 – Table </a:t>
            </a:r>
            <a:r>
              <a:rPr lang="es-CL" sz="2400" b="1" noProof="0" dirty="0" err="1"/>
              <a:t>of</a:t>
            </a:r>
            <a:r>
              <a:rPr lang="es-CL" sz="2400" b="1" noProof="0" dirty="0"/>
              <a:t> </a:t>
            </a:r>
            <a:r>
              <a:rPr lang="es-CL" sz="2400" b="1" noProof="0" dirty="0" err="1"/>
              <a:t>Frequency</a:t>
            </a:r>
            <a:r>
              <a:rPr lang="es-CL" sz="2400" b="1" noProof="0" dirty="0"/>
              <a:t> </a:t>
            </a:r>
            <a:r>
              <a:rPr lang="es-CL" sz="2400" b="1" noProof="0" dirty="0" err="1"/>
              <a:t>Allocations</a:t>
            </a:r>
            <a:r>
              <a:rPr lang="es-CL" sz="2400" b="1" noProof="0" dirty="0"/>
              <a:t>”</a:t>
            </a:r>
            <a:r>
              <a:rPr lang="es-CL" sz="2400" noProof="0" dirty="0"/>
              <a:t> (Tabla de atribución de frecuencias).</a:t>
            </a:r>
            <a:endParaRPr lang="es-CL" sz="2400" noProof="0" dirty="0">
              <a:latin typeface="Atkinson Hyperlegible"/>
            </a:endParaRPr>
          </a:p>
        </p:txBody>
      </p:sp>
      <p:pic>
        <p:nvPicPr>
          <p:cNvPr id="3" name="Imagen 2">
            <a:extLst>
              <a:ext uri="{FF2B5EF4-FFF2-40B4-BE49-F238E27FC236}">
                <a16:creationId xmlns:a16="http://schemas.microsoft.com/office/drawing/2014/main" id="{3BB7B409-9620-4385-0DCE-43FB8F546F54}"/>
              </a:ext>
            </a:extLst>
          </p:cNvPr>
          <p:cNvPicPr>
            <a:picLocks noChangeAspect="1"/>
          </p:cNvPicPr>
          <p:nvPr/>
        </p:nvPicPr>
        <p:blipFill>
          <a:blip r:embed="rId4"/>
          <a:stretch>
            <a:fillRect/>
          </a:stretch>
        </p:blipFill>
        <p:spPr>
          <a:xfrm>
            <a:off x="4152276" y="1847758"/>
            <a:ext cx="12937855" cy="7266261"/>
          </a:xfrm>
          <a:prstGeom prst="rect">
            <a:avLst/>
          </a:prstGeom>
        </p:spPr>
      </p:pic>
    </p:spTree>
    <p:extLst>
      <p:ext uri="{BB962C8B-B14F-4D97-AF65-F5344CB8AC3E}">
        <p14:creationId xmlns:p14="http://schemas.microsoft.com/office/powerpoint/2010/main" val="1747004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38C67EF-22DA-93ED-5EBD-7A9BB0DC4AFC}"/>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4350B448-2DD9-41A6-8AEF-85A28F9CEA23}"/>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72C0CDB5-C2BA-894E-1522-54E654298E67}"/>
              </a:ext>
            </a:extLst>
          </p:cNvPr>
          <p:cNvSpPr txBox="1"/>
          <p:nvPr/>
        </p:nvSpPr>
        <p:spPr>
          <a:xfrm>
            <a:off x="1382157" y="-44605"/>
            <a:ext cx="18277439" cy="1609928"/>
          </a:xfrm>
          <a:prstGeom prst="rect">
            <a:avLst/>
          </a:prstGeom>
          <a:noFill/>
        </p:spPr>
        <p:txBody>
          <a:bodyPr vert="horz" wrap="square" lIns="0" tIns="349885" rIns="0" bIns="0" rtlCol="0">
            <a:spAutoFit/>
          </a:bodyPr>
          <a:lstStyle/>
          <a:p>
            <a:r>
              <a:rPr lang="es-CL" sz="4400" b="1" noProof="0" dirty="0">
                <a:latin typeface="Atkinson Hyperlegible" pitchFamily="2" charset="77"/>
              </a:rPr>
              <a:t>BANDAS DE FRECUENCIAS</a:t>
            </a:r>
          </a:p>
          <a:p>
            <a:pPr>
              <a:lnSpc>
                <a:spcPct val="150000"/>
              </a:lnSpc>
            </a:pP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B24BDD40-6108-9537-3E62-2E807BD383FB}"/>
              </a:ext>
            </a:extLst>
          </p:cNvPr>
          <p:cNvSpPr txBox="1"/>
          <p:nvPr/>
        </p:nvSpPr>
        <p:spPr>
          <a:xfrm>
            <a:off x="1382157" y="898721"/>
            <a:ext cx="17055745" cy="707886"/>
          </a:xfrm>
          <a:prstGeom prst="rect">
            <a:avLst/>
          </a:prstGeom>
          <a:noFill/>
        </p:spPr>
        <p:txBody>
          <a:bodyPr wrap="square">
            <a:spAutoFit/>
          </a:bodyPr>
          <a:lstStyle/>
          <a:p>
            <a:r>
              <a:rPr lang="es-CL" sz="4000" noProof="0" dirty="0">
                <a:latin typeface="Atkinson Hyperlegible"/>
              </a:rPr>
              <a:t>Espectro electromagnético y concepto de bandas</a:t>
            </a:r>
          </a:p>
        </p:txBody>
      </p:sp>
      <p:sp>
        <p:nvSpPr>
          <p:cNvPr id="10" name="CuadroTexto 9">
            <a:extLst>
              <a:ext uri="{FF2B5EF4-FFF2-40B4-BE49-F238E27FC236}">
                <a16:creationId xmlns:a16="http://schemas.microsoft.com/office/drawing/2014/main" id="{69394D7A-958A-A034-DFBF-B1FA7FEF3E5A}"/>
              </a:ext>
            </a:extLst>
          </p:cNvPr>
          <p:cNvSpPr txBox="1"/>
          <p:nvPr/>
        </p:nvSpPr>
        <p:spPr>
          <a:xfrm>
            <a:off x="921616" y="8840969"/>
            <a:ext cx="10785701" cy="1200329"/>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noProof="0" dirty="0" err="1">
                <a:latin typeface="Atkinson Hyperlegible"/>
              </a:rPr>
              <a:t>ITU</a:t>
            </a:r>
            <a:r>
              <a:rPr lang="es-CL" sz="2400" noProof="0" dirty="0">
                <a:latin typeface="Atkinson Hyperlegible"/>
              </a:rPr>
              <a:t> Radio </a:t>
            </a:r>
            <a:r>
              <a:rPr lang="es-CL" sz="2400" noProof="0" dirty="0" err="1">
                <a:latin typeface="Atkinson Hyperlegible"/>
              </a:rPr>
              <a:t>Regulations</a:t>
            </a:r>
            <a:r>
              <a:rPr lang="es-CL" sz="2400" noProof="0" dirty="0">
                <a:latin typeface="Atkinson Hyperlegible"/>
              </a:rPr>
              <a:t> (Ed. 2024</a:t>
            </a:r>
            <a:r>
              <a:rPr lang="es-CL" sz="2400" noProof="0" dirty="0"/>
              <a:t>)</a:t>
            </a:r>
          </a:p>
          <a:p>
            <a:r>
              <a:rPr lang="es-CL" sz="2400" b="1" noProof="0" dirty="0" err="1"/>
              <a:t>Article</a:t>
            </a:r>
            <a:r>
              <a:rPr lang="es-CL" sz="2400" b="1" noProof="0" dirty="0"/>
              <a:t> 5 – Table </a:t>
            </a:r>
            <a:r>
              <a:rPr lang="es-CL" sz="2400" b="1" noProof="0" dirty="0" err="1"/>
              <a:t>of</a:t>
            </a:r>
            <a:r>
              <a:rPr lang="es-CL" sz="2400" b="1" noProof="0" dirty="0"/>
              <a:t> </a:t>
            </a:r>
            <a:r>
              <a:rPr lang="es-CL" sz="2400" b="1" noProof="0" dirty="0" err="1"/>
              <a:t>Frequency</a:t>
            </a:r>
            <a:r>
              <a:rPr lang="es-CL" sz="2400" b="1" noProof="0" dirty="0"/>
              <a:t> </a:t>
            </a:r>
            <a:r>
              <a:rPr lang="es-CL" sz="2400" b="1" noProof="0" dirty="0" err="1"/>
              <a:t>Allocations</a:t>
            </a:r>
            <a:r>
              <a:rPr lang="es-CL" sz="2400" b="1" noProof="0" dirty="0"/>
              <a:t>”</a:t>
            </a:r>
            <a:r>
              <a:rPr lang="es-CL" sz="2400" noProof="0" dirty="0"/>
              <a:t> (Tabla de atribución de frecuencias).</a:t>
            </a:r>
            <a:endParaRPr lang="es-CL" sz="2400" noProof="0" dirty="0">
              <a:latin typeface="Atkinson Hyperlegible"/>
            </a:endParaRPr>
          </a:p>
        </p:txBody>
      </p:sp>
      <p:sp>
        <p:nvSpPr>
          <p:cNvPr id="17" name="5 Rectángulo">
            <a:extLst>
              <a:ext uri="{FF2B5EF4-FFF2-40B4-BE49-F238E27FC236}">
                <a16:creationId xmlns:a16="http://schemas.microsoft.com/office/drawing/2014/main" id="{62F43875-E01E-EB7A-722F-B9954DDC313E}"/>
              </a:ext>
            </a:extLst>
          </p:cNvPr>
          <p:cNvSpPr/>
          <p:nvPr/>
        </p:nvSpPr>
        <p:spPr>
          <a:xfrm>
            <a:off x="1233601" y="2001996"/>
            <a:ext cx="18628366" cy="5570756"/>
          </a:xfrm>
          <a:prstGeom prst="rect">
            <a:avLst/>
          </a:prstGeom>
          <a:noFill/>
          <a:effectLst/>
        </p:spPr>
        <p:txBody>
          <a:bodyPr wrap="square" lIns="91440" tIns="45720" rIns="91440" bIns="45720" anchor="t">
            <a:spAutoFit/>
          </a:bodyPr>
          <a:lstStyle/>
          <a:p>
            <a:pPr marL="571500" indent="-571500" algn="just">
              <a:buFont typeface="Arial" panose="020B0604020202020204" pitchFamily="34" charset="0"/>
              <a:buChar char="•"/>
            </a:pPr>
            <a:r>
              <a:rPr lang="es-CL" sz="3200" noProof="0" dirty="0">
                <a:latin typeface="Atkinson Hyperlegible"/>
              </a:rPr>
              <a:t>La frecuencia condiciona cómo se propaga una señal y qué tan sensible es al entorno.</a:t>
            </a:r>
          </a:p>
          <a:p>
            <a:pPr marL="571500" indent="-571500" algn="just">
              <a:buFont typeface="Arial" panose="020B0604020202020204" pitchFamily="34" charset="0"/>
              <a:buChar char="•"/>
            </a:pPr>
            <a:r>
              <a:rPr lang="es-CL" sz="3200" noProof="0" dirty="0">
                <a:latin typeface="Atkinson Hyperlegible"/>
              </a:rPr>
              <a:t>En términos generales:</a:t>
            </a:r>
          </a:p>
          <a:p>
            <a:pPr algn="just"/>
            <a:r>
              <a:rPr lang="es-CL" sz="3200" noProof="0" dirty="0">
                <a:latin typeface="Atkinson Hyperlegible"/>
              </a:rPr>
              <a:t>Frecuencias más bajas → mayor “alcance potencial” y mejor comportamiento frente a algunos obstáculos (según condiciones).</a:t>
            </a:r>
          </a:p>
          <a:p>
            <a:pPr algn="just"/>
            <a:r>
              <a:rPr lang="es-CL" sz="3200" noProof="0" dirty="0">
                <a:latin typeface="Atkinson Hyperlegible"/>
              </a:rPr>
              <a:t>Frecuencias más altas → más capacidad potencial, pero mayor exigencia de línea de vista y planificación del enlace.</a:t>
            </a:r>
          </a:p>
          <a:p>
            <a:pPr marL="457200" indent="-457200" algn="just">
              <a:buFont typeface="Arial" panose="020B0604020202020204" pitchFamily="34" charset="0"/>
              <a:buChar char="•"/>
            </a:pPr>
            <a:r>
              <a:rPr lang="es-CL" sz="3200" noProof="0" dirty="0">
                <a:latin typeface="Atkinson Hyperlegible"/>
              </a:rPr>
              <a:t> La frecuencia influye en: alcance, penetración/obstáculos, interferencias, y tamaño práctico de antenas.</a:t>
            </a:r>
          </a:p>
          <a:p>
            <a:pPr marL="457200" indent="-457200" algn="just">
              <a:buFont typeface="Arial" panose="020B0604020202020204" pitchFamily="34" charset="0"/>
              <a:buChar char="•"/>
            </a:pPr>
            <a:r>
              <a:rPr lang="es-CL" sz="3200" noProof="0" dirty="0">
                <a:latin typeface="Atkinson Hyperlegible"/>
              </a:rPr>
              <a:t> Por eso el espectro se organiza en bandas para asignar usos adecuados y controlar interferencias.</a:t>
            </a:r>
          </a:p>
          <a:p>
            <a:pPr marL="457200" indent="-457200" algn="just">
              <a:buFont typeface="Arial" panose="020B0604020202020204" pitchFamily="34" charset="0"/>
              <a:buChar char="•"/>
            </a:pPr>
            <a:r>
              <a:rPr lang="es-CL" sz="3200" noProof="0" dirty="0">
                <a:latin typeface="Atkinson Hyperlegible"/>
              </a:rPr>
              <a:t> Ejemplos del curso: HF/</a:t>
            </a:r>
            <a:r>
              <a:rPr lang="es-CL" sz="3200" noProof="0" dirty="0" err="1">
                <a:latin typeface="Atkinson Hyperlegible"/>
              </a:rPr>
              <a:t>VHF</a:t>
            </a:r>
            <a:r>
              <a:rPr lang="es-CL" sz="3200" noProof="0" dirty="0">
                <a:latin typeface="Atkinson Hyperlegible"/>
              </a:rPr>
              <a:t>/</a:t>
            </a:r>
            <a:r>
              <a:rPr lang="es-CL" sz="3200" noProof="0" dirty="0" err="1">
                <a:latin typeface="Atkinson Hyperlegible"/>
              </a:rPr>
              <a:t>UHF</a:t>
            </a:r>
            <a:r>
              <a:rPr lang="es-CL" sz="3200" noProof="0" dirty="0">
                <a:latin typeface="Atkinson Hyperlegible"/>
              </a:rPr>
              <a:t>, microondas, enlaces LAN/MAN/WAN.</a:t>
            </a:r>
          </a:p>
          <a:p>
            <a:pPr marL="457200" indent="-457200" algn="just">
              <a:buFont typeface="Arial" panose="020B0604020202020204" pitchFamily="34" charset="0"/>
              <a:buChar char="•"/>
            </a:pPr>
            <a:endParaRPr lang="es-CL" sz="3200" b="1" noProof="0" dirty="0">
              <a:latin typeface="Atkinson Hyperlegible"/>
            </a:endParaRPr>
          </a:p>
          <a:p>
            <a:pPr algn="ctr"/>
            <a:r>
              <a:rPr lang="es-CL" sz="3600" b="1" noProof="0" dirty="0">
                <a:latin typeface="Atkinson Hyperlegible"/>
              </a:rPr>
              <a:t>La banda seleccionada determina el comportamiento del enlace y la estrategia de diseño.</a:t>
            </a:r>
            <a:endParaRPr lang="es-CL" sz="3600" noProof="0" dirty="0">
              <a:latin typeface="Atkinson Hyperlegible"/>
            </a:endParaRPr>
          </a:p>
        </p:txBody>
      </p:sp>
    </p:spTree>
    <p:extLst>
      <p:ext uri="{BB962C8B-B14F-4D97-AF65-F5344CB8AC3E}">
        <p14:creationId xmlns:p14="http://schemas.microsoft.com/office/powerpoint/2010/main" val="2690506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552C0C8-23F8-3658-D118-0254E2DD2818}"/>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F5393162-0BB1-1F50-D2FC-C7951E6930C5}"/>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CF4F52FB-26B3-3A1A-379E-B956861FA07D}"/>
              </a:ext>
            </a:extLst>
          </p:cNvPr>
          <p:cNvSpPr txBox="1"/>
          <p:nvPr/>
        </p:nvSpPr>
        <p:spPr>
          <a:xfrm>
            <a:off x="1382157" y="-44605"/>
            <a:ext cx="18277439" cy="1609928"/>
          </a:xfrm>
          <a:prstGeom prst="rect">
            <a:avLst/>
          </a:prstGeom>
          <a:noFill/>
        </p:spPr>
        <p:txBody>
          <a:bodyPr vert="horz" wrap="square" lIns="0" tIns="349885" rIns="0" bIns="0" rtlCol="0">
            <a:spAutoFit/>
          </a:bodyPr>
          <a:lstStyle/>
          <a:p>
            <a:r>
              <a:rPr lang="es-CL" sz="4400" b="1" noProof="0" dirty="0">
                <a:latin typeface="Atkinson Hyperlegible" pitchFamily="2" charset="77"/>
              </a:rPr>
              <a:t>BANDAS DE FRECUENCIAS</a:t>
            </a:r>
          </a:p>
          <a:p>
            <a:pPr>
              <a:lnSpc>
                <a:spcPct val="150000"/>
              </a:lnSpc>
            </a:pP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9715A420-942A-1822-A528-2EC59DFC80E6}"/>
              </a:ext>
            </a:extLst>
          </p:cNvPr>
          <p:cNvSpPr txBox="1"/>
          <p:nvPr/>
        </p:nvSpPr>
        <p:spPr>
          <a:xfrm>
            <a:off x="1382157" y="898721"/>
            <a:ext cx="17055745" cy="707886"/>
          </a:xfrm>
          <a:prstGeom prst="rect">
            <a:avLst/>
          </a:prstGeom>
          <a:noFill/>
        </p:spPr>
        <p:txBody>
          <a:bodyPr wrap="square">
            <a:spAutoFit/>
          </a:bodyPr>
          <a:lstStyle/>
          <a:p>
            <a:r>
              <a:rPr lang="es-CL" sz="4000" noProof="0" dirty="0">
                <a:latin typeface="Atkinson Hyperlegible"/>
              </a:rPr>
              <a:t>Espectro electromagnético y concepto de bandas</a:t>
            </a:r>
          </a:p>
        </p:txBody>
      </p:sp>
      <p:sp>
        <p:nvSpPr>
          <p:cNvPr id="10" name="CuadroTexto 9">
            <a:extLst>
              <a:ext uri="{FF2B5EF4-FFF2-40B4-BE49-F238E27FC236}">
                <a16:creationId xmlns:a16="http://schemas.microsoft.com/office/drawing/2014/main" id="{947E0559-E6E7-8539-377E-9F45C14F0FBA}"/>
              </a:ext>
            </a:extLst>
          </p:cNvPr>
          <p:cNvSpPr txBox="1"/>
          <p:nvPr/>
        </p:nvSpPr>
        <p:spPr>
          <a:xfrm>
            <a:off x="921616" y="8840969"/>
            <a:ext cx="10785701" cy="1200329"/>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noProof="0" dirty="0" err="1">
                <a:latin typeface="Atkinson Hyperlegible"/>
              </a:rPr>
              <a:t>ITU</a:t>
            </a:r>
            <a:r>
              <a:rPr lang="es-CL" sz="2400" noProof="0" dirty="0">
                <a:latin typeface="Atkinson Hyperlegible"/>
              </a:rPr>
              <a:t> Radio </a:t>
            </a:r>
            <a:r>
              <a:rPr lang="es-CL" sz="2400" noProof="0" dirty="0" err="1">
                <a:latin typeface="Atkinson Hyperlegible"/>
              </a:rPr>
              <a:t>Regulations</a:t>
            </a:r>
            <a:r>
              <a:rPr lang="es-CL" sz="2400" noProof="0" dirty="0">
                <a:latin typeface="Atkinson Hyperlegible"/>
              </a:rPr>
              <a:t> (Ed. 2024</a:t>
            </a:r>
            <a:r>
              <a:rPr lang="es-CL" sz="2400" noProof="0" dirty="0"/>
              <a:t>)</a:t>
            </a:r>
          </a:p>
          <a:p>
            <a:r>
              <a:rPr lang="es-CL" sz="2400" b="1" noProof="0" dirty="0" err="1"/>
              <a:t>Article</a:t>
            </a:r>
            <a:r>
              <a:rPr lang="es-CL" sz="2400" b="1" noProof="0" dirty="0"/>
              <a:t> 5 – Table </a:t>
            </a:r>
            <a:r>
              <a:rPr lang="es-CL" sz="2400" b="1" noProof="0" dirty="0" err="1"/>
              <a:t>of</a:t>
            </a:r>
            <a:r>
              <a:rPr lang="es-CL" sz="2400" b="1" noProof="0" dirty="0"/>
              <a:t> </a:t>
            </a:r>
            <a:r>
              <a:rPr lang="es-CL" sz="2400" b="1" noProof="0" dirty="0" err="1"/>
              <a:t>Frequency</a:t>
            </a:r>
            <a:r>
              <a:rPr lang="es-CL" sz="2400" b="1" noProof="0" dirty="0"/>
              <a:t> </a:t>
            </a:r>
            <a:r>
              <a:rPr lang="es-CL" sz="2400" b="1" noProof="0" dirty="0" err="1"/>
              <a:t>Allocations</a:t>
            </a:r>
            <a:r>
              <a:rPr lang="es-CL" sz="2400" b="1" noProof="0" dirty="0"/>
              <a:t>”</a:t>
            </a:r>
            <a:r>
              <a:rPr lang="es-CL" sz="2400" noProof="0" dirty="0"/>
              <a:t> (Tabla de atribución de frecuencias).</a:t>
            </a:r>
            <a:endParaRPr lang="es-CL" sz="2400" noProof="0" dirty="0">
              <a:latin typeface="Atkinson Hyperlegible"/>
            </a:endParaRPr>
          </a:p>
        </p:txBody>
      </p:sp>
      <p:pic>
        <p:nvPicPr>
          <p:cNvPr id="9218" name="Picture 2" descr="Ondas de radio y antenas: una explicación práctica">
            <a:extLst>
              <a:ext uri="{FF2B5EF4-FFF2-40B4-BE49-F238E27FC236}">
                <a16:creationId xmlns:a16="http://schemas.microsoft.com/office/drawing/2014/main" id="{7178063D-85AC-5D1A-8057-FA04A72D29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450" y="2657083"/>
            <a:ext cx="9941755" cy="554588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9220" name="Picture 4" descr="Onda Electromagnética - Composición y Polarización - Electrónica Unicrom">
            <a:extLst>
              <a:ext uri="{FF2B5EF4-FFF2-40B4-BE49-F238E27FC236}">
                <a16:creationId xmlns:a16="http://schemas.microsoft.com/office/drawing/2014/main" id="{4047CB53-A5C8-7A72-88A6-C776C31347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37098" y="2657082"/>
            <a:ext cx="9115021" cy="554588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5277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1488CCF-BBD5-8F47-36CC-A41B9AE297D1}"/>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1D66B8D2-1F13-A8B5-6E86-C006456AAB49}"/>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DD041771-A9AE-5A9E-861E-64C8B6A1C2EB}"/>
              </a:ext>
            </a:extLst>
          </p:cNvPr>
          <p:cNvSpPr txBox="1"/>
          <p:nvPr/>
        </p:nvSpPr>
        <p:spPr>
          <a:xfrm>
            <a:off x="1382157" y="-44605"/>
            <a:ext cx="18277439" cy="1609928"/>
          </a:xfrm>
          <a:prstGeom prst="rect">
            <a:avLst/>
          </a:prstGeom>
          <a:noFill/>
        </p:spPr>
        <p:txBody>
          <a:bodyPr vert="horz" wrap="square" lIns="0" tIns="349885" rIns="0" bIns="0" rtlCol="0">
            <a:spAutoFit/>
          </a:bodyPr>
          <a:lstStyle/>
          <a:p>
            <a:r>
              <a:rPr lang="es-CL" sz="4400" b="1" noProof="0" dirty="0">
                <a:latin typeface="Atkinson Hyperlegible" pitchFamily="2" charset="77"/>
              </a:rPr>
              <a:t>BANDAS DE FRECUENCIAS</a:t>
            </a:r>
          </a:p>
          <a:p>
            <a:pPr>
              <a:lnSpc>
                <a:spcPct val="150000"/>
              </a:lnSpc>
            </a:pP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286123E7-9D46-57F2-24DB-C274E0B30DE4}"/>
              </a:ext>
            </a:extLst>
          </p:cNvPr>
          <p:cNvSpPr txBox="1"/>
          <p:nvPr/>
        </p:nvSpPr>
        <p:spPr>
          <a:xfrm>
            <a:off x="1382157" y="898721"/>
            <a:ext cx="17055745" cy="707886"/>
          </a:xfrm>
          <a:prstGeom prst="rect">
            <a:avLst/>
          </a:prstGeom>
          <a:noFill/>
        </p:spPr>
        <p:txBody>
          <a:bodyPr wrap="square">
            <a:spAutoFit/>
          </a:bodyPr>
          <a:lstStyle/>
          <a:p>
            <a:r>
              <a:rPr lang="es-CL" sz="4000" noProof="0" dirty="0"/>
              <a:t>Bandas de frecuencia relevantes</a:t>
            </a:r>
            <a:endParaRPr lang="es-CL" sz="4000" noProof="0" dirty="0">
              <a:latin typeface="Atkinson Hyperlegible"/>
            </a:endParaRPr>
          </a:p>
        </p:txBody>
      </p:sp>
      <p:sp>
        <p:nvSpPr>
          <p:cNvPr id="10" name="CuadroTexto 9">
            <a:extLst>
              <a:ext uri="{FF2B5EF4-FFF2-40B4-BE49-F238E27FC236}">
                <a16:creationId xmlns:a16="http://schemas.microsoft.com/office/drawing/2014/main" id="{7491F495-807E-FCB9-4134-6B3678A5D1EF}"/>
              </a:ext>
            </a:extLst>
          </p:cNvPr>
          <p:cNvSpPr txBox="1"/>
          <p:nvPr/>
        </p:nvSpPr>
        <p:spPr>
          <a:xfrm>
            <a:off x="921616" y="8840969"/>
            <a:ext cx="10785701" cy="1200329"/>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noProof="0" dirty="0" err="1">
                <a:latin typeface="Atkinson Hyperlegible"/>
              </a:rPr>
              <a:t>ITU</a:t>
            </a:r>
            <a:r>
              <a:rPr lang="es-CL" sz="2400" noProof="0" dirty="0">
                <a:latin typeface="Atkinson Hyperlegible"/>
              </a:rPr>
              <a:t> Radio </a:t>
            </a:r>
            <a:r>
              <a:rPr lang="es-CL" sz="2400" noProof="0" dirty="0" err="1">
                <a:latin typeface="Atkinson Hyperlegible"/>
              </a:rPr>
              <a:t>Regulations</a:t>
            </a:r>
            <a:r>
              <a:rPr lang="es-CL" sz="2400" noProof="0" dirty="0">
                <a:latin typeface="Atkinson Hyperlegible"/>
              </a:rPr>
              <a:t> (Ed. 2024</a:t>
            </a:r>
            <a:r>
              <a:rPr lang="es-CL" sz="2400" noProof="0" dirty="0"/>
              <a:t>)</a:t>
            </a:r>
          </a:p>
          <a:p>
            <a:r>
              <a:rPr lang="es-CL" sz="2400" b="1" noProof="0" dirty="0" err="1"/>
              <a:t>Article</a:t>
            </a:r>
            <a:r>
              <a:rPr lang="es-CL" sz="2400" b="1" noProof="0" dirty="0"/>
              <a:t> 5 – Table </a:t>
            </a:r>
            <a:r>
              <a:rPr lang="es-CL" sz="2400" b="1" noProof="0" dirty="0" err="1"/>
              <a:t>of</a:t>
            </a:r>
            <a:r>
              <a:rPr lang="es-CL" sz="2400" b="1" noProof="0" dirty="0"/>
              <a:t> </a:t>
            </a:r>
            <a:r>
              <a:rPr lang="es-CL" sz="2400" b="1" noProof="0" dirty="0" err="1"/>
              <a:t>Frequency</a:t>
            </a:r>
            <a:r>
              <a:rPr lang="es-CL" sz="2400" b="1" noProof="0" dirty="0"/>
              <a:t> </a:t>
            </a:r>
            <a:r>
              <a:rPr lang="es-CL" sz="2400" b="1" noProof="0" dirty="0" err="1"/>
              <a:t>Allocations</a:t>
            </a:r>
            <a:r>
              <a:rPr lang="es-CL" sz="2400" b="1" noProof="0" dirty="0"/>
              <a:t>”</a:t>
            </a:r>
            <a:r>
              <a:rPr lang="es-CL" sz="2400" noProof="0" dirty="0"/>
              <a:t> (Tabla de atribución de frecuencias).</a:t>
            </a:r>
            <a:endParaRPr lang="es-CL" sz="2400" noProof="0" dirty="0">
              <a:latin typeface="Atkinson Hyperlegible"/>
            </a:endParaRPr>
          </a:p>
        </p:txBody>
      </p:sp>
      <p:sp>
        <p:nvSpPr>
          <p:cNvPr id="17" name="5 Rectángulo">
            <a:extLst>
              <a:ext uri="{FF2B5EF4-FFF2-40B4-BE49-F238E27FC236}">
                <a16:creationId xmlns:a16="http://schemas.microsoft.com/office/drawing/2014/main" id="{F0AE6BF5-FD64-755B-A40E-DA43EADC2F58}"/>
              </a:ext>
            </a:extLst>
          </p:cNvPr>
          <p:cNvSpPr/>
          <p:nvPr/>
        </p:nvSpPr>
        <p:spPr>
          <a:xfrm>
            <a:off x="1206693" y="2549933"/>
            <a:ext cx="18628366" cy="3600986"/>
          </a:xfrm>
          <a:prstGeom prst="rect">
            <a:avLst/>
          </a:prstGeom>
          <a:noFill/>
          <a:effectLst/>
        </p:spPr>
        <p:txBody>
          <a:bodyPr wrap="square" lIns="91440" tIns="45720" rIns="91440" bIns="45720" anchor="t">
            <a:spAutoFit/>
          </a:bodyPr>
          <a:lstStyle/>
          <a:p>
            <a:pPr marL="571500" indent="-571500" algn="just">
              <a:buFont typeface="Arial" panose="020B0604020202020204" pitchFamily="34" charset="0"/>
              <a:buChar char="•"/>
            </a:pPr>
            <a:r>
              <a:rPr lang="es-CL" sz="3200" noProof="0" dirty="0">
                <a:latin typeface="Atkinson Hyperlegible"/>
              </a:rPr>
              <a:t>El espectro RF se organiza en bandas para atribuir servicios y reducir interferencias.</a:t>
            </a:r>
          </a:p>
          <a:p>
            <a:pPr marL="571500" indent="-571500" algn="just">
              <a:buFont typeface="Arial" panose="020B0604020202020204" pitchFamily="34" charset="0"/>
              <a:buChar char="•"/>
            </a:pPr>
            <a:r>
              <a:rPr lang="es-CL" sz="3200" noProof="0" dirty="0">
                <a:latin typeface="Atkinson Hyperlegible"/>
              </a:rPr>
              <a:t>Trabajaremos principalmente con: HF, </a:t>
            </a:r>
            <a:r>
              <a:rPr lang="es-CL" sz="3200" noProof="0" dirty="0" err="1">
                <a:latin typeface="Atkinson Hyperlegible"/>
              </a:rPr>
              <a:t>VHF</a:t>
            </a:r>
            <a:r>
              <a:rPr lang="es-CL" sz="3200" noProof="0" dirty="0">
                <a:latin typeface="Atkinson Hyperlegible"/>
              </a:rPr>
              <a:t>, </a:t>
            </a:r>
            <a:r>
              <a:rPr lang="es-CL" sz="3200" noProof="0" dirty="0" err="1">
                <a:latin typeface="Atkinson Hyperlegible"/>
              </a:rPr>
              <a:t>UHF</a:t>
            </a:r>
            <a:r>
              <a:rPr lang="es-CL" sz="3200" noProof="0" dirty="0">
                <a:latin typeface="Atkinson Hyperlegible"/>
              </a:rPr>
              <a:t> y Microondas.</a:t>
            </a:r>
          </a:p>
          <a:p>
            <a:pPr marL="571500" indent="-571500" algn="just">
              <a:buFont typeface="Arial" panose="020B0604020202020204" pitchFamily="34" charset="0"/>
              <a:buChar char="•"/>
            </a:pPr>
            <a:r>
              <a:rPr lang="es-CL" sz="3200" noProof="0" dirty="0">
                <a:latin typeface="Atkinson Hyperlegible"/>
              </a:rPr>
              <a:t>Cada banda condiciona: propagación, alcance, requisitos del enlace y tipo de antena.</a:t>
            </a:r>
          </a:p>
          <a:p>
            <a:pPr marL="571500" indent="-571500" algn="just">
              <a:buFont typeface="Arial" panose="020B0604020202020204" pitchFamily="34" charset="0"/>
              <a:buChar char="•"/>
            </a:pPr>
            <a:r>
              <a:rPr lang="es-CL" sz="3200" noProof="0" dirty="0">
                <a:latin typeface="Atkinson Hyperlegible"/>
              </a:rPr>
              <a:t>Este “mapa” se usará luego en: </a:t>
            </a:r>
            <a:r>
              <a:rPr lang="es-CL" sz="3200" noProof="0" dirty="0" err="1">
                <a:latin typeface="Atkinson Hyperlegible"/>
              </a:rPr>
              <a:t>VHF</a:t>
            </a:r>
            <a:r>
              <a:rPr lang="es-CL" sz="3200" noProof="0" dirty="0">
                <a:latin typeface="Atkinson Hyperlegible"/>
              </a:rPr>
              <a:t>/</a:t>
            </a:r>
            <a:r>
              <a:rPr lang="es-CL" sz="3200" noProof="0" dirty="0" err="1">
                <a:latin typeface="Atkinson Hyperlegible"/>
              </a:rPr>
              <a:t>UHF</a:t>
            </a:r>
            <a:r>
              <a:rPr lang="es-CL" sz="3200" noProof="0" dirty="0">
                <a:latin typeface="Atkinson Hyperlegible"/>
              </a:rPr>
              <a:t>, microondas, satélite y radar.</a:t>
            </a:r>
          </a:p>
          <a:p>
            <a:pPr marL="571500" indent="-571500" algn="just">
              <a:buFont typeface="Arial" panose="020B0604020202020204" pitchFamily="34" charset="0"/>
              <a:buChar char="•"/>
            </a:pPr>
            <a:r>
              <a:rPr lang="es-CL" sz="3200" noProof="0" dirty="0">
                <a:latin typeface="Atkinson Hyperlegible"/>
              </a:rPr>
              <a:t>Las atribuciones formales se consultan en la Tabla de Atribución de Frecuencias.</a:t>
            </a:r>
          </a:p>
          <a:p>
            <a:pPr marL="571500" indent="-571500" algn="just">
              <a:buFont typeface="Arial" panose="020B0604020202020204" pitchFamily="34" charset="0"/>
              <a:buChar char="•"/>
            </a:pPr>
            <a:endParaRPr lang="es-CL" sz="3200" b="1" noProof="0" dirty="0">
              <a:latin typeface="Atkinson Hyperlegible"/>
            </a:endParaRPr>
          </a:p>
          <a:p>
            <a:pPr algn="ctr"/>
            <a:r>
              <a:rPr lang="es-CL" sz="3600" b="1" noProof="0" dirty="0">
                <a:effectLst>
                  <a:outerShdw blurRad="38100" dist="38100" dir="2700000" algn="tl">
                    <a:srgbClr val="000000">
                      <a:alpha val="43137"/>
                    </a:srgbClr>
                  </a:outerShdw>
                </a:effectLst>
                <a:latin typeface="Atkinson Hyperlegible"/>
              </a:rPr>
              <a:t>Bandas distintas → comportamiento distinto del enlace → decisiones de diseño distintas.</a:t>
            </a:r>
          </a:p>
        </p:txBody>
      </p:sp>
    </p:spTree>
    <p:extLst>
      <p:ext uri="{BB962C8B-B14F-4D97-AF65-F5344CB8AC3E}">
        <p14:creationId xmlns:p14="http://schemas.microsoft.com/office/powerpoint/2010/main" val="1864766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E7CA43D-2297-8CFF-4DB0-90718CEC0084}"/>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B0AEE74B-2B96-EDC0-0285-A6B0F574F7EC}"/>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3E752CCA-ED65-1071-F5E5-E0B98FEA6DE1}"/>
              </a:ext>
            </a:extLst>
          </p:cNvPr>
          <p:cNvSpPr txBox="1"/>
          <p:nvPr/>
        </p:nvSpPr>
        <p:spPr>
          <a:xfrm>
            <a:off x="1382157" y="-44605"/>
            <a:ext cx="18277439" cy="1609928"/>
          </a:xfrm>
          <a:prstGeom prst="rect">
            <a:avLst/>
          </a:prstGeom>
          <a:noFill/>
        </p:spPr>
        <p:txBody>
          <a:bodyPr vert="horz" wrap="square" lIns="0" tIns="349885" rIns="0" bIns="0" rtlCol="0">
            <a:spAutoFit/>
          </a:bodyPr>
          <a:lstStyle/>
          <a:p>
            <a:r>
              <a:rPr lang="es-CL" sz="4400" b="1" noProof="0" dirty="0">
                <a:latin typeface="Atkinson Hyperlegible" pitchFamily="2" charset="77"/>
              </a:rPr>
              <a:t>BANDAS DE FRECUENCIAS</a:t>
            </a:r>
          </a:p>
          <a:p>
            <a:pPr>
              <a:lnSpc>
                <a:spcPct val="150000"/>
              </a:lnSpc>
            </a:pP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FB4D916B-94C1-FBBC-F73F-F17B36F4F79F}"/>
              </a:ext>
            </a:extLst>
          </p:cNvPr>
          <p:cNvSpPr txBox="1"/>
          <p:nvPr/>
        </p:nvSpPr>
        <p:spPr>
          <a:xfrm>
            <a:off x="1382157" y="898721"/>
            <a:ext cx="17055745" cy="707886"/>
          </a:xfrm>
          <a:prstGeom prst="rect">
            <a:avLst/>
          </a:prstGeom>
          <a:noFill/>
        </p:spPr>
        <p:txBody>
          <a:bodyPr wrap="square">
            <a:spAutoFit/>
          </a:bodyPr>
          <a:lstStyle/>
          <a:p>
            <a:r>
              <a:rPr lang="es-CL" sz="4000" noProof="0" dirty="0">
                <a:latin typeface="Atkinson Hyperlegible"/>
              </a:rPr>
              <a:t>HF / </a:t>
            </a:r>
            <a:r>
              <a:rPr lang="es-CL" sz="4000" noProof="0" dirty="0" err="1">
                <a:latin typeface="Atkinson Hyperlegible"/>
              </a:rPr>
              <a:t>VHF</a:t>
            </a:r>
            <a:r>
              <a:rPr lang="es-CL" sz="4000" noProof="0" dirty="0">
                <a:latin typeface="Atkinson Hyperlegible"/>
              </a:rPr>
              <a:t> / </a:t>
            </a:r>
            <a:r>
              <a:rPr lang="es-CL" sz="4000" noProof="0" dirty="0" err="1">
                <a:latin typeface="Atkinson Hyperlegible"/>
              </a:rPr>
              <a:t>UHF</a:t>
            </a:r>
            <a:r>
              <a:rPr lang="es-CL" sz="4000" noProof="0" dirty="0">
                <a:latin typeface="Atkinson Hyperlegible"/>
              </a:rPr>
              <a:t> / Microondas (rangos </a:t>
            </a:r>
            <a:r>
              <a:rPr lang="es-CL" sz="4000" noProof="0" dirty="0" err="1">
                <a:latin typeface="Atkinson Hyperlegible"/>
              </a:rPr>
              <a:t>ITU</a:t>
            </a:r>
            <a:r>
              <a:rPr lang="es-CL" sz="4000" noProof="0" dirty="0">
                <a:latin typeface="Atkinson Hyperlegible"/>
              </a:rPr>
              <a:t> + comportamiento general</a:t>
            </a:r>
            <a:r>
              <a:rPr lang="es-CL" sz="4000" noProof="0" dirty="0"/>
              <a:t>)</a:t>
            </a:r>
            <a:endParaRPr lang="es-CL" sz="4000" noProof="0" dirty="0">
              <a:latin typeface="Atkinson Hyperlegible"/>
            </a:endParaRPr>
          </a:p>
        </p:txBody>
      </p:sp>
      <p:graphicFrame>
        <p:nvGraphicFramePr>
          <p:cNvPr id="2" name="Tabla 1">
            <a:extLst>
              <a:ext uri="{FF2B5EF4-FFF2-40B4-BE49-F238E27FC236}">
                <a16:creationId xmlns:a16="http://schemas.microsoft.com/office/drawing/2014/main" id="{A51C1B6D-0AAA-50B4-526F-E47D138607EA}"/>
              </a:ext>
            </a:extLst>
          </p:cNvPr>
          <p:cNvGraphicFramePr>
            <a:graphicFrameLocks noGrp="1"/>
          </p:cNvGraphicFramePr>
          <p:nvPr>
            <p:extLst>
              <p:ext uri="{D42A27DB-BD31-4B8C-83A1-F6EECF244321}">
                <p14:modId xmlns:p14="http://schemas.microsoft.com/office/powerpoint/2010/main" val="3141447206"/>
              </p:ext>
            </p:extLst>
          </p:nvPr>
        </p:nvGraphicFramePr>
        <p:xfrm>
          <a:off x="746907" y="1755455"/>
          <a:ext cx="18610285" cy="8265809"/>
        </p:xfrm>
        <a:graphic>
          <a:graphicData uri="http://schemas.openxmlformats.org/drawingml/2006/table">
            <a:tbl>
              <a:tblPr firstRow="1" firstCol="1" bandRow="1">
                <a:tableStyleId>{073A0DAA-6AF3-43AB-8588-CEC1D06C72B9}</a:tableStyleId>
              </a:tblPr>
              <a:tblGrid>
                <a:gridCol w="3722057">
                  <a:extLst>
                    <a:ext uri="{9D8B030D-6E8A-4147-A177-3AD203B41FA5}">
                      <a16:colId xmlns:a16="http://schemas.microsoft.com/office/drawing/2014/main" val="1364351410"/>
                    </a:ext>
                  </a:extLst>
                </a:gridCol>
                <a:gridCol w="3722057">
                  <a:extLst>
                    <a:ext uri="{9D8B030D-6E8A-4147-A177-3AD203B41FA5}">
                      <a16:colId xmlns:a16="http://schemas.microsoft.com/office/drawing/2014/main" val="1136078965"/>
                    </a:ext>
                  </a:extLst>
                </a:gridCol>
                <a:gridCol w="3722057">
                  <a:extLst>
                    <a:ext uri="{9D8B030D-6E8A-4147-A177-3AD203B41FA5}">
                      <a16:colId xmlns:a16="http://schemas.microsoft.com/office/drawing/2014/main" val="3764395969"/>
                    </a:ext>
                  </a:extLst>
                </a:gridCol>
                <a:gridCol w="3722057">
                  <a:extLst>
                    <a:ext uri="{9D8B030D-6E8A-4147-A177-3AD203B41FA5}">
                      <a16:colId xmlns:a16="http://schemas.microsoft.com/office/drawing/2014/main" val="410328218"/>
                    </a:ext>
                  </a:extLst>
                </a:gridCol>
                <a:gridCol w="3722057">
                  <a:extLst>
                    <a:ext uri="{9D8B030D-6E8A-4147-A177-3AD203B41FA5}">
                      <a16:colId xmlns:a16="http://schemas.microsoft.com/office/drawing/2014/main" val="2942153727"/>
                    </a:ext>
                  </a:extLst>
                </a:gridCol>
              </a:tblGrid>
              <a:tr h="718061">
                <a:tc>
                  <a:txBody>
                    <a:bodyPr/>
                    <a:lstStyle/>
                    <a:p>
                      <a:pPr>
                        <a:buNone/>
                      </a:pPr>
                      <a:r>
                        <a:rPr lang="es-CL" sz="2400" dirty="0">
                          <a:latin typeface="Atkinson Hyperlegible"/>
                        </a:rPr>
                        <a:t>Banda</a:t>
                      </a:r>
                    </a:p>
                  </a:txBody>
                  <a:tcPr marL="65919" marR="65919" marT="32960" marB="32960" anchor="ctr"/>
                </a:tc>
                <a:tc>
                  <a:txBody>
                    <a:bodyPr/>
                    <a:lstStyle/>
                    <a:p>
                      <a:pPr>
                        <a:buNone/>
                      </a:pPr>
                      <a:r>
                        <a:rPr lang="es-CL" sz="2400">
                          <a:latin typeface="Atkinson Hyperlegible"/>
                        </a:rPr>
                        <a:t>Nombre completo</a:t>
                      </a:r>
                    </a:p>
                  </a:txBody>
                  <a:tcPr marL="65919" marR="65919" marT="32960" marB="32960" anchor="ctr"/>
                </a:tc>
                <a:tc>
                  <a:txBody>
                    <a:bodyPr/>
                    <a:lstStyle/>
                    <a:p>
                      <a:pPr>
                        <a:buNone/>
                      </a:pPr>
                      <a:r>
                        <a:rPr lang="es-CL" sz="2400">
                          <a:latin typeface="Atkinson Hyperlegible"/>
                        </a:rPr>
                        <a:t>Rango (ITU)</a:t>
                      </a:r>
                    </a:p>
                  </a:txBody>
                  <a:tcPr marL="65919" marR="65919" marT="32960" marB="32960" anchor="ctr"/>
                </a:tc>
                <a:tc>
                  <a:txBody>
                    <a:bodyPr/>
                    <a:lstStyle/>
                    <a:p>
                      <a:pPr>
                        <a:buNone/>
                      </a:pPr>
                      <a:r>
                        <a:rPr lang="es-CL" sz="2400" dirty="0">
                          <a:latin typeface="Atkinson Hyperlegible"/>
                        </a:rPr>
                        <a:t>Comportamiento</a:t>
                      </a:r>
                    </a:p>
                  </a:txBody>
                  <a:tcPr marL="65919" marR="65919" marT="32960" marB="32960" anchor="ctr"/>
                </a:tc>
                <a:tc>
                  <a:txBody>
                    <a:bodyPr/>
                    <a:lstStyle/>
                    <a:p>
                      <a:pPr>
                        <a:buNone/>
                      </a:pPr>
                      <a:r>
                        <a:rPr lang="es-ES" sz="2400" dirty="0">
                          <a:latin typeface="Atkinson Hyperlegible"/>
                        </a:rPr>
                        <a:t>En el curso se conecta con…</a:t>
                      </a:r>
                    </a:p>
                  </a:txBody>
                  <a:tcPr marL="65919" marR="65919" marT="32960" marB="32960" anchor="ctr"/>
                </a:tc>
                <a:extLst>
                  <a:ext uri="{0D108BD9-81ED-4DB2-BD59-A6C34878D82A}">
                    <a16:rowId xmlns:a16="http://schemas.microsoft.com/office/drawing/2014/main" val="2029396340"/>
                  </a:ext>
                </a:extLst>
              </a:tr>
              <a:tr h="1696275">
                <a:tc>
                  <a:txBody>
                    <a:bodyPr/>
                    <a:lstStyle/>
                    <a:p>
                      <a:pPr>
                        <a:buNone/>
                      </a:pPr>
                      <a:r>
                        <a:rPr lang="es-CL" sz="2400" b="1" dirty="0">
                          <a:latin typeface="Atkinson Hyperlegible"/>
                        </a:rPr>
                        <a:t>HF</a:t>
                      </a:r>
                      <a:endParaRPr lang="es-CL" sz="2400" dirty="0">
                        <a:latin typeface="Atkinson Hyperlegible"/>
                      </a:endParaRPr>
                    </a:p>
                  </a:txBody>
                  <a:tcPr marL="65919" marR="65919" marT="32960" marB="32960" anchor="ctr"/>
                </a:tc>
                <a:tc>
                  <a:txBody>
                    <a:bodyPr/>
                    <a:lstStyle/>
                    <a:p>
                      <a:pPr>
                        <a:buNone/>
                      </a:pPr>
                      <a:r>
                        <a:rPr lang="es-CL" sz="2400" dirty="0">
                          <a:latin typeface="Atkinson Hyperlegible"/>
                        </a:rPr>
                        <a:t>Alta Frecuencia</a:t>
                      </a:r>
                    </a:p>
                  </a:txBody>
                  <a:tcPr marL="65919" marR="65919" marT="32960" marB="32960" anchor="ctr"/>
                </a:tc>
                <a:tc>
                  <a:txBody>
                    <a:bodyPr/>
                    <a:lstStyle/>
                    <a:p>
                      <a:pPr>
                        <a:buNone/>
                      </a:pPr>
                      <a:r>
                        <a:rPr lang="es-CL" sz="2400" b="1" dirty="0">
                          <a:latin typeface="Atkinson Hyperlegible"/>
                        </a:rPr>
                        <a:t>3–30 MHz</a:t>
                      </a:r>
                      <a:endParaRPr lang="es-CL" sz="2400" dirty="0">
                        <a:latin typeface="Atkinson Hyperlegible"/>
                      </a:endParaRPr>
                    </a:p>
                  </a:txBody>
                  <a:tcPr marL="65919" marR="65919" marT="32960" marB="32960" anchor="ctr"/>
                </a:tc>
                <a:tc>
                  <a:txBody>
                    <a:bodyPr/>
                    <a:lstStyle/>
                    <a:p>
                      <a:pPr>
                        <a:buNone/>
                      </a:pPr>
                      <a:r>
                        <a:rPr lang="es-ES" sz="2400" dirty="0">
                          <a:latin typeface="Atkinson Hyperlegible"/>
                        </a:rPr>
                        <a:t>Propagación puede permitir </a:t>
                      </a:r>
                      <a:r>
                        <a:rPr lang="es-ES" sz="2400" b="1" dirty="0">
                          <a:latin typeface="Atkinson Hyperlegible"/>
                        </a:rPr>
                        <a:t>alcances grandes, </a:t>
                      </a:r>
                      <a:r>
                        <a:rPr lang="es-ES" sz="2400" dirty="0">
                          <a:latin typeface="Atkinson Hyperlegible"/>
                        </a:rPr>
                        <a:t>Puede habilitar </a:t>
                      </a:r>
                      <a:r>
                        <a:rPr lang="es-ES" sz="2400" b="1" dirty="0">
                          <a:latin typeface="Atkinson Hyperlegible"/>
                        </a:rPr>
                        <a:t>alcances más allá de línea de vista</a:t>
                      </a:r>
                      <a:r>
                        <a:rPr lang="es-ES" sz="2400" dirty="0">
                          <a:latin typeface="Atkinson Hyperlegible"/>
                        </a:rPr>
                        <a:t> según condicione. (atmósfera/entorno)</a:t>
                      </a:r>
                    </a:p>
                  </a:txBody>
                  <a:tcPr marL="65919" marR="65919" marT="32960" marB="32960" anchor="ctr"/>
                </a:tc>
                <a:tc>
                  <a:txBody>
                    <a:bodyPr/>
                    <a:lstStyle/>
                    <a:p>
                      <a:pPr>
                        <a:buNone/>
                      </a:pPr>
                      <a:r>
                        <a:rPr lang="es-ES" sz="2400" b="1" dirty="0">
                          <a:latin typeface="Atkinson Hyperlegible"/>
                        </a:rPr>
                        <a:t>2.5.1 Redes </a:t>
                      </a:r>
                      <a:r>
                        <a:rPr lang="es-ES" sz="2400" b="1" dirty="0" err="1">
                          <a:latin typeface="Atkinson Hyperlegible"/>
                        </a:rPr>
                        <a:t>VHF</a:t>
                      </a:r>
                      <a:r>
                        <a:rPr lang="es-ES" sz="2400" b="1" dirty="0">
                          <a:latin typeface="Atkinson Hyperlegible"/>
                        </a:rPr>
                        <a:t>/</a:t>
                      </a:r>
                      <a:r>
                        <a:rPr lang="es-ES" sz="2400" b="1" dirty="0" err="1">
                          <a:latin typeface="Atkinson Hyperlegible"/>
                        </a:rPr>
                        <a:t>UHF</a:t>
                      </a:r>
                      <a:r>
                        <a:rPr lang="es-ES" sz="2400" b="1" dirty="0">
                          <a:latin typeface="Atkinson Hyperlegible"/>
                        </a:rPr>
                        <a:t>/HF</a:t>
                      </a:r>
                      <a:r>
                        <a:rPr lang="es-ES" sz="2400" dirty="0">
                          <a:latin typeface="Atkinson Hyperlegible"/>
                        </a:rPr>
                        <a:t> (visión de funcionamiento HF)</a:t>
                      </a:r>
                      <a:endParaRPr lang="es-CL" sz="2400" dirty="0">
                        <a:latin typeface="Atkinson Hyperlegible"/>
                      </a:endParaRPr>
                    </a:p>
                  </a:txBody>
                  <a:tcPr marL="65919" marR="65919" marT="32960" marB="32960" anchor="ctr"/>
                </a:tc>
                <a:extLst>
                  <a:ext uri="{0D108BD9-81ED-4DB2-BD59-A6C34878D82A}">
                    <a16:rowId xmlns:a16="http://schemas.microsoft.com/office/drawing/2014/main" val="4191982477"/>
                  </a:ext>
                </a:extLst>
              </a:tr>
              <a:tr h="1370203">
                <a:tc>
                  <a:txBody>
                    <a:bodyPr/>
                    <a:lstStyle/>
                    <a:p>
                      <a:pPr>
                        <a:buNone/>
                      </a:pPr>
                      <a:r>
                        <a:rPr lang="es-CL" sz="2400" b="1" dirty="0" err="1">
                          <a:latin typeface="Atkinson Hyperlegible"/>
                        </a:rPr>
                        <a:t>VHF</a:t>
                      </a:r>
                      <a:endParaRPr lang="es-CL" sz="2400" dirty="0">
                        <a:latin typeface="Atkinson Hyperlegible"/>
                      </a:endParaRPr>
                    </a:p>
                  </a:txBody>
                  <a:tcPr marL="65919" marR="65919" marT="32960" marB="32960" anchor="ctr"/>
                </a:tc>
                <a:tc>
                  <a:txBody>
                    <a:bodyPr/>
                    <a:lstStyle/>
                    <a:p>
                      <a:pPr>
                        <a:buNone/>
                      </a:pPr>
                      <a:r>
                        <a:rPr lang="es-CL" sz="2400" dirty="0">
                          <a:latin typeface="Atkinson Hyperlegible"/>
                        </a:rPr>
                        <a:t>Muy Alta Frecuencia</a:t>
                      </a:r>
                    </a:p>
                  </a:txBody>
                  <a:tcPr marL="65919" marR="65919" marT="32960" marB="32960" anchor="ctr"/>
                </a:tc>
                <a:tc>
                  <a:txBody>
                    <a:bodyPr/>
                    <a:lstStyle/>
                    <a:p>
                      <a:pPr>
                        <a:buNone/>
                      </a:pPr>
                      <a:r>
                        <a:rPr lang="es-CL" sz="2400" b="1" dirty="0">
                          <a:latin typeface="Atkinson Hyperlegible"/>
                        </a:rPr>
                        <a:t>30–300 MHz</a:t>
                      </a:r>
                      <a:endParaRPr lang="es-CL" sz="2400" dirty="0">
                        <a:latin typeface="Atkinson Hyperlegible"/>
                      </a:endParaRPr>
                    </a:p>
                  </a:txBody>
                  <a:tcPr marL="65919" marR="65919" marT="32960" marB="32960" anchor="ctr"/>
                </a:tc>
                <a:tc>
                  <a:txBody>
                    <a:bodyPr/>
                    <a:lstStyle/>
                    <a:p>
                      <a:pPr>
                        <a:buNone/>
                      </a:pPr>
                      <a:r>
                        <a:rPr lang="es-ES" sz="2400" dirty="0">
                          <a:latin typeface="Atkinson Hyperlegible"/>
                        </a:rPr>
                        <a:t>En muchos escenarios predomina </a:t>
                      </a:r>
                      <a:r>
                        <a:rPr lang="es-ES" sz="2400" b="1" dirty="0">
                          <a:latin typeface="Atkinson Hyperlegible"/>
                        </a:rPr>
                        <a:t>línea de vista</a:t>
                      </a:r>
                      <a:r>
                        <a:rPr lang="es-ES" sz="2400" dirty="0">
                          <a:latin typeface="Atkinson Hyperlegible"/>
                        </a:rPr>
                        <a:t> y cobertura local/regional</a:t>
                      </a:r>
                    </a:p>
                  </a:txBody>
                  <a:tcPr marL="65919" marR="65919" marT="32960" marB="32960" anchor="ctr"/>
                </a:tc>
                <a:tc>
                  <a:txBody>
                    <a:bodyPr/>
                    <a:lstStyle/>
                    <a:p>
                      <a:pPr>
                        <a:buNone/>
                      </a:pPr>
                      <a:r>
                        <a:rPr lang="es-ES" sz="2400" b="1" dirty="0">
                          <a:latin typeface="Atkinson Hyperlegible"/>
                        </a:rPr>
                        <a:t>2.5 </a:t>
                      </a:r>
                      <a:r>
                        <a:rPr lang="es-ES" sz="2400" b="1" dirty="0" err="1">
                          <a:latin typeface="Atkinson Hyperlegible"/>
                        </a:rPr>
                        <a:t>VHF</a:t>
                      </a:r>
                      <a:r>
                        <a:rPr lang="es-ES" sz="2400" b="1" dirty="0">
                          <a:latin typeface="Atkinson Hyperlegible"/>
                        </a:rPr>
                        <a:t>/</a:t>
                      </a:r>
                      <a:r>
                        <a:rPr lang="es-ES" sz="2400" b="1" dirty="0" err="1">
                          <a:latin typeface="Atkinson Hyperlegible"/>
                        </a:rPr>
                        <a:t>UHF</a:t>
                      </a:r>
                      <a:r>
                        <a:rPr lang="es-ES" sz="2400" dirty="0">
                          <a:latin typeface="Atkinson Hyperlegible"/>
                        </a:rPr>
                        <a:t>, </a:t>
                      </a:r>
                      <a:r>
                        <a:rPr lang="es-ES" sz="2400" b="1" dirty="0">
                          <a:latin typeface="Atkinson Hyperlegible"/>
                        </a:rPr>
                        <a:t>2.5.2 </a:t>
                      </a:r>
                      <a:r>
                        <a:rPr lang="es-ES" sz="2400" b="1" dirty="0" err="1">
                          <a:latin typeface="Atkinson Hyperlegible"/>
                        </a:rPr>
                        <a:t>Broadcasting</a:t>
                      </a:r>
                      <a:r>
                        <a:rPr lang="es-ES" sz="2400" dirty="0">
                          <a:latin typeface="Atkinson Hyperlegible"/>
                        </a:rPr>
                        <a:t>, bases de </a:t>
                      </a:r>
                      <a:r>
                        <a:rPr lang="es-ES" sz="2400" b="1" dirty="0">
                          <a:latin typeface="Atkinson Hyperlegible"/>
                        </a:rPr>
                        <a:t>propagación y pérdidas</a:t>
                      </a:r>
                      <a:endParaRPr lang="en-US" sz="2400" dirty="0">
                        <a:latin typeface="Atkinson Hyperlegible"/>
                      </a:endParaRPr>
                    </a:p>
                  </a:txBody>
                  <a:tcPr marL="65919" marR="65919" marT="32960" marB="32960" anchor="ctr"/>
                </a:tc>
                <a:extLst>
                  <a:ext uri="{0D108BD9-81ED-4DB2-BD59-A6C34878D82A}">
                    <a16:rowId xmlns:a16="http://schemas.microsoft.com/office/drawing/2014/main" val="2354890991"/>
                  </a:ext>
                </a:extLst>
              </a:tr>
              <a:tr h="2022345">
                <a:tc>
                  <a:txBody>
                    <a:bodyPr/>
                    <a:lstStyle/>
                    <a:p>
                      <a:pPr>
                        <a:buNone/>
                      </a:pPr>
                      <a:r>
                        <a:rPr lang="es-CL" sz="2400" b="1">
                          <a:latin typeface="Atkinson Hyperlegible"/>
                        </a:rPr>
                        <a:t>UHF</a:t>
                      </a:r>
                      <a:endParaRPr lang="es-CL" sz="2400">
                        <a:latin typeface="Atkinson Hyperlegible"/>
                      </a:endParaRPr>
                    </a:p>
                  </a:txBody>
                  <a:tcPr marL="65919" marR="65919" marT="32960" marB="32960" anchor="ctr"/>
                </a:tc>
                <a:tc>
                  <a:txBody>
                    <a:bodyPr/>
                    <a:lstStyle/>
                    <a:p>
                      <a:pPr>
                        <a:buNone/>
                      </a:pPr>
                      <a:r>
                        <a:rPr lang="es-CL" sz="2400" dirty="0">
                          <a:latin typeface="Atkinson Hyperlegible"/>
                        </a:rPr>
                        <a:t>Ultra Alta Frecuencia</a:t>
                      </a:r>
                    </a:p>
                  </a:txBody>
                  <a:tcPr marL="65919" marR="65919" marT="32960" marB="32960" anchor="ctr"/>
                </a:tc>
                <a:tc>
                  <a:txBody>
                    <a:bodyPr/>
                    <a:lstStyle/>
                    <a:p>
                      <a:pPr>
                        <a:buNone/>
                      </a:pPr>
                      <a:r>
                        <a:rPr lang="es-CL" sz="2400" b="1" dirty="0">
                          <a:latin typeface="Atkinson Hyperlegible"/>
                        </a:rPr>
                        <a:t>300–3000 MHz</a:t>
                      </a:r>
                      <a:endParaRPr lang="es-CL" sz="2400" dirty="0">
                        <a:latin typeface="Atkinson Hyperlegible"/>
                      </a:endParaRPr>
                    </a:p>
                  </a:txBody>
                  <a:tcPr marL="65919" marR="65919" marT="32960" marB="32960" anchor="ctr"/>
                </a:tc>
                <a:tc>
                  <a:txBody>
                    <a:bodyPr/>
                    <a:lstStyle/>
                    <a:p>
                      <a:pPr>
                        <a:buNone/>
                      </a:pPr>
                      <a:r>
                        <a:rPr lang="es-ES" sz="2400" dirty="0">
                          <a:latin typeface="Atkinson Hyperlegible"/>
                        </a:rPr>
                        <a:t>Similar a </a:t>
                      </a:r>
                      <a:r>
                        <a:rPr lang="es-ES" sz="2400" dirty="0" err="1">
                          <a:latin typeface="Atkinson Hyperlegible"/>
                        </a:rPr>
                        <a:t>VHF</a:t>
                      </a:r>
                      <a:r>
                        <a:rPr lang="es-ES" sz="2400" dirty="0">
                          <a:latin typeface="Atkinson Hyperlegible"/>
                        </a:rPr>
                        <a:t> (frecuente </a:t>
                      </a:r>
                      <a:r>
                        <a:rPr lang="es-ES" sz="2400" b="1" dirty="0">
                          <a:latin typeface="Atkinson Hyperlegible"/>
                        </a:rPr>
                        <a:t>línea de vista</a:t>
                      </a:r>
                      <a:r>
                        <a:rPr lang="es-ES" sz="2400" dirty="0">
                          <a:latin typeface="Atkinson Hyperlegible"/>
                        </a:rPr>
                        <a:t>) y comportamiento sensible a obstáculos/entorno</a:t>
                      </a:r>
                    </a:p>
                  </a:txBody>
                  <a:tcPr marL="65919" marR="65919" marT="32960" marB="32960" anchor="ctr"/>
                </a:tc>
                <a:tc>
                  <a:txBody>
                    <a:bodyPr/>
                    <a:lstStyle/>
                    <a:p>
                      <a:pPr>
                        <a:buNone/>
                      </a:pPr>
                      <a:r>
                        <a:rPr lang="es-ES" sz="2400" b="1" dirty="0">
                          <a:latin typeface="Atkinson Hyperlegible"/>
                        </a:rPr>
                        <a:t>2.5.3 Tecnologías </a:t>
                      </a:r>
                      <a:r>
                        <a:rPr lang="es-ES" sz="2400" b="1" dirty="0" err="1">
                          <a:latin typeface="Atkinson Hyperlegible"/>
                        </a:rPr>
                        <a:t>VHF</a:t>
                      </a:r>
                      <a:r>
                        <a:rPr lang="es-ES" sz="2400" b="1" dirty="0">
                          <a:latin typeface="Atkinson Hyperlegible"/>
                        </a:rPr>
                        <a:t> y </a:t>
                      </a:r>
                      <a:r>
                        <a:rPr lang="es-ES" sz="2400" b="1" dirty="0" err="1">
                          <a:latin typeface="Atkinson Hyperlegible"/>
                        </a:rPr>
                        <a:t>UHF</a:t>
                      </a:r>
                      <a:r>
                        <a:rPr lang="es-ES" sz="2400" dirty="0">
                          <a:latin typeface="Atkinson Hyperlegible"/>
                        </a:rPr>
                        <a:t> + </a:t>
                      </a:r>
                      <a:r>
                        <a:rPr lang="es-ES" sz="2400" b="1" dirty="0">
                          <a:latin typeface="Atkinson Hyperlegible"/>
                        </a:rPr>
                        <a:t>2.5.4</a:t>
                      </a:r>
                      <a:r>
                        <a:rPr lang="es-ES" sz="2400" dirty="0">
                          <a:latin typeface="Atkinson Hyperlegible"/>
                        </a:rPr>
                        <a:t> (propagación, pérdidas)</a:t>
                      </a:r>
                      <a:endParaRPr lang="es-CL" sz="2400" dirty="0">
                        <a:latin typeface="Atkinson Hyperlegible"/>
                      </a:endParaRPr>
                    </a:p>
                  </a:txBody>
                  <a:tcPr marL="65919" marR="65919" marT="32960" marB="32960" anchor="ctr"/>
                </a:tc>
                <a:extLst>
                  <a:ext uri="{0D108BD9-81ED-4DB2-BD59-A6C34878D82A}">
                    <a16:rowId xmlns:a16="http://schemas.microsoft.com/office/drawing/2014/main" val="3124455530"/>
                  </a:ext>
                </a:extLst>
              </a:tr>
              <a:tr h="1370203">
                <a:tc>
                  <a:txBody>
                    <a:bodyPr/>
                    <a:lstStyle/>
                    <a:p>
                      <a:pPr>
                        <a:buNone/>
                      </a:pPr>
                      <a:r>
                        <a:rPr lang="es-CL" sz="2400" b="1">
                          <a:latin typeface="Atkinson Hyperlegible"/>
                        </a:rPr>
                        <a:t>Microondas (SHF)</a:t>
                      </a:r>
                      <a:endParaRPr lang="es-CL" sz="2400">
                        <a:latin typeface="Atkinson Hyperlegible"/>
                      </a:endParaRPr>
                    </a:p>
                  </a:txBody>
                  <a:tcPr marL="65919" marR="65919" marT="32960" marB="32960" anchor="ctr"/>
                </a:tc>
                <a:tc>
                  <a:txBody>
                    <a:bodyPr/>
                    <a:lstStyle/>
                    <a:p>
                      <a:pPr>
                        <a:buNone/>
                      </a:pPr>
                      <a:r>
                        <a:rPr lang="es-CL" sz="2400">
                          <a:latin typeface="Atkinson Hyperlegible"/>
                        </a:rPr>
                        <a:t>(Microondas)</a:t>
                      </a:r>
                    </a:p>
                  </a:txBody>
                  <a:tcPr marL="65919" marR="65919" marT="32960" marB="32960" anchor="ctr"/>
                </a:tc>
                <a:tc>
                  <a:txBody>
                    <a:bodyPr/>
                    <a:lstStyle/>
                    <a:p>
                      <a:pPr>
                        <a:buNone/>
                      </a:pPr>
                      <a:r>
                        <a:rPr lang="es-CL" sz="2400" b="1" dirty="0">
                          <a:latin typeface="Atkinson Hyperlegible"/>
                        </a:rPr>
                        <a:t>3–30 GHz</a:t>
                      </a:r>
                      <a:endParaRPr lang="es-CL" sz="2400" dirty="0">
                        <a:latin typeface="Atkinson Hyperlegible"/>
                      </a:endParaRPr>
                    </a:p>
                  </a:txBody>
                  <a:tcPr marL="65919" marR="65919" marT="32960" marB="32960" anchor="ctr"/>
                </a:tc>
                <a:tc>
                  <a:txBody>
                    <a:bodyPr/>
                    <a:lstStyle/>
                    <a:p>
                      <a:pPr>
                        <a:buNone/>
                      </a:pPr>
                      <a:r>
                        <a:rPr lang="es-ES" sz="2400" dirty="0">
                          <a:latin typeface="Atkinson Hyperlegible"/>
                        </a:rPr>
                        <a:t>Comúnmente </a:t>
                      </a:r>
                      <a:r>
                        <a:rPr lang="es-ES" sz="2400" b="1" dirty="0">
                          <a:latin typeface="Atkinson Hyperlegible"/>
                        </a:rPr>
                        <a:t>enlaces punto a punto</a:t>
                      </a:r>
                      <a:r>
                        <a:rPr lang="es-ES" sz="2400" dirty="0">
                          <a:latin typeface="Atkinson Hyperlegible"/>
                        </a:rPr>
                        <a:t> planificados; alta exigencia del trayecto (LOS)</a:t>
                      </a:r>
                    </a:p>
                  </a:txBody>
                  <a:tcPr marL="65919" marR="65919" marT="32960" marB="32960" anchor="ctr"/>
                </a:tc>
                <a:tc>
                  <a:txBody>
                    <a:bodyPr/>
                    <a:lstStyle/>
                    <a:p>
                      <a:pPr>
                        <a:buNone/>
                      </a:pPr>
                      <a:r>
                        <a:rPr lang="es-CL" sz="2400" b="1" dirty="0">
                          <a:latin typeface="Atkinson Hyperlegible"/>
                        </a:rPr>
                        <a:t>2.6 Microondas</a:t>
                      </a:r>
                      <a:r>
                        <a:rPr lang="es-CL" sz="2400" dirty="0">
                          <a:latin typeface="Atkinson Hyperlegible"/>
                        </a:rPr>
                        <a:t>: cálculo de enlace, ganancias/atenuaciones, </a:t>
                      </a:r>
                      <a:r>
                        <a:rPr lang="es-CL" sz="2400" b="1" dirty="0">
                          <a:latin typeface="Atkinson Hyperlegible"/>
                        </a:rPr>
                        <a:t>Zona de Fresnel</a:t>
                      </a:r>
                      <a:r>
                        <a:rPr lang="es-CL" sz="2400" dirty="0">
                          <a:latin typeface="Atkinson Hyperlegible"/>
                        </a:rPr>
                        <a:t>, aplicaciones de red</a:t>
                      </a:r>
                      <a:endParaRPr lang="pt-BR" sz="2400" dirty="0">
                        <a:latin typeface="Atkinson Hyperlegible"/>
                      </a:endParaRPr>
                    </a:p>
                  </a:txBody>
                  <a:tcPr marL="65919" marR="65919" marT="32960" marB="32960" anchor="ctr"/>
                </a:tc>
                <a:extLst>
                  <a:ext uri="{0D108BD9-81ED-4DB2-BD59-A6C34878D82A}">
                    <a16:rowId xmlns:a16="http://schemas.microsoft.com/office/drawing/2014/main" val="871284096"/>
                  </a:ext>
                </a:extLst>
              </a:tr>
            </a:tbl>
          </a:graphicData>
        </a:graphic>
      </p:graphicFrame>
    </p:spTree>
    <p:extLst>
      <p:ext uri="{BB962C8B-B14F-4D97-AF65-F5344CB8AC3E}">
        <p14:creationId xmlns:p14="http://schemas.microsoft.com/office/powerpoint/2010/main" val="2805270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A4128AE-6BD3-E734-3179-A1107D6B4F99}"/>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6F4AC267-FD6B-C4CC-45BE-91B02AD9544B}"/>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37C181DB-D05D-AFEC-B9CD-0B017CAE1A73}"/>
              </a:ext>
            </a:extLst>
          </p:cNvPr>
          <p:cNvSpPr txBox="1"/>
          <p:nvPr/>
        </p:nvSpPr>
        <p:spPr>
          <a:xfrm>
            <a:off x="1382157" y="-44605"/>
            <a:ext cx="18277439" cy="1609928"/>
          </a:xfrm>
          <a:prstGeom prst="rect">
            <a:avLst/>
          </a:prstGeom>
          <a:noFill/>
        </p:spPr>
        <p:txBody>
          <a:bodyPr vert="horz" wrap="square" lIns="0" tIns="349885" rIns="0" bIns="0" rtlCol="0">
            <a:spAutoFit/>
          </a:bodyPr>
          <a:lstStyle/>
          <a:p>
            <a:r>
              <a:rPr lang="es-CL" sz="4400" b="1" noProof="0" dirty="0">
                <a:latin typeface="Atkinson Hyperlegible" pitchFamily="2" charset="77"/>
              </a:rPr>
              <a:t>BANDAS DE FRECUENCIAS</a:t>
            </a:r>
          </a:p>
          <a:p>
            <a:pPr>
              <a:lnSpc>
                <a:spcPct val="150000"/>
              </a:lnSpc>
            </a:pP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FBBB0B57-1DFC-93CD-9AB7-77DEFD724EF0}"/>
              </a:ext>
            </a:extLst>
          </p:cNvPr>
          <p:cNvSpPr txBox="1"/>
          <p:nvPr/>
        </p:nvSpPr>
        <p:spPr>
          <a:xfrm>
            <a:off x="1382157" y="898721"/>
            <a:ext cx="17055745" cy="707886"/>
          </a:xfrm>
          <a:prstGeom prst="rect">
            <a:avLst/>
          </a:prstGeom>
          <a:noFill/>
        </p:spPr>
        <p:txBody>
          <a:bodyPr wrap="square">
            <a:spAutoFit/>
          </a:bodyPr>
          <a:lstStyle/>
          <a:p>
            <a:r>
              <a:rPr lang="es-CL" sz="4000" noProof="0" dirty="0"/>
              <a:t>Bandas de frecuencia relevantes</a:t>
            </a:r>
            <a:endParaRPr lang="es-CL" sz="4000" noProof="0" dirty="0">
              <a:latin typeface="Atkinson Hyperlegible"/>
            </a:endParaRPr>
          </a:p>
        </p:txBody>
      </p:sp>
      <p:sp>
        <p:nvSpPr>
          <p:cNvPr id="10" name="CuadroTexto 9">
            <a:extLst>
              <a:ext uri="{FF2B5EF4-FFF2-40B4-BE49-F238E27FC236}">
                <a16:creationId xmlns:a16="http://schemas.microsoft.com/office/drawing/2014/main" id="{55E6EEAC-9C10-EAF8-B050-FEAA38FA8A1D}"/>
              </a:ext>
            </a:extLst>
          </p:cNvPr>
          <p:cNvSpPr txBox="1"/>
          <p:nvPr/>
        </p:nvSpPr>
        <p:spPr>
          <a:xfrm>
            <a:off x="921616" y="8840969"/>
            <a:ext cx="10785701" cy="1200329"/>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noProof="0" dirty="0" err="1">
                <a:latin typeface="Atkinson Hyperlegible"/>
              </a:rPr>
              <a:t>ITU</a:t>
            </a:r>
            <a:r>
              <a:rPr lang="es-CL" sz="2400" noProof="0" dirty="0">
                <a:latin typeface="Atkinson Hyperlegible"/>
              </a:rPr>
              <a:t> Radio </a:t>
            </a:r>
            <a:r>
              <a:rPr lang="es-CL" sz="2400" noProof="0" dirty="0" err="1">
                <a:latin typeface="Atkinson Hyperlegible"/>
              </a:rPr>
              <a:t>Regulations</a:t>
            </a:r>
            <a:r>
              <a:rPr lang="es-CL" sz="2400" noProof="0" dirty="0">
                <a:latin typeface="Atkinson Hyperlegible"/>
              </a:rPr>
              <a:t> (Ed. 2024</a:t>
            </a:r>
            <a:r>
              <a:rPr lang="es-CL" sz="2400" noProof="0" dirty="0"/>
              <a:t>)</a:t>
            </a:r>
          </a:p>
          <a:p>
            <a:r>
              <a:rPr lang="es-CL" sz="2400" b="1" noProof="0" dirty="0" err="1"/>
              <a:t>Article</a:t>
            </a:r>
            <a:r>
              <a:rPr lang="es-CL" sz="2400" b="1" noProof="0" dirty="0"/>
              <a:t> 5 – Table </a:t>
            </a:r>
            <a:r>
              <a:rPr lang="es-CL" sz="2400" b="1" noProof="0" dirty="0" err="1"/>
              <a:t>of</a:t>
            </a:r>
            <a:r>
              <a:rPr lang="es-CL" sz="2400" b="1" noProof="0" dirty="0"/>
              <a:t> </a:t>
            </a:r>
            <a:r>
              <a:rPr lang="es-CL" sz="2400" b="1" noProof="0" dirty="0" err="1"/>
              <a:t>Frequency</a:t>
            </a:r>
            <a:r>
              <a:rPr lang="es-CL" sz="2400" b="1" noProof="0" dirty="0"/>
              <a:t> </a:t>
            </a:r>
            <a:r>
              <a:rPr lang="es-CL" sz="2400" b="1" noProof="0" dirty="0" err="1"/>
              <a:t>Allocations</a:t>
            </a:r>
            <a:r>
              <a:rPr lang="es-CL" sz="2400" b="1" noProof="0" dirty="0"/>
              <a:t>”</a:t>
            </a:r>
            <a:r>
              <a:rPr lang="es-CL" sz="2400" noProof="0" dirty="0"/>
              <a:t> (Tabla de atribución de frecuencias).</a:t>
            </a:r>
            <a:endParaRPr lang="es-CL" sz="2400" noProof="0" dirty="0">
              <a:latin typeface="Atkinson Hyperlegible"/>
            </a:endParaRPr>
          </a:p>
        </p:txBody>
      </p:sp>
      <p:pic>
        <p:nvPicPr>
          <p:cNvPr id="2" name="Imagen 1">
            <a:extLst>
              <a:ext uri="{FF2B5EF4-FFF2-40B4-BE49-F238E27FC236}">
                <a16:creationId xmlns:a16="http://schemas.microsoft.com/office/drawing/2014/main" id="{9C84C155-D702-8EE3-32D3-6E1BC7758249}"/>
              </a:ext>
            </a:extLst>
          </p:cNvPr>
          <p:cNvPicPr>
            <a:picLocks noChangeAspect="1"/>
          </p:cNvPicPr>
          <p:nvPr/>
        </p:nvPicPr>
        <p:blipFill>
          <a:blip r:embed="rId4"/>
          <a:stretch>
            <a:fillRect/>
          </a:stretch>
        </p:blipFill>
        <p:spPr>
          <a:xfrm>
            <a:off x="1858780" y="1606608"/>
            <a:ext cx="17227413" cy="723436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37616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44658D1-7730-D46A-B3E1-9FD13718B17F}"/>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5C857625-08E7-945A-D4D0-A38F4EE3E540}"/>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E5F2C00E-AA40-0EE8-3975-367DAA83F29E}"/>
              </a:ext>
            </a:extLst>
          </p:cNvPr>
          <p:cNvSpPr txBox="1"/>
          <p:nvPr/>
        </p:nvSpPr>
        <p:spPr>
          <a:xfrm>
            <a:off x="1382157" y="-44605"/>
            <a:ext cx="18277439" cy="1609928"/>
          </a:xfrm>
          <a:prstGeom prst="rect">
            <a:avLst/>
          </a:prstGeom>
          <a:noFill/>
        </p:spPr>
        <p:txBody>
          <a:bodyPr vert="horz" wrap="square" lIns="0" tIns="349885" rIns="0" bIns="0" rtlCol="0">
            <a:spAutoFit/>
          </a:bodyPr>
          <a:lstStyle/>
          <a:p>
            <a:r>
              <a:rPr lang="es-CL" sz="4400" b="1" noProof="0" dirty="0">
                <a:latin typeface="Atkinson Hyperlegible" pitchFamily="2" charset="77"/>
              </a:rPr>
              <a:t>BANDAS DE FRECUENCIAS</a:t>
            </a:r>
          </a:p>
          <a:p>
            <a:pPr>
              <a:lnSpc>
                <a:spcPct val="150000"/>
              </a:lnSpc>
            </a:pP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4985EB5E-FF4D-F11E-46CC-692037E26F7F}"/>
              </a:ext>
            </a:extLst>
          </p:cNvPr>
          <p:cNvSpPr txBox="1"/>
          <p:nvPr/>
        </p:nvSpPr>
        <p:spPr>
          <a:xfrm>
            <a:off x="1382157" y="898721"/>
            <a:ext cx="17055745" cy="707886"/>
          </a:xfrm>
          <a:prstGeom prst="rect">
            <a:avLst/>
          </a:prstGeom>
          <a:noFill/>
        </p:spPr>
        <p:txBody>
          <a:bodyPr wrap="square">
            <a:spAutoFit/>
          </a:bodyPr>
          <a:lstStyle/>
          <a:p>
            <a:r>
              <a:rPr lang="es-CL" sz="4000" noProof="0" dirty="0"/>
              <a:t>Bandas de frecuencia relevantes</a:t>
            </a:r>
            <a:endParaRPr lang="es-CL" sz="4000" noProof="0" dirty="0">
              <a:latin typeface="Atkinson Hyperlegible"/>
            </a:endParaRPr>
          </a:p>
        </p:txBody>
      </p:sp>
      <p:sp>
        <p:nvSpPr>
          <p:cNvPr id="10" name="CuadroTexto 9">
            <a:extLst>
              <a:ext uri="{FF2B5EF4-FFF2-40B4-BE49-F238E27FC236}">
                <a16:creationId xmlns:a16="http://schemas.microsoft.com/office/drawing/2014/main" id="{686C4772-C41B-62E4-F1AC-CFF70A5EC002}"/>
              </a:ext>
            </a:extLst>
          </p:cNvPr>
          <p:cNvSpPr txBox="1"/>
          <p:nvPr/>
        </p:nvSpPr>
        <p:spPr>
          <a:xfrm>
            <a:off x="111368" y="9579632"/>
            <a:ext cx="10785701" cy="830997"/>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noProof="0" dirty="0"/>
              <a:t>Recomendación UIT-R </a:t>
            </a:r>
            <a:r>
              <a:rPr lang="es-CL" sz="2400" noProof="0" dirty="0" err="1"/>
              <a:t>V.431</a:t>
            </a:r>
            <a:r>
              <a:rPr lang="es-CL" sz="2400" noProof="0" dirty="0"/>
              <a:t>-8 </a:t>
            </a:r>
            <a:endParaRPr lang="es-CL" sz="2400" noProof="0" dirty="0">
              <a:latin typeface="Atkinson Hyperlegible"/>
            </a:endParaRPr>
          </a:p>
        </p:txBody>
      </p:sp>
      <p:pic>
        <p:nvPicPr>
          <p:cNvPr id="4" name="Imagen 3">
            <a:extLst>
              <a:ext uri="{FF2B5EF4-FFF2-40B4-BE49-F238E27FC236}">
                <a16:creationId xmlns:a16="http://schemas.microsoft.com/office/drawing/2014/main" id="{C87FD6D4-63CA-DEF8-BEDE-822CAD1644BD}"/>
              </a:ext>
            </a:extLst>
          </p:cNvPr>
          <p:cNvPicPr>
            <a:picLocks noChangeAspect="1"/>
          </p:cNvPicPr>
          <p:nvPr/>
        </p:nvPicPr>
        <p:blipFill>
          <a:blip r:embed="rId4"/>
          <a:stretch>
            <a:fillRect/>
          </a:stretch>
        </p:blipFill>
        <p:spPr>
          <a:xfrm>
            <a:off x="4796767" y="1565323"/>
            <a:ext cx="11778001" cy="8569579"/>
          </a:xfrm>
          <a:prstGeom prst="rect">
            <a:avLst/>
          </a:prstGeom>
        </p:spPr>
      </p:pic>
    </p:spTree>
    <p:extLst>
      <p:ext uri="{BB962C8B-B14F-4D97-AF65-F5344CB8AC3E}">
        <p14:creationId xmlns:p14="http://schemas.microsoft.com/office/powerpoint/2010/main" val="2322582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4D4B8C1-F4A8-0E7E-9841-E90FCF1D1EAA}"/>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652C267B-2738-BC8B-874F-0E364E2BE4B8}"/>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7F8747F3-00F3-DDFF-7CC7-9AACBFE6C502}"/>
              </a:ext>
            </a:extLst>
          </p:cNvPr>
          <p:cNvSpPr txBox="1"/>
          <p:nvPr/>
        </p:nvSpPr>
        <p:spPr>
          <a:xfrm>
            <a:off x="1382157" y="-44605"/>
            <a:ext cx="18277439" cy="1609928"/>
          </a:xfrm>
          <a:prstGeom prst="rect">
            <a:avLst/>
          </a:prstGeom>
          <a:noFill/>
        </p:spPr>
        <p:txBody>
          <a:bodyPr vert="horz" wrap="square" lIns="0" tIns="349885" rIns="0" bIns="0" rtlCol="0">
            <a:spAutoFit/>
          </a:bodyPr>
          <a:lstStyle/>
          <a:p>
            <a:r>
              <a:rPr lang="es-CL" sz="4400" b="1" noProof="0" dirty="0">
                <a:latin typeface="Atkinson Hyperlegible" pitchFamily="2" charset="77"/>
              </a:rPr>
              <a:t>BANDAS DE FRECUENCIAS</a:t>
            </a:r>
          </a:p>
          <a:p>
            <a:pPr>
              <a:lnSpc>
                <a:spcPct val="150000"/>
              </a:lnSpc>
            </a:pP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7B295C82-5640-662D-630F-21E1C92CD9B9}"/>
              </a:ext>
            </a:extLst>
          </p:cNvPr>
          <p:cNvSpPr txBox="1"/>
          <p:nvPr/>
        </p:nvSpPr>
        <p:spPr>
          <a:xfrm>
            <a:off x="1382157" y="898721"/>
            <a:ext cx="17055745" cy="707886"/>
          </a:xfrm>
          <a:prstGeom prst="rect">
            <a:avLst/>
          </a:prstGeom>
          <a:noFill/>
        </p:spPr>
        <p:txBody>
          <a:bodyPr wrap="square">
            <a:spAutoFit/>
          </a:bodyPr>
          <a:lstStyle/>
          <a:p>
            <a:r>
              <a:rPr lang="es-CL" sz="4000" noProof="0" dirty="0"/>
              <a:t>Bandas de frecuencia relevantes</a:t>
            </a:r>
            <a:endParaRPr lang="es-CL" sz="4000" noProof="0" dirty="0">
              <a:latin typeface="Atkinson Hyperlegible"/>
            </a:endParaRPr>
          </a:p>
        </p:txBody>
      </p:sp>
      <p:sp>
        <p:nvSpPr>
          <p:cNvPr id="10" name="CuadroTexto 9">
            <a:extLst>
              <a:ext uri="{FF2B5EF4-FFF2-40B4-BE49-F238E27FC236}">
                <a16:creationId xmlns:a16="http://schemas.microsoft.com/office/drawing/2014/main" id="{647F4520-F24A-DAB5-4184-AC9AA4ABDBCB}"/>
              </a:ext>
            </a:extLst>
          </p:cNvPr>
          <p:cNvSpPr txBox="1"/>
          <p:nvPr/>
        </p:nvSpPr>
        <p:spPr>
          <a:xfrm>
            <a:off x="111368" y="9579632"/>
            <a:ext cx="10785701" cy="830997"/>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noProof="0" dirty="0"/>
              <a:t>Recomendación UIT-R </a:t>
            </a:r>
            <a:r>
              <a:rPr lang="es-CL" sz="2400" noProof="0" dirty="0" err="1"/>
              <a:t>V.431</a:t>
            </a:r>
            <a:r>
              <a:rPr lang="es-CL" sz="2400" noProof="0" dirty="0"/>
              <a:t>-8 </a:t>
            </a:r>
            <a:endParaRPr lang="es-CL" sz="2400" noProof="0" dirty="0">
              <a:latin typeface="Atkinson Hyperlegible"/>
            </a:endParaRPr>
          </a:p>
        </p:txBody>
      </p:sp>
      <p:pic>
        <p:nvPicPr>
          <p:cNvPr id="3" name="Imagen 2">
            <a:extLst>
              <a:ext uri="{FF2B5EF4-FFF2-40B4-BE49-F238E27FC236}">
                <a16:creationId xmlns:a16="http://schemas.microsoft.com/office/drawing/2014/main" id="{F4A62410-CCE4-3486-B5E9-5C70923205AF}"/>
              </a:ext>
            </a:extLst>
          </p:cNvPr>
          <p:cNvPicPr>
            <a:picLocks noChangeAspect="1"/>
          </p:cNvPicPr>
          <p:nvPr/>
        </p:nvPicPr>
        <p:blipFill>
          <a:blip r:embed="rId4"/>
          <a:stretch>
            <a:fillRect/>
          </a:stretch>
        </p:blipFill>
        <p:spPr>
          <a:xfrm>
            <a:off x="2665586" y="2549933"/>
            <a:ext cx="15183164" cy="5724432"/>
          </a:xfrm>
          <a:prstGeom prst="rect">
            <a:avLst/>
          </a:prstGeom>
        </p:spPr>
      </p:pic>
    </p:spTree>
    <p:extLst>
      <p:ext uri="{BB962C8B-B14F-4D97-AF65-F5344CB8AC3E}">
        <p14:creationId xmlns:p14="http://schemas.microsoft.com/office/powerpoint/2010/main" val="3068123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B33414D-ED8C-AECF-D371-C6CDB4DDEFA3}"/>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BAA92570-E6A5-4A86-E2F3-9F113FA857DC}"/>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28CABF69-C67B-3E98-CDFC-69F22A42C38C}"/>
              </a:ext>
            </a:extLst>
          </p:cNvPr>
          <p:cNvSpPr txBox="1"/>
          <p:nvPr/>
        </p:nvSpPr>
        <p:spPr>
          <a:xfrm>
            <a:off x="1382157" y="-44605"/>
            <a:ext cx="18277439" cy="1609928"/>
          </a:xfrm>
          <a:prstGeom prst="rect">
            <a:avLst/>
          </a:prstGeom>
          <a:noFill/>
        </p:spPr>
        <p:txBody>
          <a:bodyPr vert="horz" wrap="square" lIns="0" tIns="349885" rIns="0" bIns="0" rtlCol="0">
            <a:spAutoFit/>
          </a:bodyPr>
          <a:lstStyle/>
          <a:p>
            <a:r>
              <a:rPr lang="es-CL" sz="4400" b="1" noProof="0" dirty="0">
                <a:latin typeface="Atkinson Hyperlegible" pitchFamily="2" charset="77"/>
              </a:rPr>
              <a:t>BANDAS DE FRECUENCIAS</a:t>
            </a:r>
          </a:p>
          <a:p>
            <a:pPr>
              <a:lnSpc>
                <a:spcPct val="150000"/>
              </a:lnSpc>
            </a:pP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971E4666-FCBC-5197-0AF6-A5F0171107C7}"/>
              </a:ext>
            </a:extLst>
          </p:cNvPr>
          <p:cNvSpPr txBox="1"/>
          <p:nvPr/>
        </p:nvSpPr>
        <p:spPr>
          <a:xfrm>
            <a:off x="1382157" y="898721"/>
            <a:ext cx="17055745" cy="707886"/>
          </a:xfrm>
          <a:prstGeom prst="rect">
            <a:avLst/>
          </a:prstGeom>
          <a:noFill/>
        </p:spPr>
        <p:txBody>
          <a:bodyPr wrap="square">
            <a:spAutoFit/>
          </a:bodyPr>
          <a:lstStyle/>
          <a:p>
            <a:r>
              <a:rPr lang="es-CL" sz="4000" noProof="0" dirty="0"/>
              <a:t>Bandas de frecuencia relevantes</a:t>
            </a:r>
            <a:endParaRPr lang="es-CL" sz="4000" noProof="0" dirty="0">
              <a:latin typeface="Atkinson Hyperlegible"/>
            </a:endParaRPr>
          </a:p>
        </p:txBody>
      </p:sp>
      <p:sp>
        <p:nvSpPr>
          <p:cNvPr id="10" name="CuadroTexto 9">
            <a:extLst>
              <a:ext uri="{FF2B5EF4-FFF2-40B4-BE49-F238E27FC236}">
                <a16:creationId xmlns:a16="http://schemas.microsoft.com/office/drawing/2014/main" id="{AFF1AFBA-E507-01AA-BB11-76AC7AF5E1FE}"/>
              </a:ext>
            </a:extLst>
          </p:cNvPr>
          <p:cNvSpPr txBox="1"/>
          <p:nvPr/>
        </p:nvSpPr>
        <p:spPr>
          <a:xfrm>
            <a:off x="111368" y="9579632"/>
            <a:ext cx="10785701" cy="830997"/>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noProof="0" dirty="0"/>
              <a:t>Recomendación UIT-R </a:t>
            </a:r>
            <a:r>
              <a:rPr lang="es-CL" sz="2400" noProof="0" dirty="0" err="1"/>
              <a:t>V.431</a:t>
            </a:r>
            <a:r>
              <a:rPr lang="es-CL" sz="2400" noProof="0" dirty="0"/>
              <a:t>-8 </a:t>
            </a:r>
            <a:endParaRPr lang="es-CL" sz="2400" noProof="0" dirty="0">
              <a:latin typeface="Atkinson Hyperlegible"/>
            </a:endParaRPr>
          </a:p>
        </p:txBody>
      </p:sp>
      <p:pic>
        <p:nvPicPr>
          <p:cNvPr id="4" name="Imagen 3">
            <a:extLst>
              <a:ext uri="{FF2B5EF4-FFF2-40B4-BE49-F238E27FC236}">
                <a16:creationId xmlns:a16="http://schemas.microsoft.com/office/drawing/2014/main" id="{265C0845-7DA0-AAB5-66BB-C5CC4EADCAEB}"/>
              </a:ext>
            </a:extLst>
          </p:cNvPr>
          <p:cNvPicPr>
            <a:picLocks noChangeAspect="1"/>
          </p:cNvPicPr>
          <p:nvPr/>
        </p:nvPicPr>
        <p:blipFill>
          <a:blip r:embed="rId4"/>
          <a:stretch>
            <a:fillRect/>
          </a:stretch>
        </p:blipFill>
        <p:spPr>
          <a:xfrm>
            <a:off x="3712957" y="1591863"/>
            <a:ext cx="14706021" cy="8406575"/>
          </a:xfrm>
          <a:prstGeom prst="rect">
            <a:avLst/>
          </a:prstGeom>
        </p:spPr>
      </p:pic>
    </p:spTree>
    <p:extLst>
      <p:ext uri="{BB962C8B-B14F-4D97-AF65-F5344CB8AC3E}">
        <p14:creationId xmlns:p14="http://schemas.microsoft.com/office/powerpoint/2010/main" val="1398053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879180B-57A4-433D-275D-E26C1F099971}"/>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6208B9E2-48B3-B898-31DB-0FFFB09E8139}"/>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6F7BBF93-9E9D-6054-A1B4-CAA623EECDD3}"/>
              </a:ext>
            </a:extLst>
          </p:cNvPr>
          <p:cNvSpPr txBox="1"/>
          <p:nvPr/>
        </p:nvSpPr>
        <p:spPr>
          <a:xfrm>
            <a:off x="1382157" y="-44605"/>
            <a:ext cx="18277439" cy="1609928"/>
          </a:xfrm>
          <a:prstGeom prst="rect">
            <a:avLst/>
          </a:prstGeom>
          <a:noFill/>
        </p:spPr>
        <p:txBody>
          <a:bodyPr vert="horz" wrap="square" lIns="0" tIns="349885" rIns="0" bIns="0" rtlCol="0">
            <a:spAutoFit/>
          </a:bodyPr>
          <a:lstStyle/>
          <a:p>
            <a:r>
              <a:rPr lang="es-CL" sz="4400" b="1" noProof="0" dirty="0">
                <a:latin typeface="Atkinson Hyperlegible" pitchFamily="2" charset="77"/>
              </a:rPr>
              <a:t>BANDAS DE FRECUENCIAS</a:t>
            </a:r>
          </a:p>
          <a:p>
            <a:pPr>
              <a:lnSpc>
                <a:spcPct val="150000"/>
              </a:lnSpc>
            </a:pP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31283B1B-83D3-16E1-E450-F83DB6E4C1E4}"/>
              </a:ext>
            </a:extLst>
          </p:cNvPr>
          <p:cNvSpPr txBox="1"/>
          <p:nvPr/>
        </p:nvSpPr>
        <p:spPr>
          <a:xfrm>
            <a:off x="1382157" y="898721"/>
            <a:ext cx="17055745" cy="707886"/>
          </a:xfrm>
          <a:prstGeom prst="rect">
            <a:avLst/>
          </a:prstGeom>
          <a:noFill/>
        </p:spPr>
        <p:txBody>
          <a:bodyPr wrap="square">
            <a:spAutoFit/>
          </a:bodyPr>
          <a:lstStyle/>
          <a:p>
            <a:r>
              <a:rPr lang="es-CL" sz="4000" noProof="0" dirty="0"/>
              <a:t>Bandas de frecuencia relevantes</a:t>
            </a:r>
            <a:endParaRPr lang="es-CL" sz="4000" noProof="0" dirty="0">
              <a:latin typeface="Atkinson Hyperlegible"/>
            </a:endParaRPr>
          </a:p>
        </p:txBody>
      </p:sp>
      <p:sp>
        <p:nvSpPr>
          <p:cNvPr id="10" name="CuadroTexto 9">
            <a:extLst>
              <a:ext uri="{FF2B5EF4-FFF2-40B4-BE49-F238E27FC236}">
                <a16:creationId xmlns:a16="http://schemas.microsoft.com/office/drawing/2014/main" id="{FC50DF3E-7754-234F-AB06-B8ED5654AB7C}"/>
              </a:ext>
            </a:extLst>
          </p:cNvPr>
          <p:cNvSpPr txBox="1"/>
          <p:nvPr/>
        </p:nvSpPr>
        <p:spPr>
          <a:xfrm>
            <a:off x="111368" y="9579632"/>
            <a:ext cx="10785701" cy="830997"/>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noProof="0" dirty="0"/>
              <a:t>Recomendación UIT-R </a:t>
            </a:r>
            <a:r>
              <a:rPr lang="es-CL" sz="2400" noProof="0" dirty="0" err="1"/>
              <a:t>V.431</a:t>
            </a:r>
            <a:r>
              <a:rPr lang="es-CL" sz="2400" noProof="0" dirty="0"/>
              <a:t>-8 </a:t>
            </a:r>
            <a:endParaRPr lang="es-CL" sz="2400" noProof="0" dirty="0">
              <a:latin typeface="Atkinson Hyperlegible"/>
            </a:endParaRPr>
          </a:p>
        </p:txBody>
      </p:sp>
      <p:pic>
        <p:nvPicPr>
          <p:cNvPr id="3" name="Imagen 2">
            <a:extLst>
              <a:ext uri="{FF2B5EF4-FFF2-40B4-BE49-F238E27FC236}">
                <a16:creationId xmlns:a16="http://schemas.microsoft.com/office/drawing/2014/main" id="{8A7B2FBE-F7C1-3FFC-F382-2040E2162449}"/>
              </a:ext>
            </a:extLst>
          </p:cNvPr>
          <p:cNvPicPr>
            <a:picLocks noChangeAspect="1"/>
          </p:cNvPicPr>
          <p:nvPr/>
        </p:nvPicPr>
        <p:blipFill>
          <a:blip r:embed="rId4"/>
          <a:stretch>
            <a:fillRect/>
          </a:stretch>
        </p:blipFill>
        <p:spPr>
          <a:xfrm>
            <a:off x="4787253" y="1759141"/>
            <a:ext cx="13934690" cy="8476592"/>
          </a:xfrm>
          <a:prstGeom prst="rect">
            <a:avLst/>
          </a:prstGeom>
        </p:spPr>
      </p:pic>
    </p:spTree>
    <p:extLst>
      <p:ext uri="{BB962C8B-B14F-4D97-AF65-F5344CB8AC3E}">
        <p14:creationId xmlns:p14="http://schemas.microsoft.com/office/powerpoint/2010/main" val="4267739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338A7C5-65AD-54F0-AC11-4D286004E07D}"/>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B02AE04D-6F8D-EA75-E35B-0385DFD15BFD}"/>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A33BBA7F-284C-0159-8840-FDCB2C6F1F10}"/>
              </a:ext>
            </a:extLst>
          </p:cNvPr>
          <p:cNvSpPr txBox="1"/>
          <p:nvPr/>
        </p:nvSpPr>
        <p:spPr>
          <a:xfrm>
            <a:off x="1382157" y="-44605"/>
            <a:ext cx="18277439" cy="1609928"/>
          </a:xfrm>
          <a:prstGeom prst="rect">
            <a:avLst/>
          </a:prstGeom>
          <a:noFill/>
        </p:spPr>
        <p:txBody>
          <a:bodyPr vert="horz" wrap="square" lIns="0" tIns="349885" rIns="0" bIns="0" rtlCol="0">
            <a:spAutoFit/>
          </a:bodyPr>
          <a:lstStyle/>
          <a:p>
            <a:r>
              <a:rPr lang="es-CL" sz="4400" b="1" noProof="0" dirty="0">
                <a:latin typeface="Atkinson Hyperlegible" pitchFamily="2" charset="77"/>
              </a:rPr>
              <a:t>BANDAS DE FRECUENCIAS</a:t>
            </a:r>
          </a:p>
          <a:p>
            <a:pPr>
              <a:lnSpc>
                <a:spcPct val="150000"/>
              </a:lnSpc>
            </a:pP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427B7BCB-9A36-46D3-C985-5E3BD5329555}"/>
              </a:ext>
            </a:extLst>
          </p:cNvPr>
          <p:cNvSpPr txBox="1"/>
          <p:nvPr/>
        </p:nvSpPr>
        <p:spPr>
          <a:xfrm>
            <a:off x="1382157" y="898721"/>
            <a:ext cx="17055745" cy="707886"/>
          </a:xfrm>
          <a:prstGeom prst="rect">
            <a:avLst/>
          </a:prstGeom>
          <a:noFill/>
        </p:spPr>
        <p:txBody>
          <a:bodyPr wrap="square">
            <a:spAutoFit/>
          </a:bodyPr>
          <a:lstStyle/>
          <a:p>
            <a:r>
              <a:rPr lang="es-CL" sz="4000" noProof="0" dirty="0"/>
              <a:t>Actividad (10 min): Escenario → banda de frecuencia → justificación</a:t>
            </a:r>
            <a:endParaRPr lang="es-CL" sz="4000" noProof="0" dirty="0">
              <a:latin typeface="Atkinson Hyperlegible"/>
            </a:endParaRPr>
          </a:p>
        </p:txBody>
      </p:sp>
      <p:sp>
        <p:nvSpPr>
          <p:cNvPr id="10" name="CuadroTexto 9">
            <a:extLst>
              <a:ext uri="{FF2B5EF4-FFF2-40B4-BE49-F238E27FC236}">
                <a16:creationId xmlns:a16="http://schemas.microsoft.com/office/drawing/2014/main" id="{CF3F719C-B329-DB76-9D4D-E1FA1EE68FB8}"/>
              </a:ext>
            </a:extLst>
          </p:cNvPr>
          <p:cNvSpPr txBox="1"/>
          <p:nvPr/>
        </p:nvSpPr>
        <p:spPr>
          <a:xfrm>
            <a:off x="921616" y="8840969"/>
            <a:ext cx="10785701" cy="1200329"/>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noProof="0" dirty="0" err="1">
                <a:latin typeface="Atkinson Hyperlegible"/>
              </a:rPr>
              <a:t>ITU</a:t>
            </a:r>
            <a:r>
              <a:rPr lang="es-CL" sz="2400" noProof="0" dirty="0">
                <a:latin typeface="Atkinson Hyperlegible"/>
              </a:rPr>
              <a:t> Radio </a:t>
            </a:r>
            <a:r>
              <a:rPr lang="es-CL" sz="2400" noProof="0" dirty="0" err="1">
                <a:latin typeface="Atkinson Hyperlegible"/>
              </a:rPr>
              <a:t>Regulations</a:t>
            </a:r>
            <a:r>
              <a:rPr lang="es-CL" sz="2400" noProof="0" dirty="0">
                <a:latin typeface="Atkinson Hyperlegible"/>
              </a:rPr>
              <a:t> (Ed. 2024</a:t>
            </a:r>
            <a:r>
              <a:rPr lang="es-CL" sz="2400" noProof="0" dirty="0"/>
              <a:t>)</a:t>
            </a:r>
          </a:p>
          <a:p>
            <a:r>
              <a:rPr lang="es-CL" sz="2400" b="1" noProof="0" dirty="0" err="1"/>
              <a:t>Article</a:t>
            </a:r>
            <a:r>
              <a:rPr lang="es-CL" sz="2400" b="1" noProof="0" dirty="0"/>
              <a:t> 5 – Table </a:t>
            </a:r>
            <a:r>
              <a:rPr lang="es-CL" sz="2400" b="1" noProof="0" dirty="0" err="1"/>
              <a:t>of</a:t>
            </a:r>
            <a:r>
              <a:rPr lang="es-CL" sz="2400" b="1" noProof="0" dirty="0"/>
              <a:t> </a:t>
            </a:r>
            <a:r>
              <a:rPr lang="es-CL" sz="2400" b="1" noProof="0" dirty="0" err="1"/>
              <a:t>Frequency</a:t>
            </a:r>
            <a:r>
              <a:rPr lang="es-CL" sz="2400" b="1" noProof="0" dirty="0"/>
              <a:t> </a:t>
            </a:r>
            <a:r>
              <a:rPr lang="es-CL" sz="2400" b="1" noProof="0" dirty="0" err="1"/>
              <a:t>Allocations</a:t>
            </a:r>
            <a:r>
              <a:rPr lang="es-CL" sz="2400" b="1" noProof="0" dirty="0"/>
              <a:t>”</a:t>
            </a:r>
            <a:r>
              <a:rPr lang="es-CL" sz="2400" noProof="0" dirty="0"/>
              <a:t> (Tabla de atribución de frecuencias).</a:t>
            </a:r>
            <a:endParaRPr lang="es-CL" sz="2400" noProof="0" dirty="0">
              <a:latin typeface="Atkinson Hyperlegible"/>
            </a:endParaRPr>
          </a:p>
        </p:txBody>
      </p:sp>
      <p:sp>
        <p:nvSpPr>
          <p:cNvPr id="17" name="5 Rectángulo">
            <a:extLst>
              <a:ext uri="{FF2B5EF4-FFF2-40B4-BE49-F238E27FC236}">
                <a16:creationId xmlns:a16="http://schemas.microsoft.com/office/drawing/2014/main" id="{D5E27340-8511-BA4D-51E7-BD4CF5E146A7}"/>
              </a:ext>
            </a:extLst>
          </p:cNvPr>
          <p:cNvSpPr/>
          <p:nvPr/>
        </p:nvSpPr>
        <p:spPr>
          <a:xfrm>
            <a:off x="1233601" y="2001996"/>
            <a:ext cx="18628366" cy="1569660"/>
          </a:xfrm>
          <a:prstGeom prst="rect">
            <a:avLst/>
          </a:prstGeom>
          <a:noFill/>
          <a:effectLst/>
        </p:spPr>
        <p:txBody>
          <a:bodyPr wrap="square" lIns="91440" tIns="45720" rIns="91440" bIns="45720" anchor="t">
            <a:spAutoFit/>
          </a:bodyPr>
          <a:lstStyle/>
          <a:p>
            <a:pPr marL="571500" indent="-571500" algn="just">
              <a:buFont typeface="Arial" panose="020B0604020202020204" pitchFamily="34" charset="0"/>
              <a:buChar char="•"/>
            </a:pPr>
            <a:r>
              <a:rPr lang="es-CL" sz="3200" noProof="0" dirty="0">
                <a:latin typeface="Atkinson Hyperlegible"/>
              </a:rPr>
              <a:t>Lea cada escenario.</a:t>
            </a:r>
          </a:p>
          <a:p>
            <a:pPr marL="571500" indent="-571500" algn="just">
              <a:buFont typeface="Arial" panose="020B0604020202020204" pitchFamily="34" charset="0"/>
              <a:buChar char="•"/>
            </a:pPr>
            <a:r>
              <a:rPr lang="es-CL" sz="3200" noProof="0" dirty="0">
                <a:latin typeface="Atkinson Hyperlegible"/>
              </a:rPr>
              <a:t>Indique qué banda usaría (HF / </a:t>
            </a:r>
            <a:r>
              <a:rPr lang="es-CL" sz="3200" noProof="0" dirty="0" err="1">
                <a:latin typeface="Atkinson Hyperlegible"/>
              </a:rPr>
              <a:t>VHF</a:t>
            </a:r>
            <a:r>
              <a:rPr lang="es-CL" sz="3200" noProof="0" dirty="0">
                <a:latin typeface="Atkinson Hyperlegible"/>
              </a:rPr>
              <a:t> / </a:t>
            </a:r>
            <a:r>
              <a:rPr lang="es-CL" sz="3200" noProof="0" dirty="0" err="1">
                <a:latin typeface="Atkinson Hyperlegible"/>
              </a:rPr>
              <a:t>UHF</a:t>
            </a:r>
            <a:r>
              <a:rPr lang="es-CL" sz="3200" noProof="0" dirty="0">
                <a:latin typeface="Atkinson Hyperlegible"/>
              </a:rPr>
              <a:t> / Microondas) a nivel general.</a:t>
            </a:r>
          </a:p>
          <a:p>
            <a:pPr marL="571500" indent="-571500" algn="just">
              <a:buFont typeface="Arial" panose="020B0604020202020204" pitchFamily="34" charset="0"/>
              <a:buChar char="•"/>
            </a:pPr>
            <a:r>
              <a:rPr lang="es-CL" sz="3200" noProof="0" dirty="0">
                <a:latin typeface="Atkinson Hyperlegible"/>
              </a:rPr>
              <a:t>Justifique con 2 criterios: alcance, obstáculos, interferencia, tamaño de antena, planificación del enlace.</a:t>
            </a:r>
            <a:endParaRPr lang="es-CL" sz="3200" b="1" noProof="0" dirty="0">
              <a:latin typeface="Atkinson Hyperlegible"/>
            </a:endParaRPr>
          </a:p>
        </p:txBody>
      </p:sp>
      <p:sp>
        <p:nvSpPr>
          <p:cNvPr id="3" name="5 Rectángulo">
            <a:extLst>
              <a:ext uri="{FF2B5EF4-FFF2-40B4-BE49-F238E27FC236}">
                <a16:creationId xmlns:a16="http://schemas.microsoft.com/office/drawing/2014/main" id="{9E2E7475-3EBD-E40B-063D-49B55423D65A}"/>
              </a:ext>
            </a:extLst>
          </p:cNvPr>
          <p:cNvSpPr/>
          <p:nvPr/>
        </p:nvSpPr>
        <p:spPr>
          <a:xfrm>
            <a:off x="1233601" y="3851822"/>
            <a:ext cx="18628366" cy="2062103"/>
          </a:xfrm>
          <a:prstGeom prst="rect">
            <a:avLst/>
          </a:prstGeom>
          <a:noFill/>
          <a:effectLst/>
        </p:spPr>
        <p:txBody>
          <a:bodyPr wrap="square" lIns="91440" tIns="45720" rIns="91440" bIns="45720" anchor="t">
            <a:spAutoFit/>
          </a:bodyPr>
          <a:lstStyle/>
          <a:p>
            <a:r>
              <a:rPr lang="es-CL" sz="3200" b="1" noProof="0" dirty="0">
                <a:latin typeface="Atkinson Hyperlegible"/>
              </a:rPr>
              <a:t>Escenario A:</a:t>
            </a:r>
            <a:r>
              <a:rPr lang="es-CL" sz="3200" noProof="0" dirty="0">
                <a:latin typeface="Atkinson Hyperlegible"/>
              </a:rPr>
              <a:t> Comunicación táctica en terreno (radios militares), prioriza cobertura y robustez.</a:t>
            </a:r>
            <a:br>
              <a:rPr lang="es-CL" sz="3200" noProof="0" dirty="0">
                <a:latin typeface="Atkinson Hyperlegible"/>
              </a:rPr>
            </a:br>
            <a:r>
              <a:rPr lang="es-CL" sz="3200" b="1" noProof="0" dirty="0">
                <a:latin typeface="Atkinson Hyperlegible"/>
              </a:rPr>
              <a:t>Escenario B:</a:t>
            </a:r>
            <a:r>
              <a:rPr lang="es-CL" sz="3200" noProof="0" dirty="0">
                <a:latin typeface="Atkinson Hyperlegible"/>
              </a:rPr>
              <a:t> Comunicación local dentro de una instalación, usuarios móviles y acceso rápido.</a:t>
            </a:r>
            <a:br>
              <a:rPr lang="es-CL" sz="3200" noProof="0" dirty="0">
                <a:latin typeface="Atkinson Hyperlegible"/>
              </a:rPr>
            </a:br>
            <a:r>
              <a:rPr lang="es-CL" sz="3200" b="1" noProof="0" dirty="0">
                <a:latin typeface="Atkinson Hyperlegible"/>
              </a:rPr>
              <a:t>Escenario C:</a:t>
            </a:r>
            <a:r>
              <a:rPr lang="es-CL" sz="3200" noProof="0" dirty="0">
                <a:latin typeface="Atkinson Hyperlegible"/>
              </a:rPr>
              <a:t> Enlace punto a punto de última milla (</a:t>
            </a:r>
            <a:r>
              <a:rPr lang="es-CL" sz="3200" noProof="0" dirty="0" err="1">
                <a:latin typeface="Atkinson Hyperlegible"/>
              </a:rPr>
              <a:t>backhaul</a:t>
            </a:r>
            <a:r>
              <a:rPr lang="es-CL" sz="3200" noProof="0" dirty="0">
                <a:latin typeface="Atkinson Hyperlegible"/>
              </a:rPr>
              <a:t>), se puede planificar el trayecto.</a:t>
            </a:r>
            <a:br>
              <a:rPr lang="es-CL" sz="3200" noProof="0" dirty="0">
                <a:latin typeface="Atkinson Hyperlegible"/>
              </a:rPr>
            </a:br>
            <a:r>
              <a:rPr lang="es-CL" sz="3200" b="1" noProof="0" dirty="0">
                <a:latin typeface="Atkinson Hyperlegible"/>
              </a:rPr>
              <a:t>Escenario D:</a:t>
            </a:r>
            <a:r>
              <a:rPr lang="es-CL" sz="3200" noProof="0" dirty="0">
                <a:latin typeface="Atkinson Hyperlegible"/>
              </a:rPr>
              <a:t> Enlace de alta estabilidad entre dos puntos fijos con requisitos de alta capacidad.</a:t>
            </a:r>
          </a:p>
        </p:txBody>
      </p:sp>
    </p:spTree>
    <p:extLst>
      <p:ext uri="{BB962C8B-B14F-4D97-AF65-F5344CB8AC3E}">
        <p14:creationId xmlns:p14="http://schemas.microsoft.com/office/powerpoint/2010/main" val="1481329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DED41F5-AA03-D66E-26F7-FF676B726BA4}"/>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F103D046-DF09-3820-FD40-0F219C8A0032}"/>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216A7AC2-9ED8-288F-34FA-7D751CAFD44A}"/>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PROPAGACIÓN EN LA ATMÓSFERA</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BEEC7226-3CA9-900E-E047-27B6E3E2F1F6}"/>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Propagación en la atmósfera (canal RF = ambiente)</a:t>
            </a:r>
            <a:endParaRPr lang="es-CL" sz="4000" noProof="0" dirty="0">
              <a:latin typeface="Atkinson Hyperlegible"/>
            </a:endParaRPr>
          </a:p>
        </p:txBody>
      </p:sp>
      <p:sp>
        <p:nvSpPr>
          <p:cNvPr id="10" name="CuadroTexto 9">
            <a:extLst>
              <a:ext uri="{FF2B5EF4-FFF2-40B4-BE49-F238E27FC236}">
                <a16:creationId xmlns:a16="http://schemas.microsoft.com/office/drawing/2014/main" id="{91D80369-14DE-4F09-B674-E6C2FF7D83A9}"/>
              </a:ext>
            </a:extLst>
          </p:cNvPr>
          <p:cNvSpPr txBox="1"/>
          <p:nvPr/>
        </p:nvSpPr>
        <p:spPr>
          <a:xfrm>
            <a:off x="966586" y="7611775"/>
            <a:ext cx="10785701" cy="1938992"/>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noProof="0" dirty="0" err="1">
                <a:latin typeface="Atkinson Hyperlegible"/>
              </a:rPr>
              <a:t>ITU</a:t>
            </a:r>
            <a:r>
              <a:rPr lang="es-CL" sz="2400" noProof="0" dirty="0">
                <a:latin typeface="Atkinson Hyperlegible"/>
              </a:rPr>
              <a:t> Radio </a:t>
            </a:r>
            <a:r>
              <a:rPr lang="es-CL" sz="2400" noProof="0" dirty="0" err="1">
                <a:latin typeface="Atkinson Hyperlegible"/>
              </a:rPr>
              <a:t>Regulations</a:t>
            </a:r>
            <a:r>
              <a:rPr lang="es-CL" sz="2400" noProof="0" dirty="0">
                <a:latin typeface="Atkinson Hyperlegible"/>
              </a:rPr>
              <a:t> (Ed. 2024)</a:t>
            </a:r>
          </a:p>
          <a:p>
            <a:r>
              <a:rPr lang="es-ES" sz="2400" dirty="0" err="1">
                <a:latin typeface="Atkinson Hyperlegible"/>
              </a:rPr>
              <a:t>ITU</a:t>
            </a:r>
            <a:r>
              <a:rPr lang="es-ES" sz="2400" dirty="0">
                <a:latin typeface="Atkinson Hyperlegible"/>
              </a:rPr>
              <a:t>-R </a:t>
            </a:r>
            <a:r>
              <a:rPr lang="es-ES" sz="2400" dirty="0" err="1">
                <a:latin typeface="Atkinson Hyperlegible"/>
              </a:rPr>
              <a:t>P.676</a:t>
            </a:r>
            <a:r>
              <a:rPr lang="es-ES" sz="2400" dirty="0">
                <a:latin typeface="Atkinson Hyperlegible"/>
              </a:rPr>
              <a:t> (atenuación por gases atmosféricos)</a:t>
            </a:r>
          </a:p>
          <a:p>
            <a:r>
              <a:rPr lang="es-ES" sz="2400" dirty="0" err="1">
                <a:latin typeface="Atkinson Hyperlegible"/>
              </a:rPr>
              <a:t>ITU</a:t>
            </a:r>
            <a:r>
              <a:rPr lang="es-ES" sz="2400" dirty="0">
                <a:latin typeface="Atkinson Hyperlegible"/>
              </a:rPr>
              <a:t>-R </a:t>
            </a:r>
            <a:r>
              <a:rPr lang="es-ES" sz="2400" dirty="0" err="1">
                <a:latin typeface="Atkinson Hyperlegible"/>
              </a:rPr>
              <a:t>P.838</a:t>
            </a:r>
            <a:r>
              <a:rPr lang="es-ES" sz="2400" dirty="0">
                <a:latin typeface="Atkinson Hyperlegible"/>
              </a:rPr>
              <a:t> (atenuación específica por lluvia)</a:t>
            </a:r>
          </a:p>
          <a:p>
            <a:r>
              <a:rPr lang="es-ES" sz="2400" dirty="0" err="1">
                <a:latin typeface="Atkinson Hyperlegible"/>
              </a:rPr>
              <a:t>ITU</a:t>
            </a:r>
            <a:r>
              <a:rPr lang="es-ES" sz="2400" dirty="0">
                <a:latin typeface="Atkinson Hyperlegible"/>
              </a:rPr>
              <a:t>-R </a:t>
            </a:r>
            <a:r>
              <a:rPr lang="es-ES" sz="2400" dirty="0" err="1">
                <a:latin typeface="Atkinson Hyperlegible"/>
              </a:rPr>
              <a:t>P.618</a:t>
            </a:r>
            <a:r>
              <a:rPr lang="es-ES" sz="2400" dirty="0">
                <a:latin typeface="Atkinson Hyperlegible"/>
              </a:rPr>
              <a:t> (predicción para enlaces Tierra-espacio, satélite)</a:t>
            </a:r>
            <a:endParaRPr lang="es-CL" sz="2400" noProof="0" dirty="0">
              <a:latin typeface="Atkinson Hyperlegible"/>
            </a:endParaRPr>
          </a:p>
        </p:txBody>
      </p:sp>
      <p:sp>
        <p:nvSpPr>
          <p:cNvPr id="17" name="5 Rectángulo">
            <a:extLst>
              <a:ext uri="{FF2B5EF4-FFF2-40B4-BE49-F238E27FC236}">
                <a16:creationId xmlns:a16="http://schemas.microsoft.com/office/drawing/2014/main" id="{3EC9BF59-BD62-7D57-763B-49EC407862AA}"/>
              </a:ext>
            </a:extLst>
          </p:cNvPr>
          <p:cNvSpPr/>
          <p:nvPr/>
        </p:nvSpPr>
        <p:spPr>
          <a:xfrm>
            <a:off x="1233601" y="2001996"/>
            <a:ext cx="18628366" cy="3046988"/>
          </a:xfrm>
          <a:prstGeom prst="rect">
            <a:avLst/>
          </a:prstGeom>
          <a:noFill/>
          <a:effectLst/>
        </p:spPr>
        <p:txBody>
          <a:bodyPr wrap="square" lIns="91440" tIns="45720" rIns="91440" bIns="45720" anchor="t">
            <a:spAutoFit/>
          </a:bodyPr>
          <a:lstStyle/>
          <a:p>
            <a:pPr marL="571500" indent="-571500" algn="just">
              <a:buFont typeface="Arial" panose="020B0604020202020204" pitchFamily="34" charset="0"/>
              <a:buChar char="•"/>
            </a:pPr>
            <a:r>
              <a:rPr lang="es-ES" sz="3200" noProof="0" dirty="0">
                <a:latin typeface="Atkinson Hyperlegible"/>
              </a:rPr>
              <a:t>En RF, el canal no es ideal: la atmósfera puede introducir pérdidas adicionales.</a:t>
            </a:r>
          </a:p>
          <a:p>
            <a:pPr marL="571500" indent="-571500" algn="just">
              <a:buFont typeface="Arial" panose="020B0604020202020204" pitchFamily="34" charset="0"/>
              <a:buChar char="•"/>
            </a:pPr>
            <a:r>
              <a:rPr lang="es-ES" sz="3200" noProof="0" dirty="0">
                <a:latin typeface="Atkinson Hyperlegible"/>
              </a:rPr>
              <a:t>Factores como gases, humedad, lluvia y condiciones del entorno influyen en la señal.</a:t>
            </a:r>
          </a:p>
          <a:p>
            <a:pPr marL="571500" indent="-571500" algn="just">
              <a:buFont typeface="Arial" panose="020B0604020202020204" pitchFamily="34" charset="0"/>
              <a:buChar char="•"/>
            </a:pPr>
            <a:r>
              <a:rPr lang="es-ES" sz="3200" noProof="0" dirty="0">
                <a:latin typeface="Atkinson Hyperlegible"/>
              </a:rPr>
              <a:t>El impacto depende de la frecuencia, la distancia y el tipo de enlace.</a:t>
            </a:r>
          </a:p>
          <a:p>
            <a:pPr marL="571500" indent="-571500" algn="just">
              <a:buFont typeface="Arial" panose="020B0604020202020204" pitchFamily="34" charset="0"/>
              <a:buChar char="•"/>
            </a:pPr>
            <a:r>
              <a:rPr lang="es-ES" sz="3200" noProof="0" dirty="0">
                <a:latin typeface="Atkinson Hyperlegible"/>
              </a:rPr>
              <a:t>Este concepto se usará luego en microondas y satélite.</a:t>
            </a:r>
          </a:p>
          <a:p>
            <a:pPr marL="571500" indent="-571500" algn="just">
              <a:buFont typeface="Arial" panose="020B0604020202020204" pitchFamily="34" charset="0"/>
              <a:buChar char="•"/>
            </a:pPr>
            <a:endParaRPr lang="es-ES" sz="3200" b="1" dirty="0">
              <a:latin typeface="Atkinson Hyperlegible"/>
            </a:endParaRPr>
          </a:p>
          <a:p>
            <a:pPr algn="ctr"/>
            <a:r>
              <a:rPr lang="es-ES" sz="3200" b="1" dirty="0">
                <a:effectLst>
                  <a:outerShdw blurRad="38100" dist="38100" dir="2700000" algn="tl">
                    <a:srgbClr val="000000">
                      <a:alpha val="43137"/>
                    </a:srgbClr>
                  </a:outerShdw>
                </a:effectLst>
                <a:latin typeface="Atkinson Hyperlegible"/>
              </a:rPr>
              <a:t>La atmósfera es parte del canal: puede cambiar la calidad del enlace.</a:t>
            </a:r>
            <a:endParaRPr lang="es-CL" sz="3200" b="1" noProof="0" dirty="0">
              <a:effectLst>
                <a:outerShdw blurRad="38100" dist="38100" dir="2700000" algn="tl">
                  <a:srgbClr val="000000">
                    <a:alpha val="43137"/>
                  </a:srgbClr>
                </a:outerShdw>
              </a:effectLst>
              <a:latin typeface="Atkinson Hyperlegible"/>
            </a:endParaRPr>
          </a:p>
        </p:txBody>
      </p:sp>
      <p:pic>
        <p:nvPicPr>
          <p:cNvPr id="6" name="Imagen 5">
            <a:extLst>
              <a:ext uri="{FF2B5EF4-FFF2-40B4-BE49-F238E27FC236}">
                <a16:creationId xmlns:a16="http://schemas.microsoft.com/office/drawing/2014/main" id="{90F587E8-0AC2-0795-A168-968D70235B5C}"/>
              </a:ext>
            </a:extLst>
          </p:cNvPr>
          <p:cNvPicPr>
            <a:picLocks noChangeAspect="1"/>
          </p:cNvPicPr>
          <p:nvPr/>
        </p:nvPicPr>
        <p:blipFill>
          <a:blip r:embed="rId4"/>
          <a:stretch>
            <a:fillRect/>
          </a:stretch>
        </p:blipFill>
        <p:spPr>
          <a:xfrm>
            <a:off x="8632110" y="5314685"/>
            <a:ext cx="11296284" cy="37693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Elipse 7">
            <a:extLst>
              <a:ext uri="{FF2B5EF4-FFF2-40B4-BE49-F238E27FC236}">
                <a16:creationId xmlns:a16="http://schemas.microsoft.com/office/drawing/2014/main" id="{96B33393-4F20-CE36-EEE7-7DB8C48555BC}"/>
              </a:ext>
            </a:extLst>
          </p:cNvPr>
          <p:cNvSpPr/>
          <p:nvPr/>
        </p:nvSpPr>
        <p:spPr>
          <a:xfrm>
            <a:off x="12711657" y="5181834"/>
            <a:ext cx="2068643" cy="2297090"/>
          </a:xfrm>
          <a:prstGeom prst="ellipse">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699209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265E2700-89AD-6ABA-ECFC-550AE81541DE}"/>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88657D75-18FF-7933-CD7E-77711B6AD04A}"/>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908726C8-1A65-18B6-CF7C-95E005FED151}"/>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PROPAGACIÓN EN LA ATMÓSFERA</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62249C67-8AFB-7896-32EB-51A30E22EC6F}"/>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Factores atmosféricos que afectan un enlace RF</a:t>
            </a:r>
            <a:endParaRPr lang="es-CL" sz="4000" noProof="0" dirty="0">
              <a:latin typeface="Atkinson Hyperlegible"/>
            </a:endParaRPr>
          </a:p>
        </p:txBody>
      </p:sp>
      <p:sp>
        <p:nvSpPr>
          <p:cNvPr id="10" name="CuadroTexto 9">
            <a:extLst>
              <a:ext uri="{FF2B5EF4-FFF2-40B4-BE49-F238E27FC236}">
                <a16:creationId xmlns:a16="http://schemas.microsoft.com/office/drawing/2014/main" id="{A323E742-4723-345A-FFC0-ECC5A0421FCD}"/>
              </a:ext>
            </a:extLst>
          </p:cNvPr>
          <p:cNvSpPr txBox="1"/>
          <p:nvPr/>
        </p:nvSpPr>
        <p:spPr>
          <a:xfrm>
            <a:off x="966586" y="7611775"/>
            <a:ext cx="10785701" cy="1938992"/>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noProof="0" dirty="0" err="1">
                <a:latin typeface="Atkinson Hyperlegible"/>
              </a:rPr>
              <a:t>ITU</a:t>
            </a:r>
            <a:r>
              <a:rPr lang="es-CL" sz="2400" noProof="0" dirty="0">
                <a:latin typeface="Atkinson Hyperlegible"/>
              </a:rPr>
              <a:t> Radio </a:t>
            </a:r>
            <a:r>
              <a:rPr lang="es-CL" sz="2400" noProof="0" dirty="0" err="1">
                <a:latin typeface="Atkinson Hyperlegible"/>
              </a:rPr>
              <a:t>Regulations</a:t>
            </a:r>
            <a:r>
              <a:rPr lang="es-CL" sz="2400" noProof="0" dirty="0">
                <a:latin typeface="Atkinson Hyperlegible"/>
              </a:rPr>
              <a:t> (Ed. 2024)</a:t>
            </a:r>
          </a:p>
          <a:p>
            <a:r>
              <a:rPr lang="es-ES" sz="2400" dirty="0" err="1">
                <a:latin typeface="Atkinson Hyperlegible"/>
              </a:rPr>
              <a:t>ITU</a:t>
            </a:r>
            <a:r>
              <a:rPr lang="es-ES" sz="2400" dirty="0">
                <a:latin typeface="Atkinson Hyperlegible"/>
              </a:rPr>
              <a:t>-R </a:t>
            </a:r>
            <a:r>
              <a:rPr lang="es-ES" sz="2400" dirty="0" err="1">
                <a:latin typeface="Atkinson Hyperlegible"/>
              </a:rPr>
              <a:t>P.676</a:t>
            </a:r>
            <a:r>
              <a:rPr lang="es-ES" sz="2400" dirty="0">
                <a:latin typeface="Atkinson Hyperlegible"/>
              </a:rPr>
              <a:t> (atenuación por gases atmosféricos)</a:t>
            </a:r>
          </a:p>
          <a:p>
            <a:r>
              <a:rPr lang="es-ES" sz="2400" dirty="0" err="1">
                <a:latin typeface="Atkinson Hyperlegible"/>
              </a:rPr>
              <a:t>ITU</a:t>
            </a:r>
            <a:r>
              <a:rPr lang="es-ES" sz="2400" dirty="0">
                <a:latin typeface="Atkinson Hyperlegible"/>
              </a:rPr>
              <a:t>-R </a:t>
            </a:r>
            <a:r>
              <a:rPr lang="es-ES" sz="2400" dirty="0" err="1">
                <a:latin typeface="Atkinson Hyperlegible"/>
              </a:rPr>
              <a:t>P.838</a:t>
            </a:r>
            <a:r>
              <a:rPr lang="es-ES" sz="2400" dirty="0">
                <a:latin typeface="Atkinson Hyperlegible"/>
              </a:rPr>
              <a:t> (atenuación específica por lluvia)</a:t>
            </a:r>
          </a:p>
          <a:p>
            <a:r>
              <a:rPr lang="es-ES" sz="2400" dirty="0" err="1">
                <a:latin typeface="Atkinson Hyperlegible"/>
              </a:rPr>
              <a:t>ITU</a:t>
            </a:r>
            <a:r>
              <a:rPr lang="es-ES" sz="2400" dirty="0">
                <a:latin typeface="Atkinson Hyperlegible"/>
              </a:rPr>
              <a:t>-R </a:t>
            </a:r>
            <a:r>
              <a:rPr lang="es-ES" sz="2400" dirty="0" err="1">
                <a:latin typeface="Atkinson Hyperlegible"/>
              </a:rPr>
              <a:t>P.618</a:t>
            </a:r>
            <a:r>
              <a:rPr lang="es-ES" sz="2400" dirty="0">
                <a:latin typeface="Atkinson Hyperlegible"/>
              </a:rPr>
              <a:t> (predicción para enlaces Tierra-espacio, satélite)</a:t>
            </a:r>
            <a:endParaRPr lang="es-CL" sz="2400" noProof="0" dirty="0">
              <a:latin typeface="Atkinson Hyperlegible"/>
            </a:endParaRPr>
          </a:p>
        </p:txBody>
      </p:sp>
      <p:sp>
        <p:nvSpPr>
          <p:cNvPr id="17" name="5 Rectángulo">
            <a:extLst>
              <a:ext uri="{FF2B5EF4-FFF2-40B4-BE49-F238E27FC236}">
                <a16:creationId xmlns:a16="http://schemas.microsoft.com/office/drawing/2014/main" id="{5696F138-B701-CFEC-633A-52573D54F6B4}"/>
              </a:ext>
            </a:extLst>
          </p:cNvPr>
          <p:cNvSpPr/>
          <p:nvPr/>
        </p:nvSpPr>
        <p:spPr>
          <a:xfrm>
            <a:off x="1233601" y="2001996"/>
            <a:ext cx="18628366" cy="3539430"/>
          </a:xfrm>
          <a:prstGeom prst="rect">
            <a:avLst/>
          </a:prstGeom>
          <a:noFill/>
          <a:effectLst/>
        </p:spPr>
        <p:txBody>
          <a:bodyPr wrap="square" lIns="91440" tIns="45720" rIns="91440" bIns="45720" anchor="t">
            <a:spAutoFit/>
          </a:bodyPr>
          <a:lstStyle/>
          <a:p>
            <a:pPr marL="571500" indent="-571500" algn="just">
              <a:buFont typeface="Arial" panose="020B0604020202020204" pitchFamily="34" charset="0"/>
              <a:buChar char="•"/>
            </a:pPr>
            <a:r>
              <a:rPr lang="es-ES" sz="3200" noProof="0" dirty="0">
                <a:latin typeface="Atkinson Hyperlegible"/>
              </a:rPr>
              <a:t>La atmósfera puede introducir pérdidas adicionales y variabilidad en el enlace.</a:t>
            </a:r>
          </a:p>
          <a:p>
            <a:pPr marL="571500" indent="-571500" algn="just">
              <a:buFont typeface="Arial" panose="020B0604020202020204" pitchFamily="34" charset="0"/>
              <a:buChar char="•"/>
            </a:pPr>
            <a:r>
              <a:rPr lang="es-ES" sz="3200" noProof="0" dirty="0">
                <a:latin typeface="Atkinson Hyperlegible"/>
              </a:rPr>
              <a:t>Gases atmosféricos: absorción (principalmente por oxígeno y vapor de agua).</a:t>
            </a:r>
          </a:p>
          <a:p>
            <a:pPr marL="571500" indent="-571500" algn="just">
              <a:buFont typeface="Arial" panose="020B0604020202020204" pitchFamily="34" charset="0"/>
              <a:buChar char="•"/>
            </a:pPr>
            <a:r>
              <a:rPr lang="es-ES" sz="3200" dirty="0">
                <a:latin typeface="Atkinson Hyperlegible"/>
              </a:rPr>
              <a:t>LOS y obstáculos.</a:t>
            </a:r>
            <a:endParaRPr lang="es-ES" sz="3200" noProof="0" dirty="0">
              <a:latin typeface="Atkinson Hyperlegible"/>
            </a:endParaRPr>
          </a:p>
          <a:p>
            <a:pPr marL="571500" indent="-571500" algn="just">
              <a:buFont typeface="Arial" panose="020B0604020202020204" pitchFamily="34" charset="0"/>
              <a:buChar char="•"/>
            </a:pPr>
            <a:r>
              <a:rPr lang="es-ES" sz="3200" noProof="0" dirty="0">
                <a:latin typeface="Atkinson Hyperlegible"/>
              </a:rPr>
              <a:t>Humedad y lluvia: pueden aumentar la atenuación, especialmente a frecuencias más altas.</a:t>
            </a:r>
          </a:p>
          <a:p>
            <a:pPr marL="571500" indent="-571500" algn="just">
              <a:buFont typeface="Arial" panose="020B0604020202020204" pitchFamily="34" charset="0"/>
              <a:buChar char="•"/>
            </a:pPr>
            <a:r>
              <a:rPr lang="es-ES" sz="3200" noProof="0" dirty="0">
                <a:latin typeface="Atkinson Hyperlegible"/>
              </a:rPr>
              <a:t>Temperatura y presión: influyen en el comportamiento del canal (condiciones cambiantes).</a:t>
            </a:r>
          </a:p>
          <a:p>
            <a:pPr marL="571500" indent="-571500" algn="just">
              <a:buFont typeface="Arial" panose="020B0604020202020204" pitchFamily="34" charset="0"/>
              <a:buChar char="•"/>
            </a:pPr>
            <a:r>
              <a:rPr lang="es-ES" sz="3200" noProof="0" dirty="0">
                <a:latin typeface="Atkinson Hyperlegible"/>
              </a:rPr>
              <a:t>Refracción troposférica: puede modificar el trayecto efectivo de la señal (cobertura/alcance).</a:t>
            </a:r>
          </a:p>
          <a:p>
            <a:pPr marL="571500" indent="-571500" algn="just">
              <a:buFont typeface="Arial" panose="020B0604020202020204" pitchFamily="34" charset="0"/>
              <a:buChar char="•"/>
            </a:pPr>
            <a:r>
              <a:rPr lang="es-ES" sz="3200" b="1" noProof="0" dirty="0">
                <a:effectLst>
                  <a:outerShdw blurRad="38100" dist="38100" dir="2700000" algn="tl">
                    <a:srgbClr val="000000">
                      <a:alpha val="43137"/>
                    </a:srgbClr>
                  </a:outerShdw>
                </a:effectLst>
                <a:latin typeface="Atkinson Hyperlegible"/>
              </a:rPr>
              <a:t>Conclusión: el rendimiento RF depende del entorno + frecuencia + distancia.</a:t>
            </a:r>
            <a:endParaRPr lang="es-ES" sz="3200" b="1" dirty="0">
              <a:effectLst>
                <a:outerShdw blurRad="38100" dist="38100" dir="2700000" algn="tl">
                  <a:srgbClr val="000000">
                    <a:alpha val="43137"/>
                  </a:srgbClr>
                </a:outerShdw>
              </a:effectLst>
              <a:latin typeface="Atkinson Hyperlegible"/>
            </a:endParaRPr>
          </a:p>
        </p:txBody>
      </p:sp>
      <p:pic>
        <p:nvPicPr>
          <p:cNvPr id="13314" name="Picture 2" descr="PRORED - Zonas de Fresnel en un radioenlace">
            <a:extLst>
              <a:ext uri="{FF2B5EF4-FFF2-40B4-BE49-F238E27FC236}">
                <a16:creationId xmlns:a16="http://schemas.microsoft.com/office/drawing/2014/main" id="{6496E724-AF0B-6F2A-E462-ADB4A3BEE7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73614" y="6260367"/>
            <a:ext cx="7229475" cy="3486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6982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EBC7591-7724-E16E-C4EB-3B83FB0829D4}"/>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E2069A1E-FB55-58EC-240C-2A03510381E4}"/>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EA21DAC4-991F-D545-D79F-B62F6E009E8B}"/>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PROPAGACIÓN EN LA ATMÓSFERA</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6F28D1F4-1212-00CF-666A-FAAB6BFF5FC2}"/>
              </a:ext>
            </a:extLst>
          </p:cNvPr>
          <p:cNvSpPr txBox="1"/>
          <p:nvPr/>
        </p:nvSpPr>
        <p:spPr>
          <a:xfrm>
            <a:off x="1382157" y="898721"/>
            <a:ext cx="17055745" cy="707886"/>
          </a:xfrm>
          <a:prstGeom prst="rect">
            <a:avLst/>
          </a:prstGeom>
          <a:noFill/>
        </p:spPr>
        <p:txBody>
          <a:bodyPr wrap="square">
            <a:spAutoFit/>
          </a:bodyPr>
          <a:lstStyle/>
          <a:p>
            <a:r>
              <a:rPr lang="es-ES" sz="4000" dirty="0"/>
              <a:t>Atenuación por gases vs atenuación por lluvia</a:t>
            </a:r>
            <a:endParaRPr lang="es-CL" sz="4000" noProof="0" dirty="0">
              <a:latin typeface="Atkinson Hyperlegible"/>
            </a:endParaRPr>
          </a:p>
        </p:txBody>
      </p:sp>
      <p:sp>
        <p:nvSpPr>
          <p:cNvPr id="10" name="CuadroTexto 9">
            <a:extLst>
              <a:ext uri="{FF2B5EF4-FFF2-40B4-BE49-F238E27FC236}">
                <a16:creationId xmlns:a16="http://schemas.microsoft.com/office/drawing/2014/main" id="{DA1B2941-677B-370D-EB9C-71CCC2277642}"/>
              </a:ext>
            </a:extLst>
          </p:cNvPr>
          <p:cNvSpPr txBox="1"/>
          <p:nvPr/>
        </p:nvSpPr>
        <p:spPr>
          <a:xfrm>
            <a:off x="966586" y="7611775"/>
            <a:ext cx="10785701" cy="1938992"/>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noProof="0" dirty="0" err="1">
                <a:latin typeface="Atkinson Hyperlegible"/>
              </a:rPr>
              <a:t>ITU</a:t>
            </a:r>
            <a:r>
              <a:rPr lang="es-CL" sz="2400" noProof="0" dirty="0">
                <a:latin typeface="Atkinson Hyperlegible"/>
              </a:rPr>
              <a:t> Radio </a:t>
            </a:r>
            <a:r>
              <a:rPr lang="es-CL" sz="2400" noProof="0" dirty="0" err="1">
                <a:latin typeface="Atkinson Hyperlegible"/>
              </a:rPr>
              <a:t>Regulations</a:t>
            </a:r>
            <a:r>
              <a:rPr lang="es-CL" sz="2400" noProof="0" dirty="0">
                <a:latin typeface="Atkinson Hyperlegible"/>
              </a:rPr>
              <a:t> (Ed. 2024)</a:t>
            </a:r>
          </a:p>
          <a:p>
            <a:r>
              <a:rPr lang="es-ES" sz="2400" dirty="0" err="1">
                <a:latin typeface="Atkinson Hyperlegible"/>
              </a:rPr>
              <a:t>ITU</a:t>
            </a:r>
            <a:r>
              <a:rPr lang="es-ES" sz="2400" dirty="0">
                <a:latin typeface="Atkinson Hyperlegible"/>
              </a:rPr>
              <a:t>-R </a:t>
            </a:r>
            <a:r>
              <a:rPr lang="es-ES" sz="2400" dirty="0" err="1">
                <a:latin typeface="Atkinson Hyperlegible"/>
              </a:rPr>
              <a:t>P.676</a:t>
            </a:r>
            <a:r>
              <a:rPr lang="es-ES" sz="2400" dirty="0">
                <a:latin typeface="Atkinson Hyperlegible"/>
              </a:rPr>
              <a:t> (atenuación por gases atmosféricos)</a:t>
            </a:r>
          </a:p>
          <a:p>
            <a:r>
              <a:rPr lang="es-ES" sz="2400" dirty="0" err="1">
                <a:latin typeface="Atkinson Hyperlegible"/>
              </a:rPr>
              <a:t>ITU</a:t>
            </a:r>
            <a:r>
              <a:rPr lang="es-ES" sz="2400" dirty="0">
                <a:latin typeface="Atkinson Hyperlegible"/>
              </a:rPr>
              <a:t>-R </a:t>
            </a:r>
            <a:r>
              <a:rPr lang="es-ES" sz="2400" dirty="0" err="1">
                <a:latin typeface="Atkinson Hyperlegible"/>
              </a:rPr>
              <a:t>P.838</a:t>
            </a:r>
            <a:r>
              <a:rPr lang="es-ES" sz="2400" dirty="0">
                <a:latin typeface="Atkinson Hyperlegible"/>
              </a:rPr>
              <a:t> (atenuación específica por lluvia)</a:t>
            </a:r>
          </a:p>
          <a:p>
            <a:r>
              <a:rPr lang="es-ES" sz="2400" dirty="0" err="1">
                <a:latin typeface="Atkinson Hyperlegible"/>
              </a:rPr>
              <a:t>ITU</a:t>
            </a:r>
            <a:r>
              <a:rPr lang="es-ES" sz="2400" dirty="0">
                <a:latin typeface="Atkinson Hyperlegible"/>
              </a:rPr>
              <a:t>-R </a:t>
            </a:r>
            <a:r>
              <a:rPr lang="es-ES" sz="2400" dirty="0" err="1">
                <a:latin typeface="Atkinson Hyperlegible"/>
              </a:rPr>
              <a:t>P.618</a:t>
            </a:r>
            <a:r>
              <a:rPr lang="es-ES" sz="2400" dirty="0">
                <a:latin typeface="Atkinson Hyperlegible"/>
              </a:rPr>
              <a:t> (predicción para enlaces Tierra-espacio, satélite)</a:t>
            </a:r>
            <a:endParaRPr lang="es-CL" sz="2400" noProof="0" dirty="0">
              <a:latin typeface="Atkinson Hyperlegible"/>
            </a:endParaRPr>
          </a:p>
        </p:txBody>
      </p:sp>
      <p:sp>
        <p:nvSpPr>
          <p:cNvPr id="17" name="5 Rectángulo">
            <a:extLst>
              <a:ext uri="{FF2B5EF4-FFF2-40B4-BE49-F238E27FC236}">
                <a16:creationId xmlns:a16="http://schemas.microsoft.com/office/drawing/2014/main" id="{9BEF6838-C3E0-12A9-0B69-F920E41DAB54}"/>
              </a:ext>
            </a:extLst>
          </p:cNvPr>
          <p:cNvSpPr/>
          <p:nvPr/>
        </p:nvSpPr>
        <p:spPr>
          <a:xfrm>
            <a:off x="1233601" y="2001996"/>
            <a:ext cx="18628366" cy="3539430"/>
          </a:xfrm>
          <a:prstGeom prst="rect">
            <a:avLst/>
          </a:prstGeom>
          <a:noFill/>
          <a:effectLst/>
        </p:spPr>
        <p:txBody>
          <a:bodyPr wrap="square" lIns="91440" tIns="45720" rIns="91440" bIns="45720" anchor="t">
            <a:spAutoFit/>
          </a:bodyPr>
          <a:lstStyle/>
          <a:p>
            <a:pPr marL="571500" indent="-571500" algn="just">
              <a:buFont typeface="Arial" panose="020B0604020202020204" pitchFamily="34" charset="0"/>
              <a:buChar char="•"/>
            </a:pPr>
            <a:r>
              <a:rPr lang="es-ES" sz="3200" b="1" noProof="0" dirty="0">
                <a:effectLst>
                  <a:outerShdw blurRad="38100" dist="38100" dir="2700000" algn="tl">
                    <a:srgbClr val="000000">
                      <a:alpha val="43137"/>
                    </a:srgbClr>
                  </a:outerShdw>
                </a:effectLst>
                <a:latin typeface="Atkinson Hyperlegible"/>
              </a:rPr>
              <a:t>La atmósfera afecta enlaces RF principalmente por absorción y dispersión.</a:t>
            </a:r>
          </a:p>
          <a:p>
            <a:pPr marL="571500" indent="-571500" algn="just">
              <a:buFont typeface="Arial" panose="020B0604020202020204" pitchFamily="34" charset="0"/>
              <a:buChar char="•"/>
            </a:pPr>
            <a:r>
              <a:rPr lang="es-ES" sz="3200" noProof="0" dirty="0">
                <a:latin typeface="Atkinson Hyperlegible"/>
              </a:rPr>
              <a:t>Gases atmosféricos (oxígeno y vapor de agua): generan absorción de energía en el trayecto.</a:t>
            </a:r>
          </a:p>
          <a:p>
            <a:pPr marL="571500" indent="-571500" algn="just">
              <a:buFont typeface="Arial" panose="020B0604020202020204" pitchFamily="34" charset="0"/>
              <a:buChar char="•"/>
            </a:pPr>
            <a:r>
              <a:rPr lang="es-ES" sz="3200" noProof="0" dirty="0">
                <a:latin typeface="Atkinson Hyperlegible"/>
              </a:rPr>
              <a:t>Lluvia: puede producir atenuación adicional, especialmente relevante en enlaces de frecuencias más altas.</a:t>
            </a:r>
          </a:p>
          <a:p>
            <a:pPr marL="571500" indent="-571500" algn="just">
              <a:buFont typeface="Arial" panose="020B0604020202020204" pitchFamily="34" charset="0"/>
              <a:buChar char="•"/>
            </a:pPr>
            <a:r>
              <a:rPr lang="es-ES" sz="3200" noProof="0" dirty="0">
                <a:latin typeface="Atkinson Hyperlegible"/>
              </a:rPr>
              <a:t>El impacto depende de: frecuencia, distancia, altura del enlace y condiciones meteorológicas.</a:t>
            </a:r>
          </a:p>
          <a:p>
            <a:pPr marL="571500" indent="-571500" algn="just">
              <a:buFont typeface="Arial" panose="020B0604020202020204" pitchFamily="34" charset="0"/>
              <a:buChar char="•"/>
            </a:pPr>
            <a:r>
              <a:rPr lang="es-ES" sz="3200" noProof="0" dirty="0">
                <a:latin typeface="Atkinson Hyperlegible"/>
              </a:rPr>
              <a:t>En la práctica, estos efectos se consideran al planificar microondas y satélite.</a:t>
            </a:r>
          </a:p>
          <a:p>
            <a:pPr marL="571500" indent="-571500" algn="just">
              <a:buFont typeface="Arial" panose="020B0604020202020204" pitchFamily="34" charset="0"/>
              <a:buChar char="•"/>
            </a:pPr>
            <a:endParaRPr lang="es-ES" sz="3200" noProof="0" dirty="0">
              <a:latin typeface="Atkinson Hyperlegible"/>
            </a:endParaRPr>
          </a:p>
          <a:p>
            <a:pPr algn="ctr"/>
            <a:r>
              <a:rPr lang="es-ES" sz="3200" b="1" i="1" noProof="0" dirty="0">
                <a:latin typeface="Atkinson Hyperlegible"/>
              </a:rPr>
              <a:t>El clima puede convertir un enlace “bueno” en un enlace “inestable” si no se planifica.</a:t>
            </a:r>
            <a:endParaRPr lang="es-ES" sz="3200" b="1" i="1" dirty="0">
              <a:effectLst>
                <a:outerShdw blurRad="38100" dist="38100" dir="2700000" algn="tl">
                  <a:srgbClr val="000000">
                    <a:alpha val="43137"/>
                  </a:srgbClr>
                </a:outerShdw>
              </a:effectLst>
              <a:latin typeface="Atkinson Hyperlegible"/>
            </a:endParaRPr>
          </a:p>
        </p:txBody>
      </p:sp>
      <p:graphicFrame>
        <p:nvGraphicFramePr>
          <p:cNvPr id="2" name="Tabla 1">
            <a:extLst>
              <a:ext uri="{FF2B5EF4-FFF2-40B4-BE49-F238E27FC236}">
                <a16:creationId xmlns:a16="http://schemas.microsoft.com/office/drawing/2014/main" id="{630A9FB9-33E8-BEA2-3EDA-3AAC06E9AFA1}"/>
              </a:ext>
            </a:extLst>
          </p:cNvPr>
          <p:cNvGraphicFramePr>
            <a:graphicFrameLocks noGrp="1"/>
          </p:cNvGraphicFramePr>
          <p:nvPr>
            <p:extLst>
              <p:ext uri="{D42A27DB-BD31-4B8C-83A1-F6EECF244321}">
                <p14:modId xmlns:p14="http://schemas.microsoft.com/office/powerpoint/2010/main" val="2072695741"/>
              </p:ext>
            </p:extLst>
          </p:nvPr>
        </p:nvGraphicFramePr>
        <p:xfrm>
          <a:off x="9218951" y="6306170"/>
          <a:ext cx="9652338" cy="3522435"/>
        </p:xfrm>
        <a:graphic>
          <a:graphicData uri="http://schemas.openxmlformats.org/drawingml/2006/table">
            <a:tbl>
              <a:tblPr firstRow="1" firstCol="1" bandRow="1">
                <a:tableStyleId>{073A0DAA-6AF3-43AB-8588-CEC1D06C72B9}</a:tableStyleId>
              </a:tblPr>
              <a:tblGrid>
                <a:gridCol w="3217446">
                  <a:extLst>
                    <a:ext uri="{9D8B030D-6E8A-4147-A177-3AD203B41FA5}">
                      <a16:colId xmlns:a16="http://schemas.microsoft.com/office/drawing/2014/main" val="1593639704"/>
                    </a:ext>
                  </a:extLst>
                </a:gridCol>
                <a:gridCol w="3217446">
                  <a:extLst>
                    <a:ext uri="{9D8B030D-6E8A-4147-A177-3AD203B41FA5}">
                      <a16:colId xmlns:a16="http://schemas.microsoft.com/office/drawing/2014/main" val="1546887335"/>
                    </a:ext>
                  </a:extLst>
                </a:gridCol>
                <a:gridCol w="3217446">
                  <a:extLst>
                    <a:ext uri="{9D8B030D-6E8A-4147-A177-3AD203B41FA5}">
                      <a16:colId xmlns:a16="http://schemas.microsoft.com/office/drawing/2014/main" val="21810341"/>
                    </a:ext>
                  </a:extLst>
                </a:gridCol>
              </a:tblGrid>
              <a:tr h="766605">
                <a:tc>
                  <a:txBody>
                    <a:bodyPr/>
                    <a:lstStyle/>
                    <a:p>
                      <a:pPr>
                        <a:buNone/>
                      </a:pPr>
                      <a:r>
                        <a:rPr lang="es-CL" sz="2800" dirty="0">
                          <a:latin typeface="Atkinson Hyperlegible"/>
                        </a:rPr>
                        <a:t>Factor</a:t>
                      </a:r>
                    </a:p>
                  </a:txBody>
                  <a:tcPr anchor="ctr"/>
                </a:tc>
                <a:tc>
                  <a:txBody>
                    <a:bodyPr/>
                    <a:lstStyle/>
                    <a:p>
                      <a:pPr>
                        <a:buNone/>
                      </a:pPr>
                      <a:r>
                        <a:rPr lang="es-CL" sz="2800">
                          <a:latin typeface="Atkinson Hyperlegible"/>
                        </a:rPr>
                        <a:t>¿Qué provoca?</a:t>
                      </a:r>
                    </a:p>
                  </a:txBody>
                  <a:tcPr anchor="ctr"/>
                </a:tc>
                <a:tc>
                  <a:txBody>
                    <a:bodyPr/>
                    <a:lstStyle/>
                    <a:p>
                      <a:pPr>
                        <a:buNone/>
                      </a:pPr>
                      <a:r>
                        <a:rPr lang="es-CL" sz="2800">
                          <a:latin typeface="Atkinson Hyperlegible"/>
                        </a:rPr>
                        <a:t>¿Cuándo se vuelve crítico?</a:t>
                      </a:r>
                    </a:p>
                  </a:txBody>
                  <a:tcPr anchor="ctr"/>
                </a:tc>
                <a:extLst>
                  <a:ext uri="{0D108BD9-81ED-4DB2-BD59-A6C34878D82A}">
                    <a16:rowId xmlns:a16="http://schemas.microsoft.com/office/drawing/2014/main" val="1784889049"/>
                  </a:ext>
                </a:extLst>
              </a:tr>
              <a:tr h="1114720">
                <a:tc>
                  <a:txBody>
                    <a:bodyPr/>
                    <a:lstStyle/>
                    <a:p>
                      <a:pPr>
                        <a:buNone/>
                      </a:pPr>
                      <a:r>
                        <a:rPr lang="es-CL" sz="2800" b="1" dirty="0">
                          <a:latin typeface="Atkinson Hyperlegible"/>
                        </a:rPr>
                        <a:t>Gases (O₂ / </a:t>
                      </a:r>
                      <a:r>
                        <a:rPr lang="es-CL" sz="2800" b="1" dirty="0" err="1">
                          <a:latin typeface="Atkinson Hyperlegible"/>
                        </a:rPr>
                        <a:t>H₂O</a:t>
                      </a:r>
                      <a:r>
                        <a:rPr lang="es-CL" sz="2800" b="1" dirty="0">
                          <a:latin typeface="Atkinson Hyperlegible"/>
                        </a:rPr>
                        <a:t>)</a:t>
                      </a:r>
                      <a:endParaRPr lang="es-CL" sz="2800" dirty="0">
                        <a:latin typeface="Atkinson Hyperlegible"/>
                      </a:endParaRPr>
                    </a:p>
                  </a:txBody>
                  <a:tcPr anchor="ctr"/>
                </a:tc>
                <a:tc>
                  <a:txBody>
                    <a:bodyPr/>
                    <a:lstStyle/>
                    <a:p>
                      <a:pPr>
                        <a:buNone/>
                      </a:pPr>
                      <a:r>
                        <a:rPr lang="es-CL" sz="2800" dirty="0">
                          <a:latin typeface="Atkinson Hyperlegible"/>
                        </a:rPr>
                        <a:t>absorción</a:t>
                      </a:r>
                    </a:p>
                  </a:txBody>
                  <a:tcPr anchor="ctr"/>
                </a:tc>
                <a:tc>
                  <a:txBody>
                    <a:bodyPr/>
                    <a:lstStyle/>
                    <a:p>
                      <a:pPr>
                        <a:buNone/>
                      </a:pPr>
                      <a:r>
                        <a:rPr lang="es-ES" sz="2800">
                          <a:latin typeface="Atkinson Hyperlegible"/>
                        </a:rPr>
                        <a:t>depende de banda y condiciones</a:t>
                      </a:r>
                    </a:p>
                  </a:txBody>
                  <a:tcPr anchor="ctr"/>
                </a:tc>
                <a:extLst>
                  <a:ext uri="{0D108BD9-81ED-4DB2-BD59-A6C34878D82A}">
                    <a16:rowId xmlns:a16="http://schemas.microsoft.com/office/drawing/2014/main" val="3190202010"/>
                  </a:ext>
                </a:extLst>
              </a:tr>
              <a:tr h="1462835">
                <a:tc>
                  <a:txBody>
                    <a:bodyPr/>
                    <a:lstStyle/>
                    <a:p>
                      <a:pPr>
                        <a:buNone/>
                      </a:pPr>
                      <a:r>
                        <a:rPr lang="es-CL" sz="2800" b="1">
                          <a:latin typeface="Atkinson Hyperlegible"/>
                        </a:rPr>
                        <a:t>Lluvia</a:t>
                      </a:r>
                      <a:endParaRPr lang="es-CL" sz="2800">
                        <a:latin typeface="Atkinson Hyperlegible"/>
                      </a:endParaRPr>
                    </a:p>
                  </a:txBody>
                  <a:tcPr anchor="ctr"/>
                </a:tc>
                <a:tc>
                  <a:txBody>
                    <a:bodyPr/>
                    <a:lstStyle/>
                    <a:p>
                      <a:pPr>
                        <a:buNone/>
                      </a:pPr>
                      <a:r>
                        <a:rPr lang="es-CL" sz="2800" dirty="0">
                          <a:latin typeface="Atkinson Hyperlegible"/>
                        </a:rPr>
                        <a:t>atenuación extra</a:t>
                      </a:r>
                    </a:p>
                  </a:txBody>
                  <a:tcPr anchor="ctr"/>
                </a:tc>
                <a:tc>
                  <a:txBody>
                    <a:bodyPr/>
                    <a:lstStyle/>
                    <a:p>
                      <a:pPr>
                        <a:buNone/>
                      </a:pPr>
                      <a:r>
                        <a:rPr lang="es-ES" sz="2800" dirty="0">
                          <a:latin typeface="Atkinson Hyperlegible"/>
                        </a:rPr>
                        <a:t>más importante en frecuencias altas y enlaces largos</a:t>
                      </a:r>
                    </a:p>
                  </a:txBody>
                  <a:tcPr anchor="ctr"/>
                </a:tc>
                <a:extLst>
                  <a:ext uri="{0D108BD9-81ED-4DB2-BD59-A6C34878D82A}">
                    <a16:rowId xmlns:a16="http://schemas.microsoft.com/office/drawing/2014/main" val="3952686213"/>
                  </a:ext>
                </a:extLst>
              </a:tr>
            </a:tbl>
          </a:graphicData>
        </a:graphic>
      </p:graphicFrame>
    </p:spTree>
    <p:extLst>
      <p:ext uri="{BB962C8B-B14F-4D97-AF65-F5344CB8AC3E}">
        <p14:creationId xmlns:p14="http://schemas.microsoft.com/office/powerpoint/2010/main" val="2442913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D9B1961-E37B-E54A-06D2-8C4561A12DC7}"/>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857449D1-B59A-38E5-1ADC-FAFE3C98F186}"/>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9BEB3E8C-5555-E2CA-4870-4F66178B0E9C}"/>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PROPAGACIÓN EN LA ATMÓSFERA</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C8F26066-DF5B-5FBB-4479-705EDE420C15}"/>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Otros fenómenos físicos que afectan la onda en el trayecto</a:t>
            </a:r>
            <a:endParaRPr lang="es-CL" sz="4000" noProof="0" dirty="0">
              <a:latin typeface="Atkinson Hyperlegible"/>
            </a:endParaRPr>
          </a:p>
        </p:txBody>
      </p:sp>
      <p:sp>
        <p:nvSpPr>
          <p:cNvPr id="10" name="CuadroTexto 9">
            <a:extLst>
              <a:ext uri="{FF2B5EF4-FFF2-40B4-BE49-F238E27FC236}">
                <a16:creationId xmlns:a16="http://schemas.microsoft.com/office/drawing/2014/main" id="{1EBE1738-FA32-792F-CACE-C85694C7A46B}"/>
              </a:ext>
            </a:extLst>
          </p:cNvPr>
          <p:cNvSpPr txBox="1"/>
          <p:nvPr/>
        </p:nvSpPr>
        <p:spPr>
          <a:xfrm>
            <a:off x="679450" y="8471637"/>
            <a:ext cx="10785701" cy="1938992"/>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noProof="0" dirty="0" err="1">
                <a:latin typeface="Atkinson Hyperlegible"/>
              </a:rPr>
              <a:t>ITU</a:t>
            </a:r>
            <a:r>
              <a:rPr lang="es-CL" sz="2400" noProof="0" dirty="0">
                <a:latin typeface="Atkinson Hyperlegible"/>
              </a:rPr>
              <a:t> Radio </a:t>
            </a:r>
            <a:r>
              <a:rPr lang="es-CL" sz="2400" noProof="0" dirty="0" err="1">
                <a:latin typeface="Atkinson Hyperlegible"/>
              </a:rPr>
              <a:t>Regulations</a:t>
            </a:r>
            <a:r>
              <a:rPr lang="es-CL" sz="2400" noProof="0" dirty="0">
                <a:latin typeface="Atkinson Hyperlegible"/>
              </a:rPr>
              <a:t> (Ed. 2024)</a:t>
            </a:r>
          </a:p>
          <a:p>
            <a:r>
              <a:rPr lang="es-ES" sz="2400" dirty="0" err="1">
                <a:latin typeface="Atkinson Hyperlegible"/>
              </a:rPr>
              <a:t>ITU</a:t>
            </a:r>
            <a:r>
              <a:rPr lang="es-ES" sz="2400" dirty="0">
                <a:latin typeface="Atkinson Hyperlegible"/>
              </a:rPr>
              <a:t>-R </a:t>
            </a:r>
            <a:r>
              <a:rPr lang="es-ES" sz="2400" dirty="0" err="1">
                <a:latin typeface="Atkinson Hyperlegible"/>
              </a:rPr>
              <a:t>P.676</a:t>
            </a:r>
            <a:r>
              <a:rPr lang="es-ES" sz="2400" dirty="0">
                <a:latin typeface="Atkinson Hyperlegible"/>
              </a:rPr>
              <a:t> (atenuación por gases atmosféricos)</a:t>
            </a:r>
          </a:p>
          <a:p>
            <a:r>
              <a:rPr lang="es-ES" sz="2400" dirty="0" err="1">
                <a:latin typeface="Atkinson Hyperlegible"/>
              </a:rPr>
              <a:t>ITU</a:t>
            </a:r>
            <a:r>
              <a:rPr lang="es-ES" sz="2400" dirty="0">
                <a:latin typeface="Atkinson Hyperlegible"/>
              </a:rPr>
              <a:t>-R </a:t>
            </a:r>
            <a:r>
              <a:rPr lang="es-ES" sz="2400" dirty="0" err="1">
                <a:latin typeface="Atkinson Hyperlegible"/>
              </a:rPr>
              <a:t>P.838</a:t>
            </a:r>
            <a:r>
              <a:rPr lang="es-ES" sz="2400" dirty="0">
                <a:latin typeface="Atkinson Hyperlegible"/>
              </a:rPr>
              <a:t> (atenuación específica por lluvia)</a:t>
            </a:r>
          </a:p>
          <a:p>
            <a:r>
              <a:rPr lang="es-ES" sz="2400" dirty="0" err="1">
                <a:latin typeface="Atkinson Hyperlegible"/>
              </a:rPr>
              <a:t>ITU</a:t>
            </a:r>
            <a:r>
              <a:rPr lang="es-ES" sz="2400" dirty="0">
                <a:latin typeface="Atkinson Hyperlegible"/>
              </a:rPr>
              <a:t>-R </a:t>
            </a:r>
            <a:r>
              <a:rPr lang="es-ES" sz="2400" dirty="0" err="1">
                <a:latin typeface="Atkinson Hyperlegible"/>
              </a:rPr>
              <a:t>P.618</a:t>
            </a:r>
            <a:r>
              <a:rPr lang="es-ES" sz="2400" dirty="0">
                <a:latin typeface="Atkinson Hyperlegible"/>
              </a:rPr>
              <a:t> (predicción para enlaces Tierra-espacio, satélite)</a:t>
            </a:r>
            <a:endParaRPr lang="es-CL" sz="2400" noProof="0" dirty="0">
              <a:latin typeface="Atkinson Hyperlegible"/>
            </a:endParaRPr>
          </a:p>
        </p:txBody>
      </p:sp>
      <p:sp>
        <p:nvSpPr>
          <p:cNvPr id="17" name="5 Rectángulo">
            <a:extLst>
              <a:ext uri="{FF2B5EF4-FFF2-40B4-BE49-F238E27FC236}">
                <a16:creationId xmlns:a16="http://schemas.microsoft.com/office/drawing/2014/main" id="{48902CF9-930C-95E0-6BA4-CE897B3E1140}"/>
              </a:ext>
            </a:extLst>
          </p:cNvPr>
          <p:cNvSpPr/>
          <p:nvPr/>
        </p:nvSpPr>
        <p:spPr>
          <a:xfrm>
            <a:off x="1233601" y="2001996"/>
            <a:ext cx="18628366" cy="6494085"/>
          </a:xfrm>
          <a:prstGeom prst="rect">
            <a:avLst/>
          </a:prstGeom>
          <a:noFill/>
          <a:effectLst/>
        </p:spPr>
        <p:txBody>
          <a:bodyPr wrap="square" lIns="91440" tIns="45720" rIns="91440" bIns="45720" anchor="t">
            <a:spAutoFit/>
          </a:bodyPr>
          <a:lstStyle/>
          <a:p>
            <a:pPr marL="571500" indent="-571500" algn="just">
              <a:buFont typeface="Arial" panose="020B0604020202020204" pitchFamily="34" charset="0"/>
              <a:buChar char="•"/>
            </a:pPr>
            <a:r>
              <a:rPr lang="es-ES" sz="3200" noProof="0" dirty="0">
                <a:latin typeface="Atkinson Hyperlegible"/>
              </a:rPr>
              <a:t>Reflexión: la onda rebota en superficies (suelo/agua/edificaciones), generando rutas adicionales.</a:t>
            </a:r>
          </a:p>
          <a:p>
            <a:pPr marL="571500" indent="-571500" algn="just">
              <a:buFont typeface="Arial" panose="020B0604020202020204" pitchFamily="34" charset="0"/>
              <a:buChar char="•"/>
            </a:pPr>
            <a:r>
              <a:rPr lang="es-ES" sz="3200" noProof="0" dirty="0">
                <a:latin typeface="Atkinson Hyperlegible"/>
              </a:rPr>
              <a:t>Difracción: la onda “rodea” obstáculos o bordes, permitiendo recepción incluso con obstrucciones parciales.</a:t>
            </a:r>
          </a:p>
          <a:p>
            <a:pPr marL="571500" indent="-571500" algn="just">
              <a:buFont typeface="Arial" panose="020B0604020202020204" pitchFamily="34" charset="0"/>
              <a:buChar char="•"/>
            </a:pPr>
            <a:r>
              <a:rPr lang="es-ES" sz="3200" noProof="0" dirty="0">
                <a:latin typeface="Atkinson Hyperlegible"/>
              </a:rPr>
              <a:t>Dispersión (</a:t>
            </a:r>
            <a:r>
              <a:rPr lang="es-ES" sz="3200" noProof="0" dirty="0" err="1">
                <a:latin typeface="Atkinson Hyperlegible"/>
              </a:rPr>
              <a:t>scattering</a:t>
            </a:r>
            <a:r>
              <a:rPr lang="es-ES" sz="3200" noProof="0" dirty="0">
                <a:latin typeface="Atkinson Hyperlegible"/>
              </a:rPr>
              <a:t>): irregularidades del medio/objetos dispersan energía en múltiples direcciones.</a:t>
            </a:r>
          </a:p>
          <a:p>
            <a:pPr marL="571500" indent="-571500" algn="just">
              <a:buFont typeface="Arial" panose="020B0604020202020204" pitchFamily="34" charset="0"/>
              <a:buChar char="•"/>
            </a:pPr>
            <a:r>
              <a:rPr lang="es-ES" sz="3200" noProof="0" dirty="0">
                <a:latin typeface="Atkinson Hyperlegible"/>
              </a:rPr>
              <a:t>Refracción anómala / capas atmosféricas: cambios del índice de refracción desvían el trayecto y pueden degradar o mejorar momentáneamente la señal.</a:t>
            </a:r>
          </a:p>
          <a:p>
            <a:pPr marL="571500" indent="-571500" algn="just">
              <a:buFont typeface="Arial" panose="020B0604020202020204" pitchFamily="34" charset="0"/>
              <a:buChar char="•"/>
            </a:pPr>
            <a:r>
              <a:rPr lang="es-ES" sz="3200" noProof="0" dirty="0" err="1">
                <a:latin typeface="Atkinson Hyperlegible"/>
              </a:rPr>
              <a:t>Multitrayectoria</a:t>
            </a:r>
            <a:r>
              <a:rPr lang="es-ES" sz="3200" noProof="0" dirty="0">
                <a:latin typeface="Atkinson Hyperlegible"/>
              </a:rPr>
              <a:t> (</a:t>
            </a:r>
            <a:r>
              <a:rPr lang="es-ES" sz="3200" noProof="0" dirty="0" err="1">
                <a:latin typeface="Atkinson Hyperlegible"/>
              </a:rPr>
              <a:t>multipath</a:t>
            </a:r>
            <a:r>
              <a:rPr lang="es-ES" sz="3200" noProof="0" dirty="0">
                <a:latin typeface="Atkinson Hyperlegible"/>
              </a:rPr>
              <a:t>): llegada por múltiples rutas (directa + reflejada/difractada), causando variaciones rápidas de nivel.</a:t>
            </a:r>
          </a:p>
          <a:p>
            <a:pPr marL="571500" indent="-571500" algn="just">
              <a:buFont typeface="Arial" panose="020B0604020202020204" pitchFamily="34" charset="0"/>
              <a:buChar char="•"/>
            </a:pPr>
            <a:r>
              <a:rPr lang="es-ES" sz="3200" noProof="0" dirty="0">
                <a:latin typeface="Atkinson Hyperlegible"/>
              </a:rPr>
              <a:t>Sombreado (</a:t>
            </a:r>
            <a:r>
              <a:rPr lang="es-ES" sz="3200" noProof="0" dirty="0" err="1">
                <a:latin typeface="Atkinson Hyperlegible"/>
              </a:rPr>
              <a:t>shadowing</a:t>
            </a:r>
            <a:r>
              <a:rPr lang="es-ES" sz="3200" noProof="0" dirty="0">
                <a:latin typeface="Atkinson Hyperlegible"/>
              </a:rPr>
              <a:t>): atenuación por bloqueo de obstáculos (pérdida adicional por obstrucción del trayecto).</a:t>
            </a:r>
          </a:p>
          <a:p>
            <a:pPr marL="571500" indent="-571500" algn="just">
              <a:buFont typeface="Arial" panose="020B0604020202020204" pitchFamily="34" charset="0"/>
              <a:buChar char="•"/>
            </a:pPr>
            <a:r>
              <a:rPr lang="es-ES" sz="3200" noProof="0" dirty="0">
                <a:latin typeface="Atkinson Hyperlegible"/>
              </a:rPr>
              <a:t>Las contribuciones por pérdidas en el </a:t>
            </a:r>
            <a:r>
              <a:rPr lang="es-ES" sz="3200" noProof="0" dirty="0" err="1">
                <a:latin typeface="Atkinson Hyperlegible"/>
              </a:rPr>
              <a:t>branching</a:t>
            </a:r>
            <a:r>
              <a:rPr lang="es-ES" sz="3200" noProof="0" dirty="0">
                <a:latin typeface="Atkinson Hyperlegible"/>
              </a:rPr>
              <a:t> vienen del hardware requerido para enviar las señales de transmisión/recepción hacia/desde la antena, por ejemplo, las guías de onda, </a:t>
            </a:r>
            <a:r>
              <a:rPr lang="es-ES" sz="3200" noProof="0" dirty="0" err="1">
                <a:latin typeface="Atkinson Hyperlegible"/>
              </a:rPr>
              <a:t>splitters</a:t>
            </a:r>
            <a:r>
              <a:rPr lang="es-ES" sz="3200" noProof="0" dirty="0">
                <a:latin typeface="Atkinson Hyperlegible"/>
              </a:rPr>
              <a:t>, conectores y atenuadores.</a:t>
            </a:r>
          </a:p>
          <a:p>
            <a:pPr algn="ctr"/>
            <a:r>
              <a:rPr lang="es-ES" sz="3200" b="1" i="1" noProof="0" dirty="0">
                <a:latin typeface="Atkinson Hyperlegible"/>
              </a:rPr>
              <a:t>En RF, la señal no siempre llega por un solo camino; el entorno crea trayectorias y variaciones.</a:t>
            </a:r>
            <a:endParaRPr lang="es-ES" sz="3200" b="1" i="1" dirty="0">
              <a:effectLst>
                <a:outerShdw blurRad="38100" dist="38100" dir="2700000" algn="tl">
                  <a:srgbClr val="000000">
                    <a:alpha val="43137"/>
                  </a:srgbClr>
                </a:outerShdw>
              </a:effectLst>
              <a:latin typeface="Atkinson Hyperlegible"/>
            </a:endParaRPr>
          </a:p>
        </p:txBody>
      </p:sp>
    </p:spTree>
    <p:extLst>
      <p:ext uri="{BB962C8B-B14F-4D97-AF65-F5344CB8AC3E}">
        <p14:creationId xmlns:p14="http://schemas.microsoft.com/office/powerpoint/2010/main" val="407678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1F8E231-98C2-0E48-1F2C-8A6E54100CA7}"/>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0B35A46C-2CD7-3D02-75C6-D56CD9CEA6D1}"/>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EACBB82F-2CDC-8078-26C6-7DEB3D8C3B56}"/>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PROPAGACIÓN EN LA ATMÓSFERA</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CC404A04-382A-DB15-BF17-723886EB304B}"/>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Otros fenómenos físicos que afectan la onda en el trayecto</a:t>
            </a:r>
            <a:endParaRPr lang="es-CL" sz="4000" noProof="0" dirty="0">
              <a:latin typeface="Atkinson Hyperlegible"/>
            </a:endParaRPr>
          </a:p>
        </p:txBody>
      </p:sp>
      <p:sp>
        <p:nvSpPr>
          <p:cNvPr id="10" name="CuadroTexto 9">
            <a:extLst>
              <a:ext uri="{FF2B5EF4-FFF2-40B4-BE49-F238E27FC236}">
                <a16:creationId xmlns:a16="http://schemas.microsoft.com/office/drawing/2014/main" id="{8FED17A3-F1E5-7004-4AD4-A8694166CE9C}"/>
              </a:ext>
            </a:extLst>
          </p:cNvPr>
          <p:cNvSpPr txBox="1"/>
          <p:nvPr/>
        </p:nvSpPr>
        <p:spPr>
          <a:xfrm>
            <a:off x="0" y="8471637"/>
            <a:ext cx="10785701" cy="1938992"/>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noProof="0" dirty="0" err="1">
                <a:latin typeface="Atkinson Hyperlegible"/>
              </a:rPr>
              <a:t>ITU</a:t>
            </a:r>
            <a:r>
              <a:rPr lang="es-CL" sz="2400" noProof="0" dirty="0">
                <a:latin typeface="Atkinson Hyperlegible"/>
              </a:rPr>
              <a:t> Radio </a:t>
            </a:r>
            <a:r>
              <a:rPr lang="es-CL" sz="2400" noProof="0" dirty="0" err="1">
                <a:latin typeface="Atkinson Hyperlegible"/>
              </a:rPr>
              <a:t>Regulations</a:t>
            </a:r>
            <a:r>
              <a:rPr lang="es-CL" sz="2400" noProof="0" dirty="0">
                <a:latin typeface="Atkinson Hyperlegible"/>
              </a:rPr>
              <a:t> (Ed. 2024)</a:t>
            </a:r>
          </a:p>
          <a:p>
            <a:r>
              <a:rPr lang="es-ES" sz="2400" dirty="0" err="1">
                <a:latin typeface="Atkinson Hyperlegible"/>
              </a:rPr>
              <a:t>ITU</a:t>
            </a:r>
            <a:r>
              <a:rPr lang="es-ES" sz="2400" dirty="0">
                <a:latin typeface="Atkinson Hyperlegible"/>
              </a:rPr>
              <a:t>-R </a:t>
            </a:r>
            <a:r>
              <a:rPr lang="es-ES" sz="2400" dirty="0" err="1">
                <a:latin typeface="Atkinson Hyperlegible"/>
              </a:rPr>
              <a:t>P.676</a:t>
            </a:r>
            <a:r>
              <a:rPr lang="es-ES" sz="2400" dirty="0">
                <a:latin typeface="Atkinson Hyperlegible"/>
              </a:rPr>
              <a:t> (atenuación por gases atmosféricos)</a:t>
            </a:r>
          </a:p>
          <a:p>
            <a:r>
              <a:rPr lang="es-ES" sz="2400" dirty="0" err="1">
                <a:latin typeface="Atkinson Hyperlegible"/>
              </a:rPr>
              <a:t>ITU</a:t>
            </a:r>
            <a:r>
              <a:rPr lang="es-ES" sz="2400" dirty="0">
                <a:latin typeface="Atkinson Hyperlegible"/>
              </a:rPr>
              <a:t>-R </a:t>
            </a:r>
            <a:r>
              <a:rPr lang="es-ES" sz="2400" dirty="0" err="1">
                <a:latin typeface="Atkinson Hyperlegible"/>
              </a:rPr>
              <a:t>P.838</a:t>
            </a:r>
            <a:r>
              <a:rPr lang="es-ES" sz="2400" dirty="0">
                <a:latin typeface="Atkinson Hyperlegible"/>
              </a:rPr>
              <a:t> (atenuación específica por lluvia)</a:t>
            </a:r>
          </a:p>
          <a:p>
            <a:r>
              <a:rPr lang="es-ES" sz="2400" dirty="0" err="1">
                <a:latin typeface="Atkinson Hyperlegible"/>
              </a:rPr>
              <a:t>ITU</a:t>
            </a:r>
            <a:r>
              <a:rPr lang="es-ES" sz="2400" dirty="0">
                <a:latin typeface="Atkinson Hyperlegible"/>
              </a:rPr>
              <a:t>-R </a:t>
            </a:r>
            <a:r>
              <a:rPr lang="es-ES" sz="2400" dirty="0" err="1">
                <a:latin typeface="Atkinson Hyperlegible"/>
              </a:rPr>
              <a:t>P.618</a:t>
            </a:r>
            <a:r>
              <a:rPr lang="es-ES" sz="2400" dirty="0">
                <a:latin typeface="Atkinson Hyperlegible"/>
              </a:rPr>
              <a:t> (predicción para enlaces Tierra-espacio, satélite)</a:t>
            </a:r>
            <a:endParaRPr lang="es-CL" sz="2400" noProof="0" dirty="0">
              <a:latin typeface="Atkinson Hyperlegible"/>
            </a:endParaRPr>
          </a:p>
        </p:txBody>
      </p:sp>
      <p:pic>
        <p:nvPicPr>
          <p:cNvPr id="3" name="Imagen 2">
            <a:extLst>
              <a:ext uri="{FF2B5EF4-FFF2-40B4-BE49-F238E27FC236}">
                <a16:creationId xmlns:a16="http://schemas.microsoft.com/office/drawing/2014/main" id="{05991DDF-850D-73A6-0733-91BE2275F842}"/>
              </a:ext>
            </a:extLst>
          </p:cNvPr>
          <p:cNvPicPr>
            <a:picLocks noChangeAspect="1"/>
          </p:cNvPicPr>
          <p:nvPr/>
        </p:nvPicPr>
        <p:blipFill>
          <a:blip r:embed="rId4"/>
          <a:stretch>
            <a:fillRect/>
          </a:stretch>
        </p:blipFill>
        <p:spPr>
          <a:xfrm>
            <a:off x="4623412" y="1683489"/>
            <a:ext cx="13814490" cy="699567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51986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6654575-4861-AEAE-140C-A2401387EFF3}"/>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89F14EBD-E253-BED9-7D2B-6290FBAC098B}"/>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8BF35C26-409B-54AB-F0DD-82594E6B5F0C}"/>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PROPAGACIÓN EN LA ATMÓSFERA</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285CAB41-678A-AB15-9812-7A2B211D1948}"/>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Otros fenómenos físicos que afectan la onda en el trayecto</a:t>
            </a:r>
            <a:endParaRPr lang="es-CL" sz="4000" noProof="0" dirty="0">
              <a:latin typeface="Atkinson Hyperlegible"/>
            </a:endParaRPr>
          </a:p>
        </p:txBody>
      </p:sp>
      <p:pic>
        <p:nvPicPr>
          <p:cNvPr id="2" name="Picture 2" descr="Atenuación de gas vs frecuencia">
            <a:extLst>
              <a:ext uri="{FF2B5EF4-FFF2-40B4-BE49-F238E27FC236}">
                <a16:creationId xmlns:a16="http://schemas.microsoft.com/office/drawing/2014/main" id="{2A3090EF-E137-6C5B-7A72-BC54D19F58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878531"/>
            <a:ext cx="5558288" cy="345463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5124" name="Picture 4" descr="Diversidad espacial en enlaces de microondas-Preguntas frecuentes-FMUSER  Proveedor único de transmisión de FM / TV">
            <a:extLst>
              <a:ext uri="{FF2B5EF4-FFF2-40B4-BE49-F238E27FC236}">
                <a16:creationId xmlns:a16="http://schemas.microsoft.com/office/drawing/2014/main" id="{4B2B6AB0-6118-3C44-A3A9-1D5FBD9BE6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4000" y="1878531"/>
            <a:ext cx="7086263" cy="44982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7410" name="Picture 2" descr="Modelamiento de difracción filo de cuchillo">
            <a:extLst>
              <a:ext uri="{FF2B5EF4-FFF2-40B4-BE49-F238E27FC236}">
                <a16:creationId xmlns:a16="http://schemas.microsoft.com/office/drawing/2014/main" id="{581A7976-6ECA-0BD4-FBDC-876F781C428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5443046"/>
            <a:ext cx="5558288" cy="328796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7412" name="Picture 4" descr="Figura 5.4. Aproximación de pérdidas">
            <a:extLst>
              <a:ext uri="{FF2B5EF4-FFF2-40B4-BE49-F238E27FC236}">
                <a16:creationId xmlns:a16="http://schemas.microsoft.com/office/drawing/2014/main" id="{98A94ED8-5513-00A2-574C-A6B4CC99740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94000" y="6528798"/>
            <a:ext cx="7086263" cy="315209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4" name="Imagen 3">
            <a:extLst>
              <a:ext uri="{FF2B5EF4-FFF2-40B4-BE49-F238E27FC236}">
                <a16:creationId xmlns:a16="http://schemas.microsoft.com/office/drawing/2014/main" id="{6600B2C2-38B3-57D2-F367-B5DA70230891}"/>
              </a:ext>
            </a:extLst>
          </p:cNvPr>
          <p:cNvPicPr>
            <a:picLocks noChangeAspect="1"/>
          </p:cNvPicPr>
          <p:nvPr/>
        </p:nvPicPr>
        <p:blipFill>
          <a:blip r:embed="rId8"/>
          <a:stretch>
            <a:fillRect/>
          </a:stretch>
        </p:blipFill>
        <p:spPr>
          <a:xfrm>
            <a:off x="12915975" y="1878531"/>
            <a:ext cx="6894967" cy="42974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7414" name="Picture 6" descr="Figura 5.6. Desvanecimiento multitrayectoria">
            <a:extLst>
              <a:ext uri="{FF2B5EF4-FFF2-40B4-BE49-F238E27FC236}">
                <a16:creationId xmlns:a16="http://schemas.microsoft.com/office/drawing/2014/main" id="{7E373007-0D4F-FDD7-24A2-3C2A96D43C0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597485" y="6374124"/>
            <a:ext cx="5185191" cy="403650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0388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4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4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4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7245D60-DF39-3D7C-F3FC-ED420BB7BE63}"/>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56004ADC-5E1A-D998-7000-27DE9EF81993}"/>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81DDF31B-8C3E-9283-F659-F5D4604D0180}"/>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PROPAGACIÓN EN LA ATMÓSFERA</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1910F32E-2D06-1FA8-8405-59FA6DF102A9}"/>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Otros fenómenos físicos que afectan la onda en el trayecto</a:t>
            </a:r>
            <a:endParaRPr lang="es-CL" sz="4000" noProof="0" dirty="0">
              <a:latin typeface="Atkinson Hyperlegible"/>
            </a:endParaRPr>
          </a:p>
        </p:txBody>
      </p:sp>
      <p:pic>
        <p:nvPicPr>
          <p:cNvPr id="5" name="Imagen 4">
            <a:extLst>
              <a:ext uri="{FF2B5EF4-FFF2-40B4-BE49-F238E27FC236}">
                <a16:creationId xmlns:a16="http://schemas.microsoft.com/office/drawing/2014/main" id="{18835B6A-97CA-3EF6-0F96-E37FBCDF6B3F}"/>
              </a:ext>
            </a:extLst>
          </p:cNvPr>
          <p:cNvPicPr>
            <a:picLocks noChangeAspect="1"/>
          </p:cNvPicPr>
          <p:nvPr/>
        </p:nvPicPr>
        <p:blipFill>
          <a:blip r:embed="rId4"/>
          <a:stretch>
            <a:fillRect/>
          </a:stretch>
        </p:blipFill>
        <p:spPr>
          <a:xfrm>
            <a:off x="13179700" y="2120961"/>
            <a:ext cx="6337494" cy="828966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CuadroTexto 7">
            <a:extLst>
              <a:ext uri="{FF2B5EF4-FFF2-40B4-BE49-F238E27FC236}">
                <a16:creationId xmlns:a16="http://schemas.microsoft.com/office/drawing/2014/main" id="{2D2CA272-77E8-33A4-DD09-B7850543ADE6}"/>
              </a:ext>
            </a:extLst>
          </p:cNvPr>
          <p:cNvSpPr txBox="1"/>
          <p:nvPr/>
        </p:nvSpPr>
        <p:spPr>
          <a:xfrm>
            <a:off x="1382156" y="2300566"/>
            <a:ext cx="11434433" cy="7243008"/>
          </a:xfrm>
          <a:prstGeom prst="rect">
            <a:avLst/>
          </a:prstGeom>
          <a:noFill/>
        </p:spPr>
        <p:txBody>
          <a:bodyPr wrap="square">
            <a:spAutoFit/>
          </a:bodyPr>
          <a:lstStyle/>
          <a:p>
            <a:pPr algn="just">
              <a:spcAft>
                <a:spcPts val="1950"/>
              </a:spcAft>
              <a:buNone/>
            </a:pPr>
            <a:r>
              <a:rPr lang="es-ES" sz="3200" b="1" i="0" dirty="0">
                <a:solidFill>
                  <a:srgbClr val="222222"/>
                </a:solidFill>
                <a:effectLst/>
                <a:latin typeface="Atkinson Hyperlegible"/>
              </a:rPr>
              <a:t>Los efectos en sistemas análogos y digitales son totalmente distintos.</a:t>
            </a:r>
          </a:p>
          <a:p>
            <a:pPr algn="just">
              <a:spcAft>
                <a:spcPts val="1950"/>
              </a:spcAft>
              <a:buNone/>
            </a:pPr>
            <a:r>
              <a:rPr lang="es-ES" sz="3200" b="0" i="0" dirty="0">
                <a:solidFill>
                  <a:srgbClr val="222222"/>
                </a:solidFill>
                <a:effectLst/>
                <a:latin typeface="Atkinson Hyperlegible"/>
              </a:rPr>
              <a:t>– Efectos en Receptores análogos, la interferencia incrementa el ruido lo cual tiene un efecto directo en la calidad de la señal, esto también conduce a la acumulación de productos de intermodulación (IMP) lo cual degrada la calidad de la señal, estos productos interfieren con la frecuencia portadora y las bandas laterales, esta frecuencia portadora de la señal de interferencia, la cual es recibida por el receptor, puede tener un nivel superior al de las bandas laterales, resultando en lo que es llamado interferencia por batido de portadora. Otro tipo de interferencia es causado solo a los canales adyacentes, lo cual es llamado interferencia por batido de bandas laterales. Las figuras 5.7 y 5.8 muestran estos dos tipos de interferencia:</a:t>
            </a:r>
          </a:p>
        </p:txBody>
      </p:sp>
    </p:spTree>
    <p:extLst>
      <p:ext uri="{BB962C8B-B14F-4D97-AF65-F5344CB8AC3E}">
        <p14:creationId xmlns:p14="http://schemas.microsoft.com/office/powerpoint/2010/main" val="2465037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9998850-F0F1-647A-F00D-25A95B813AD2}"/>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BD6929A6-45DE-5DCC-393A-633185193411}"/>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4FB2255F-7307-3B8A-51E1-ACC24C9F8000}"/>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PROPAGACIÓN EN LA ATMÓSFERA</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D459031C-135B-1417-9643-A3694B41D5C4}"/>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Otros fenómenos físicos que afectan la onda en el trayecto</a:t>
            </a:r>
            <a:endParaRPr lang="es-CL" sz="4000" noProof="0" dirty="0">
              <a:latin typeface="Atkinson Hyperlegible"/>
            </a:endParaRPr>
          </a:p>
        </p:txBody>
      </p:sp>
      <p:sp>
        <p:nvSpPr>
          <p:cNvPr id="8" name="CuadroTexto 7">
            <a:extLst>
              <a:ext uri="{FF2B5EF4-FFF2-40B4-BE49-F238E27FC236}">
                <a16:creationId xmlns:a16="http://schemas.microsoft.com/office/drawing/2014/main" id="{F2881032-6E32-3ECF-6353-EF1180870254}"/>
              </a:ext>
            </a:extLst>
          </p:cNvPr>
          <p:cNvSpPr txBox="1"/>
          <p:nvPr/>
        </p:nvSpPr>
        <p:spPr>
          <a:xfrm>
            <a:off x="1382156" y="2300566"/>
            <a:ext cx="11434433" cy="7991931"/>
          </a:xfrm>
          <a:prstGeom prst="rect">
            <a:avLst/>
          </a:prstGeom>
          <a:noFill/>
        </p:spPr>
        <p:txBody>
          <a:bodyPr wrap="square">
            <a:spAutoFit/>
          </a:bodyPr>
          <a:lstStyle/>
          <a:p>
            <a:pPr algn="just">
              <a:spcAft>
                <a:spcPts val="1950"/>
              </a:spcAft>
              <a:buNone/>
            </a:pPr>
            <a:r>
              <a:rPr lang="es-ES" sz="2800" i="0" dirty="0">
                <a:solidFill>
                  <a:srgbClr val="222222"/>
                </a:solidFill>
                <a:effectLst/>
                <a:latin typeface="Atkinson Hyperlegible"/>
              </a:rPr>
              <a:t>El efecto del aumento del ruido debido al ruido térmico y de intermodulación se muestra en la figura 5.9, es interesante observar que el punto de cruce es el punto de funcionamiento deseado, por lo que la mayoría de sistemas analógicos se han diseñado para cumplir con un margen de desvanecimiento determinado, independiente de las condiciones de enlace. En resumen, se puede decir el efecto principal sobre los sistemas analógicos es debido al aumento de ruido e IMP en ausencia de desvanecimiento.</a:t>
            </a:r>
          </a:p>
          <a:p>
            <a:pPr algn="just">
              <a:spcAft>
                <a:spcPts val="1950"/>
              </a:spcAft>
              <a:buNone/>
            </a:pPr>
            <a:r>
              <a:rPr lang="es-ES" sz="2800" i="0" dirty="0">
                <a:solidFill>
                  <a:srgbClr val="222222"/>
                </a:solidFill>
                <a:effectLst/>
                <a:latin typeface="Atkinson Hyperlegible"/>
              </a:rPr>
              <a:t>Receptores digitales, En ausencia de desvanecimiento, los receptores digitales son muy robustos contra las interferencias a diferencia de los sistemas análogos, sin embargo, el principal problema de interferencia ocurre en condiciones de desvanecimiento, donde los niveles de señal se acercan al umbral del receptor, los niveles de señal muy por debajo del umbral del receptor, puede causar problemas en el proceso de demodulación, el efecto de interferencia no está dada, por lo tanto, en términos de la amplitud de la señal absoluta, sino, en términos de la relación entre la señal deseada (portadora) y la señal indeseada (interferencia)</a:t>
            </a:r>
          </a:p>
          <a:p>
            <a:pPr algn="just">
              <a:spcAft>
                <a:spcPts val="1950"/>
              </a:spcAft>
              <a:buNone/>
            </a:pPr>
            <a:endParaRPr lang="es-ES" sz="3200" i="0" dirty="0">
              <a:solidFill>
                <a:srgbClr val="222222"/>
              </a:solidFill>
              <a:effectLst/>
              <a:latin typeface="Atkinson Hyperlegible"/>
            </a:endParaRPr>
          </a:p>
        </p:txBody>
      </p:sp>
      <p:pic>
        <p:nvPicPr>
          <p:cNvPr id="3" name="Imagen 2">
            <a:extLst>
              <a:ext uri="{FF2B5EF4-FFF2-40B4-BE49-F238E27FC236}">
                <a16:creationId xmlns:a16="http://schemas.microsoft.com/office/drawing/2014/main" id="{55C1405B-C183-057A-8B6F-61B23BBDE806}"/>
              </a:ext>
            </a:extLst>
          </p:cNvPr>
          <p:cNvPicPr>
            <a:picLocks noChangeAspect="1"/>
          </p:cNvPicPr>
          <p:nvPr/>
        </p:nvPicPr>
        <p:blipFill>
          <a:blip r:embed="rId4"/>
          <a:stretch>
            <a:fillRect/>
          </a:stretch>
        </p:blipFill>
        <p:spPr>
          <a:xfrm>
            <a:off x="12955407" y="3093905"/>
            <a:ext cx="6830339" cy="63049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4508203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E067317-1324-1A7A-94C9-3C670743A2E4}"/>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AF949244-8DBF-F655-DE54-BF8048004D8E}"/>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BDEBBCDE-4506-0306-2151-DB694FAC2E40}"/>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PROPAGACIÓN EN LA ATMÓSFERA</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A251A028-3435-EFFB-0F46-235558794D74}"/>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Otros fenómenos físicos que afectan la onda en el trayecto</a:t>
            </a:r>
            <a:endParaRPr lang="es-CL" sz="4000" noProof="0" dirty="0">
              <a:latin typeface="Atkinson Hyperlegible"/>
            </a:endParaRPr>
          </a:p>
        </p:txBody>
      </p:sp>
      <p:sp>
        <p:nvSpPr>
          <p:cNvPr id="8" name="CuadroTexto 7">
            <a:extLst>
              <a:ext uri="{FF2B5EF4-FFF2-40B4-BE49-F238E27FC236}">
                <a16:creationId xmlns:a16="http://schemas.microsoft.com/office/drawing/2014/main" id="{4E9D8FC2-E76B-34CB-EBD9-FCEA8E75F177}"/>
              </a:ext>
            </a:extLst>
          </p:cNvPr>
          <p:cNvSpPr txBox="1"/>
          <p:nvPr/>
        </p:nvSpPr>
        <p:spPr>
          <a:xfrm>
            <a:off x="1382156" y="2300566"/>
            <a:ext cx="11434433" cy="3108543"/>
          </a:xfrm>
          <a:prstGeom prst="rect">
            <a:avLst/>
          </a:prstGeom>
          <a:noFill/>
        </p:spPr>
        <p:txBody>
          <a:bodyPr wrap="square">
            <a:spAutoFit/>
          </a:bodyPr>
          <a:lstStyle/>
          <a:p>
            <a:pPr algn="just">
              <a:spcAft>
                <a:spcPts val="1950"/>
              </a:spcAft>
              <a:buNone/>
            </a:pPr>
            <a:r>
              <a:rPr lang="es-ES" sz="2800" i="0" dirty="0">
                <a:solidFill>
                  <a:srgbClr val="222222"/>
                </a:solidFill>
                <a:effectLst/>
                <a:latin typeface="Atkinson Hyperlegible"/>
              </a:rPr>
              <a:t>En los sistemas digitales, debido al efecto del nivel umbral de los receptores digitales, como se ilustra en la figura 5.10, la interferencia de bajo nivel tiene poco o nulo efecto en la calidad de la señal bajo ausencia de desvanecimiento. Para variaciones pequeñas alrededor del nivel nominal de recepción, el efecto sobre el </a:t>
            </a:r>
            <a:r>
              <a:rPr lang="es-ES" sz="2800" i="0" dirty="0" err="1">
                <a:solidFill>
                  <a:srgbClr val="222222"/>
                </a:solidFill>
                <a:effectLst/>
                <a:latin typeface="Atkinson Hyperlegible"/>
              </a:rPr>
              <a:t>BER</a:t>
            </a:r>
            <a:r>
              <a:rPr lang="es-ES" sz="2800" i="0" dirty="0">
                <a:solidFill>
                  <a:srgbClr val="222222"/>
                </a:solidFill>
                <a:effectLst/>
                <a:latin typeface="Atkinson Hyperlegible"/>
              </a:rPr>
              <a:t> es despreciable. Solo cuando la señal se acerca a la zona umbral con variaciones de nivel es cuando se puede tener efectos dramáticos en la calidad de la señal.</a:t>
            </a:r>
            <a:endParaRPr lang="es-ES" sz="3200" i="0" dirty="0">
              <a:solidFill>
                <a:srgbClr val="222222"/>
              </a:solidFill>
              <a:effectLst/>
              <a:latin typeface="Atkinson Hyperlegible"/>
            </a:endParaRPr>
          </a:p>
        </p:txBody>
      </p:sp>
      <p:pic>
        <p:nvPicPr>
          <p:cNvPr id="4" name="Imagen 3">
            <a:extLst>
              <a:ext uri="{FF2B5EF4-FFF2-40B4-BE49-F238E27FC236}">
                <a16:creationId xmlns:a16="http://schemas.microsoft.com/office/drawing/2014/main" id="{407CCF46-37BA-393C-78A0-2E08167D4E6F}"/>
              </a:ext>
            </a:extLst>
          </p:cNvPr>
          <p:cNvPicPr>
            <a:picLocks noChangeAspect="1"/>
          </p:cNvPicPr>
          <p:nvPr/>
        </p:nvPicPr>
        <p:blipFill>
          <a:blip r:embed="rId4"/>
          <a:stretch>
            <a:fillRect/>
          </a:stretch>
        </p:blipFill>
        <p:spPr>
          <a:xfrm>
            <a:off x="9095659" y="5115008"/>
            <a:ext cx="9911870" cy="52956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CuadroTexto 4">
            <a:extLst>
              <a:ext uri="{FF2B5EF4-FFF2-40B4-BE49-F238E27FC236}">
                <a16:creationId xmlns:a16="http://schemas.microsoft.com/office/drawing/2014/main" id="{9E535047-C828-FD9C-4197-F6F66532A881}"/>
              </a:ext>
            </a:extLst>
          </p:cNvPr>
          <p:cNvSpPr txBox="1"/>
          <p:nvPr/>
        </p:nvSpPr>
        <p:spPr>
          <a:xfrm>
            <a:off x="0" y="6255645"/>
            <a:ext cx="8964118" cy="4154984"/>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CL" sz="2400" noProof="0" dirty="0" err="1">
                <a:latin typeface="Atkinson Hyperlegible"/>
              </a:rPr>
              <a:t>ITU</a:t>
            </a:r>
            <a:r>
              <a:rPr lang="es-CL" sz="2400" noProof="0" dirty="0">
                <a:latin typeface="Atkinson Hyperlegible"/>
              </a:rPr>
              <a:t> Radio </a:t>
            </a:r>
            <a:r>
              <a:rPr lang="es-CL" sz="2400" noProof="0" dirty="0" err="1">
                <a:latin typeface="Atkinson Hyperlegible"/>
              </a:rPr>
              <a:t>Regulations</a:t>
            </a:r>
            <a:r>
              <a:rPr lang="es-CL" sz="2400" noProof="0" dirty="0">
                <a:latin typeface="Atkinson Hyperlegible"/>
              </a:rPr>
              <a:t> (Ed. 2024)</a:t>
            </a:r>
          </a:p>
          <a:p>
            <a:r>
              <a:rPr lang="es-ES" sz="2400" dirty="0" err="1">
                <a:latin typeface="Atkinson Hyperlegible"/>
              </a:rPr>
              <a:t>ITU</a:t>
            </a:r>
            <a:r>
              <a:rPr lang="es-ES" sz="2400" dirty="0">
                <a:latin typeface="Atkinson Hyperlegible"/>
              </a:rPr>
              <a:t>-R </a:t>
            </a:r>
            <a:r>
              <a:rPr lang="es-ES" sz="2400" dirty="0" err="1">
                <a:latin typeface="Atkinson Hyperlegible"/>
              </a:rPr>
              <a:t>P.676</a:t>
            </a:r>
            <a:r>
              <a:rPr lang="es-ES" sz="2400" dirty="0">
                <a:latin typeface="Atkinson Hyperlegible"/>
              </a:rPr>
              <a:t> (atenuación por gases atmosféricos)</a:t>
            </a:r>
          </a:p>
          <a:p>
            <a:r>
              <a:rPr lang="es-ES" sz="2400" dirty="0" err="1">
                <a:latin typeface="Atkinson Hyperlegible"/>
              </a:rPr>
              <a:t>ITU</a:t>
            </a:r>
            <a:r>
              <a:rPr lang="es-ES" sz="2400" dirty="0">
                <a:latin typeface="Atkinson Hyperlegible"/>
              </a:rPr>
              <a:t>-R </a:t>
            </a:r>
            <a:r>
              <a:rPr lang="es-ES" sz="2400" dirty="0" err="1">
                <a:latin typeface="Atkinson Hyperlegible"/>
              </a:rPr>
              <a:t>P.838</a:t>
            </a:r>
            <a:r>
              <a:rPr lang="es-ES" sz="2400" dirty="0">
                <a:latin typeface="Atkinson Hyperlegible"/>
              </a:rPr>
              <a:t> (atenuación específica por lluvia)</a:t>
            </a:r>
          </a:p>
          <a:p>
            <a:r>
              <a:rPr lang="es-ES" sz="2400" dirty="0" err="1">
                <a:latin typeface="Atkinson Hyperlegible"/>
              </a:rPr>
              <a:t>ITU</a:t>
            </a:r>
            <a:r>
              <a:rPr lang="es-ES" sz="2400" dirty="0">
                <a:latin typeface="Atkinson Hyperlegible"/>
              </a:rPr>
              <a:t>-R </a:t>
            </a:r>
            <a:r>
              <a:rPr lang="es-ES" sz="2400" dirty="0" err="1">
                <a:latin typeface="Atkinson Hyperlegible"/>
              </a:rPr>
              <a:t>P.618</a:t>
            </a:r>
            <a:r>
              <a:rPr lang="es-ES" sz="2400" dirty="0">
                <a:latin typeface="Atkinson Hyperlegible"/>
              </a:rPr>
              <a:t> (predicción para enlaces Tierra-espacio, satélite)</a:t>
            </a:r>
          </a:p>
          <a:p>
            <a:r>
              <a:rPr lang="es-ES" sz="2400" b="1" dirty="0" err="1">
                <a:latin typeface="Atkinson Hyperlegible"/>
              </a:rPr>
              <a:t>ITU</a:t>
            </a:r>
            <a:r>
              <a:rPr lang="es-ES" sz="2400" b="1" dirty="0">
                <a:latin typeface="Atkinson Hyperlegible"/>
              </a:rPr>
              <a:t>-R </a:t>
            </a:r>
            <a:r>
              <a:rPr lang="es-ES" sz="2400" b="1" dirty="0" err="1">
                <a:latin typeface="Atkinson Hyperlegible"/>
              </a:rPr>
              <a:t>P.530</a:t>
            </a:r>
            <a:r>
              <a:rPr lang="es-ES" sz="2400" dirty="0">
                <a:latin typeface="Atkinson Hyperlegible"/>
              </a:rPr>
              <a:t> (enlaces terrestres LOS) — menciona efectos como </a:t>
            </a:r>
            <a:r>
              <a:rPr lang="es-ES" sz="2400" b="1" dirty="0">
                <a:latin typeface="Atkinson Hyperlegible"/>
              </a:rPr>
              <a:t>difracción</a:t>
            </a:r>
            <a:r>
              <a:rPr lang="es-ES" sz="2400" dirty="0">
                <a:latin typeface="Atkinson Hyperlegible"/>
              </a:rPr>
              <a:t>, </a:t>
            </a:r>
            <a:r>
              <a:rPr lang="es-ES" sz="2400" b="1" dirty="0">
                <a:latin typeface="Atkinson Hyperlegible"/>
              </a:rPr>
              <a:t>gases</a:t>
            </a:r>
            <a:r>
              <a:rPr lang="es-ES" sz="2400" dirty="0">
                <a:latin typeface="Atkinson Hyperlegible"/>
              </a:rPr>
              <a:t>, y </a:t>
            </a:r>
            <a:r>
              <a:rPr lang="es-ES" sz="2400" b="1" dirty="0">
                <a:latin typeface="Atkinson Hyperlegible"/>
              </a:rPr>
              <a:t>fading por </a:t>
            </a:r>
            <a:r>
              <a:rPr lang="es-ES" sz="2400" b="1" dirty="0" err="1">
                <a:latin typeface="Atkinson Hyperlegible"/>
              </a:rPr>
              <a:t>multipath</a:t>
            </a:r>
            <a:r>
              <a:rPr lang="es-ES" sz="2400" b="1" dirty="0">
                <a:latin typeface="Atkinson Hyperlegible"/>
              </a:rPr>
              <a:t>/</a:t>
            </a:r>
            <a:r>
              <a:rPr lang="es-ES" sz="2400" b="1" dirty="0" err="1">
                <a:latin typeface="Atkinson Hyperlegible"/>
              </a:rPr>
              <a:t>defocusing</a:t>
            </a:r>
            <a:r>
              <a:rPr lang="es-ES" sz="2400" dirty="0">
                <a:latin typeface="Atkinson Hyperlegible"/>
              </a:rPr>
              <a:t> en diseño de enlaces. </a:t>
            </a:r>
          </a:p>
          <a:p>
            <a:r>
              <a:rPr lang="es-ES" sz="2400" b="1" dirty="0" err="1">
                <a:latin typeface="Atkinson Hyperlegible"/>
              </a:rPr>
              <a:t>ITU</a:t>
            </a:r>
            <a:r>
              <a:rPr lang="es-ES" sz="2400" b="1" dirty="0">
                <a:latin typeface="Atkinson Hyperlegible"/>
              </a:rPr>
              <a:t>-R </a:t>
            </a:r>
            <a:r>
              <a:rPr lang="es-ES" sz="2400" b="1" dirty="0" err="1">
                <a:latin typeface="Atkinson Hyperlegible"/>
              </a:rPr>
              <a:t>P.526</a:t>
            </a:r>
            <a:r>
              <a:rPr lang="es-ES" sz="2400" dirty="0">
                <a:latin typeface="Atkinson Hyperlegible"/>
              </a:rPr>
              <a:t> — recomendación de referencia para </a:t>
            </a:r>
            <a:r>
              <a:rPr lang="es-ES" sz="2400" b="1" dirty="0">
                <a:latin typeface="Atkinson Hyperlegible"/>
              </a:rPr>
              <a:t>propagación por difracción</a:t>
            </a:r>
            <a:r>
              <a:rPr lang="es-ES" sz="2400" dirty="0">
                <a:latin typeface="Atkinson Hyperlegible"/>
              </a:rPr>
              <a:t>. </a:t>
            </a:r>
          </a:p>
          <a:p>
            <a:endParaRPr lang="es-CL" sz="2400" noProof="0" dirty="0">
              <a:latin typeface="Atkinson Hyperlegible"/>
            </a:endParaRPr>
          </a:p>
        </p:txBody>
      </p:sp>
    </p:spTree>
    <p:extLst>
      <p:ext uri="{BB962C8B-B14F-4D97-AF65-F5344CB8AC3E}">
        <p14:creationId xmlns:p14="http://schemas.microsoft.com/office/powerpoint/2010/main" val="1436028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A72ACC1-0357-B49F-EAB9-77740A586BF5}"/>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3C750CD6-2569-F225-4467-509D125CCE19}"/>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179112B9-B7A7-7F04-BC2A-6D704AF8E24C}"/>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PROPAGACIÓN EN LA ATMÓSFERA</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7A0D4DFA-38A5-77F1-5EC8-8347ACE9420A}"/>
              </a:ext>
            </a:extLst>
          </p:cNvPr>
          <p:cNvSpPr txBox="1"/>
          <p:nvPr/>
        </p:nvSpPr>
        <p:spPr>
          <a:xfrm>
            <a:off x="1382157" y="898721"/>
            <a:ext cx="17055745" cy="707886"/>
          </a:xfrm>
          <a:prstGeom prst="rect">
            <a:avLst/>
          </a:prstGeom>
          <a:noFill/>
        </p:spPr>
        <p:txBody>
          <a:bodyPr wrap="square">
            <a:spAutoFit/>
          </a:bodyPr>
          <a:lstStyle/>
          <a:p>
            <a:r>
              <a:rPr lang="es-ES" sz="4000" dirty="0" err="1">
                <a:latin typeface="Atkinson Hyperlegible"/>
              </a:rPr>
              <a:t>Multitrayectoria</a:t>
            </a:r>
            <a:r>
              <a:rPr lang="es-ES" sz="4000" dirty="0">
                <a:latin typeface="Atkinson Hyperlegible"/>
              </a:rPr>
              <a:t> (</a:t>
            </a:r>
            <a:r>
              <a:rPr lang="es-ES" sz="4000" dirty="0" err="1">
                <a:latin typeface="Atkinson Hyperlegible"/>
              </a:rPr>
              <a:t>multipath</a:t>
            </a:r>
            <a:r>
              <a:rPr lang="es-ES" sz="4000" dirty="0">
                <a:latin typeface="Atkinson Hyperlegible"/>
              </a:rPr>
              <a:t>) y desvanecimiento (fading)</a:t>
            </a:r>
            <a:endParaRPr lang="es-CL" sz="4000" noProof="0" dirty="0">
              <a:latin typeface="Atkinson Hyperlegible"/>
            </a:endParaRPr>
          </a:p>
        </p:txBody>
      </p:sp>
      <p:sp>
        <p:nvSpPr>
          <p:cNvPr id="8" name="CuadroTexto 7">
            <a:extLst>
              <a:ext uri="{FF2B5EF4-FFF2-40B4-BE49-F238E27FC236}">
                <a16:creationId xmlns:a16="http://schemas.microsoft.com/office/drawing/2014/main" id="{6DAC1456-488C-6F9C-20A1-E37775B0BB9C}"/>
              </a:ext>
            </a:extLst>
          </p:cNvPr>
          <p:cNvSpPr txBox="1"/>
          <p:nvPr/>
        </p:nvSpPr>
        <p:spPr>
          <a:xfrm>
            <a:off x="1382157" y="1929131"/>
            <a:ext cx="18404860" cy="4031873"/>
          </a:xfrm>
          <a:prstGeom prst="rect">
            <a:avLst/>
          </a:prstGeom>
          <a:noFill/>
        </p:spPr>
        <p:txBody>
          <a:bodyPr wrap="square">
            <a:spAutoFit/>
          </a:bodyPr>
          <a:lstStyle/>
          <a:p>
            <a:pPr marL="457200" indent="-457200" algn="just">
              <a:buFont typeface="Arial" panose="020B0604020202020204" pitchFamily="34" charset="0"/>
              <a:buChar char="•"/>
            </a:pPr>
            <a:r>
              <a:rPr lang="es-ES" sz="3200" i="0" dirty="0" err="1">
                <a:solidFill>
                  <a:srgbClr val="222222"/>
                </a:solidFill>
                <a:effectLst/>
                <a:latin typeface="Atkinson Hyperlegible"/>
              </a:rPr>
              <a:t>Multipath</a:t>
            </a:r>
            <a:r>
              <a:rPr lang="es-ES" sz="3200" i="0" dirty="0">
                <a:solidFill>
                  <a:srgbClr val="222222"/>
                </a:solidFill>
                <a:effectLst/>
                <a:latin typeface="Atkinson Hyperlegible"/>
              </a:rPr>
              <a:t> (</a:t>
            </a:r>
            <a:r>
              <a:rPr lang="es-ES" sz="3200" i="0" dirty="0" err="1">
                <a:solidFill>
                  <a:srgbClr val="222222"/>
                </a:solidFill>
                <a:effectLst/>
                <a:latin typeface="Atkinson Hyperlegible"/>
              </a:rPr>
              <a:t>multitrayectoria</a:t>
            </a:r>
            <a:r>
              <a:rPr lang="es-ES" sz="3200" i="0" dirty="0">
                <a:solidFill>
                  <a:srgbClr val="222222"/>
                </a:solidFill>
                <a:effectLst/>
                <a:latin typeface="Atkinson Hyperlegible"/>
              </a:rPr>
              <a:t>): la señal llega al receptor por múltiples rutas (directa + reflejada + difractada).</a:t>
            </a:r>
          </a:p>
          <a:p>
            <a:pPr marL="457200" indent="-457200" algn="just">
              <a:buFont typeface="Arial" panose="020B0604020202020204" pitchFamily="34" charset="0"/>
              <a:buChar char="•"/>
            </a:pPr>
            <a:r>
              <a:rPr lang="es-ES" sz="3200" i="0" dirty="0">
                <a:solidFill>
                  <a:srgbClr val="222222"/>
                </a:solidFill>
                <a:effectLst/>
                <a:latin typeface="Atkinson Hyperlegible"/>
              </a:rPr>
              <a:t>Esas rutas llegan con distintos retrasos y niveles, pudiendo sumarse o cancelarse parcialmente.</a:t>
            </a:r>
          </a:p>
          <a:p>
            <a:pPr marL="457200" indent="-457200" algn="just">
              <a:buFont typeface="Arial" panose="020B0604020202020204" pitchFamily="34" charset="0"/>
              <a:buChar char="•"/>
            </a:pPr>
            <a:r>
              <a:rPr lang="es-ES" sz="3200" i="0" dirty="0">
                <a:solidFill>
                  <a:srgbClr val="222222"/>
                </a:solidFill>
                <a:effectLst/>
                <a:latin typeface="Atkinson Hyperlegible"/>
              </a:rPr>
              <a:t>Fading (desvanecimiento): variación del nivel de señal recibida en el tiempo debido al canal (entorno + movimiento).</a:t>
            </a:r>
          </a:p>
          <a:p>
            <a:pPr marL="457200" indent="-457200" algn="just">
              <a:buFont typeface="Arial" panose="020B0604020202020204" pitchFamily="34" charset="0"/>
              <a:buChar char="•"/>
            </a:pPr>
            <a:r>
              <a:rPr lang="es-ES" sz="3200" i="0" dirty="0">
                <a:solidFill>
                  <a:srgbClr val="222222"/>
                </a:solidFill>
                <a:effectLst/>
                <a:latin typeface="Atkinson Hyperlegible"/>
              </a:rPr>
              <a:t>Puede causar fluctuaciones (sube/baja la señal) incluso con el mismo transmisor.</a:t>
            </a:r>
          </a:p>
          <a:p>
            <a:pPr marL="457200" indent="-457200" algn="just">
              <a:buFont typeface="Arial" panose="020B0604020202020204" pitchFamily="34" charset="0"/>
              <a:buChar char="•"/>
            </a:pPr>
            <a:r>
              <a:rPr lang="es-ES" sz="3200" i="0" dirty="0">
                <a:solidFill>
                  <a:srgbClr val="222222"/>
                </a:solidFill>
                <a:effectLst/>
                <a:latin typeface="Atkinson Hyperlegible"/>
              </a:rPr>
              <a:t>Se observa con frecuencia en entornos urbanos, interiores, y enlaces con reflexión.</a:t>
            </a:r>
          </a:p>
          <a:p>
            <a:pPr marL="457200" indent="-457200" algn="just">
              <a:buFont typeface="Arial" panose="020B0604020202020204" pitchFamily="34" charset="0"/>
              <a:buChar char="•"/>
            </a:pPr>
            <a:r>
              <a:rPr lang="es-ES" sz="3200" i="1" dirty="0">
                <a:solidFill>
                  <a:srgbClr val="222222"/>
                </a:solidFill>
                <a:effectLst>
                  <a:outerShdw blurRad="38100" dist="38100" dir="2700000" algn="tl">
                    <a:srgbClr val="000000">
                      <a:alpha val="43137"/>
                    </a:srgbClr>
                  </a:outerShdw>
                </a:effectLst>
                <a:latin typeface="Atkinson Hyperlegible"/>
              </a:rPr>
              <a:t>no es “falla del equipo”; es comportamiento del canal.</a:t>
            </a:r>
          </a:p>
          <a:p>
            <a:pPr algn="ctr"/>
            <a:r>
              <a:rPr lang="es-ES" sz="3200" b="1" i="0" dirty="0">
                <a:solidFill>
                  <a:srgbClr val="222222"/>
                </a:solidFill>
                <a:effectLst>
                  <a:outerShdw blurRad="38100" dist="38100" dir="2700000" algn="tl">
                    <a:srgbClr val="000000">
                      <a:alpha val="43137"/>
                    </a:srgbClr>
                  </a:outerShdw>
                </a:effectLst>
                <a:latin typeface="Atkinson Hyperlegible"/>
              </a:rPr>
              <a:t>En RF, la señal puede variar por interferencia entre trayectorias (</a:t>
            </a:r>
            <a:r>
              <a:rPr lang="es-ES" sz="3200" b="1" i="0" dirty="0" err="1">
                <a:solidFill>
                  <a:srgbClr val="222222"/>
                </a:solidFill>
                <a:effectLst>
                  <a:outerShdw blurRad="38100" dist="38100" dir="2700000" algn="tl">
                    <a:srgbClr val="000000">
                      <a:alpha val="43137"/>
                    </a:srgbClr>
                  </a:outerShdw>
                </a:effectLst>
                <a:latin typeface="Atkinson Hyperlegible"/>
              </a:rPr>
              <a:t>multipath</a:t>
            </a:r>
            <a:r>
              <a:rPr lang="es-ES" sz="3200" b="1" i="0" dirty="0">
                <a:solidFill>
                  <a:srgbClr val="222222"/>
                </a:solidFill>
                <a:effectLst>
                  <a:outerShdw blurRad="38100" dist="38100" dir="2700000" algn="tl">
                    <a:srgbClr val="000000">
                      <a:alpha val="43137"/>
                    </a:srgbClr>
                  </a:outerShdw>
                </a:effectLst>
                <a:latin typeface="Atkinson Hyperlegible"/>
              </a:rPr>
              <a:t>).</a:t>
            </a:r>
          </a:p>
        </p:txBody>
      </p:sp>
      <p:pic>
        <p:nvPicPr>
          <p:cNvPr id="2" name="Picture 6" descr="Figura 5.6. Desvanecimiento multitrayectoria">
            <a:extLst>
              <a:ext uri="{FF2B5EF4-FFF2-40B4-BE49-F238E27FC236}">
                <a16:creationId xmlns:a16="http://schemas.microsoft.com/office/drawing/2014/main" id="{93903CA1-9120-9464-8218-25D71FC632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2207" y="5841082"/>
            <a:ext cx="6024639" cy="468998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28554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3C6B996-0B1E-8E2F-760B-26E25CCA8940}"/>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0ABE4351-D48B-08CC-24F7-367DB7688CE9}"/>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A4AFAE0C-8602-65F7-5212-0258AC434734}"/>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PROPAGACIÓN EN LA ATMÓSFERA</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D2DF42EF-32AD-FDDE-E0F5-1D03E0E6351A}"/>
              </a:ext>
            </a:extLst>
          </p:cNvPr>
          <p:cNvSpPr txBox="1"/>
          <p:nvPr/>
        </p:nvSpPr>
        <p:spPr>
          <a:xfrm>
            <a:off x="1382157" y="898721"/>
            <a:ext cx="17055745" cy="707886"/>
          </a:xfrm>
          <a:prstGeom prst="rect">
            <a:avLst/>
          </a:prstGeom>
          <a:noFill/>
        </p:spPr>
        <p:txBody>
          <a:bodyPr wrap="square">
            <a:spAutoFit/>
          </a:bodyPr>
          <a:lstStyle/>
          <a:p>
            <a:r>
              <a:rPr lang="es-CL" sz="4000" noProof="0" dirty="0">
                <a:latin typeface="Atkinson Hyperlegible"/>
              </a:rPr>
              <a:t>Pérdida en espacio libre (</a:t>
            </a:r>
            <a:r>
              <a:rPr lang="es-CL" sz="4000" noProof="0" dirty="0" err="1">
                <a:latin typeface="Atkinson Hyperlegible"/>
              </a:rPr>
              <a:t>ITU</a:t>
            </a:r>
            <a:r>
              <a:rPr lang="es-CL" sz="4000" noProof="0" dirty="0">
                <a:latin typeface="Atkinson Hyperlegible"/>
              </a:rPr>
              <a:t>-R </a:t>
            </a:r>
            <a:r>
              <a:rPr lang="es-CL" sz="4000" noProof="0" dirty="0" err="1">
                <a:latin typeface="Atkinson Hyperlegible"/>
              </a:rPr>
              <a:t>P.525</a:t>
            </a:r>
            <a:r>
              <a:rPr lang="es-CL" sz="4000" noProof="0" dirty="0">
                <a:latin typeface="Atkinson Hyperlegible"/>
              </a:rPr>
              <a:t>): referencia para cálculo de enlace</a:t>
            </a:r>
          </a:p>
        </p:txBody>
      </p:sp>
      <p:sp>
        <p:nvSpPr>
          <p:cNvPr id="8" name="CuadroTexto 7">
            <a:extLst>
              <a:ext uri="{FF2B5EF4-FFF2-40B4-BE49-F238E27FC236}">
                <a16:creationId xmlns:a16="http://schemas.microsoft.com/office/drawing/2014/main" id="{3F54B236-F5D9-617C-F7CE-A2FF70F9EED2}"/>
              </a:ext>
            </a:extLst>
          </p:cNvPr>
          <p:cNvSpPr txBox="1"/>
          <p:nvPr/>
        </p:nvSpPr>
        <p:spPr>
          <a:xfrm>
            <a:off x="2896163" y="9825854"/>
            <a:ext cx="18404860" cy="584775"/>
          </a:xfrm>
          <a:prstGeom prst="rect">
            <a:avLst/>
          </a:prstGeom>
          <a:noFill/>
        </p:spPr>
        <p:txBody>
          <a:bodyPr wrap="square">
            <a:spAutoFit/>
          </a:bodyPr>
          <a:lstStyle/>
          <a:p>
            <a:pPr algn="just"/>
            <a:r>
              <a:rPr lang="es-ES" sz="3200" dirty="0">
                <a:solidFill>
                  <a:srgbClr val="222222"/>
                </a:solidFill>
                <a:latin typeface="Atkinson Hyperlegible"/>
              </a:rPr>
              <a:t>https://www.itu.int/dms_pubrec/itu-r/rec/p/R-REC-P.525-5-202411-I!!PDF-E.pdf</a:t>
            </a:r>
            <a:endParaRPr lang="es-ES" sz="3200" b="1" i="0" dirty="0">
              <a:solidFill>
                <a:srgbClr val="222222"/>
              </a:solidFill>
              <a:effectLst>
                <a:outerShdw blurRad="38100" dist="38100" dir="2700000" algn="tl">
                  <a:srgbClr val="000000">
                    <a:alpha val="43137"/>
                  </a:srgbClr>
                </a:outerShdw>
              </a:effectLst>
              <a:latin typeface="Atkinson Hyperlegible"/>
            </a:endParaRPr>
          </a:p>
        </p:txBody>
      </p:sp>
      <p:sp>
        <p:nvSpPr>
          <p:cNvPr id="3" name="CuadroTexto 2">
            <a:extLst>
              <a:ext uri="{FF2B5EF4-FFF2-40B4-BE49-F238E27FC236}">
                <a16:creationId xmlns:a16="http://schemas.microsoft.com/office/drawing/2014/main" id="{6BD00F3E-3CAE-6BA6-BD8B-B8452FE1DBEF}"/>
              </a:ext>
            </a:extLst>
          </p:cNvPr>
          <p:cNvSpPr txBox="1"/>
          <p:nvPr/>
        </p:nvSpPr>
        <p:spPr>
          <a:xfrm>
            <a:off x="164892" y="9041024"/>
            <a:ext cx="15035134" cy="1569660"/>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n-US" sz="2400" b="1" dirty="0"/>
              <a:t>ITU-R </a:t>
            </a:r>
            <a:r>
              <a:rPr lang="en-US" sz="2400" b="1" dirty="0" err="1"/>
              <a:t>P.525</a:t>
            </a:r>
            <a:r>
              <a:rPr lang="en-US" sz="2400" b="1" dirty="0"/>
              <a:t>-5</a:t>
            </a:r>
            <a:r>
              <a:rPr lang="en-US" sz="2400" dirty="0"/>
              <a:t> (11/2024), </a:t>
            </a:r>
            <a:r>
              <a:rPr lang="en-US" sz="2400" i="1" dirty="0"/>
              <a:t>Calculation of free-space attenuation</a:t>
            </a:r>
            <a:r>
              <a:rPr lang="en-US" sz="2400" dirty="0"/>
              <a:t>. </a:t>
            </a:r>
          </a:p>
          <a:p>
            <a:endParaRPr lang="es-ES" sz="2400" dirty="0">
              <a:latin typeface="Atkinson Hyperlegible"/>
            </a:endParaRPr>
          </a:p>
          <a:p>
            <a:endParaRPr lang="es-CL" sz="2400" noProof="0" dirty="0">
              <a:latin typeface="Atkinson Hyperlegible"/>
            </a:endParaRPr>
          </a:p>
        </p:txBody>
      </p:sp>
      <p:pic>
        <p:nvPicPr>
          <p:cNvPr id="15" name="Imagen 14">
            <a:extLst>
              <a:ext uri="{FF2B5EF4-FFF2-40B4-BE49-F238E27FC236}">
                <a16:creationId xmlns:a16="http://schemas.microsoft.com/office/drawing/2014/main" id="{4F07882B-F5E5-7FA0-94E8-488003564FA9}"/>
              </a:ext>
            </a:extLst>
          </p:cNvPr>
          <p:cNvPicPr>
            <a:picLocks noChangeAspect="1"/>
          </p:cNvPicPr>
          <p:nvPr/>
        </p:nvPicPr>
        <p:blipFill>
          <a:blip r:embed="rId4"/>
          <a:stretch>
            <a:fillRect/>
          </a:stretch>
        </p:blipFill>
        <p:spPr>
          <a:xfrm>
            <a:off x="1577028" y="1770635"/>
            <a:ext cx="17704589" cy="7070334"/>
          </a:xfrm>
          <a:prstGeom prst="rect">
            <a:avLst/>
          </a:prstGeom>
        </p:spPr>
      </p:pic>
    </p:spTree>
    <p:extLst>
      <p:ext uri="{BB962C8B-B14F-4D97-AF65-F5344CB8AC3E}">
        <p14:creationId xmlns:p14="http://schemas.microsoft.com/office/powerpoint/2010/main" val="2096911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503660F-6216-4439-8597-E6D4808BD9C4}"/>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2854DD89-B418-2A87-5AEA-9E5A3FF11C8B}"/>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7FB146F8-D85B-175C-DE17-784094FE0242}"/>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noProof="0" dirty="0">
                <a:latin typeface="Atkinson Hyperlegible" pitchFamily="2" charset="77"/>
              </a:rPr>
              <a:t>PROPAGACIÓN EN LA ATMÓSFERA</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C9A2935B-6845-F5A1-3D1B-BD9FD39176BB}"/>
              </a:ext>
            </a:extLst>
          </p:cNvPr>
          <p:cNvSpPr txBox="1"/>
          <p:nvPr/>
        </p:nvSpPr>
        <p:spPr>
          <a:xfrm>
            <a:off x="1382157" y="898721"/>
            <a:ext cx="17055745" cy="707886"/>
          </a:xfrm>
          <a:prstGeom prst="rect">
            <a:avLst/>
          </a:prstGeom>
          <a:noFill/>
        </p:spPr>
        <p:txBody>
          <a:bodyPr wrap="square">
            <a:spAutoFit/>
          </a:bodyPr>
          <a:lstStyle/>
          <a:p>
            <a:r>
              <a:rPr lang="es-ES" sz="4000" noProof="0" dirty="0">
                <a:latin typeface="Atkinson Hyperlegible"/>
              </a:rPr>
              <a:t>Actividad (12 min): ¿Qué degrada un enlace RF?</a:t>
            </a:r>
            <a:endParaRPr lang="es-CL" sz="4000" noProof="0" dirty="0">
              <a:latin typeface="Atkinson Hyperlegible"/>
            </a:endParaRPr>
          </a:p>
        </p:txBody>
      </p:sp>
      <p:sp>
        <p:nvSpPr>
          <p:cNvPr id="2" name="CuadroTexto 1">
            <a:extLst>
              <a:ext uri="{FF2B5EF4-FFF2-40B4-BE49-F238E27FC236}">
                <a16:creationId xmlns:a16="http://schemas.microsoft.com/office/drawing/2014/main" id="{A30A6CC6-86AB-4417-0E67-E1E06FFD51B9}"/>
              </a:ext>
            </a:extLst>
          </p:cNvPr>
          <p:cNvSpPr txBox="1"/>
          <p:nvPr/>
        </p:nvSpPr>
        <p:spPr>
          <a:xfrm>
            <a:off x="1382157" y="1929131"/>
            <a:ext cx="18404860" cy="4524315"/>
          </a:xfrm>
          <a:prstGeom prst="rect">
            <a:avLst/>
          </a:prstGeom>
          <a:noFill/>
        </p:spPr>
        <p:txBody>
          <a:bodyPr wrap="square">
            <a:spAutoFit/>
          </a:bodyPr>
          <a:lstStyle/>
          <a:p>
            <a:pPr algn="just"/>
            <a:r>
              <a:rPr lang="es-ES" sz="3200" b="1" i="0" dirty="0">
                <a:solidFill>
                  <a:srgbClr val="222222"/>
                </a:solidFill>
                <a:effectLst/>
                <a:latin typeface="Atkinson Hyperlegible"/>
              </a:rPr>
              <a:t>Parte A — Trabajo en equipos (8 min)</a:t>
            </a:r>
          </a:p>
          <a:p>
            <a:pPr algn="just"/>
            <a:r>
              <a:rPr lang="es-ES" sz="3200" i="0" dirty="0">
                <a:solidFill>
                  <a:srgbClr val="222222"/>
                </a:solidFill>
                <a:effectLst/>
                <a:latin typeface="Atkinson Hyperlegible"/>
              </a:rPr>
              <a:t>Instrucciones:</a:t>
            </a:r>
          </a:p>
          <a:p>
            <a:pPr algn="just"/>
            <a:r>
              <a:rPr lang="es-ES" sz="3200" i="0" dirty="0">
                <a:solidFill>
                  <a:srgbClr val="222222"/>
                </a:solidFill>
                <a:effectLst/>
                <a:latin typeface="Atkinson Hyperlegible"/>
              </a:rPr>
              <a:t>1. En su grupo, liste 8 factores que pueden degradar un enlace RF.</a:t>
            </a:r>
          </a:p>
          <a:p>
            <a:pPr algn="just"/>
            <a:r>
              <a:rPr lang="es-ES" sz="3200" i="0" dirty="0">
                <a:solidFill>
                  <a:srgbClr val="222222"/>
                </a:solidFill>
                <a:effectLst/>
                <a:latin typeface="Atkinson Hyperlegible"/>
              </a:rPr>
              <a:t>2. Clasifique cada factor en una de estas categorías:</a:t>
            </a:r>
          </a:p>
          <a:p>
            <a:pPr marL="457200" indent="-457200" algn="just">
              <a:buFont typeface="Arial" panose="020B0604020202020204" pitchFamily="34" charset="0"/>
              <a:buChar char="•"/>
            </a:pPr>
            <a:r>
              <a:rPr lang="es-ES" sz="3200" i="0" dirty="0">
                <a:solidFill>
                  <a:srgbClr val="222222"/>
                </a:solidFill>
                <a:effectLst/>
                <a:latin typeface="Atkinson Hyperlegible"/>
              </a:rPr>
              <a:t>Pérdidas del enlace</a:t>
            </a:r>
          </a:p>
          <a:p>
            <a:pPr marL="457200" indent="-457200" algn="just">
              <a:buFont typeface="Arial" panose="020B0604020202020204" pitchFamily="34" charset="0"/>
              <a:buChar char="•"/>
            </a:pPr>
            <a:r>
              <a:rPr lang="es-ES" sz="3200" i="0" dirty="0">
                <a:solidFill>
                  <a:srgbClr val="222222"/>
                </a:solidFill>
                <a:effectLst/>
                <a:latin typeface="Atkinson Hyperlegible"/>
              </a:rPr>
              <a:t>Atmósfera / clima</a:t>
            </a:r>
          </a:p>
          <a:p>
            <a:pPr marL="457200" indent="-457200" algn="just">
              <a:buFont typeface="Arial" panose="020B0604020202020204" pitchFamily="34" charset="0"/>
              <a:buChar char="•"/>
            </a:pPr>
            <a:r>
              <a:rPr lang="es-ES" sz="3200" i="0" dirty="0">
                <a:solidFill>
                  <a:srgbClr val="222222"/>
                </a:solidFill>
                <a:effectLst/>
                <a:latin typeface="Atkinson Hyperlegible"/>
              </a:rPr>
              <a:t>Geometría / obstáculos</a:t>
            </a:r>
          </a:p>
          <a:p>
            <a:pPr marL="457200" indent="-457200" algn="just">
              <a:buFont typeface="Arial" panose="020B0604020202020204" pitchFamily="34" charset="0"/>
              <a:buChar char="•"/>
            </a:pPr>
            <a:r>
              <a:rPr lang="es-ES" sz="3200" i="0" dirty="0">
                <a:solidFill>
                  <a:srgbClr val="222222"/>
                </a:solidFill>
                <a:effectLst/>
                <a:latin typeface="Atkinson Hyperlegible"/>
              </a:rPr>
              <a:t>Interferencia / ruido</a:t>
            </a:r>
          </a:p>
          <a:p>
            <a:pPr marL="457200" indent="-457200" algn="just">
              <a:buFont typeface="Arial" panose="020B0604020202020204" pitchFamily="34" charset="0"/>
              <a:buChar char="•"/>
            </a:pPr>
            <a:r>
              <a:rPr lang="es-ES" sz="3200" i="0" dirty="0">
                <a:solidFill>
                  <a:srgbClr val="222222"/>
                </a:solidFill>
                <a:effectLst/>
                <a:latin typeface="Atkinson Hyperlegible"/>
              </a:rPr>
              <a:t>Mencione los 3 factores más críticos para un enlace real.</a:t>
            </a:r>
            <a:endParaRPr lang="es-ES" sz="3200" b="1" i="0" dirty="0">
              <a:solidFill>
                <a:srgbClr val="222222"/>
              </a:solidFill>
              <a:effectLst>
                <a:outerShdw blurRad="38100" dist="38100" dir="2700000" algn="tl">
                  <a:srgbClr val="000000">
                    <a:alpha val="43137"/>
                  </a:srgbClr>
                </a:outerShdw>
              </a:effectLst>
              <a:latin typeface="Atkinson Hyperlegible"/>
            </a:endParaRPr>
          </a:p>
        </p:txBody>
      </p:sp>
      <p:sp>
        <p:nvSpPr>
          <p:cNvPr id="6" name="CuadroTexto 5">
            <a:extLst>
              <a:ext uri="{FF2B5EF4-FFF2-40B4-BE49-F238E27FC236}">
                <a16:creationId xmlns:a16="http://schemas.microsoft.com/office/drawing/2014/main" id="{2D2CF488-9848-C253-3B6A-34088A6A6077}"/>
              </a:ext>
            </a:extLst>
          </p:cNvPr>
          <p:cNvSpPr txBox="1"/>
          <p:nvPr/>
        </p:nvSpPr>
        <p:spPr>
          <a:xfrm>
            <a:off x="1382157" y="6775970"/>
            <a:ext cx="18404860" cy="1077218"/>
          </a:xfrm>
          <a:prstGeom prst="rect">
            <a:avLst/>
          </a:prstGeom>
          <a:noFill/>
        </p:spPr>
        <p:txBody>
          <a:bodyPr wrap="square">
            <a:spAutoFit/>
          </a:bodyPr>
          <a:lstStyle/>
          <a:p>
            <a:r>
              <a:rPr lang="es-ES" sz="3200" b="1" dirty="0"/>
              <a:t>Parte B — Puesta en común (3 min)</a:t>
            </a:r>
          </a:p>
          <a:p>
            <a:r>
              <a:rPr lang="es-ES" sz="3200" dirty="0"/>
              <a:t>Cada grupo comparte </a:t>
            </a:r>
            <a:r>
              <a:rPr lang="es-ES" sz="3200" b="1" dirty="0"/>
              <a:t>1 factor crítico</a:t>
            </a:r>
            <a:r>
              <a:rPr lang="es-ES" sz="3200" dirty="0"/>
              <a:t> y explica </a:t>
            </a:r>
            <a:r>
              <a:rPr lang="es-ES" sz="3200" b="1" dirty="0"/>
              <a:t>por qué</a:t>
            </a:r>
            <a:r>
              <a:rPr lang="es-ES" sz="3200" dirty="0"/>
              <a:t> en una frase.</a:t>
            </a:r>
          </a:p>
        </p:txBody>
      </p:sp>
    </p:spTree>
    <p:extLst>
      <p:ext uri="{BB962C8B-B14F-4D97-AF65-F5344CB8AC3E}">
        <p14:creationId xmlns:p14="http://schemas.microsoft.com/office/powerpoint/2010/main" val="3003304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FB1A780-8944-BB10-CE66-02EF4E0C0182}"/>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CBE91D2F-C446-6CF8-C24D-4ADCA1AC8CE5}"/>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D7BB0CDC-83A3-7633-A330-3250279226D5}"/>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dirty="0">
                <a:latin typeface="Atkinson Hyperlegible" pitchFamily="2" charset="77"/>
              </a:rPr>
              <a:t>ANTENAS Y REFLECTORES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AEDDDDA8-3169-4FDE-3E89-655C80C533B4}"/>
              </a:ext>
            </a:extLst>
          </p:cNvPr>
          <p:cNvSpPr txBox="1"/>
          <p:nvPr/>
        </p:nvSpPr>
        <p:spPr>
          <a:xfrm>
            <a:off x="1382157" y="898721"/>
            <a:ext cx="17055745" cy="707886"/>
          </a:xfrm>
          <a:prstGeom prst="rect">
            <a:avLst/>
          </a:prstGeom>
          <a:noFill/>
        </p:spPr>
        <p:txBody>
          <a:bodyPr wrap="square">
            <a:spAutoFit/>
          </a:bodyPr>
          <a:lstStyle/>
          <a:p>
            <a:r>
              <a:rPr lang="es-ES" sz="4000" noProof="0" dirty="0">
                <a:latin typeface="Atkinson Hyperlegible"/>
              </a:rPr>
              <a:t>¿Qué es una antena? (Transmisión y recepción)</a:t>
            </a:r>
            <a:endParaRPr lang="es-CL" sz="4000" noProof="0" dirty="0">
              <a:latin typeface="Atkinson Hyperlegible"/>
            </a:endParaRPr>
          </a:p>
        </p:txBody>
      </p:sp>
      <p:sp>
        <p:nvSpPr>
          <p:cNvPr id="2" name="CuadroTexto 1">
            <a:extLst>
              <a:ext uri="{FF2B5EF4-FFF2-40B4-BE49-F238E27FC236}">
                <a16:creationId xmlns:a16="http://schemas.microsoft.com/office/drawing/2014/main" id="{C72B55B2-556A-A8CE-7B1E-80876CA434EF}"/>
              </a:ext>
            </a:extLst>
          </p:cNvPr>
          <p:cNvSpPr txBox="1"/>
          <p:nvPr/>
        </p:nvSpPr>
        <p:spPr>
          <a:xfrm>
            <a:off x="1382157" y="1929131"/>
            <a:ext cx="18404860" cy="4524315"/>
          </a:xfrm>
          <a:prstGeom prst="rect">
            <a:avLst/>
          </a:prstGeom>
          <a:noFill/>
        </p:spPr>
        <p:txBody>
          <a:bodyPr wrap="square">
            <a:spAutoFit/>
          </a:bodyPr>
          <a:lstStyle/>
          <a:p>
            <a:pPr marL="457200" indent="-457200">
              <a:buFont typeface="Arial" panose="020B0604020202020204" pitchFamily="34" charset="0"/>
              <a:buChar char="•"/>
            </a:pPr>
            <a:r>
              <a:rPr lang="es-ES" sz="3200" dirty="0">
                <a:latin typeface="Atkinson Hyperlegible"/>
              </a:rPr>
              <a:t>Una </a:t>
            </a:r>
            <a:r>
              <a:rPr lang="es-ES" sz="3200" b="1" dirty="0">
                <a:latin typeface="Atkinson Hyperlegible"/>
              </a:rPr>
              <a:t>antena</a:t>
            </a:r>
            <a:r>
              <a:rPr lang="es-ES" sz="3200" dirty="0">
                <a:latin typeface="Atkinson Hyperlegible"/>
              </a:rPr>
              <a:t> es el elemento que conecta el sistema de RF con el </a:t>
            </a:r>
            <a:r>
              <a:rPr lang="es-ES" sz="3200" b="1" dirty="0">
                <a:latin typeface="Atkinson Hyperlegible"/>
              </a:rPr>
              <a:t>espacio libre</a:t>
            </a:r>
            <a:r>
              <a:rPr lang="es-ES" sz="3200" dirty="0">
                <a:latin typeface="Atkinson Hyperlegible"/>
              </a:rPr>
              <a:t>.</a:t>
            </a:r>
          </a:p>
          <a:p>
            <a:pPr marL="457200" indent="-457200">
              <a:buFont typeface="Arial" panose="020B0604020202020204" pitchFamily="34" charset="0"/>
              <a:buChar char="•"/>
            </a:pPr>
            <a:r>
              <a:rPr lang="es-ES" sz="3200" dirty="0">
                <a:latin typeface="Atkinson Hyperlegible"/>
              </a:rPr>
              <a:t>En </a:t>
            </a:r>
            <a:r>
              <a:rPr lang="es-ES" sz="3200" b="1" dirty="0">
                <a:latin typeface="Atkinson Hyperlegible"/>
              </a:rPr>
              <a:t>transmisión (TX)</a:t>
            </a:r>
            <a:r>
              <a:rPr lang="es-ES" sz="3200" dirty="0">
                <a:latin typeface="Atkinson Hyperlegible"/>
              </a:rPr>
              <a:t>: convierte energía eléctrica en </a:t>
            </a:r>
            <a:r>
              <a:rPr lang="es-ES" sz="3200" b="1" dirty="0">
                <a:latin typeface="Atkinson Hyperlegible"/>
              </a:rPr>
              <a:t>onda electromagnética radiada</a:t>
            </a:r>
            <a:r>
              <a:rPr lang="es-ES" sz="3200" dirty="0">
                <a:latin typeface="Atkinson Hyperlegible"/>
              </a:rPr>
              <a:t>.</a:t>
            </a:r>
          </a:p>
          <a:p>
            <a:pPr marL="457200" indent="-457200">
              <a:buFont typeface="Arial" panose="020B0604020202020204" pitchFamily="34" charset="0"/>
              <a:buChar char="•"/>
            </a:pPr>
            <a:r>
              <a:rPr lang="es-ES" sz="3200" dirty="0">
                <a:latin typeface="Atkinson Hyperlegible"/>
              </a:rPr>
              <a:t>En </a:t>
            </a:r>
            <a:r>
              <a:rPr lang="es-ES" sz="3200" b="1" dirty="0">
                <a:latin typeface="Atkinson Hyperlegible"/>
              </a:rPr>
              <a:t>recepción (</a:t>
            </a:r>
            <a:r>
              <a:rPr lang="es-ES" sz="3200" b="1" dirty="0" err="1">
                <a:latin typeface="Atkinson Hyperlegible"/>
              </a:rPr>
              <a:t>RX</a:t>
            </a:r>
            <a:r>
              <a:rPr lang="es-ES" sz="3200" b="1" dirty="0">
                <a:latin typeface="Atkinson Hyperlegible"/>
              </a:rPr>
              <a:t>)</a:t>
            </a:r>
            <a:r>
              <a:rPr lang="es-ES" sz="3200" dirty="0">
                <a:latin typeface="Atkinson Hyperlegible"/>
              </a:rPr>
              <a:t>: convierte la onda electromagnética en </a:t>
            </a:r>
            <a:r>
              <a:rPr lang="es-ES" sz="3200" b="1" dirty="0">
                <a:latin typeface="Atkinson Hyperlegible"/>
              </a:rPr>
              <a:t>señal eléctrica</a:t>
            </a:r>
            <a:r>
              <a:rPr lang="es-ES" sz="3200" dirty="0">
                <a:latin typeface="Atkinson Hyperlegible"/>
              </a:rPr>
              <a:t>.</a:t>
            </a:r>
          </a:p>
          <a:p>
            <a:pPr marL="457200" indent="-457200">
              <a:buFont typeface="Arial" panose="020B0604020202020204" pitchFamily="34" charset="0"/>
              <a:buChar char="•"/>
            </a:pPr>
            <a:r>
              <a:rPr lang="es-ES" sz="3200" dirty="0">
                <a:latin typeface="Atkinson Hyperlegible"/>
              </a:rPr>
              <a:t>Actúa como un </a:t>
            </a:r>
            <a:r>
              <a:rPr lang="es-ES" sz="3200" b="1" dirty="0">
                <a:latin typeface="Atkinson Hyperlegible"/>
              </a:rPr>
              <a:t>“transductor”</a:t>
            </a:r>
            <a:r>
              <a:rPr lang="es-ES" sz="3200" dirty="0">
                <a:latin typeface="Atkinson Hyperlegible"/>
              </a:rPr>
              <a:t> entre el equipo y el canal (aire/espacio).</a:t>
            </a:r>
          </a:p>
          <a:p>
            <a:pPr marL="457200" indent="-457200">
              <a:buFont typeface="Arial" panose="020B0604020202020204" pitchFamily="34" charset="0"/>
              <a:buChar char="•"/>
            </a:pPr>
            <a:r>
              <a:rPr lang="es-ES" sz="3200" dirty="0">
                <a:latin typeface="Atkinson Hyperlegible"/>
              </a:rPr>
              <a:t>Concepto clave: </a:t>
            </a:r>
            <a:r>
              <a:rPr lang="es-ES" sz="3200" b="1" dirty="0">
                <a:latin typeface="Atkinson Hyperlegible"/>
              </a:rPr>
              <a:t>el patrón de radiación</a:t>
            </a:r>
            <a:r>
              <a:rPr lang="es-ES" sz="3200" dirty="0">
                <a:latin typeface="Atkinson Hyperlegible"/>
              </a:rPr>
              <a:t> describe cómo la antena “distribuye” energía en el espacio.</a:t>
            </a:r>
          </a:p>
          <a:p>
            <a:pPr marL="457200" indent="-457200">
              <a:buFont typeface="Arial" panose="020B0604020202020204" pitchFamily="34" charset="0"/>
              <a:buChar char="•"/>
            </a:pPr>
            <a:r>
              <a:rPr lang="es-ES" sz="3200" b="1" dirty="0">
                <a:latin typeface="Atkinson Hyperlegible"/>
              </a:rPr>
              <a:t>Reciprocidad</a:t>
            </a:r>
            <a:r>
              <a:rPr lang="es-ES" sz="3200" dirty="0">
                <a:latin typeface="Atkinson Hyperlegible"/>
              </a:rPr>
              <a:t>: una antena suele comportarse de forma equivalente en TX y </a:t>
            </a:r>
            <a:r>
              <a:rPr lang="es-ES" sz="3200" dirty="0" err="1">
                <a:latin typeface="Atkinson Hyperlegible"/>
              </a:rPr>
              <a:t>RX</a:t>
            </a:r>
            <a:r>
              <a:rPr lang="es-ES" sz="3200" dirty="0">
                <a:latin typeface="Atkinson Hyperlegible"/>
              </a:rPr>
              <a:t> (misma “forma” de radiación), a nivel conceptual.</a:t>
            </a:r>
          </a:p>
          <a:p>
            <a:pPr algn="ctr"/>
            <a:br>
              <a:rPr lang="es-ES" sz="3200" dirty="0">
                <a:latin typeface="Atkinson Hyperlegible"/>
              </a:rPr>
            </a:br>
            <a:r>
              <a:rPr lang="es-ES" sz="3200" b="1" dirty="0">
                <a:effectLst>
                  <a:outerShdw blurRad="38100" dist="38100" dir="2700000" algn="tl">
                    <a:srgbClr val="000000">
                      <a:alpha val="43137"/>
                    </a:srgbClr>
                  </a:outerShdw>
                </a:effectLst>
                <a:latin typeface="Atkinson Hyperlegible"/>
              </a:rPr>
              <a:t>La antena no solo “emite”: define cómo se concentra o distribuye la energía.</a:t>
            </a:r>
            <a:endParaRPr lang="es-ES" sz="3200" dirty="0">
              <a:effectLst>
                <a:outerShdw blurRad="38100" dist="38100" dir="2700000" algn="tl">
                  <a:srgbClr val="000000">
                    <a:alpha val="43137"/>
                  </a:srgbClr>
                </a:outerShdw>
              </a:effectLst>
              <a:latin typeface="Atkinson Hyperlegible"/>
            </a:endParaRPr>
          </a:p>
        </p:txBody>
      </p:sp>
      <p:sp>
        <p:nvSpPr>
          <p:cNvPr id="3" name="CuadroTexto 2">
            <a:extLst>
              <a:ext uri="{FF2B5EF4-FFF2-40B4-BE49-F238E27FC236}">
                <a16:creationId xmlns:a16="http://schemas.microsoft.com/office/drawing/2014/main" id="{F57102AD-E94E-BA91-F23D-D6173A29C588}"/>
              </a:ext>
            </a:extLst>
          </p:cNvPr>
          <p:cNvSpPr txBox="1"/>
          <p:nvPr/>
        </p:nvSpPr>
        <p:spPr>
          <a:xfrm>
            <a:off x="119921" y="8711164"/>
            <a:ext cx="17343620" cy="1938992"/>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ES" sz="2400" b="1" dirty="0" err="1"/>
              <a:t>ITU</a:t>
            </a:r>
            <a:r>
              <a:rPr lang="es-ES" sz="2400" b="1" dirty="0"/>
              <a:t>-R </a:t>
            </a:r>
            <a:r>
              <a:rPr lang="es-ES" sz="2400" b="1" dirty="0" err="1"/>
              <a:t>F.699</a:t>
            </a:r>
            <a:r>
              <a:rPr lang="es-ES" sz="2400" dirty="0"/>
              <a:t> — patrones de radiación de referencia para antenas de sistemas inalámbricos fijos (útil para coordinación/interferencia). </a:t>
            </a:r>
          </a:p>
          <a:p>
            <a:r>
              <a:rPr lang="es-ES" sz="2400" b="1" dirty="0" err="1"/>
              <a:t>ITU</a:t>
            </a:r>
            <a:r>
              <a:rPr lang="es-ES" sz="2400" b="1" dirty="0"/>
              <a:t>-R </a:t>
            </a:r>
            <a:r>
              <a:rPr lang="es-ES" sz="2400" b="1" dirty="0" err="1"/>
              <a:t>F.1245</a:t>
            </a:r>
            <a:r>
              <a:rPr lang="es-ES" sz="2400" dirty="0"/>
              <a:t> — modelo matemático de patrones promedio para antenas punto a punto (útil para evaluaciones de interferencia). </a:t>
            </a:r>
          </a:p>
          <a:p>
            <a:r>
              <a:rPr lang="es-ES" sz="2400" b="1" dirty="0"/>
              <a:t>IEEE </a:t>
            </a:r>
            <a:r>
              <a:rPr lang="es-ES" sz="2400" b="1" dirty="0" err="1"/>
              <a:t>Std</a:t>
            </a:r>
            <a:r>
              <a:rPr lang="es-ES" sz="2400" b="1" dirty="0"/>
              <a:t> 149-2021</a:t>
            </a:r>
            <a:r>
              <a:rPr lang="es-ES" sz="2400" dirty="0"/>
              <a:t> — práctica recomendada para medición de antenas. </a:t>
            </a:r>
          </a:p>
          <a:p>
            <a:endParaRPr lang="es-CL" sz="2400" noProof="0" dirty="0">
              <a:latin typeface="Atkinson Hyperlegible"/>
            </a:endParaRPr>
          </a:p>
        </p:txBody>
      </p:sp>
      <p:pic>
        <p:nvPicPr>
          <p:cNvPr id="4" name="Picture 12" descr="Enlaces Microondas – NAVYCOM">
            <a:extLst>
              <a:ext uri="{FF2B5EF4-FFF2-40B4-BE49-F238E27FC236}">
                <a16:creationId xmlns:a16="http://schemas.microsoft.com/office/drawing/2014/main" id="{52D5E94E-AB5F-8E60-19EE-6AB83D8874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95222" y="5470467"/>
            <a:ext cx="2683446" cy="390975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5" name="Imagen 4" descr="Imagen en blanco y negro&#10;&#10;El contenido generado por IA puede ser incorrecto.">
            <a:extLst>
              <a:ext uri="{FF2B5EF4-FFF2-40B4-BE49-F238E27FC236}">
                <a16:creationId xmlns:a16="http://schemas.microsoft.com/office/drawing/2014/main" id="{98172344-B79E-34C0-011F-7CD7BBA1323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14995" y="7034079"/>
            <a:ext cx="3262612" cy="195756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2" descr="Antenna for Military Communication Stock Photo - Alamy">
            <a:extLst>
              <a:ext uri="{FF2B5EF4-FFF2-40B4-BE49-F238E27FC236}">
                <a16:creationId xmlns:a16="http://schemas.microsoft.com/office/drawing/2014/main" id="{DD48E9C2-A292-3200-8513-D42240CE09A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13585408" y="6664857"/>
            <a:ext cx="3199386" cy="235277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0" name="Picture 4" descr="Varias antenas militares, transmisores y receptores Foto de stock  2685854083 | Shutterstock">
            <a:extLst>
              <a:ext uri="{FF2B5EF4-FFF2-40B4-BE49-F238E27FC236}">
                <a16:creationId xmlns:a16="http://schemas.microsoft.com/office/drawing/2014/main" id="{816D5E82-94B0-43FD-23C5-39782026A22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62812" y="6801614"/>
            <a:ext cx="3199387" cy="22969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9906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8412D4D-19CB-BEB3-0FC0-5D8C26A9E907}"/>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548C8598-35DD-38C4-5056-8B401E87EB08}"/>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93B7A679-855A-6598-4CB5-BEB69D5550B2}"/>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dirty="0">
                <a:latin typeface="Atkinson Hyperlegible" pitchFamily="2" charset="77"/>
              </a:rPr>
              <a:t>ANTENAS Y REFLECTORES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85BF8833-5CB7-8217-16C0-C5B747F5C819}"/>
              </a:ext>
            </a:extLst>
          </p:cNvPr>
          <p:cNvSpPr txBox="1"/>
          <p:nvPr/>
        </p:nvSpPr>
        <p:spPr>
          <a:xfrm>
            <a:off x="1382157" y="898721"/>
            <a:ext cx="17055745" cy="707886"/>
          </a:xfrm>
          <a:prstGeom prst="rect">
            <a:avLst/>
          </a:prstGeom>
          <a:noFill/>
        </p:spPr>
        <p:txBody>
          <a:bodyPr wrap="square">
            <a:spAutoFit/>
          </a:bodyPr>
          <a:lstStyle/>
          <a:p>
            <a:r>
              <a:rPr lang="es-ES" sz="4000" noProof="0" dirty="0">
                <a:latin typeface="Atkinson Hyperlegible"/>
              </a:rPr>
              <a:t>¿Qué es una antena? (Transmisión y recepción)</a:t>
            </a:r>
            <a:endParaRPr lang="es-CL" sz="4000" noProof="0" dirty="0">
              <a:latin typeface="Atkinson Hyperlegible"/>
            </a:endParaRPr>
          </a:p>
        </p:txBody>
      </p:sp>
      <p:sp>
        <p:nvSpPr>
          <p:cNvPr id="3" name="CuadroTexto 2">
            <a:extLst>
              <a:ext uri="{FF2B5EF4-FFF2-40B4-BE49-F238E27FC236}">
                <a16:creationId xmlns:a16="http://schemas.microsoft.com/office/drawing/2014/main" id="{978649B7-291F-4064-59C9-0E0EC09D6A60}"/>
              </a:ext>
            </a:extLst>
          </p:cNvPr>
          <p:cNvSpPr txBox="1"/>
          <p:nvPr/>
        </p:nvSpPr>
        <p:spPr>
          <a:xfrm>
            <a:off x="119921" y="8711164"/>
            <a:ext cx="17343620" cy="1938992"/>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ES" sz="2400" b="1" dirty="0" err="1"/>
              <a:t>ITU</a:t>
            </a:r>
            <a:r>
              <a:rPr lang="es-ES" sz="2400" b="1" dirty="0"/>
              <a:t>-R </a:t>
            </a:r>
            <a:r>
              <a:rPr lang="es-ES" sz="2400" b="1" dirty="0" err="1"/>
              <a:t>F.699</a:t>
            </a:r>
            <a:r>
              <a:rPr lang="es-ES" sz="2400" dirty="0"/>
              <a:t> — patrones de radiación de referencia para antenas de sistemas inalámbricos fijos (útil para coordinación/interferencia). </a:t>
            </a:r>
          </a:p>
          <a:p>
            <a:r>
              <a:rPr lang="es-ES" sz="2400" b="1" dirty="0" err="1"/>
              <a:t>ITU</a:t>
            </a:r>
            <a:r>
              <a:rPr lang="es-ES" sz="2400" b="1" dirty="0"/>
              <a:t>-R </a:t>
            </a:r>
            <a:r>
              <a:rPr lang="es-ES" sz="2400" b="1" dirty="0" err="1"/>
              <a:t>F.1245</a:t>
            </a:r>
            <a:r>
              <a:rPr lang="es-ES" sz="2400" dirty="0"/>
              <a:t> — modelo matemático de patrones promedio para antenas punto a punto (útil para evaluaciones de interferencia). </a:t>
            </a:r>
          </a:p>
          <a:p>
            <a:r>
              <a:rPr lang="es-ES" sz="2400" b="1" dirty="0"/>
              <a:t>IEEE </a:t>
            </a:r>
            <a:r>
              <a:rPr lang="es-ES" sz="2400" b="1" dirty="0" err="1"/>
              <a:t>Std</a:t>
            </a:r>
            <a:r>
              <a:rPr lang="es-ES" sz="2400" b="1" dirty="0"/>
              <a:t> 149-2021</a:t>
            </a:r>
            <a:r>
              <a:rPr lang="es-ES" sz="2400" dirty="0"/>
              <a:t> — práctica recomendada para medición de antenas. </a:t>
            </a:r>
          </a:p>
          <a:p>
            <a:endParaRPr lang="es-CL" sz="2400" noProof="0" dirty="0">
              <a:latin typeface="Atkinson Hyperlegible"/>
            </a:endParaRPr>
          </a:p>
        </p:txBody>
      </p:sp>
      <p:pic>
        <p:nvPicPr>
          <p:cNvPr id="5" name="Imagen 4">
            <a:extLst>
              <a:ext uri="{FF2B5EF4-FFF2-40B4-BE49-F238E27FC236}">
                <a16:creationId xmlns:a16="http://schemas.microsoft.com/office/drawing/2014/main" id="{CAD17E09-D857-F6EC-01AA-154DF86E3FCA}"/>
              </a:ext>
            </a:extLst>
          </p:cNvPr>
          <p:cNvPicPr>
            <a:picLocks noChangeAspect="1"/>
          </p:cNvPicPr>
          <p:nvPr/>
        </p:nvPicPr>
        <p:blipFill>
          <a:blip r:embed="rId4"/>
          <a:stretch>
            <a:fillRect/>
          </a:stretch>
        </p:blipFill>
        <p:spPr>
          <a:xfrm>
            <a:off x="910061" y="1655714"/>
            <a:ext cx="9165308" cy="492721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1" name="Imagen 10">
            <a:extLst>
              <a:ext uri="{FF2B5EF4-FFF2-40B4-BE49-F238E27FC236}">
                <a16:creationId xmlns:a16="http://schemas.microsoft.com/office/drawing/2014/main" id="{7A6057D7-3353-D0B1-536A-D8A405FE4BE0}"/>
              </a:ext>
            </a:extLst>
          </p:cNvPr>
          <p:cNvPicPr>
            <a:picLocks noChangeAspect="1"/>
          </p:cNvPicPr>
          <p:nvPr/>
        </p:nvPicPr>
        <p:blipFill>
          <a:blip r:embed="rId5"/>
          <a:stretch>
            <a:fillRect/>
          </a:stretch>
        </p:blipFill>
        <p:spPr>
          <a:xfrm>
            <a:off x="10426747" y="1606608"/>
            <a:ext cx="9493992" cy="528554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Imagen 7">
            <a:extLst>
              <a:ext uri="{FF2B5EF4-FFF2-40B4-BE49-F238E27FC236}">
                <a16:creationId xmlns:a16="http://schemas.microsoft.com/office/drawing/2014/main" id="{CD4A1B45-3633-005D-9F19-CD24A6CA4D72}"/>
              </a:ext>
            </a:extLst>
          </p:cNvPr>
          <p:cNvPicPr>
            <a:picLocks noChangeAspect="1"/>
          </p:cNvPicPr>
          <p:nvPr/>
        </p:nvPicPr>
        <p:blipFill>
          <a:blip r:embed="rId6"/>
          <a:stretch>
            <a:fillRect/>
          </a:stretch>
        </p:blipFill>
        <p:spPr>
          <a:xfrm>
            <a:off x="9677354" y="6582929"/>
            <a:ext cx="6058746" cy="224821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3" name="Imagen 12">
            <a:extLst>
              <a:ext uri="{FF2B5EF4-FFF2-40B4-BE49-F238E27FC236}">
                <a16:creationId xmlns:a16="http://schemas.microsoft.com/office/drawing/2014/main" id="{A42E4F96-9E8A-04C2-601A-23D4B714C6DD}"/>
              </a:ext>
            </a:extLst>
          </p:cNvPr>
          <p:cNvPicPr>
            <a:picLocks noChangeAspect="1"/>
          </p:cNvPicPr>
          <p:nvPr/>
        </p:nvPicPr>
        <p:blipFill>
          <a:blip r:embed="rId7"/>
          <a:stretch>
            <a:fillRect/>
          </a:stretch>
        </p:blipFill>
        <p:spPr>
          <a:xfrm>
            <a:off x="4799708" y="6582928"/>
            <a:ext cx="3992023" cy="22482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33159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80CC094-C907-C0F0-D1B8-32C111B62197}"/>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F6416454-F296-ACD8-1073-92269F8B55A8}"/>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B198893A-FFFE-264B-0A94-870CE7696F9D}"/>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dirty="0">
                <a:latin typeface="Atkinson Hyperlegible" pitchFamily="2" charset="77"/>
              </a:rPr>
              <a:t>ANTENAS Y REFLECTORES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7240AA7D-519E-E341-CC46-B47B392A86AF}"/>
              </a:ext>
            </a:extLst>
          </p:cNvPr>
          <p:cNvSpPr txBox="1"/>
          <p:nvPr/>
        </p:nvSpPr>
        <p:spPr>
          <a:xfrm>
            <a:off x="1382157" y="898721"/>
            <a:ext cx="17055745" cy="707886"/>
          </a:xfrm>
          <a:prstGeom prst="rect">
            <a:avLst/>
          </a:prstGeom>
          <a:noFill/>
        </p:spPr>
        <p:txBody>
          <a:bodyPr wrap="square">
            <a:spAutoFit/>
          </a:bodyPr>
          <a:lstStyle/>
          <a:p>
            <a:r>
              <a:rPr lang="es-ES" sz="4000" noProof="0" dirty="0">
                <a:latin typeface="Atkinson Hyperlegible"/>
              </a:rPr>
              <a:t>Patrón de radiación: cómo “distribuye” energía una antena</a:t>
            </a:r>
            <a:endParaRPr lang="es-CL" sz="4000" noProof="0" dirty="0">
              <a:latin typeface="Atkinson Hyperlegible"/>
            </a:endParaRPr>
          </a:p>
        </p:txBody>
      </p:sp>
      <p:sp>
        <p:nvSpPr>
          <p:cNvPr id="2" name="CuadroTexto 1">
            <a:extLst>
              <a:ext uri="{FF2B5EF4-FFF2-40B4-BE49-F238E27FC236}">
                <a16:creationId xmlns:a16="http://schemas.microsoft.com/office/drawing/2014/main" id="{0CB618D7-991B-5E7F-04BF-DD6657D263F4}"/>
              </a:ext>
            </a:extLst>
          </p:cNvPr>
          <p:cNvSpPr txBox="1"/>
          <p:nvPr/>
        </p:nvSpPr>
        <p:spPr>
          <a:xfrm>
            <a:off x="1382157" y="1929131"/>
            <a:ext cx="18404860" cy="5509200"/>
          </a:xfrm>
          <a:prstGeom prst="rect">
            <a:avLst/>
          </a:prstGeom>
          <a:noFill/>
        </p:spPr>
        <p:txBody>
          <a:bodyPr wrap="square">
            <a:spAutoFit/>
          </a:bodyPr>
          <a:lstStyle/>
          <a:p>
            <a:pPr marL="457200" indent="-457200" algn="just">
              <a:buFont typeface="Arial" panose="020B0604020202020204" pitchFamily="34" charset="0"/>
              <a:buChar char="•"/>
            </a:pPr>
            <a:r>
              <a:rPr lang="es-ES" sz="3200" dirty="0">
                <a:latin typeface="Atkinson Hyperlegible"/>
              </a:rPr>
              <a:t>El patrón de radiación describe cómo la antena radia o recibe energía según la dirección.</a:t>
            </a:r>
          </a:p>
          <a:p>
            <a:pPr marL="457200" indent="-457200" algn="just">
              <a:buFont typeface="Arial" panose="020B0604020202020204" pitchFamily="34" charset="0"/>
              <a:buChar char="•"/>
            </a:pPr>
            <a:r>
              <a:rPr lang="es-ES" sz="3200" dirty="0">
                <a:latin typeface="Atkinson Hyperlegible"/>
              </a:rPr>
              <a:t>Se representa comúnmente en diagramas polares (360°) o en cortes azimut / elevación.</a:t>
            </a:r>
          </a:p>
          <a:p>
            <a:pPr algn="just"/>
            <a:r>
              <a:rPr lang="es-ES" sz="3200" dirty="0">
                <a:latin typeface="Atkinson Hyperlegible"/>
              </a:rPr>
              <a:t>Elementos principales del patrón:</a:t>
            </a:r>
          </a:p>
          <a:p>
            <a:pPr marL="457200" indent="-457200" algn="just">
              <a:buFont typeface="Arial" panose="020B0604020202020204" pitchFamily="34" charset="0"/>
              <a:buChar char="•"/>
            </a:pPr>
            <a:r>
              <a:rPr lang="es-ES" sz="3200" dirty="0">
                <a:latin typeface="Atkinson Hyperlegible"/>
              </a:rPr>
              <a:t>Lóbulo principal (dirección de máxima radiación)</a:t>
            </a:r>
          </a:p>
          <a:p>
            <a:pPr marL="457200" indent="-457200" algn="just">
              <a:buFont typeface="Arial" panose="020B0604020202020204" pitchFamily="34" charset="0"/>
              <a:buChar char="•"/>
            </a:pPr>
            <a:r>
              <a:rPr lang="es-ES" sz="3200" dirty="0">
                <a:latin typeface="Atkinson Hyperlegible"/>
              </a:rPr>
              <a:t>Lóbulos laterales (energía no deseada)</a:t>
            </a:r>
          </a:p>
          <a:p>
            <a:pPr marL="457200" indent="-457200" algn="just">
              <a:buFont typeface="Arial" panose="020B0604020202020204" pitchFamily="34" charset="0"/>
              <a:buChar char="•"/>
            </a:pPr>
            <a:r>
              <a:rPr lang="es-ES" sz="3200" dirty="0">
                <a:latin typeface="Atkinson Hyperlegible"/>
              </a:rPr>
              <a:t>Nulos (direcciones con mínima radiación)</a:t>
            </a:r>
          </a:p>
          <a:p>
            <a:pPr algn="just"/>
            <a:r>
              <a:rPr lang="es-ES" sz="3200" dirty="0">
                <a:latin typeface="Atkinson Hyperlegible"/>
              </a:rPr>
              <a:t>Ancho de haz (</a:t>
            </a:r>
            <a:r>
              <a:rPr lang="es-ES" sz="3200" dirty="0" err="1">
                <a:latin typeface="Atkinson Hyperlegible"/>
              </a:rPr>
              <a:t>Beamwidth</a:t>
            </a:r>
            <a:r>
              <a:rPr lang="es-ES" sz="3200" dirty="0">
                <a:latin typeface="Atkinson Hyperlegible"/>
              </a:rPr>
              <a:t>): apertura angular del lóbulo principal (idea general).</a:t>
            </a:r>
          </a:p>
          <a:p>
            <a:pPr algn="just"/>
            <a:r>
              <a:rPr lang="es-ES" sz="3200" dirty="0">
                <a:latin typeface="Atkinson Hyperlegible"/>
              </a:rPr>
              <a:t>El patrón permite decidir si una antena es omnidireccional (cobertura amplia) o direccional (energía concentrada). </a:t>
            </a:r>
          </a:p>
          <a:p>
            <a:endParaRPr lang="es-ES" sz="3200" dirty="0">
              <a:latin typeface="Atkinson Hyperlegible"/>
            </a:endParaRPr>
          </a:p>
          <a:p>
            <a:pPr algn="ctr"/>
            <a:r>
              <a:rPr lang="es-ES" sz="3200" b="1" dirty="0">
                <a:effectLst>
                  <a:outerShdw blurRad="38100" dist="38100" dir="2700000" algn="tl">
                    <a:srgbClr val="000000">
                      <a:alpha val="43137"/>
                    </a:srgbClr>
                  </a:outerShdw>
                </a:effectLst>
                <a:latin typeface="Atkinson Hyperlegible"/>
              </a:rPr>
              <a:t>El patrón de radiación define cobertura, interferencia y desempeño del enlace.</a:t>
            </a:r>
          </a:p>
        </p:txBody>
      </p:sp>
      <p:sp>
        <p:nvSpPr>
          <p:cNvPr id="3" name="CuadroTexto 2">
            <a:extLst>
              <a:ext uri="{FF2B5EF4-FFF2-40B4-BE49-F238E27FC236}">
                <a16:creationId xmlns:a16="http://schemas.microsoft.com/office/drawing/2014/main" id="{326BB3D6-74A0-1B0A-4FA6-3405FAA557A4}"/>
              </a:ext>
            </a:extLst>
          </p:cNvPr>
          <p:cNvSpPr txBox="1"/>
          <p:nvPr/>
        </p:nvSpPr>
        <p:spPr>
          <a:xfrm>
            <a:off x="119921" y="8711164"/>
            <a:ext cx="17343620" cy="1938992"/>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ES" sz="2400" b="1" dirty="0" err="1"/>
              <a:t>ITU</a:t>
            </a:r>
            <a:r>
              <a:rPr lang="es-ES" sz="2400" b="1" dirty="0"/>
              <a:t>-R </a:t>
            </a:r>
            <a:r>
              <a:rPr lang="es-ES" sz="2400" b="1" dirty="0" err="1"/>
              <a:t>F.699</a:t>
            </a:r>
            <a:r>
              <a:rPr lang="es-ES" sz="2400" dirty="0"/>
              <a:t> — patrones de radiación de referencia para antenas de sistemas inalámbricos fijos (útil para coordinación/interferencia). </a:t>
            </a:r>
          </a:p>
          <a:p>
            <a:r>
              <a:rPr lang="es-ES" sz="2400" b="1" dirty="0" err="1"/>
              <a:t>ITU</a:t>
            </a:r>
            <a:r>
              <a:rPr lang="es-ES" sz="2400" b="1" dirty="0"/>
              <a:t>-R </a:t>
            </a:r>
            <a:r>
              <a:rPr lang="es-ES" sz="2400" b="1" dirty="0" err="1"/>
              <a:t>F.1245</a:t>
            </a:r>
            <a:r>
              <a:rPr lang="es-ES" sz="2400" dirty="0"/>
              <a:t> — modelo matemático de patrones promedio para antenas punto a punto (útil para evaluaciones de interferencia). </a:t>
            </a:r>
          </a:p>
          <a:p>
            <a:r>
              <a:rPr lang="es-ES" sz="2400" b="1" dirty="0"/>
              <a:t>IEEE </a:t>
            </a:r>
            <a:r>
              <a:rPr lang="es-ES" sz="2400" b="1" dirty="0" err="1"/>
              <a:t>Std</a:t>
            </a:r>
            <a:r>
              <a:rPr lang="es-ES" sz="2400" b="1" dirty="0"/>
              <a:t> 149-2021</a:t>
            </a:r>
            <a:r>
              <a:rPr lang="es-ES" sz="2400" dirty="0"/>
              <a:t> — práctica recomendada para medición de antenas. </a:t>
            </a:r>
          </a:p>
          <a:p>
            <a:endParaRPr lang="es-CL" sz="2400" noProof="0" dirty="0">
              <a:latin typeface="Atkinson Hyperlegible"/>
            </a:endParaRPr>
          </a:p>
        </p:txBody>
      </p:sp>
    </p:spTree>
    <p:extLst>
      <p:ext uri="{BB962C8B-B14F-4D97-AF65-F5344CB8AC3E}">
        <p14:creationId xmlns:p14="http://schemas.microsoft.com/office/powerpoint/2010/main" val="1797520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4BCE6BE-B574-78CB-4E28-63CB5AD9199D}"/>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F2BDB134-4052-335C-3063-75CDF62DF788}"/>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244454C2-E073-FA9E-36E5-731C757F3CEB}"/>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dirty="0">
                <a:latin typeface="Atkinson Hyperlegible" pitchFamily="2" charset="77"/>
              </a:rPr>
              <a:t>ANTENAS Y REFLECTORES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1FF2F7A7-AC23-4A6E-083D-B48457D9CFA7}"/>
              </a:ext>
            </a:extLst>
          </p:cNvPr>
          <p:cNvSpPr txBox="1"/>
          <p:nvPr/>
        </p:nvSpPr>
        <p:spPr>
          <a:xfrm>
            <a:off x="1382157" y="898721"/>
            <a:ext cx="17055745" cy="707886"/>
          </a:xfrm>
          <a:prstGeom prst="rect">
            <a:avLst/>
          </a:prstGeom>
          <a:noFill/>
        </p:spPr>
        <p:txBody>
          <a:bodyPr wrap="square">
            <a:spAutoFit/>
          </a:bodyPr>
          <a:lstStyle/>
          <a:p>
            <a:r>
              <a:rPr lang="es-ES" sz="4000" noProof="0" dirty="0">
                <a:latin typeface="Atkinson Hyperlegible"/>
              </a:rPr>
              <a:t>Patrón de radiación: cómo “distribuye” energía una antena</a:t>
            </a:r>
            <a:endParaRPr lang="es-CL" sz="4000" noProof="0" dirty="0">
              <a:latin typeface="Atkinson Hyperlegible"/>
            </a:endParaRPr>
          </a:p>
        </p:txBody>
      </p:sp>
      <p:sp>
        <p:nvSpPr>
          <p:cNvPr id="2" name="CuadroTexto 1">
            <a:extLst>
              <a:ext uri="{FF2B5EF4-FFF2-40B4-BE49-F238E27FC236}">
                <a16:creationId xmlns:a16="http://schemas.microsoft.com/office/drawing/2014/main" id="{0030CC2E-90DC-1D79-9ECB-AE1C1166F123}"/>
              </a:ext>
            </a:extLst>
          </p:cNvPr>
          <p:cNvSpPr txBox="1"/>
          <p:nvPr/>
        </p:nvSpPr>
        <p:spPr>
          <a:xfrm>
            <a:off x="1382157" y="1929131"/>
            <a:ext cx="10969738" cy="4524315"/>
          </a:xfrm>
          <a:prstGeom prst="rect">
            <a:avLst/>
          </a:prstGeom>
          <a:noFill/>
        </p:spPr>
        <p:txBody>
          <a:bodyPr wrap="square">
            <a:spAutoFit/>
          </a:bodyPr>
          <a:lstStyle/>
          <a:p>
            <a:pPr algn="just"/>
            <a:r>
              <a:rPr lang="es-ES" sz="3200" dirty="0">
                <a:latin typeface="Atkinson Hyperlegible"/>
              </a:rPr>
              <a:t>El patrón o diagrama de radiación de una antena es una representación de la distribución de potencia de la radiación recibida o irradiada por la antena en diferentes regiones del espacio. Se suele representar en función de ángulos de dirección centrados en la antena.</a:t>
            </a:r>
            <a:endParaRPr lang="es-CL" sz="3200" dirty="0">
              <a:latin typeface="Atkinson Hyperlegible"/>
            </a:endParaRPr>
          </a:p>
          <a:p>
            <a:pPr marL="457200" indent="-457200" algn="just">
              <a:buFont typeface="Arial" panose="020B0604020202020204" pitchFamily="34" charset="0"/>
              <a:buChar char="•"/>
            </a:pPr>
            <a:r>
              <a:rPr lang="es-CL" sz="3200" dirty="0">
                <a:latin typeface="Atkinson Hyperlegible"/>
              </a:rPr>
              <a:t>A) Patrón “omnidireccional” (idealizado)</a:t>
            </a:r>
          </a:p>
          <a:p>
            <a:pPr marL="457200" indent="-457200" algn="just">
              <a:buFont typeface="Arial" panose="020B0604020202020204" pitchFamily="34" charset="0"/>
              <a:buChar char="•"/>
            </a:pPr>
            <a:r>
              <a:rPr lang="es-CL" sz="3200" dirty="0">
                <a:latin typeface="Atkinson Hyperlegible"/>
              </a:rPr>
              <a:t>B) Patrón “direccional” (idealizado)</a:t>
            </a:r>
          </a:p>
          <a:p>
            <a:pPr algn="just"/>
            <a:r>
              <a:rPr lang="es-ES" sz="3200" b="1" dirty="0">
                <a:latin typeface="Atkinson Hyperlegible"/>
              </a:rPr>
              <a:t>Estos son el diagrama rectangular y el diagrama polar de la misma antena (en un mismo plano).</a:t>
            </a:r>
          </a:p>
        </p:txBody>
      </p:sp>
      <p:pic>
        <p:nvPicPr>
          <p:cNvPr id="5" name="Imagen 4">
            <a:extLst>
              <a:ext uri="{FF2B5EF4-FFF2-40B4-BE49-F238E27FC236}">
                <a16:creationId xmlns:a16="http://schemas.microsoft.com/office/drawing/2014/main" id="{4C7D9E23-5DBA-77B3-728C-A5AE347CF126}"/>
              </a:ext>
            </a:extLst>
          </p:cNvPr>
          <p:cNvPicPr>
            <a:picLocks noChangeAspect="1"/>
          </p:cNvPicPr>
          <p:nvPr/>
        </p:nvPicPr>
        <p:blipFill>
          <a:blip r:embed="rId4"/>
          <a:stretch>
            <a:fillRect/>
          </a:stretch>
        </p:blipFill>
        <p:spPr>
          <a:xfrm>
            <a:off x="12187003" y="1606607"/>
            <a:ext cx="7134546" cy="7431820"/>
          </a:xfrm>
          <a:prstGeom prst="rect">
            <a:avLst/>
          </a:prstGeom>
        </p:spPr>
      </p:pic>
      <p:pic>
        <p:nvPicPr>
          <p:cNvPr id="8" name="Imagen 7">
            <a:extLst>
              <a:ext uri="{FF2B5EF4-FFF2-40B4-BE49-F238E27FC236}">
                <a16:creationId xmlns:a16="http://schemas.microsoft.com/office/drawing/2014/main" id="{637202D8-7BAB-53DC-4A21-B4AE74A838E8}"/>
              </a:ext>
            </a:extLst>
          </p:cNvPr>
          <p:cNvPicPr>
            <a:picLocks noChangeAspect="1"/>
          </p:cNvPicPr>
          <p:nvPr/>
        </p:nvPicPr>
        <p:blipFill>
          <a:blip r:embed="rId5"/>
          <a:stretch>
            <a:fillRect/>
          </a:stretch>
        </p:blipFill>
        <p:spPr>
          <a:xfrm>
            <a:off x="1547049" y="6453446"/>
            <a:ext cx="10049536" cy="3957183"/>
          </a:xfrm>
          <a:prstGeom prst="rect">
            <a:avLst/>
          </a:prstGeom>
        </p:spPr>
      </p:pic>
    </p:spTree>
    <p:extLst>
      <p:ext uri="{BB962C8B-B14F-4D97-AF65-F5344CB8AC3E}">
        <p14:creationId xmlns:p14="http://schemas.microsoft.com/office/powerpoint/2010/main" val="37026848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E3D4E41-5BDF-03EE-6087-8E4128BE10F3}"/>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3C622FCC-6FD5-BC72-B042-E7AE4FD002DE}"/>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A53E54CF-D333-78C2-0494-DBA2C7879880}"/>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dirty="0">
                <a:latin typeface="Atkinson Hyperlegible" pitchFamily="2" charset="77"/>
              </a:rPr>
              <a:t>ANTENAS Y REFLECTORES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799E1CB0-39D5-E2C3-9BFA-B5008D6EC5D2}"/>
              </a:ext>
            </a:extLst>
          </p:cNvPr>
          <p:cNvSpPr txBox="1"/>
          <p:nvPr/>
        </p:nvSpPr>
        <p:spPr>
          <a:xfrm>
            <a:off x="1382157" y="898721"/>
            <a:ext cx="17055745" cy="707886"/>
          </a:xfrm>
          <a:prstGeom prst="rect">
            <a:avLst/>
          </a:prstGeom>
          <a:noFill/>
        </p:spPr>
        <p:txBody>
          <a:bodyPr wrap="square">
            <a:spAutoFit/>
          </a:bodyPr>
          <a:lstStyle/>
          <a:p>
            <a:r>
              <a:rPr lang="es-ES" sz="4000" noProof="0" dirty="0">
                <a:latin typeface="Atkinson Hyperlegible"/>
              </a:rPr>
              <a:t>Omnidireccional vs Direccional: ¿cuándo conviene cada una?</a:t>
            </a:r>
            <a:endParaRPr lang="es-CL" sz="4000" noProof="0" dirty="0">
              <a:latin typeface="Atkinson Hyperlegible"/>
            </a:endParaRPr>
          </a:p>
        </p:txBody>
      </p:sp>
      <p:sp>
        <p:nvSpPr>
          <p:cNvPr id="2" name="CuadroTexto 1">
            <a:extLst>
              <a:ext uri="{FF2B5EF4-FFF2-40B4-BE49-F238E27FC236}">
                <a16:creationId xmlns:a16="http://schemas.microsoft.com/office/drawing/2014/main" id="{67DC0C26-DE88-A785-1F24-8D467EE028F7}"/>
              </a:ext>
            </a:extLst>
          </p:cNvPr>
          <p:cNvSpPr txBox="1"/>
          <p:nvPr/>
        </p:nvSpPr>
        <p:spPr>
          <a:xfrm>
            <a:off x="1382157" y="1929131"/>
            <a:ext cx="18404860" cy="2554545"/>
          </a:xfrm>
          <a:prstGeom prst="rect">
            <a:avLst/>
          </a:prstGeom>
          <a:noFill/>
        </p:spPr>
        <p:txBody>
          <a:bodyPr wrap="square">
            <a:spAutoFit/>
          </a:bodyPr>
          <a:lstStyle/>
          <a:p>
            <a:pPr marL="457200" indent="-457200" algn="just">
              <a:buFont typeface="Arial" panose="020B0604020202020204" pitchFamily="34" charset="0"/>
              <a:buChar char="•"/>
            </a:pPr>
            <a:r>
              <a:rPr lang="es-ES" sz="3200" dirty="0" err="1">
                <a:latin typeface="Atkinson Hyperlegible"/>
              </a:rPr>
              <a:t>Omni</a:t>
            </a:r>
            <a:r>
              <a:rPr lang="es-ES" sz="3200" dirty="0">
                <a:latin typeface="Atkinson Hyperlegible"/>
              </a:rPr>
              <a:t>: prioriza cobertura.</a:t>
            </a:r>
          </a:p>
          <a:p>
            <a:pPr marL="457200" indent="-457200" algn="just">
              <a:buFont typeface="Arial" panose="020B0604020202020204" pitchFamily="34" charset="0"/>
              <a:buChar char="•"/>
            </a:pPr>
            <a:r>
              <a:rPr lang="es-ES" sz="3200" dirty="0">
                <a:latin typeface="Atkinson Hyperlegible"/>
              </a:rPr>
              <a:t>Direccional: prioriza alcance/eficiencia en un enlace específico.</a:t>
            </a:r>
          </a:p>
          <a:p>
            <a:pPr marL="457200" indent="-457200" algn="just">
              <a:buFont typeface="Arial" panose="020B0604020202020204" pitchFamily="34" charset="0"/>
              <a:buChar char="•"/>
            </a:pPr>
            <a:r>
              <a:rPr lang="es-ES" sz="3200" dirty="0">
                <a:latin typeface="Atkinson Hyperlegible"/>
              </a:rPr>
              <a:t>Una antena direccional suele reducir interferencias fuera del eje principal.</a:t>
            </a:r>
          </a:p>
          <a:p>
            <a:pPr marL="457200" indent="-457200" algn="just">
              <a:buFont typeface="Arial" panose="020B0604020202020204" pitchFamily="34" charset="0"/>
              <a:buChar char="•"/>
            </a:pPr>
            <a:r>
              <a:rPr lang="es-ES" sz="3200" dirty="0">
                <a:latin typeface="Atkinson Hyperlegible"/>
              </a:rPr>
              <a:t>La elección depende de: objetivo (cobertura vs enlace) + entorno.</a:t>
            </a:r>
          </a:p>
          <a:p>
            <a:pPr algn="ctr"/>
            <a:r>
              <a:rPr lang="es-ES" sz="3200" b="1" dirty="0">
                <a:effectLst>
                  <a:outerShdw blurRad="38100" dist="38100" dir="2700000" algn="tl">
                    <a:srgbClr val="000000">
                      <a:alpha val="43137"/>
                    </a:srgbClr>
                  </a:outerShdw>
                </a:effectLst>
                <a:latin typeface="Atkinson Hyperlegible"/>
              </a:rPr>
              <a:t>Cobertura amplia → </a:t>
            </a:r>
            <a:r>
              <a:rPr lang="es-ES" sz="3200" b="1" dirty="0" err="1">
                <a:effectLst>
                  <a:outerShdw blurRad="38100" dist="38100" dir="2700000" algn="tl">
                    <a:srgbClr val="000000">
                      <a:alpha val="43137"/>
                    </a:srgbClr>
                  </a:outerShdw>
                </a:effectLst>
                <a:latin typeface="Atkinson Hyperlegible"/>
              </a:rPr>
              <a:t>omni</a:t>
            </a:r>
            <a:r>
              <a:rPr lang="es-ES" sz="3200" b="1" dirty="0">
                <a:effectLst>
                  <a:outerShdw blurRad="38100" dist="38100" dir="2700000" algn="tl">
                    <a:srgbClr val="000000">
                      <a:alpha val="43137"/>
                    </a:srgbClr>
                  </a:outerShdw>
                </a:effectLst>
                <a:latin typeface="Atkinson Hyperlegible"/>
              </a:rPr>
              <a:t> | Enlace punto a punto → direccional</a:t>
            </a:r>
          </a:p>
        </p:txBody>
      </p:sp>
      <p:graphicFrame>
        <p:nvGraphicFramePr>
          <p:cNvPr id="5" name="Tabla 4">
            <a:extLst>
              <a:ext uri="{FF2B5EF4-FFF2-40B4-BE49-F238E27FC236}">
                <a16:creationId xmlns:a16="http://schemas.microsoft.com/office/drawing/2014/main" id="{8A8D3211-696E-7367-8B9E-EA56621BECF8}"/>
              </a:ext>
            </a:extLst>
          </p:cNvPr>
          <p:cNvGraphicFramePr>
            <a:graphicFrameLocks noGrp="1"/>
          </p:cNvGraphicFramePr>
          <p:nvPr>
            <p:extLst>
              <p:ext uri="{D42A27DB-BD31-4B8C-83A1-F6EECF244321}">
                <p14:modId xmlns:p14="http://schemas.microsoft.com/office/powerpoint/2010/main" val="3385844607"/>
              </p:ext>
            </p:extLst>
          </p:nvPr>
        </p:nvGraphicFramePr>
        <p:xfrm>
          <a:off x="9910029" y="4676451"/>
          <a:ext cx="9054060" cy="4968240"/>
        </p:xfrm>
        <a:graphic>
          <a:graphicData uri="http://schemas.openxmlformats.org/drawingml/2006/table">
            <a:tbl>
              <a:tblPr firstRow="1" firstCol="1" bandRow="1">
                <a:tableStyleId>{073A0DAA-6AF3-43AB-8588-CEC1D06C72B9}</a:tableStyleId>
              </a:tblPr>
              <a:tblGrid>
                <a:gridCol w="3018020">
                  <a:extLst>
                    <a:ext uri="{9D8B030D-6E8A-4147-A177-3AD203B41FA5}">
                      <a16:colId xmlns:a16="http://schemas.microsoft.com/office/drawing/2014/main" val="2049533331"/>
                    </a:ext>
                  </a:extLst>
                </a:gridCol>
                <a:gridCol w="3018020">
                  <a:extLst>
                    <a:ext uri="{9D8B030D-6E8A-4147-A177-3AD203B41FA5}">
                      <a16:colId xmlns:a16="http://schemas.microsoft.com/office/drawing/2014/main" val="4240991015"/>
                    </a:ext>
                  </a:extLst>
                </a:gridCol>
                <a:gridCol w="3018020">
                  <a:extLst>
                    <a:ext uri="{9D8B030D-6E8A-4147-A177-3AD203B41FA5}">
                      <a16:colId xmlns:a16="http://schemas.microsoft.com/office/drawing/2014/main" val="1062970087"/>
                    </a:ext>
                  </a:extLst>
                </a:gridCol>
              </a:tblGrid>
              <a:tr h="0">
                <a:tc>
                  <a:txBody>
                    <a:bodyPr/>
                    <a:lstStyle/>
                    <a:p>
                      <a:pPr>
                        <a:buNone/>
                      </a:pPr>
                      <a:r>
                        <a:rPr lang="es-CL" sz="2800" dirty="0">
                          <a:latin typeface="Atkinson Hyperlegible"/>
                        </a:rPr>
                        <a:t>Tipo de antena</a:t>
                      </a:r>
                    </a:p>
                  </a:txBody>
                  <a:tcPr anchor="ctr"/>
                </a:tc>
                <a:tc>
                  <a:txBody>
                    <a:bodyPr/>
                    <a:lstStyle/>
                    <a:p>
                      <a:pPr>
                        <a:buNone/>
                      </a:pPr>
                      <a:r>
                        <a:rPr lang="es-CL" sz="2800">
                          <a:latin typeface="Atkinson Hyperlegible"/>
                        </a:rPr>
                        <a:t>Características (visión general)</a:t>
                      </a:r>
                    </a:p>
                  </a:txBody>
                  <a:tcPr anchor="ctr"/>
                </a:tc>
                <a:tc>
                  <a:txBody>
                    <a:bodyPr/>
                    <a:lstStyle/>
                    <a:p>
                      <a:pPr>
                        <a:buNone/>
                      </a:pPr>
                      <a:r>
                        <a:rPr lang="es-CL" sz="2800">
                          <a:latin typeface="Atkinson Hyperlegible"/>
                        </a:rPr>
                        <a:t>¿Cuándo conviene?</a:t>
                      </a:r>
                    </a:p>
                  </a:txBody>
                  <a:tcPr anchor="ctr"/>
                </a:tc>
                <a:extLst>
                  <a:ext uri="{0D108BD9-81ED-4DB2-BD59-A6C34878D82A}">
                    <a16:rowId xmlns:a16="http://schemas.microsoft.com/office/drawing/2014/main" val="2564505530"/>
                  </a:ext>
                </a:extLst>
              </a:tr>
              <a:tr h="0">
                <a:tc>
                  <a:txBody>
                    <a:bodyPr/>
                    <a:lstStyle/>
                    <a:p>
                      <a:pPr>
                        <a:buNone/>
                      </a:pPr>
                      <a:r>
                        <a:rPr lang="es-CL" sz="2800" b="1" dirty="0">
                          <a:latin typeface="Atkinson Hyperlegible"/>
                        </a:rPr>
                        <a:t>Omnidireccional</a:t>
                      </a:r>
                      <a:endParaRPr lang="es-CL" sz="2800" dirty="0">
                        <a:latin typeface="Atkinson Hyperlegible"/>
                      </a:endParaRPr>
                    </a:p>
                  </a:txBody>
                  <a:tcPr anchor="ctr"/>
                </a:tc>
                <a:tc>
                  <a:txBody>
                    <a:bodyPr/>
                    <a:lstStyle/>
                    <a:p>
                      <a:pPr>
                        <a:buNone/>
                      </a:pPr>
                      <a:r>
                        <a:rPr lang="es-ES" sz="2800" dirty="0">
                          <a:latin typeface="Atkinson Hyperlegible"/>
                        </a:rPr>
                        <a:t>Cobertura amplia en múltiples direcciones; menor concentración de energía</a:t>
                      </a:r>
                    </a:p>
                  </a:txBody>
                  <a:tcPr anchor="ctr"/>
                </a:tc>
                <a:tc>
                  <a:txBody>
                    <a:bodyPr/>
                    <a:lstStyle/>
                    <a:p>
                      <a:pPr>
                        <a:buNone/>
                      </a:pPr>
                      <a:r>
                        <a:rPr lang="es-ES" sz="2800" b="1">
                          <a:latin typeface="Atkinson Hyperlegible"/>
                        </a:rPr>
                        <a:t>Cobertura local</a:t>
                      </a:r>
                      <a:r>
                        <a:rPr lang="es-ES" sz="2800">
                          <a:latin typeface="Atkinson Hyperlegible"/>
                        </a:rPr>
                        <a:t> y usuarios distribuidos (ej.: acceso general)</a:t>
                      </a:r>
                    </a:p>
                  </a:txBody>
                  <a:tcPr anchor="ctr"/>
                </a:tc>
                <a:extLst>
                  <a:ext uri="{0D108BD9-81ED-4DB2-BD59-A6C34878D82A}">
                    <a16:rowId xmlns:a16="http://schemas.microsoft.com/office/drawing/2014/main" val="861060926"/>
                  </a:ext>
                </a:extLst>
              </a:tr>
              <a:tr h="0">
                <a:tc>
                  <a:txBody>
                    <a:bodyPr/>
                    <a:lstStyle/>
                    <a:p>
                      <a:pPr>
                        <a:buNone/>
                      </a:pPr>
                      <a:r>
                        <a:rPr lang="es-CL" sz="2800" b="1">
                          <a:latin typeface="Atkinson Hyperlegible"/>
                        </a:rPr>
                        <a:t>Direccional</a:t>
                      </a:r>
                      <a:endParaRPr lang="es-CL" sz="2800">
                        <a:latin typeface="Atkinson Hyperlegible"/>
                      </a:endParaRPr>
                    </a:p>
                  </a:txBody>
                  <a:tcPr anchor="ctr"/>
                </a:tc>
                <a:tc>
                  <a:txBody>
                    <a:bodyPr/>
                    <a:lstStyle/>
                    <a:p>
                      <a:pPr>
                        <a:buNone/>
                      </a:pPr>
                      <a:r>
                        <a:rPr lang="es-ES" sz="2800" dirty="0">
                          <a:latin typeface="Atkinson Hyperlegible"/>
                        </a:rPr>
                        <a:t>Energía concentrada hacia una dirección; requiere orientar</a:t>
                      </a:r>
                    </a:p>
                  </a:txBody>
                  <a:tcPr anchor="ctr"/>
                </a:tc>
                <a:tc>
                  <a:txBody>
                    <a:bodyPr/>
                    <a:lstStyle/>
                    <a:p>
                      <a:pPr>
                        <a:buNone/>
                      </a:pPr>
                      <a:r>
                        <a:rPr lang="es-ES" sz="2800" b="1" dirty="0">
                          <a:latin typeface="Atkinson Hyperlegible"/>
                        </a:rPr>
                        <a:t>Enlaces punto a punto</a:t>
                      </a:r>
                      <a:r>
                        <a:rPr lang="es-ES" sz="2800" dirty="0">
                          <a:latin typeface="Atkinson Hyperlegible"/>
                        </a:rPr>
                        <a:t> y enlaces planificados (mayor alcance efectivo)</a:t>
                      </a:r>
                    </a:p>
                  </a:txBody>
                  <a:tcPr anchor="ctr"/>
                </a:tc>
                <a:extLst>
                  <a:ext uri="{0D108BD9-81ED-4DB2-BD59-A6C34878D82A}">
                    <a16:rowId xmlns:a16="http://schemas.microsoft.com/office/drawing/2014/main" val="3550926916"/>
                  </a:ext>
                </a:extLst>
              </a:tr>
            </a:tbl>
          </a:graphicData>
        </a:graphic>
      </p:graphicFrame>
      <p:pic>
        <p:nvPicPr>
          <p:cNvPr id="8" name="Imagen 7">
            <a:extLst>
              <a:ext uri="{FF2B5EF4-FFF2-40B4-BE49-F238E27FC236}">
                <a16:creationId xmlns:a16="http://schemas.microsoft.com/office/drawing/2014/main" id="{AC8FFAE7-0FB4-F0E1-56DB-7C19CF930C58}"/>
              </a:ext>
            </a:extLst>
          </p:cNvPr>
          <p:cNvPicPr>
            <a:picLocks noChangeAspect="1"/>
          </p:cNvPicPr>
          <p:nvPr/>
        </p:nvPicPr>
        <p:blipFill>
          <a:blip r:embed="rId4"/>
          <a:stretch>
            <a:fillRect/>
          </a:stretch>
        </p:blipFill>
        <p:spPr>
          <a:xfrm>
            <a:off x="268094" y="4676451"/>
            <a:ext cx="9016607" cy="470376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120010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428C837-7E0C-D41B-E01F-A8DF25A0D530}"/>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DABC7223-A8A2-76DC-D75A-74FD1F8E840B}"/>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221E7DE0-DAB9-2455-A3C5-9A74F3523D17}"/>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dirty="0">
                <a:latin typeface="Atkinson Hyperlegible" pitchFamily="2" charset="77"/>
              </a:rPr>
              <a:t>ANTENAS Y REFLECTORES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8FDFA687-E8E8-16A9-EF5E-EBD7C65A3DE6}"/>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Ganancia y directividad</a:t>
            </a:r>
            <a:endParaRPr lang="es-CL" sz="4000" noProof="0" dirty="0">
              <a:latin typeface="Atkinson Hyperlegible"/>
            </a:endParaRPr>
          </a:p>
        </p:txBody>
      </p:sp>
      <p:sp>
        <p:nvSpPr>
          <p:cNvPr id="2" name="CuadroTexto 1">
            <a:extLst>
              <a:ext uri="{FF2B5EF4-FFF2-40B4-BE49-F238E27FC236}">
                <a16:creationId xmlns:a16="http://schemas.microsoft.com/office/drawing/2014/main" id="{2C8EA9C7-10DC-956C-D1BD-22B876A6F045}"/>
              </a:ext>
            </a:extLst>
          </p:cNvPr>
          <p:cNvSpPr txBox="1"/>
          <p:nvPr/>
        </p:nvSpPr>
        <p:spPr>
          <a:xfrm>
            <a:off x="1382157" y="1929131"/>
            <a:ext cx="18404860" cy="4031873"/>
          </a:xfrm>
          <a:prstGeom prst="rect">
            <a:avLst/>
          </a:prstGeom>
          <a:noFill/>
        </p:spPr>
        <p:txBody>
          <a:bodyPr wrap="square">
            <a:spAutoFit/>
          </a:bodyPr>
          <a:lstStyle/>
          <a:p>
            <a:pPr marL="457200" indent="-457200" algn="just">
              <a:buFont typeface="Arial" panose="020B0604020202020204" pitchFamily="34" charset="0"/>
              <a:buChar char="•"/>
            </a:pPr>
            <a:r>
              <a:rPr lang="es-ES" sz="3200" dirty="0">
                <a:latin typeface="Atkinson Hyperlegible"/>
              </a:rPr>
              <a:t>Directividad: medida de qué tan “concentrada” está la radiación en una dirección.</a:t>
            </a:r>
          </a:p>
          <a:p>
            <a:pPr marL="457200" indent="-457200" algn="just">
              <a:buFont typeface="Arial" panose="020B0604020202020204" pitchFamily="34" charset="0"/>
              <a:buChar char="•"/>
            </a:pPr>
            <a:r>
              <a:rPr lang="es-ES" sz="3200" dirty="0">
                <a:latin typeface="Atkinson Hyperlegible"/>
              </a:rPr>
              <a:t>Ganancia: indica cuánto “aumenta” la antena la energía efectiva en una dirección en comparación a una referencia (conceptual).</a:t>
            </a:r>
          </a:p>
          <a:p>
            <a:pPr marL="457200" indent="-457200" algn="just">
              <a:buFont typeface="Arial" panose="020B0604020202020204" pitchFamily="34" charset="0"/>
              <a:buChar char="•"/>
            </a:pPr>
            <a:r>
              <a:rPr lang="es-ES" sz="3200" dirty="0">
                <a:latin typeface="Atkinson Hyperlegible"/>
              </a:rPr>
              <a:t>A mayor directividad, normalmente mayor ganancia en el lóbulo principal.</a:t>
            </a:r>
          </a:p>
          <a:p>
            <a:pPr marL="457200" indent="-457200" algn="just">
              <a:buFont typeface="Arial" panose="020B0604020202020204" pitchFamily="34" charset="0"/>
              <a:buChar char="•"/>
            </a:pPr>
            <a:r>
              <a:rPr lang="es-ES" sz="3200" dirty="0">
                <a:latin typeface="Atkinson Hyperlegible"/>
              </a:rPr>
              <a:t>La ganancia no “crea” energía: redistribuye energía hacia ciertas direcciones.</a:t>
            </a:r>
          </a:p>
          <a:p>
            <a:pPr marL="457200" indent="-457200" algn="just">
              <a:buFont typeface="Arial" panose="020B0604020202020204" pitchFamily="34" charset="0"/>
              <a:buChar char="•"/>
            </a:pPr>
            <a:r>
              <a:rPr lang="es-ES" sz="3200" dirty="0">
                <a:latin typeface="Atkinson Hyperlegible"/>
              </a:rPr>
              <a:t>Antenas direccionales suelen ser útiles en enlaces punto a punto.</a:t>
            </a:r>
          </a:p>
          <a:p>
            <a:pPr marL="457200" indent="-457200" algn="just">
              <a:buFont typeface="Arial" panose="020B0604020202020204" pitchFamily="34" charset="0"/>
              <a:buChar char="•"/>
            </a:pPr>
            <a:r>
              <a:rPr lang="es-ES" sz="3200" dirty="0">
                <a:latin typeface="Atkinson Hyperlegible"/>
              </a:rPr>
              <a:t>En diseño, la ganancia se usa como parte del presupuesto de enlace.</a:t>
            </a:r>
          </a:p>
          <a:p>
            <a:pPr algn="ctr"/>
            <a:r>
              <a:rPr lang="es-ES" sz="3200" b="1" dirty="0">
                <a:effectLst>
                  <a:outerShdw blurRad="38100" dist="38100" dir="2700000" algn="tl">
                    <a:srgbClr val="000000">
                      <a:alpha val="43137"/>
                    </a:srgbClr>
                  </a:outerShdw>
                </a:effectLst>
                <a:latin typeface="Atkinson Hyperlegible"/>
              </a:rPr>
              <a:t>Más ganancia = energía más concentrada en una dirección (no más potencia total).</a:t>
            </a:r>
          </a:p>
        </p:txBody>
      </p:sp>
      <p:sp>
        <p:nvSpPr>
          <p:cNvPr id="3" name="CuadroTexto 2">
            <a:extLst>
              <a:ext uri="{FF2B5EF4-FFF2-40B4-BE49-F238E27FC236}">
                <a16:creationId xmlns:a16="http://schemas.microsoft.com/office/drawing/2014/main" id="{A7B3C7CC-D14B-5D67-FE12-E297DBE51C6C}"/>
              </a:ext>
            </a:extLst>
          </p:cNvPr>
          <p:cNvSpPr txBox="1"/>
          <p:nvPr/>
        </p:nvSpPr>
        <p:spPr>
          <a:xfrm>
            <a:off x="134912" y="9210300"/>
            <a:ext cx="17343620" cy="1200329"/>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ES" sz="2400" b="1" dirty="0" err="1">
                <a:latin typeface="Atkinson Hyperlegible"/>
              </a:rPr>
              <a:t>ITU</a:t>
            </a:r>
            <a:r>
              <a:rPr lang="es-ES" sz="2400" b="1" dirty="0">
                <a:latin typeface="Atkinson Hyperlegible"/>
              </a:rPr>
              <a:t>-R </a:t>
            </a:r>
            <a:r>
              <a:rPr lang="es-ES" sz="2400" b="1" dirty="0" err="1">
                <a:latin typeface="Atkinson Hyperlegible"/>
              </a:rPr>
              <a:t>F.699</a:t>
            </a:r>
            <a:r>
              <a:rPr lang="es-ES" sz="2400" b="1" dirty="0">
                <a:latin typeface="Atkinson Hyperlegible"/>
              </a:rPr>
              <a:t> </a:t>
            </a:r>
            <a:r>
              <a:rPr lang="es-ES" sz="2400" dirty="0">
                <a:latin typeface="Atkinson Hyperlegible"/>
              </a:rPr>
              <a:t>— patrones de radiación de referencia (base para directividad/ganancia en modelos).</a:t>
            </a:r>
          </a:p>
          <a:p>
            <a:r>
              <a:rPr lang="es-ES" sz="2400" b="1" dirty="0" err="1">
                <a:latin typeface="Atkinson Hyperlegible"/>
              </a:rPr>
              <a:t>ITU</a:t>
            </a:r>
            <a:r>
              <a:rPr lang="es-ES" sz="2400" b="1" dirty="0">
                <a:latin typeface="Atkinson Hyperlegible"/>
              </a:rPr>
              <a:t>-R </a:t>
            </a:r>
            <a:r>
              <a:rPr lang="es-ES" sz="2400" b="1" dirty="0" err="1">
                <a:latin typeface="Atkinson Hyperlegible"/>
              </a:rPr>
              <a:t>F.1245</a:t>
            </a:r>
            <a:r>
              <a:rPr lang="es-ES" sz="2400" b="1" dirty="0">
                <a:latin typeface="Atkinson Hyperlegible"/>
              </a:rPr>
              <a:t> </a:t>
            </a:r>
            <a:r>
              <a:rPr lang="es-ES" sz="2400" dirty="0">
                <a:latin typeface="Atkinson Hyperlegible"/>
              </a:rPr>
              <a:t>— patrón promedio para antenas punto a punto.</a:t>
            </a:r>
            <a:endParaRPr lang="es-CL" sz="2400" noProof="0" dirty="0">
              <a:latin typeface="Atkinson Hyperlegible"/>
            </a:endParaRPr>
          </a:p>
        </p:txBody>
      </p:sp>
    </p:spTree>
    <p:extLst>
      <p:ext uri="{BB962C8B-B14F-4D97-AF65-F5344CB8AC3E}">
        <p14:creationId xmlns:p14="http://schemas.microsoft.com/office/powerpoint/2010/main" val="1065097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214A4637-78C3-6D7F-F063-959CCEC418D0}"/>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78D9343A-B2C4-7C80-7DDB-B7DCFAEA142A}"/>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DDE9DE50-5469-8A67-1088-14E23143A4F8}"/>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dirty="0">
                <a:latin typeface="Atkinson Hyperlegible" pitchFamily="2" charset="77"/>
              </a:rPr>
              <a:t>ANTENAS Y REFLECTORES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759DBE88-E0E5-5ACA-739C-BC2974201E7C}"/>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Características</a:t>
            </a:r>
            <a:endParaRPr lang="es-CL" sz="4000" noProof="0" dirty="0">
              <a:latin typeface="Atkinson Hyperlegible"/>
            </a:endParaRPr>
          </a:p>
        </p:txBody>
      </p:sp>
      <p:sp>
        <p:nvSpPr>
          <p:cNvPr id="2" name="CuadroTexto 1">
            <a:extLst>
              <a:ext uri="{FF2B5EF4-FFF2-40B4-BE49-F238E27FC236}">
                <a16:creationId xmlns:a16="http://schemas.microsoft.com/office/drawing/2014/main" id="{B9D8A147-A1D2-3205-E22D-F38417772DBF}"/>
              </a:ext>
            </a:extLst>
          </p:cNvPr>
          <p:cNvSpPr txBox="1"/>
          <p:nvPr/>
        </p:nvSpPr>
        <p:spPr>
          <a:xfrm>
            <a:off x="1382157" y="1929131"/>
            <a:ext cx="18404860" cy="2554545"/>
          </a:xfrm>
          <a:prstGeom prst="rect">
            <a:avLst/>
          </a:prstGeom>
          <a:noFill/>
        </p:spPr>
        <p:txBody>
          <a:bodyPr wrap="square">
            <a:spAutoFit/>
          </a:bodyPr>
          <a:lstStyle/>
          <a:p>
            <a:pPr algn="just"/>
            <a:r>
              <a:rPr lang="es-ES" sz="3200" dirty="0">
                <a:latin typeface="Atkinson Hyperlegible"/>
              </a:rPr>
              <a:t>Una antena isotrópica irradia la energía que se le suministra de manera pareja en todas las regiones del espacio. Es sólo un modelo ideal y no puede ser fabricada. Las antenas reales se caracterizan por irradiar más fuertemente en ciertas direcciones que en otras; esto es lo que se denomina la directividad de la antena. Al tomar en cuenta la eficiencia de la antena, esta preferencia por la radiación en una determinada dirección se denomina la ganancia de la antena.</a:t>
            </a:r>
            <a:endParaRPr lang="es-ES" sz="3200" b="1" dirty="0">
              <a:effectLst>
                <a:outerShdw blurRad="38100" dist="38100" dir="2700000" algn="tl">
                  <a:srgbClr val="000000">
                    <a:alpha val="43137"/>
                  </a:srgbClr>
                </a:outerShdw>
              </a:effectLst>
              <a:latin typeface="Atkinson Hyperlegible"/>
            </a:endParaRPr>
          </a:p>
        </p:txBody>
      </p:sp>
      <p:sp>
        <p:nvSpPr>
          <p:cNvPr id="3" name="CuadroTexto 2">
            <a:extLst>
              <a:ext uri="{FF2B5EF4-FFF2-40B4-BE49-F238E27FC236}">
                <a16:creationId xmlns:a16="http://schemas.microsoft.com/office/drawing/2014/main" id="{87467E0B-DE3E-83FC-1662-A8FF6EA3DBCD}"/>
              </a:ext>
            </a:extLst>
          </p:cNvPr>
          <p:cNvSpPr txBox="1"/>
          <p:nvPr/>
        </p:nvSpPr>
        <p:spPr>
          <a:xfrm>
            <a:off x="134912" y="9210300"/>
            <a:ext cx="17343620" cy="1200329"/>
          </a:xfrm>
          <a:prstGeom prst="rect">
            <a:avLst/>
          </a:prstGeom>
          <a:noFill/>
        </p:spPr>
        <p:txBody>
          <a:bodyPr wrap="square">
            <a:spAutoFit/>
          </a:bodyPr>
          <a:lstStyle/>
          <a:p>
            <a:r>
              <a:rPr lang="es-CL" sz="2400" noProof="0" dirty="0">
                <a:latin typeface="Atkinson Hyperlegible"/>
              </a:rPr>
              <a:t>⚠️ </a:t>
            </a:r>
            <a:r>
              <a:rPr lang="es-CL" sz="2400" b="1" noProof="0" dirty="0">
                <a:latin typeface="Atkinson Hyperlegible"/>
              </a:rPr>
              <a:t>Nota al margen:</a:t>
            </a:r>
          </a:p>
          <a:p>
            <a:r>
              <a:rPr lang="es-ES" sz="2400" b="1" dirty="0" err="1">
                <a:latin typeface="Atkinson Hyperlegible"/>
              </a:rPr>
              <a:t>ITU</a:t>
            </a:r>
            <a:r>
              <a:rPr lang="es-ES" sz="2400" b="1" dirty="0">
                <a:latin typeface="Atkinson Hyperlegible"/>
              </a:rPr>
              <a:t>-R </a:t>
            </a:r>
            <a:r>
              <a:rPr lang="es-ES" sz="2400" b="1" dirty="0" err="1">
                <a:latin typeface="Atkinson Hyperlegible"/>
              </a:rPr>
              <a:t>F.699</a:t>
            </a:r>
            <a:r>
              <a:rPr lang="es-ES" sz="2400" b="1" dirty="0">
                <a:latin typeface="Atkinson Hyperlegible"/>
              </a:rPr>
              <a:t> </a:t>
            </a:r>
            <a:r>
              <a:rPr lang="es-ES" sz="2400" dirty="0">
                <a:latin typeface="Atkinson Hyperlegible"/>
              </a:rPr>
              <a:t>— patrones de radiación de referencia (base para directividad/ganancia en modelos).</a:t>
            </a:r>
          </a:p>
          <a:p>
            <a:r>
              <a:rPr lang="es-ES" sz="2400" b="1" dirty="0" err="1">
                <a:latin typeface="Atkinson Hyperlegible"/>
              </a:rPr>
              <a:t>ITU</a:t>
            </a:r>
            <a:r>
              <a:rPr lang="es-ES" sz="2400" b="1" dirty="0">
                <a:latin typeface="Atkinson Hyperlegible"/>
              </a:rPr>
              <a:t>-R </a:t>
            </a:r>
            <a:r>
              <a:rPr lang="es-ES" sz="2400" b="1" dirty="0" err="1">
                <a:latin typeface="Atkinson Hyperlegible"/>
              </a:rPr>
              <a:t>F.1245</a:t>
            </a:r>
            <a:r>
              <a:rPr lang="es-ES" sz="2400" b="1" dirty="0">
                <a:latin typeface="Atkinson Hyperlegible"/>
              </a:rPr>
              <a:t> </a:t>
            </a:r>
            <a:r>
              <a:rPr lang="es-ES" sz="2400" dirty="0">
                <a:latin typeface="Atkinson Hyperlegible"/>
              </a:rPr>
              <a:t>— patrón promedio para antenas punto a punto.</a:t>
            </a:r>
            <a:endParaRPr lang="es-CL" sz="2400" noProof="0" dirty="0">
              <a:latin typeface="Atkinson Hyperlegible"/>
            </a:endParaRPr>
          </a:p>
        </p:txBody>
      </p:sp>
      <p:pic>
        <p:nvPicPr>
          <p:cNvPr id="5" name="Imagen 4">
            <a:extLst>
              <a:ext uri="{FF2B5EF4-FFF2-40B4-BE49-F238E27FC236}">
                <a16:creationId xmlns:a16="http://schemas.microsoft.com/office/drawing/2014/main" id="{2797F509-B24F-1B07-7D83-FB817BB61402}"/>
              </a:ext>
            </a:extLst>
          </p:cNvPr>
          <p:cNvPicPr>
            <a:picLocks noChangeAspect="1"/>
          </p:cNvPicPr>
          <p:nvPr/>
        </p:nvPicPr>
        <p:blipFill>
          <a:blip r:embed="rId4"/>
          <a:stretch>
            <a:fillRect/>
          </a:stretch>
        </p:blipFill>
        <p:spPr>
          <a:xfrm>
            <a:off x="12436094" y="4367657"/>
            <a:ext cx="6954220" cy="5182323"/>
          </a:xfrm>
          <a:prstGeom prst="rect">
            <a:avLst/>
          </a:prstGeom>
        </p:spPr>
      </p:pic>
      <p:pic>
        <p:nvPicPr>
          <p:cNvPr id="8" name="Imagen 7">
            <a:extLst>
              <a:ext uri="{FF2B5EF4-FFF2-40B4-BE49-F238E27FC236}">
                <a16:creationId xmlns:a16="http://schemas.microsoft.com/office/drawing/2014/main" id="{EBA85749-5BFF-E4DB-B475-CEF895D58175}"/>
              </a:ext>
            </a:extLst>
          </p:cNvPr>
          <p:cNvPicPr>
            <a:picLocks noChangeAspect="1"/>
          </p:cNvPicPr>
          <p:nvPr/>
        </p:nvPicPr>
        <p:blipFill>
          <a:blip r:embed="rId5"/>
          <a:stretch>
            <a:fillRect/>
          </a:stretch>
        </p:blipFill>
        <p:spPr>
          <a:xfrm>
            <a:off x="3589253" y="4647037"/>
            <a:ext cx="7939400" cy="48362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407834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BCD9593-88A1-30A0-57E9-248C9C813911}"/>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3472FDFB-DF68-27A7-5588-8358E710523C}"/>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3C373D6A-982B-666F-1DAD-B55F7AF09AFB}"/>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dirty="0">
                <a:latin typeface="Atkinson Hyperlegible" pitchFamily="2" charset="77"/>
              </a:rPr>
              <a:t>ANTENAS Y REFLECTORES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25F76CB7-47B4-D4B6-75BD-DC082B904457}"/>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Características</a:t>
            </a:r>
            <a:endParaRPr lang="es-CL" sz="4000" noProof="0" dirty="0">
              <a:latin typeface="Atkinson Hyperlegible"/>
            </a:endParaRPr>
          </a:p>
        </p:txBody>
      </p:sp>
      <p:sp>
        <p:nvSpPr>
          <p:cNvPr id="2" name="CuadroTexto 1">
            <a:extLst>
              <a:ext uri="{FF2B5EF4-FFF2-40B4-BE49-F238E27FC236}">
                <a16:creationId xmlns:a16="http://schemas.microsoft.com/office/drawing/2014/main" id="{A9C9E012-43DA-1BDE-2D47-19EACDAC1DBC}"/>
              </a:ext>
            </a:extLst>
          </p:cNvPr>
          <p:cNvSpPr txBox="1"/>
          <p:nvPr/>
        </p:nvSpPr>
        <p:spPr>
          <a:xfrm>
            <a:off x="1382157" y="1929131"/>
            <a:ext cx="18404860" cy="3539430"/>
          </a:xfrm>
          <a:prstGeom prst="rect">
            <a:avLst/>
          </a:prstGeom>
          <a:noFill/>
        </p:spPr>
        <p:txBody>
          <a:bodyPr wrap="square">
            <a:spAutoFit/>
          </a:bodyPr>
          <a:lstStyle/>
          <a:p>
            <a:pPr marL="457200" indent="-457200" algn="just">
              <a:buFont typeface="Arial" panose="020B0604020202020204" pitchFamily="34" charset="0"/>
              <a:buChar char="•"/>
            </a:pPr>
            <a:r>
              <a:rPr lang="es-ES" sz="3200" dirty="0">
                <a:latin typeface="Atkinson Hyperlegible"/>
              </a:rPr>
              <a:t>Gama de frecuencias en la que se puede usar (ancho de banda).</a:t>
            </a:r>
          </a:p>
          <a:p>
            <a:pPr marL="457200" indent="-457200" algn="just">
              <a:buFont typeface="Arial" panose="020B0604020202020204" pitchFamily="34" charset="0"/>
              <a:buChar char="•"/>
            </a:pPr>
            <a:r>
              <a:rPr lang="es-ES" sz="3200" dirty="0">
                <a:latin typeface="Atkinson Hyperlegible"/>
              </a:rPr>
              <a:t> Patrón o Diagrama de Radiación (ancho del haz, lóbulos laterales, lóbulo trasero, relación adelante-atrás, ubicación de los nulos).</a:t>
            </a:r>
          </a:p>
          <a:p>
            <a:pPr marL="457200" indent="-457200" algn="just">
              <a:buFont typeface="Arial" panose="020B0604020202020204" pitchFamily="34" charset="0"/>
              <a:buChar char="•"/>
            </a:pPr>
            <a:r>
              <a:rPr lang="es-ES" sz="3200" dirty="0">
                <a:latin typeface="Atkinson Hyperlegible"/>
              </a:rPr>
              <a:t>Ganancia máxima.</a:t>
            </a:r>
          </a:p>
          <a:p>
            <a:pPr marL="457200" indent="-457200" algn="just">
              <a:buFont typeface="Arial" panose="020B0604020202020204" pitchFamily="34" charset="0"/>
              <a:buChar char="•"/>
            </a:pPr>
            <a:r>
              <a:rPr lang="es-ES" sz="3200" dirty="0">
                <a:latin typeface="Atkinson Hyperlegible"/>
              </a:rPr>
              <a:t>Impedancia de entrada (ROE máxima).</a:t>
            </a:r>
          </a:p>
          <a:p>
            <a:pPr marL="457200" indent="-457200" algn="just">
              <a:buFont typeface="Arial" panose="020B0604020202020204" pitchFamily="34" charset="0"/>
              <a:buChar char="•"/>
            </a:pPr>
            <a:r>
              <a:rPr lang="es-ES" sz="3200" dirty="0">
                <a:latin typeface="Atkinson Hyperlegible"/>
              </a:rPr>
              <a:t>Tamaño físico y resistencia al viento.</a:t>
            </a:r>
          </a:p>
          <a:p>
            <a:pPr marL="457200" indent="-457200" algn="just">
              <a:buFont typeface="Arial" panose="020B0604020202020204" pitchFamily="34" charset="0"/>
              <a:buChar char="•"/>
            </a:pPr>
            <a:r>
              <a:rPr lang="es-ES" sz="3200" dirty="0">
                <a:latin typeface="Atkinson Hyperlegible"/>
              </a:rPr>
              <a:t>Costo.</a:t>
            </a:r>
            <a:endParaRPr lang="es-ES" sz="3200" b="1" dirty="0">
              <a:effectLst>
                <a:outerShdw blurRad="38100" dist="38100" dir="2700000" algn="tl">
                  <a:srgbClr val="000000">
                    <a:alpha val="43137"/>
                  </a:srgbClr>
                </a:outerShdw>
              </a:effectLst>
              <a:latin typeface="Atkinson Hyperlegible"/>
            </a:endParaRPr>
          </a:p>
        </p:txBody>
      </p:sp>
      <p:pic>
        <p:nvPicPr>
          <p:cNvPr id="6" name="Imagen 5">
            <a:extLst>
              <a:ext uri="{FF2B5EF4-FFF2-40B4-BE49-F238E27FC236}">
                <a16:creationId xmlns:a16="http://schemas.microsoft.com/office/drawing/2014/main" id="{33B64E7B-8DA8-D359-E137-925B01C5BE51}"/>
              </a:ext>
            </a:extLst>
          </p:cNvPr>
          <p:cNvPicPr>
            <a:picLocks noChangeAspect="1"/>
          </p:cNvPicPr>
          <p:nvPr/>
        </p:nvPicPr>
        <p:blipFill>
          <a:blip r:embed="rId4"/>
          <a:stretch>
            <a:fillRect/>
          </a:stretch>
        </p:blipFill>
        <p:spPr>
          <a:xfrm>
            <a:off x="8888187" y="3338055"/>
            <a:ext cx="8324607" cy="58808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039771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9E5A31E-037A-29D1-04E7-1645D5ADF8C9}"/>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53C3736E-8A33-6848-F994-C15158F054BE}"/>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CFC94BFF-B2DD-B780-5019-F2F7D06F24C1}"/>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dirty="0">
                <a:latin typeface="Atkinson Hyperlegible" pitchFamily="2" charset="77"/>
              </a:rPr>
              <a:t>ANTENAS Y REFLECTORES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1A74C252-8D06-780E-ED7B-2F14E110E4C3}"/>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Características</a:t>
            </a:r>
            <a:endParaRPr lang="es-CL" sz="4000" noProof="0" dirty="0">
              <a:latin typeface="Atkinson Hyperlegible"/>
            </a:endParaRPr>
          </a:p>
        </p:txBody>
      </p:sp>
      <p:sp>
        <p:nvSpPr>
          <p:cNvPr id="2" name="CuadroTexto 1">
            <a:extLst>
              <a:ext uri="{FF2B5EF4-FFF2-40B4-BE49-F238E27FC236}">
                <a16:creationId xmlns:a16="http://schemas.microsoft.com/office/drawing/2014/main" id="{DEF5C524-8E84-452C-1806-8FE6E42E3937}"/>
              </a:ext>
            </a:extLst>
          </p:cNvPr>
          <p:cNvSpPr txBox="1"/>
          <p:nvPr/>
        </p:nvSpPr>
        <p:spPr>
          <a:xfrm>
            <a:off x="1382157" y="1929131"/>
            <a:ext cx="18404860" cy="3539430"/>
          </a:xfrm>
          <a:prstGeom prst="rect">
            <a:avLst/>
          </a:prstGeom>
          <a:noFill/>
        </p:spPr>
        <p:txBody>
          <a:bodyPr wrap="square">
            <a:spAutoFit/>
          </a:bodyPr>
          <a:lstStyle/>
          <a:p>
            <a:pPr marL="457200" indent="-457200" algn="just">
              <a:buFont typeface="Arial" panose="020B0604020202020204" pitchFamily="34" charset="0"/>
              <a:buChar char="•"/>
            </a:pPr>
            <a:r>
              <a:rPr lang="es-ES" sz="3200" dirty="0">
                <a:latin typeface="Atkinson Hyperlegible"/>
              </a:rPr>
              <a:t>Gama de frecuencias en la que se puede usar (ancho de banda).</a:t>
            </a:r>
          </a:p>
          <a:p>
            <a:pPr marL="457200" indent="-457200" algn="just">
              <a:buFont typeface="Arial" panose="020B0604020202020204" pitchFamily="34" charset="0"/>
              <a:buChar char="•"/>
            </a:pPr>
            <a:r>
              <a:rPr lang="es-ES" sz="3200" dirty="0">
                <a:latin typeface="Atkinson Hyperlegible"/>
              </a:rPr>
              <a:t> Patrón o Diagrama de Radiación (ancho del haz, lóbulos laterales, lóbulo trasero, relación adelante-atrás, ubicación de los nulos).</a:t>
            </a:r>
          </a:p>
          <a:p>
            <a:pPr marL="457200" indent="-457200" algn="just">
              <a:buFont typeface="Arial" panose="020B0604020202020204" pitchFamily="34" charset="0"/>
              <a:buChar char="•"/>
            </a:pPr>
            <a:r>
              <a:rPr lang="es-ES" sz="3200" dirty="0">
                <a:latin typeface="Atkinson Hyperlegible"/>
              </a:rPr>
              <a:t>Ganancia máxima.</a:t>
            </a:r>
          </a:p>
          <a:p>
            <a:pPr marL="457200" indent="-457200" algn="just">
              <a:buFont typeface="Arial" panose="020B0604020202020204" pitchFamily="34" charset="0"/>
              <a:buChar char="•"/>
            </a:pPr>
            <a:r>
              <a:rPr lang="es-ES" sz="3200" dirty="0">
                <a:latin typeface="Atkinson Hyperlegible"/>
              </a:rPr>
              <a:t>Impedancia de entrada (ROE máxima).</a:t>
            </a:r>
          </a:p>
          <a:p>
            <a:pPr marL="457200" indent="-457200" algn="just">
              <a:buFont typeface="Arial" panose="020B0604020202020204" pitchFamily="34" charset="0"/>
              <a:buChar char="•"/>
            </a:pPr>
            <a:r>
              <a:rPr lang="es-ES" sz="3200" dirty="0">
                <a:latin typeface="Atkinson Hyperlegible"/>
              </a:rPr>
              <a:t>Tamaño físico y resistencia al viento.</a:t>
            </a:r>
          </a:p>
          <a:p>
            <a:pPr marL="457200" indent="-457200" algn="just">
              <a:buFont typeface="Arial" panose="020B0604020202020204" pitchFamily="34" charset="0"/>
              <a:buChar char="•"/>
            </a:pPr>
            <a:r>
              <a:rPr lang="es-ES" sz="3200" dirty="0">
                <a:latin typeface="Atkinson Hyperlegible"/>
              </a:rPr>
              <a:t>Costo.</a:t>
            </a:r>
            <a:endParaRPr lang="es-ES" sz="3200" b="1" dirty="0">
              <a:effectLst>
                <a:outerShdw blurRad="38100" dist="38100" dir="2700000" algn="tl">
                  <a:srgbClr val="000000">
                    <a:alpha val="43137"/>
                  </a:srgbClr>
                </a:outerShdw>
              </a:effectLst>
              <a:latin typeface="Atkinson Hyperlegible"/>
            </a:endParaRPr>
          </a:p>
        </p:txBody>
      </p:sp>
      <p:pic>
        <p:nvPicPr>
          <p:cNvPr id="4" name="Imagen 3">
            <a:extLst>
              <a:ext uri="{FF2B5EF4-FFF2-40B4-BE49-F238E27FC236}">
                <a16:creationId xmlns:a16="http://schemas.microsoft.com/office/drawing/2014/main" id="{7C2A29A8-648F-8EA2-9C68-9226C66BB154}"/>
              </a:ext>
            </a:extLst>
          </p:cNvPr>
          <p:cNvPicPr>
            <a:picLocks noChangeAspect="1"/>
          </p:cNvPicPr>
          <p:nvPr/>
        </p:nvPicPr>
        <p:blipFill>
          <a:blip r:embed="rId4"/>
          <a:stretch>
            <a:fillRect/>
          </a:stretch>
        </p:blipFill>
        <p:spPr>
          <a:xfrm>
            <a:off x="8837895" y="3554470"/>
            <a:ext cx="9914930" cy="635402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975222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11E5185-356D-0815-4C9C-ED9A8D4DEC87}"/>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396BD1C1-0F27-4033-E239-C72798826B4D}"/>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3173E062-E057-CF29-979B-C9B74959C0EA}"/>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dirty="0">
                <a:latin typeface="Atkinson Hyperlegible" pitchFamily="2" charset="77"/>
              </a:rPr>
              <a:t>ANTENAS Y REFLECTORES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6A5AB788-B370-5E74-A6FC-84755B2BDACB}"/>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Características</a:t>
            </a:r>
            <a:endParaRPr lang="es-CL" sz="4000" noProof="0" dirty="0">
              <a:latin typeface="Atkinson Hyperlegible"/>
            </a:endParaRPr>
          </a:p>
        </p:txBody>
      </p:sp>
      <p:sp>
        <p:nvSpPr>
          <p:cNvPr id="2" name="CuadroTexto 1">
            <a:extLst>
              <a:ext uri="{FF2B5EF4-FFF2-40B4-BE49-F238E27FC236}">
                <a16:creationId xmlns:a16="http://schemas.microsoft.com/office/drawing/2014/main" id="{F34A69D4-3436-2DBE-27F3-8484752E0530}"/>
              </a:ext>
            </a:extLst>
          </p:cNvPr>
          <p:cNvSpPr txBox="1"/>
          <p:nvPr/>
        </p:nvSpPr>
        <p:spPr>
          <a:xfrm>
            <a:off x="1382157" y="1929131"/>
            <a:ext cx="18404860" cy="3539430"/>
          </a:xfrm>
          <a:prstGeom prst="rect">
            <a:avLst/>
          </a:prstGeom>
          <a:noFill/>
        </p:spPr>
        <p:txBody>
          <a:bodyPr wrap="square">
            <a:spAutoFit/>
          </a:bodyPr>
          <a:lstStyle/>
          <a:p>
            <a:pPr marL="457200" indent="-457200" algn="just">
              <a:buFont typeface="Arial" panose="020B0604020202020204" pitchFamily="34" charset="0"/>
              <a:buChar char="•"/>
            </a:pPr>
            <a:r>
              <a:rPr lang="es-ES" sz="3200" dirty="0">
                <a:latin typeface="Atkinson Hyperlegible"/>
              </a:rPr>
              <a:t>Gama de frecuencias en la que se puede usar (ancho de banda).</a:t>
            </a:r>
          </a:p>
          <a:p>
            <a:pPr marL="457200" indent="-457200" algn="just">
              <a:buFont typeface="Arial" panose="020B0604020202020204" pitchFamily="34" charset="0"/>
              <a:buChar char="•"/>
            </a:pPr>
            <a:r>
              <a:rPr lang="es-ES" sz="3200" dirty="0">
                <a:latin typeface="Atkinson Hyperlegible"/>
              </a:rPr>
              <a:t> Patrón o Diagrama de Radiación (ancho del haz, lóbulos laterales, lóbulo trasero, relación adelante-atrás, ubicación de los nulos).</a:t>
            </a:r>
          </a:p>
          <a:p>
            <a:pPr marL="457200" indent="-457200" algn="just">
              <a:buFont typeface="Arial" panose="020B0604020202020204" pitchFamily="34" charset="0"/>
              <a:buChar char="•"/>
            </a:pPr>
            <a:r>
              <a:rPr lang="es-ES" sz="3200" dirty="0">
                <a:latin typeface="Atkinson Hyperlegible"/>
              </a:rPr>
              <a:t>Ganancia máxima.</a:t>
            </a:r>
          </a:p>
          <a:p>
            <a:pPr marL="457200" indent="-457200" algn="just">
              <a:buFont typeface="Arial" panose="020B0604020202020204" pitchFamily="34" charset="0"/>
              <a:buChar char="•"/>
            </a:pPr>
            <a:r>
              <a:rPr lang="es-ES" sz="3200" dirty="0">
                <a:latin typeface="Atkinson Hyperlegible"/>
              </a:rPr>
              <a:t>Impedancia de entrada (ROE máxima).</a:t>
            </a:r>
          </a:p>
          <a:p>
            <a:pPr marL="457200" indent="-457200" algn="just">
              <a:buFont typeface="Arial" panose="020B0604020202020204" pitchFamily="34" charset="0"/>
              <a:buChar char="•"/>
            </a:pPr>
            <a:r>
              <a:rPr lang="es-ES" sz="3200" dirty="0">
                <a:latin typeface="Atkinson Hyperlegible"/>
              </a:rPr>
              <a:t>Tamaño físico y resistencia al viento.</a:t>
            </a:r>
          </a:p>
          <a:p>
            <a:pPr marL="457200" indent="-457200" algn="just">
              <a:buFont typeface="Arial" panose="020B0604020202020204" pitchFamily="34" charset="0"/>
              <a:buChar char="•"/>
            </a:pPr>
            <a:r>
              <a:rPr lang="es-ES" sz="3200" dirty="0">
                <a:latin typeface="Atkinson Hyperlegible"/>
              </a:rPr>
              <a:t>Costo.</a:t>
            </a:r>
            <a:endParaRPr lang="es-ES" sz="3200" b="1" dirty="0">
              <a:effectLst>
                <a:outerShdw blurRad="38100" dist="38100" dir="2700000" algn="tl">
                  <a:srgbClr val="000000">
                    <a:alpha val="43137"/>
                  </a:srgbClr>
                </a:outerShdw>
              </a:effectLst>
              <a:latin typeface="Atkinson Hyperlegible"/>
            </a:endParaRPr>
          </a:p>
        </p:txBody>
      </p:sp>
      <p:pic>
        <p:nvPicPr>
          <p:cNvPr id="5" name="Imagen 4">
            <a:extLst>
              <a:ext uri="{FF2B5EF4-FFF2-40B4-BE49-F238E27FC236}">
                <a16:creationId xmlns:a16="http://schemas.microsoft.com/office/drawing/2014/main" id="{2E921A4D-2178-8CD0-BC2A-610EC54C0C08}"/>
              </a:ext>
            </a:extLst>
          </p:cNvPr>
          <p:cNvPicPr>
            <a:picLocks noChangeAspect="1"/>
          </p:cNvPicPr>
          <p:nvPr/>
        </p:nvPicPr>
        <p:blipFill>
          <a:blip r:embed="rId4"/>
          <a:stretch>
            <a:fillRect/>
          </a:stretch>
        </p:blipFill>
        <p:spPr>
          <a:xfrm>
            <a:off x="9075494" y="3606514"/>
            <a:ext cx="10773149" cy="645188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121647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A5D5979-06FE-07FC-A64C-D8615ADBC607}"/>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7BC3CE3C-6A0D-28BB-BFD4-A4400E27A811}"/>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5821461E-C713-E332-73D1-A7E71C32FA34}"/>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dirty="0">
                <a:latin typeface="Atkinson Hyperlegible" pitchFamily="2" charset="77"/>
              </a:rPr>
              <a:t>ANTENAS Y REFLECTORES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A849F8BF-7D12-4E43-FF6B-538F1A3BB6C6}"/>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Características</a:t>
            </a:r>
            <a:endParaRPr lang="es-CL" sz="4000" noProof="0" dirty="0">
              <a:latin typeface="Atkinson Hyperlegible"/>
            </a:endParaRPr>
          </a:p>
        </p:txBody>
      </p:sp>
      <p:sp>
        <p:nvSpPr>
          <p:cNvPr id="2" name="CuadroTexto 1">
            <a:extLst>
              <a:ext uri="{FF2B5EF4-FFF2-40B4-BE49-F238E27FC236}">
                <a16:creationId xmlns:a16="http://schemas.microsoft.com/office/drawing/2014/main" id="{9981C0CF-50A4-FDAE-1457-CFCE947484E8}"/>
              </a:ext>
            </a:extLst>
          </p:cNvPr>
          <p:cNvSpPr txBox="1"/>
          <p:nvPr/>
        </p:nvSpPr>
        <p:spPr>
          <a:xfrm>
            <a:off x="1382157" y="1929131"/>
            <a:ext cx="18404860" cy="3539430"/>
          </a:xfrm>
          <a:prstGeom prst="rect">
            <a:avLst/>
          </a:prstGeom>
          <a:noFill/>
        </p:spPr>
        <p:txBody>
          <a:bodyPr wrap="square">
            <a:spAutoFit/>
          </a:bodyPr>
          <a:lstStyle/>
          <a:p>
            <a:pPr marL="457200" indent="-457200" algn="just">
              <a:buFont typeface="Arial" panose="020B0604020202020204" pitchFamily="34" charset="0"/>
              <a:buChar char="•"/>
            </a:pPr>
            <a:r>
              <a:rPr lang="es-ES" sz="3200" dirty="0">
                <a:latin typeface="Atkinson Hyperlegible"/>
              </a:rPr>
              <a:t>Gama de frecuencias en la que se puede usar (ancho de banda).</a:t>
            </a:r>
          </a:p>
          <a:p>
            <a:pPr marL="457200" indent="-457200" algn="just">
              <a:buFont typeface="Arial" panose="020B0604020202020204" pitchFamily="34" charset="0"/>
              <a:buChar char="•"/>
            </a:pPr>
            <a:r>
              <a:rPr lang="es-ES" sz="3200" dirty="0">
                <a:latin typeface="Atkinson Hyperlegible"/>
              </a:rPr>
              <a:t> Patrón o Diagrama de Radiación (ancho del haz, lóbulos laterales, lóbulo trasero, relación adelante-atrás, ubicación de los nulos).</a:t>
            </a:r>
          </a:p>
          <a:p>
            <a:pPr marL="457200" indent="-457200" algn="just">
              <a:buFont typeface="Arial" panose="020B0604020202020204" pitchFamily="34" charset="0"/>
              <a:buChar char="•"/>
            </a:pPr>
            <a:r>
              <a:rPr lang="es-ES" sz="3200" dirty="0">
                <a:latin typeface="Atkinson Hyperlegible"/>
              </a:rPr>
              <a:t>Ganancia máxima.</a:t>
            </a:r>
          </a:p>
          <a:p>
            <a:pPr marL="457200" indent="-457200" algn="just">
              <a:buFont typeface="Arial" panose="020B0604020202020204" pitchFamily="34" charset="0"/>
              <a:buChar char="•"/>
            </a:pPr>
            <a:r>
              <a:rPr lang="es-ES" sz="3200" dirty="0">
                <a:latin typeface="Atkinson Hyperlegible"/>
              </a:rPr>
              <a:t>Impedancia de entrada (ROE máxima).</a:t>
            </a:r>
          </a:p>
          <a:p>
            <a:pPr marL="457200" indent="-457200" algn="just">
              <a:buFont typeface="Arial" panose="020B0604020202020204" pitchFamily="34" charset="0"/>
              <a:buChar char="•"/>
            </a:pPr>
            <a:r>
              <a:rPr lang="es-ES" sz="3200" dirty="0">
                <a:latin typeface="Atkinson Hyperlegible"/>
              </a:rPr>
              <a:t>Tamaño físico y resistencia al viento.</a:t>
            </a:r>
          </a:p>
          <a:p>
            <a:pPr marL="457200" indent="-457200" algn="just">
              <a:buFont typeface="Arial" panose="020B0604020202020204" pitchFamily="34" charset="0"/>
              <a:buChar char="•"/>
            </a:pPr>
            <a:r>
              <a:rPr lang="es-ES" sz="3200" dirty="0">
                <a:latin typeface="Atkinson Hyperlegible"/>
              </a:rPr>
              <a:t>Costo.</a:t>
            </a:r>
            <a:endParaRPr lang="es-ES" sz="3200" b="1" dirty="0">
              <a:effectLst>
                <a:outerShdw blurRad="38100" dist="38100" dir="2700000" algn="tl">
                  <a:srgbClr val="000000">
                    <a:alpha val="43137"/>
                  </a:srgbClr>
                </a:outerShdw>
              </a:effectLst>
              <a:latin typeface="Atkinson Hyperlegible"/>
            </a:endParaRPr>
          </a:p>
        </p:txBody>
      </p:sp>
      <p:pic>
        <p:nvPicPr>
          <p:cNvPr id="4" name="Imagen 3">
            <a:extLst>
              <a:ext uri="{FF2B5EF4-FFF2-40B4-BE49-F238E27FC236}">
                <a16:creationId xmlns:a16="http://schemas.microsoft.com/office/drawing/2014/main" id="{BB7309B6-6F12-C5BD-CD0C-E8BE121D03A4}"/>
              </a:ext>
            </a:extLst>
          </p:cNvPr>
          <p:cNvPicPr>
            <a:picLocks noChangeAspect="1"/>
          </p:cNvPicPr>
          <p:nvPr/>
        </p:nvPicPr>
        <p:blipFill>
          <a:blip r:embed="rId4"/>
          <a:stretch>
            <a:fillRect/>
          </a:stretch>
        </p:blipFill>
        <p:spPr>
          <a:xfrm>
            <a:off x="9512587" y="3072688"/>
            <a:ext cx="9644843" cy="730625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Imagen 7">
            <a:extLst>
              <a:ext uri="{FF2B5EF4-FFF2-40B4-BE49-F238E27FC236}">
                <a16:creationId xmlns:a16="http://schemas.microsoft.com/office/drawing/2014/main" id="{4592B349-78CB-037C-AE3E-2223DD3D238C}"/>
              </a:ext>
            </a:extLst>
          </p:cNvPr>
          <p:cNvPicPr>
            <a:picLocks noChangeAspect="1"/>
          </p:cNvPicPr>
          <p:nvPr/>
        </p:nvPicPr>
        <p:blipFill>
          <a:blip r:embed="rId5"/>
          <a:stretch>
            <a:fillRect/>
          </a:stretch>
        </p:blipFill>
        <p:spPr>
          <a:xfrm>
            <a:off x="2812914" y="5561727"/>
            <a:ext cx="7097115" cy="484890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553907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CCB4F39-67E5-2CF9-F76D-1C6BD0738703}"/>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B322D214-06D0-5783-9A8A-68C0152067ED}"/>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DD7D4824-D37B-9364-1769-D5B2985406AC}"/>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dirty="0">
                <a:latin typeface="Atkinson Hyperlegible" pitchFamily="2" charset="77"/>
              </a:rPr>
              <a:t>ANTENAS Y REFLECTORES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F0BBD553-0A39-7BD1-9992-8A776884F3B8}"/>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Características</a:t>
            </a:r>
            <a:endParaRPr lang="es-CL" sz="4000" noProof="0" dirty="0">
              <a:latin typeface="Atkinson Hyperlegible"/>
            </a:endParaRPr>
          </a:p>
        </p:txBody>
      </p:sp>
      <p:sp>
        <p:nvSpPr>
          <p:cNvPr id="2" name="CuadroTexto 1">
            <a:extLst>
              <a:ext uri="{FF2B5EF4-FFF2-40B4-BE49-F238E27FC236}">
                <a16:creationId xmlns:a16="http://schemas.microsoft.com/office/drawing/2014/main" id="{646CBD3F-9151-B32C-BB29-9C6B6BC05951}"/>
              </a:ext>
            </a:extLst>
          </p:cNvPr>
          <p:cNvSpPr txBox="1"/>
          <p:nvPr/>
        </p:nvSpPr>
        <p:spPr>
          <a:xfrm>
            <a:off x="1382157" y="1929131"/>
            <a:ext cx="18404860" cy="3539430"/>
          </a:xfrm>
          <a:prstGeom prst="rect">
            <a:avLst/>
          </a:prstGeom>
          <a:noFill/>
        </p:spPr>
        <p:txBody>
          <a:bodyPr wrap="square">
            <a:spAutoFit/>
          </a:bodyPr>
          <a:lstStyle/>
          <a:p>
            <a:pPr marL="457200" indent="-457200" algn="just">
              <a:buFont typeface="Arial" panose="020B0604020202020204" pitchFamily="34" charset="0"/>
              <a:buChar char="•"/>
            </a:pPr>
            <a:r>
              <a:rPr lang="es-ES" sz="3200" dirty="0">
                <a:latin typeface="Atkinson Hyperlegible"/>
              </a:rPr>
              <a:t>Gama de frecuencias en la que se puede usar (ancho de banda).</a:t>
            </a:r>
          </a:p>
          <a:p>
            <a:pPr marL="457200" indent="-457200" algn="just">
              <a:buFont typeface="Arial" panose="020B0604020202020204" pitchFamily="34" charset="0"/>
              <a:buChar char="•"/>
            </a:pPr>
            <a:r>
              <a:rPr lang="es-ES" sz="3200" dirty="0">
                <a:latin typeface="Atkinson Hyperlegible"/>
              </a:rPr>
              <a:t> Patrón o Diagrama de Radiación (ancho del haz, lóbulos laterales, lóbulo trasero, relación adelante-atrás, ubicación de los nulos).</a:t>
            </a:r>
          </a:p>
          <a:p>
            <a:pPr marL="457200" indent="-457200" algn="just">
              <a:buFont typeface="Arial" panose="020B0604020202020204" pitchFamily="34" charset="0"/>
              <a:buChar char="•"/>
            </a:pPr>
            <a:r>
              <a:rPr lang="es-ES" sz="3200" dirty="0">
                <a:latin typeface="Atkinson Hyperlegible"/>
              </a:rPr>
              <a:t>Ganancia máxima.</a:t>
            </a:r>
          </a:p>
          <a:p>
            <a:pPr marL="457200" indent="-457200" algn="just">
              <a:buFont typeface="Arial" panose="020B0604020202020204" pitchFamily="34" charset="0"/>
              <a:buChar char="•"/>
            </a:pPr>
            <a:r>
              <a:rPr lang="es-ES" sz="3200" dirty="0">
                <a:latin typeface="Atkinson Hyperlegible"/>
              </a:rPr>
              <a:t>Impedancia de entrada (ROE máxima).</a:t>
            </a:r>
          </a:p>
          <a:p>
            <a:pPr marL="457200" indent="-457200" algn="just">
              <a:buFont typeface="Arial" panose="020B0604020202020204" pitchFamily="34" charset="0"/>
              <a:buChar char="•"/>
            </a:pPr>
            <a:r>
              <a:rPr lang="es-ES" sz="3200" dirty="0">
                <a:latin typeface="Atkinson Hyperlegible"/>
              </a:rPr>
              <a:t>Tamaño físico y resistencia al viento.</a:t>
            </a:r>
          </a:p>
          <a:p>
            <a:pPr marL="457200" indent="-457200" algn="just">
              <a:buFont typeface="Arial" panose="020B0604020202020204" pitchFamily="34" charset="0"/>
              <a:buChar char="•"/>
            </a:pPr>
            <a:r>
              <a:rPr lang="es-ES" sz="3200" dirty="0">
                <a:latin typeface="Atkinson Hyperlegible"/>
              </a:rPr>
              <a:t>Costo.</a:t>
            </a:r>
            <a:endParaRPr lang="es-ES" sz="3200" b="1" dirty="0">
              <a:effectLst>
                <a:outerShdw blurRad="38100" dist="38100" dir="2700000" algn="tl">
                  <a:srgbClr val="000000">
                    <a:alpha val="43137"/>
                  </a:srgbClr>
                </a:outerShdw>
              </a:effectLst>
              <a:latin typeface="Atkinson Hyperlegible"/>
            </a:endParaRPr>
          </a:p>
        </p:txBody>
      </p:sp>
      <p:pic>
        <p:nvPicPr>
          <p:cNvPr id="5" name="Imagen 4">
            <a:extLst>
              <a:ext uri="{FF2B5EF4-FFF2-40B4-BE49-F238E27FC236}">
                <a16:creationId xmlns:a16="http://schemas.microsoft.com/office/drawing/2014/main" id="{3672D66B-0CFA-9DAC-A7F6-200BF6D93443}"/>
              </a:ext>
            </a:extLst>
          </p:cNvPr>
          <p:cNvPicPr>
            <a:picLocks noChangeAspect="1"/>
          </p:cNvPicPr>
          <p:nvPr/>
        </p:nvPicPr>
        <p:blipFill>
          <a:blip r:embed="rId4"/>
          <a:stretch>
            <a:fillRect/>
          </a:stretch>
        </p:blipFill>
        <p:spPr>
          <a:xfrm>
            <a:off x="9845316" y="3228219"/>
            <a:ext cx="9941701" cy="703610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 name="Imagen 9">
            <a:extLst>
              <a:ext uri="{FF2B5EF4-FFF2-40B4-BE49-F238E27FC236}">
                <a16:creationId xmlns:a16="http://schemas.microsoft.com/office/drawing/2014/main" id="{194D2DCC-0C2A-E87D-FB1A-34797991FC19}"/>
              </a:ext>
            </a:extLst>
          </p:cNvPr>
          <p:cNvPicPr>
            <a:picLocks noChangeAspect="1"/>
          </p:cNvPicPr>
          <p:nvPr/>
        </p:nvPicPr>
        <p:blipFill>
          <a:blip r:embed="rId5"/>
          <a:stretch>
            <a:fillRect/>
          </a:stretch>
        </p:blipFill>
        <p:spPr>
          <a:xfrm>
            <a:off x="1666198" y="167751"/>
            <a:ext cx="17055744" cy="10601619"/>
          </a:xfrm>
          <a:prstGeom prst="rect">
            <a:avLst/>
          </a:prstGeom>
        </p:spPr>
      </p:pic>
    </p:spTree>
    <p:extLst>
      <p:ext uri="{BB962C8B-B14F-4D97-AF65-F5344CB8AC3E}">
        <p14:creationId xmlns:p14="http://schemas.microsoft.com/office/powerpoint/2010/main" val="591334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6238032-4664-CC5C-932D-1429AFDA9CC5}"/>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C2D6AD52-3BD0-7079-0BCC-CA4AF177F2AE}"/>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C1A0F893-3A06-E09C-F9FF-8AF026A0D606}"/>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dirty="0">
                <a:latin typeface="Atkinson Hyperlegible" pitchFamily="2" charset="77"/>
              </a:rPr>
              <a:t>ANTENAS Y REFLECTORES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EC297D6B-BB56-1EF2-BC60-DA7DB87B61F7}"/>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Tipos</a:t>
            </a:r>
            <a:endParaRPr lang="es-CL" sz="4000" noProof="0" dirty="0">
              <a:latin typeface="Atkinson Hyperlegible"/>
            </a:endParaRPr>
          </a:p>
        </p:txBody>
      </p:sp>
      <p:pic>
        <p:nvPicPr>
          <p:cNvPr id="4" name="Imagen 3">
            <a:extLst>
              <a:ext uri="{FF2B5EF4-FFF2-40B4-BE49-F238E27FC236}">
                <a16:creationId xmlns:a16="http://schemas.microsoft.com/office/drawing/2014/main" id="{AB9FD3AB-04EA-A025-15DC-50441435326B}"/>
              </a:ext>
            </a:extLst>
          </p:cNvPr>
          <p:cNvPicPr>
            <a:picLocks noChangeAspect="1"/>
          </p:cNvPicPr>
          <p:nvPr/>
        </p:nvPicPr>
        <p:blipFill>
          <a:blip r:embed="rId4"/>
          <a:stretch>
            <a:fillRect/>
          </a:stretch>
        </p:blipFill>
        <p:spPr>
          <a:xfrm>
            <a:off x="240824" y="1902680"/>
            <a:ext cx="8898426" cy="6338264"/>
          </a:xfrm>
          <a:prstGeom prst="rect">
            <a:avLst/>
          </a:prstGeom>
        </p:spPr>
      </p:pic>
      <p:pic>
        <p:nvPicPr>
          <p:cNvPr id="8" name="Imagen 7">
            <a:extLst>
              <a:ext uri="{FF2B5EF4-FFF2-40B4-BE49-F238E27FC236}">
                <a16:creationId xmlns:a16="http://schemas.microsoft.com/office/drawing/2014/main" id="{B41C9731-0705-8494-5435-317D1D073B97}"/>
              </a:ext>
            </a:extLst>
          </p:cNvPr>
          <p:cNvPicPr>
            <a:picLocks noChangeAspect="1"/>
          </p:cNvPicPr>
          <p:nvPr/>
        </p:nvPicPr>
        <p:blipFill>
          <a:blip r:embed="rId5"/>
          <a:stretch>
            <a:fillRect/>
          </a:stretch>
        </p:blipFill>
        <p:spPr>
          <a:xfrm>
            <a:off x="6973172" y="1038604"/>
            <a:ext cx="5553850" cy="264832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2" name="Imagen 11">
            <a:extLst>
              <a:ext uri="{FF2B5EF4-FFF2-40B4-BE49-F238E27FC236}">
                <a16:creationId xmlns:a16="http://schemas.microsoft.com/office/drawing/2014/main" id="{13445A7A-C0D2-1140-7877-8437CAA5A56A}"/>
              </a:ext>
            </a:extLst>
          </p:cNvPr>
          <p:cNvPicPr>
            <a:picLocks noChangeAspect="1"/>
          </p:cNvPicPr>
          <p:nvPr/>
        </p:nvPicPr>
        <p:blipFill>
          <a:blip r:embed="rId6"/>
          <a:stretch>
            <a:fillRect/>
          </a:stretch>
        </p:blipFill>
        <p:spPr>
          <a:xfrm>
            <a:off x="13080529" y="270789"/>
            <a:ext cx="6782747" cy="443927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5" name="Imagen 14">
            <a:extLst>
              <a:ext uri="{FF2B5EF4-FFF2-40B4-BE49-F238E27FC236}">
                <a16:creationId xmlns:a16="http://schemas.microsoft.com/office/drawing/2014/main" id="{7F5B2B17-6B09-DC8A-4512-AA0C659D97CA}"/>
              </a:ext>
            </a:extLst>
          </p:cNvPr>
          <p:cNvPicPr>
            <a:picLocks noChangeAspect="1"/>
          </p:cNvPicPr>
          <p:nvPr/>
        </p:nvPicPr>
        <p:blipFill>
          <a:blip r:embed="rId7"/>
          <a:stretch>
            <a:fillRect/>
          </a:stretch>
        </p:blipFill>
        <p:spPr>
          <a:xfrm>
            <a:off x="15580973" y="4965080"/>
            <a:ext cx="4339358" cy="36135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7" name="Imagen 16">
            <a:extLst>
              <a:ext uri="{FF2B5EF4-FFF2-40B4-BE49-F238E27FC236}">
                <a16:creationId xmlns:a16="http://schemas.microsoft.com/office/drawing/2014/main" id="{C7818008-9436-9101-3C08-FA09A3E17E85}"/>
              </a:ext>
            </a:extLst>
          </p:cNvPr>
          <p:cNvPicPr>
            <a:picLocks noChangeAspect="1"/>
          </p:cNvPicPr>
          <p:nvPr/>
        </p:nvPicPr>
        <p:blipFill>
          <a:blip r:embed="rId8"/>
          <a:stretch>
            <a:fillRect/>
          </a:stretch>
        </p:blipFill>
        <p:spPr>
          <a:xfrm>
            <a:off x="8852226" y="3791312"/>
            <a:ext cx="6630325" cy="405821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7326976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AD459BD-BCFE-2089-E655-90514B2D3866}"/>
            </a:ext>
          </a:extLst>
        </p:cNvPr>
        <p:cNvGrpSpPr/>
        <p:nvPr/>
      </p:nvGrpSpPr>
      <p:grpSpPr>
        <a:xfrm>
          <a:off x="0" y="0"/>
          <a:ext cx="0" cy="0"/>
          <a:chOff x="0" y="0"/>
          <a:chExt cx="0" cy="0"/>
        </a:xfrm>
      </p:grpSpPr>
      <p:cxnSp>
        <p:nvCxnSpPr>
          <p:cNvPr id="9" name="Conector recto 8">
            <a:extLst>
              <a:ext uri="{FF2B5EF4-FFF2-40B4-BE49-F238E27FC236}">
                <a16:creationId xmlns:a16="http://schemas.microsoft.com/office/drawing/2014/main" id="{F6E2E829-38A2-6F71-94FB-32FEC851AB4E}"/>
              </a:ext>
            </a:extLst>
          </p:cNvPr>
          <p:cNvCxnSpPr>
            <a:cxnSpLocks/>
          </p:cNvCxnSpPr>
          <p:nvPr/>
        </p:nvCxnSpPr>
        <p:spPr>
          <a:xfrm>
            <a:off x="679450" y="-136525"/>
            <a:ext cx="0" cy="1524000"/>
          </a:xfrm>
          <a:prstGeom prst="line">
            <a:avLst/>
          </a:prstGeom>
          <a:ln w="31750">
            <a:solidFill>
              <a:schemeClr val="tx1"/>
            </a:solidFill>
          </a:ln>
        </p:spPr>
        <p:style>
          <a:lnRef idx="1">
            <a:schemeClr val="dk1"/>
          </a:lnRef>
          <a:fillRef idx="0">
            <a:schemeClr val="dk1"/>
          </a:fillRef>
          <a:effectRef idx="0">
            <a:schemeClr val="dk1"/>
          </a:effectRef>
          <a:fontRef idx="minor">
            <a:schemeClr val="tx1"/>
          </a:fontRef>
        </p:style>
      </p:cxnSp>
      <p:sp>
        <p:nvSpPr>
          <p:cNvPr id="14" name="object 3">
            <a:extLst>
              <a:ext uri="{FF2B5EF4-FFF2-40B4-BE49-F238E27FC236}">
                <a16:creationId xmlns:a16="http://schemas.microsoft.com/office/drawing/2014/main" id="{21815E70-C12E-D286-7228-78B772C7DFD2}"/>
              </a:ext>
            </a:extLst>
          </p:cNvPr>
          <p:cNvSpPr txBox="1"/>
          <p:nvPr/>
        </p:nvSpPr>
        <p:spPr>
          <a:xfrm>
            <a:off x="1382157" y="-44605"/>
            <a:ext cx="18277439" cy="1030410"/>
          </a:xfrm>
          <a:prstGeom prst="rect">
            <a:avLst/>
          </a:prstGeom>
          <a:noFill/>
        </p:spPr>
        <p:txBody>
          <a:bodyPr vert="horz" wrap="square" lIns="0" tIns="349885" rIns="0" bIns="0" rtlCol="0">
            <a:spAutoFit/>
          </a:bodyPr>
          <a:lstStyle/>
          <a:p>
            <a:r>
              <a:rPr lang="es-CL" sz="4400" b="1" dirty="0">
                <a:latin typeface="Atkinson Hyperlegible" pitchFamily="2" charset="77"/>
              </a:rPr>
              <a:t>ANTENAS Y REFLECTORES</a:t>
            </a:r>
            <a:endParaRPr lang="es-CL" sz="2800" b="1" kern="100" noProof="0" dirty="0">
              <a:effectLst/>
              <a:latin typeface="Atkinson Hyperlegible" pitchFamily="2" charset="77"/>
              <a:ea typeface="Calibri" panose="020F0502020204030204" pitchFamily="34" charset="0"/>
              <a:cs typeface="Gotham" pitchFamily="2" charset="0"/>
            </a:endParaRPr>
          </a:p>
        </p:txBody>
      </p:sp>
      <p:sp>
        <p:nvSpPr>
          <p:cNvPr id="7" name="CuadroTexto 6">
            <a:extLst>
              <a:ext uri="{FF2B5EF4-FFF2-40B4-BE49-F238E27FC236}">
                <a16:creationId xmlns:a16="http://schemas.microsoft.com/office/drawing/2014/main" id="{1A8FB3FE-0CC7-1CA9-AE66-8C7473DE76A0}"/>
              </a:ext>
            </a:extLst>
          </p:cNvPr>
          <p:cNvSpPr txBox="1"/>
          <p:nvPr/>
        </p:nvSpPr>
        <p:spPr>
          <a:xfrm>
            <a:off x="1382157" y="898721"/>
            <a:ext cx="17055745" cy="707886"/>
          </a:xfrm>
          <a:prstGeom prst="rect">
            <a:avLst/>
          </a:prstGeom>
          <a:noFill/>
        </p:spPr>
        <p:txBody>
          <a:bodyPr wrap="square">
            <a:spAutoFit/>
          </a:bodyPr>
          <a:lstStyle/>
          <a:p>
            <a:r>
              <a:rPr lang="es-ES" sz="4000" dirty="0">
                <a:latin typeface="Atkinson Hyperlegible"/>
              </a:rPr>
              <a:t>Reflectores: cómo se concentra la energía en RF</a:t>
            </a:r>
            <a:endParaRPr lang="es-CL" sz="4000" noProof="0" dirty="0">
              <a:latin typeface="Atkinson Hyperlegible"/>
            </a:endParaRPr>
          </a:p>
        </p:txBody>
      </p:sp>
      <p:sp>
        <p:nvSpPr>
          <p:cNvPr id="2" name="CuadroTexto 1">
            <a:extLst>
              <a:ext uri="{FF2B5EF4-FFF2-40B4-BE49-F238E27FC236}">
                <a16:creationId xmlns:a16="http://schemas.microsoft.com/office/drawing/2014/main" id="{B692E041-4170-B749-F070-7EB94F7BB117}"/>
              </a:ext>
            </a:extLst>
          </p:cNvPr>
          <p:cNvSpPr txBox="1"/>
          <p:nvPr/>
        </p:nvSpPr>
        <p:spPr>
          <a:xfrm>
            <a:off x="1382157" y="1606607"/>
            <a:ext cx="18404860" cy="4524315"/>
          </a:xfrm>
          <a:prstGeom prst="rect">
            <a:avLst/>
          </a:prstGeom>
          <a:noFill/>
        </p:spPr>
        <p:txBody>
          <a:bodyPr wrap="square">
            <a:spAutoFit/>
          </a:bodyPr>
          <a:lstStyle/>
          <a:p>
            <a:pPr marL="457200" indent="-457200">
              <a:buFont typeface="Arial" panose="020B0604020202020204" pitchFamily="34" charset="0"/>
              <a:buChar char="•"/>
            </a:pPr>
            <a:r>
              <a:rPr lang="es-ES" sz="3200" dirty="0">
                <a:latin typeface="Atkinson Hyperlegible"/>
              </a:rPr>
              <a:t>Un </a:t>
            </a:r>
            <a:r>
              <a:rPr lang="es-ES" sz="3200" b="1" dirty="0">
                <a:latin typeface="Atkinson Hyperlegible"/>
              </a:rPr>
              <a:t>reflector</a:t>
            </a:r>
            <a:r>
              <a:rPr lang="es-ES" sz="3200" dirty="0">
                <a:latin typeface="Atkinson Hyperlegible"/>
              </a:rPr>
              <a:t> es una superficie que </a:t>
            </a:r>
            <a:r>
              <a:rPr lang="es-ES" sz="3200" b="1" dirty="0">
                <a:latin typeface="Atkinson Hyperlegible"/>
              </a:rPr>
              <a:t>refleja</a:t>
            </a:r>
            <a:r>
              <a:rPr lang="es-ES" sz="3200" dirty="0">
                <a:latin typeface="Atkinson Hyperlegible"/>
              </a:rPr>
              <a:t> ondas electromagnéticas para </a:t>
            </a:r>
            <a:r>
              <a:rPr lang="es-ES" sz="3200" b="1" dirty="0">
                <a:latin typeface="Atkinson Hyperlegible"/>
              </a:rPr>
              <a:t>concentrar</a:t>
            </a:r>
            <a:r>
              <a:rPr lang="es-ES" sz="3200" dirty="0">
                <a:latin typeface="Atkinson Hyperlegible"/>
              </a:rPr>
              <a:t> la radiación.</a:t>
            </a:r>
          </a:p>
          <a:p>
            <a:pPr marL="457200" indent="-457200">
              <a:buFont typeface="Arial" panose="020B0604020202020204" pitchFamily="34" charset="0"/>
              <a:buChar char="•"/>
            </a:pPr>
            <a:r>
              <a:rPr lang="es-ES" sz="3200" dirty="0">
                <a:latin typeface="Atkinson Hyperlegible"/>
              </a:rPr>
              <a:t>Se usa para aumentar la </a:t>
            </a:r>
            <a:r>
              <a:rPr lang="es-ES" sz="3200" b="1" dirty="0">
                <a:latin typeface="Atkinson Hyperlegible"/>
              </a:rPr>
              <a:t>directividad</a:t>
            </a:r>
            <a:r>
              <a:rPr lang="es-ES" sz="3200" dirty="0">
                <a:latin typeface="Atkinson Hyperlegible"/>
              </a:rPr>
              <a:t> y la </a:t>
            </a:r>
            <a:r>
              <a:rPr lang="es-ES" sz="3200" b="1" dirty="0">
                <a:latin typeface="Atkinson Hyperlegible"/>
              </a:rPr>
              <a:t>ganancia</a:t>
            </a:r>
            <a:r>
              <a:rPr lang="es-ES" sz="3200" dirty="0">
                <a:latin typeface="Atkinson Hyperlegible"/>
              </a:rPr>
              <a:t> del sistema antena.</a:t>
            </a:r>
          </a:p>
          <a:p>
            <a:pPr marL="457200" indent="-457200">
              <a:buFont typeface="Arial" panose="020B0604020202020204" pitchFamily="34" charset="0"/>
              <a:buChar char="•"/>
            </a:pPr>
            <a:r>
              <a:rPr lang="es-ES" sz="3200" dirty="0">
                <a:latin typeface="Atkinson Hyperlegible"/>
              </a:rPr>
              <a:t>Ejemplo típico: </a:t>
            </a:r>
            <a:r>
              <a:rPr lang="es-ES" sz="3200" b="1" dirty="0">
                <a:latin typeface="Atkinson Hyperlegible"/>
              </a:rPr>
              <a:t>reflector parabólico</a:t>
            </a:r>
            <a:r>
              <a:rPr lang="es-ES" sz="3200" dirty="0">
                <a:latin typeface="Atkinson Hyperlegible"/>
              </a:rPr>
              <a:t>, que concentra energía hacia un punto (foco) y forma un haz estrecho.</a:t>
            </a:r>
          </a:p>
          <a:p>
            <a:pPr marL="457200" indent="-457200">
              <a:buFont typeface="Arial" panose="020B0604020202020204" pitchFamily="34" charset="0"/>
              <a:buChar char="•"/>
            </a:pPr>
            <a:r>
              <a:rPr lang="es-ES" sz="3200" dirty="0">
                <a:latin typeface="Atkinson Hyperlegible"/>
              </a:rPr>
              <a:t>Aplicación principal: </a:t>
            </a:r>
            <a:r>
              <a:rPr lang="es-ES" sz="3200" b="1" dirty="0">
                <a:latin typeface="Atkinson Hyperlegible"/>
              </a:rPr>
              <a:t>enlaces punto a punto</a:t>
            </a:r>
            <a:r>
              <a:rPr lang="es-ES" sz="3200" dirty="0">
                <a:latin typeface="Atkinson Hyperlegible"/>
              </a:rPr>
              <a:t> y sistemas que requieren haz estrecho (por ejemplo, microondas).</a:t>
            </a:r>
          </a:p>
          <a:p>
            <a:pPr marL="457200" indent="-457200">
              <a:buFont typeface="Arial" panose="020B0604020202020204" pitchFamily="34" charset="0"/>
              <a:buChar char="•"/>
            </a:pPr>
            <a:r>
              <a:rPr lang="es-ES" sz="3200" dirty="0">
                <a:latin typeface="Atkinson Hyperlegible"/>
              </a:rPr>
              <a:t>Ventaja: mejora el nivel útil en el receptor y puede reducir radiación fuera del eje.</a:t>
            </a:r>
          </a:p>
          <a:p>
            <a:pPr marL="457200" indent="-457200">
              <a:buFont typeface="Arial" panose="020B0604020202020204" pitchFamily="34" charset="0"/>
              <a:buChar char="•"/>
            </a:pPr>
            <a:r>
              <a:rPr lang="es-ES" sz="3200" dirty="0">
                <a:latin typeface="Atkinson Hyperlegible"/>
              </a:rPr>
              <a:t>Requisito: requiere </a:t>
            </a:r>
            <a:r>
              <a:rPr lang="es-ES" sz="3200" b="1" dirty="0">
                <a:latin typeface="Atkinson Hyperlegible"/>
              </a:rPr>
              <a:t>alineación/orientación</a:t>
            </a:r>
            <a:r>
              <a:rPr lang="es-ES" sz="3200" dirty="0">
                <a:latin typeface="Atkinson Hyperlegible"/>
              </a:rPr>
              <a:t> del enlace (trayecto planificado).</a:t>
            </a:r>
          </a:p>
          <a:p>
            <a:pPr algn="ctr"/>
            <a:br>
              <a:rPr lang="es-ES" sz="3200" dirty="0">
                <a:latin typeface="Atkinson Hyperlegible"/>
              </a:rPr>
            </a:br>
            <a:r>
              <a:rPr lang="es-ES" sz="3200" b="1" dirty="0">
                <a:effectLst>
                  <a:outerShdw blurRad="38100" dist="38100" dir="2700000" algn="tl">
                    <a:srgbClr val="000000">
                      <a:alpha val="43137"/>
                    </a:srgbClr>
                  </a:outerShdw>
                </a:effectLst>
                <a:latin typeface="Atkinson Hyperlegible"/>
              </a:rPr>
              <a:t>Reflector = mayor concentración (haz estrecho) → mejor enlace punto a punto.</a:t>
            </a:r>
            <a:endParaRPr lang="es-ES" sz="3200" dirty="0">
              <a:effectLst>
                <a:outerShdw blurRad="38100" dist="38100" dir="2700000" algn="tl">
                  <a:srgbClr val="000000">
                    <a:alpha val="43137"/>
                  </a:srgbClr>
                </a:outerShdw>
              </a:effectLst>
              <a:latin typeface="Atkinson Hyperlegible"/>
            </a:endParaRPr>
          </a:p>
        </p:txBody>
      </p:sp>
      <p:pic>
        <p:nvPicPr>
          <p:cNvPr id="22532" name="Picture 4" descr="¿Cómo funciona el plato parabólico?">
            <a:extLst>
              <a:ext uri="{FF2B5EF4-FFF2-40B4-BE49-F238E27FC236}">
                <a16:creationId xmlns:a16="http://schemas.microsoft.com/office/drawing/2014/main" id="{2C002AA0-1302-9FE8-70C1-BCBA4647D0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44514" y="6130921"/>
            <a:ext cx="5034483" cy="41170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2534" name="Picture 6" descr="antena parabólica en modo recepción">
            <a:extLst>
              <a:ext uri="{FF2B5EF4-FFF2-40B4-BE49-F238E27FC236}">
                <a16:creationId xmlns:a16="http://schemas.microsoft.com/office/drawing/2014/main" id="{A17EA4C6-57B3-EA46-8B5E-EBA9A71162F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7081" y="6130922"/>
            <a:ext cx="3799763" cy="41170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2536" name="Picture 8" descr="Artículo de Friis/Índice/Área efectiva de diferentes antenas. - Wikilibros">
            <a:extLst>
              <a:ext uri="{FF2B5EF4-FFF2-40B4-BE49-F238E27FC236}">
                <a16:creationId xmlns:a16="http://schemas.microsoft.com/office/drawing/2014/main" id="{92E2C9E8-C14F-2068-481C-45AE5F7105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75897" y="6130922"/>
            <a:ext cx="4895081" cy="41170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2538" name="Picture 10" descr="Antenas Parabolicas (Información)">
            <a:extLst>
              <a:ext uri="{FF2B5EF4-FFF2-40B4-BE49-F238E27FC236}">
                <a16:creationId xmlns:a16="http://schemas.microsoft.com/office/drawing/2014/main" id="{ED136CF1-8181-51A5-B73D-0FF69E6D718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964462" y="6469954"/>
            <a:ext cx="4437089" cy="226093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41032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E02B9-EA61-B724-86FF-88F84748DCF5}"/>
            </a:ext>
          </a:extLst>
        </p:cNvPr>
        <p:cNvGrpSpPr/>
        <p:nvPr/>
      </p:nvGrpSpPr>
      <p:grpSpPr>
        <a:xfrm>
          <a:off x="0" y="0"/>
          <a:ext cx="0" cy="0"/>
          <a:chOff x="0" y="0"/>
          <a:chExt cx="0" cy="0"/>
        </a:xfrm>
      </p:grpSpPr>
      <p:sp>
        <p:nvSpPr>
          <p:cNvPr id="2" name="1 Título">
            <a:extLst>
              <a:ext uri="{FF2B5EF4-FFF2-40B4-BE49-F238E27FC236}">
                <a16:creationId xmlns:a16="http://schemas.microsoft.com/office/drawing/2014/main" id="{0FCF618F-7E6E-94DB-387A-84F2016E3B29}"/>
              </a:ext>
            </a:extLst>
          </p:cNvPr>
          <p:cNvSpPr>
            <a:spLocks noGrp="1"/>
          </p:cNvSpPr>
          <p:nvPr>
            <p:ph type="title"/>
          </p:nvPr>
        </p:nvSpPr>
        <p:spPr/>
        <p:txBody>
          <a:bodyPr/>
          <a:lstStyle/>
          <a:p>
            <a:endParaRPr lang="es-CL" noProof="0" dirty="0"/>
          </a:p>
        </p:txBody>
      </p:sp>
      <p:pic>
        <p:nvPicPr>
          <p:cNvPr id="2050" name="Picture 2" descr="C:\Users\FHidalgoP\Downloads\Diapositiva1_portada3 (1).jpg">
            <a:extLst>
              <a:ext uri="{FF2B5EF4-FFF2-40B4-BE49-F238E27FC236}">
                <a16:creationId xmlns:a16="http://schemas.microsoft.com/office/drawing/2014/main" id="{A7C27BC0-C5F5-677A-C0FD-C80D0C2963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74162"/>
            <a:ext cx="20112192" cy="11309350"/>
          </a:xfrm>
          <a:prstGeom prst="rect">
            <a:avLst/>
          </a:prstGeom>
          <a:noFill/>
          <a:extLst>
            <a:ext uri="{909E8E84-426E-40DD-AFC4-6F175D3DCCD1}">
              <a14:hiddenFill xmlns:a14="http://schemas.microsoft.com/office/drawing/2010/main">
                <a:solidFill>
                  <a:srgbClr val="FFFFFF"/>
                </a:solidFill>
              </a14:hiddenFill>
            </a:ext>
          </a:extLst>
        </p:spPr>
      </p:pic>
      <p:sp>
        <p:nvSpPr>
          <p:cNvPr id="5" name="object 3">
            <a:extLst>
              <a:ext uri="{FF2B5EF4-FFF2-40B4-BE49-F238E27FC236}">
                <a16:creationId xmlns:a16="http://schemas.microsoft.com/office/drawing/2014/main" id="{173BAEAB-F5DF-6E9F-E933-68060E9B7E0F}"/>
              </a:ext>
            </a:extLst>
          </p:cNvPr>
          <p:cNvSpPr txBox="1"/>
          <p:nvPr/>
        </p:nvSpPr>
        <p:spPr>
          <a:xfrm>
            <a:off x="831850" y="8161793"/>
            <a:ext cx="18564837" cy="2223813"/>
          </a:xfrm>
          <a:prstGeom prst="rect">
            <a:avLst/>
          </a:prstGeom>
          <a:noFill/>
          <a:effectLst>
            <a:outerShdw blurRad="50800" dist="38100" dir="5400000" algn="t" rotWithShape="0">
              <a:prstClr val="black">
                <a:alpha val="40000"/>
              </a:prstClr>
            </a:outerShdw>
          </a:effectLst>
        </p:spPr>
        <p:txBody>
          <a:bodyPr vert="horz" wrap="square" lIns="0" tIns="349884" rIns="0" bIns="0" rtlCol="0">
            <a:spAutoFit/>
          </a:bodyPr>
          <a:lstStyle/>
          <a:p>
            <a:pPr>
              <a:lnSpc>
                <a:spcPct val="150000"/>
              </a:lnSpc>
            </a:pPr>
            <a:r>
              <a:rPr lang="es-CL" sz="6000" b="1" kern="100" noProof="0" dirty="0">
                <a:solidFill>
                  <a:schemeClr val="bg1"/>
                </a:solidFill>
                <a:highlight>
                  <a:srgbClr val="000000"/>
                </a:highlight>
                <a:latin typeface="Arial" panose="020B0604020202020204" pitchFamily="34" charset="0"/>
                <a:ea typeface="Roboto" panose="02000000000000000000" pitchFamily="2" charset="0"/>
                <a:cs typeface="Arial" panose="020B0604020202020204" pitchFamily="34" charset="0"/>
              </a:rPr>
              <a:t>SISTEMAS DE TRANSMISIÓN</a:t>
            </a:r>
          </a:p>
          <a:p>
            <a:pPr>
              <a:lnSpc>
                <a:spcPct val="150000"/>
              </a:lnSpc>
            </a:pPr>
            <a:r>
              <a:rPr lang="es-CL" sz="2400" b="1" kern="100" noProof="0" dirty="0">
                <a:solidFill>
                  <a:schemeClr val="bg1"/>
                </a:solidFill>
                <a:latin typeface="Arial" panose="020B0604020202020204" pitchFamily="34" charset="0"/>
                <a:ea typeface="Roboto" panose="02000000000000000000" pitchFamily="2" charset="0"/>
                <a:cs typeface="Arial" panose="020B0604020202020204" pitchFamily="34" charset="0"/>
              </a:rPr>
              <a:t>CAP. JACOB BARQUI PÉREZ</a:t>
            </a:r>
          </a:p>
        </p:txBody>
      </p:sp>
      <p:sp>
        <p:nvSpPr>
          <p:cNvPr id="6" name="CuadroTexto 1">
            <a:extLst>
              <a:ext uri="{FF2B5EF4-FFF2-40B4-BE49-F238E27FC236}">
                <a16:creationId xmlns:a16="http://schemas.microsoft.com/office/drawing/2014/main" id="{2BD7AF8A-199B-B386-2989-3AFBFF724404}"/>
              </a:ext>
            </a:extLst>
          </p:cNvPr>
          <p:cNvSpPr txBox="1"/>
          <p:nvPr/>
        </p:nvSpPr>
        <p:spPr>
          <a:xfrm>
            <a:off x="17637126" y="1937258"/>
            <a:ext cx="2051049" cy="400110"/>
          </a:xfrm>
          <a:prstGeom prst="rect">
            <a:avLst/>
          </a:prstGeom>
          <a:noFill/>
        </p:spPr>
        <p:txBody>
          <a:bodyPr wrap="square" rtlCol="0">
            <a:spAutoFit/>
          </a:bodyPr>
          <a:lstStyle/>
          <a:p>
            <a:pPr algn="ctr"/>
            <a:r>
              <a:rPr lang="es-CL" sz="2000" noProof="0" dirty="0">
                <a:solidFill>
                  <a:schemeClr val="bg1"/>
                </a:solidFill>
                <a:latin typeface="Arial" panose="020B0604020202020204" pitchFamily="34" charset="0"/>
                <a:ea typeface="Roboto" panose="02000000000000000000" pitchFamily="2" charset="0"/>
                <a:cs typeface="Arial" panose="020B0604020202020204" pitchFamily="34" charset="0"/>
              </a:rPr>
              <a:t> </a:t>
            </a:r>
            <a:r>
              <a:rPr lang="es-CL" sz="2000" b="1" noProof="0" dirty="0">
                <a:solidFill>
                  <a:schemeClr val="bg1"/>
                </a:solidFill>
                <a:highlight>
                  <a:srgbClr val="000000"/>
                </a:highlight>
                <a:latin typeface="Arial" panose="020B0604020202020204" pitchFamily="34" charset="0"/>
                <a:ea typeface="Roboto" panose="02000000000000000000" pitchFamily="2" charset="0"/>
                <a:cs typeface="Arial" panose="020B0604020202020204" pitchFamily="34" charset="0"/>
              </a:rPr>
              <a:t>MAR, 2026</a:t>
            </a:r>
          </a:p>
        </p:txBody>
      </p:sp>
      <p:pic>
        <p:nvPicPr>
          <p:cNvPr id="7" name="Imagen 4">
            <a:extLst>
              <a:ext uri="{FF2B5EF4-FFF2-40B4-BE49-F238E27FC236}">
                <a16:creationId xmlns:a16="http://schemas.microsoft.com/office/drawing/2014/main" id="{DC807EC9-9D52-7C43-CC8D-85FA067549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28615" y="168276"/>
            <a:ext cx="1468072" cy="1600200"/>
          </a:xfrm>
          <a:prstGeom prst="rect">
            <a:avLst/>
          </a:prstGeom>
        </p:spPr>
      </p:pic>
      <p:pic>
        <p:nvPicPr>
          <p:cNvPr id="13" name="Imagen 12" descr="Logotipo&#10;&#10;El contenido generado por IA puede ser incorrecto.">
            <a:extLst>
              <a:ext uri="{FF2B5EF4-FFF2-40B4-BE49-F238E27FC236}">
                <a16:creationId xmlns:a16="http://schemas.microsoft.com/office/drawing/2014/main" id="{B24191BE-31B1-4B8B-8F0D-9EE4E03EDE3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40000"/>
                    </a14:imgEffect>
                  </a14:imgLayer>
                </a14:imgProps>
              </a:ext>
            </a:extLst>
          </a:blip>
          <a:stretch>
            <a:fillRect/>
          </a:stretch>
        </p:blipFill>
        <p:spPr>
          <a:xfrm>
            <a:off x="15657" y="-366510"/>
            <a:ext cx="1632386" cy="1937258"/>
          </a:xfrm>
          <a:prstGeom prst="rect">
            <a:avLst/>
          </a:prstGeom>
        </p:spPr>
      </p:pic>
    </p:spTree>
    <p:extLst>
      <p:ext uri="{BB962C8B-B14F-4D97-AF65-F5344CB8AC3E}">
        <p14:creationId xmlns:p14="http://schemas.microsoft.com/office/powerpoint/2010/main" val="104567246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1678</TotalTime>
  <Words>6104</Words>
  <Application>Microsoft Office PowerPoint</Application>
  <PresentationFormat>Personalizado</PresentationFormat>
  <Paragraphs>535</Paragraphs>
  <Slides>52</Slides>
  <Notes>44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52</vt:i4>
      </vt:variant>
    </vt:vector>
  </HeadingPairs>
  <TitlesOfParts>
    <vt:vector size="57" baseType="lpstr">
      <vt:lpstr>Arial</vt:lpstr>
      <vt:lpstr>Atkinson Hyperlegible</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afgd3l2</cp:lastModifiedBy>
  <cp:revision>273</cp:revision>
  <dcterms:modified xsi:type="dcterms:W3CDTF">2026-03-17T06:46:50Z</dcterms:modified>
</cp:coreProperties>
</file>