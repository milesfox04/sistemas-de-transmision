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1718" r:id="rId2"/>
    <p:sldId id="257" r:id="rId3"/>
    <p:sldId id="1708" r:id="rId4"/>
    <p:sldId id="1725" r:id="rId5"/>
    <p:sldId id="1720" r:id="rId6"/>
    <p:sldId id="1721" r:id="rId7"/>
    <p:sldId id="1835" r:id="rId8"/>
    <p:sldId id="1870" r:id="rId9"/>
    <p:sldId id="1836" r:id="rId10"/>
    <p:sldId id="1871" r:id="rId11"/>
    <p:sldId id="1872" r:id="rId12"/>
    <p:sldId id="1873" r:id="rId13"/>
    <p:sldId id="1875" r:id="rId14"/>
    <p:sldId id="1839" r:id="rId15"/>
    <p:sldId id="1876" r:id="rId16"/>
    <p:sldId id="1877" r:id="rId17"/>
    <p:sldId id="1878" r:id="rId18"/>
    <p:sldId id="1879" r:id="rId19"/>
    <p:sldId id="1880" r:id="rId20"/>
    <p:sldId id="1881" r:id="rId21"/>
    <p:sldId id="1882" r:id="rId22"/>
    <p:sldId id="1883" r:id="rId23"/>
    <p:sldId id="1884" r:id="rId24"/>
    <p:sldId id="1885" r:id="rId25"/>
    <p:sldId id="1886" r:id="rId26"/>
    <p:sldId id="1887" r:id="rId27"/>
    <p:sldId id="1888" r:id="rId28"/>
    <p:sldId id="1889" r:id="rId29"/>
    <p:sldId id="1890" r:id="rId30"/>
    <p:sldId id="1729" r:id="rId31"/>
  </p:sldIdLst>
  <p:sldSz cx="20104100" cy="11309350"/>
  <p:notesSz cx="9296400" cy="7010400"/>
  <p:defaultTextStyle>
    <a:defPPr lvl="0">
      <a:defRPr lang="es-CL"/>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897051-24AE-98AE-7D1D-12996A0AA340}" name="afgd3l2" initials="a" userId="S::afgd3l2@verykvm.com::a234dbd5-222b-47e7-a1d4-2c032f33b7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73" autoAdjust="0"/>
  </p:normalViewPr>
  <p:slideViewPr>
    <p:cSldViewPr snapToGrid="0">
      <p:cViewPr varScale="1">
        <p:scale>
          <a:sx n="64" d="100"/>
          <a:sy n="64" d="100"/>
        </p:scale>
        <p:origin x="774" y="102"/>
      </p:cViewPr>
      <p:guideLst>
        <p:guide orient="horz" pos="2880"/>
        <p:guide pos="2160"/>
      </p:guideLst>
    </p:cSldViewPr>
  </p:slideViewPr>
  <p:outlineViewPr>
    <p:cViewPr>
      <p:scale>
        <a:sx n="33" d="100"/>
        <a:sy n="33" d="100"/>
      </p:scale>
      <p:origin x="0" y="-21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028636" cy="351308"/>
          </a:xfrm>
          <a:prstGeom prst="rect">
            <a:avLst/>
          </a:prstGeom>
        </p:spPr>
        <p:txBody>
          <a:bodyPr vert="horz" lIns="47092" tIns="23546" rIns="47092" bIns="23546" rtlCol="0"/>
          <a:lstStyle>
            <a:lvl1pPr algn="l">
              <a:defRPr sz="600"/>
            </a:lvl1pPr>
          </a:lstStyle>
          <a:p>
            <a:endParaRPr lang="es-CL"/>
          </a:p>
        </p:txBody>
      </p:sp>
      <p:sp>
        <p:nvSpPr>
          <p:cNvPr id="3" name="Marcador de fecha 2"/>
          <p:cNvSpPr>
            <a:spLocks noGrp="1"/>
          </p:cNvSpPr>
          <p:nvPr>
            <p:ph type="dt" idx="1"/>
          </p:nvPr>
        </p:nvSpPr>
        <p:spPr>
          <a:xfrm>
            <a:off x="5265562" y="0"/>
            <a:ext cx="4028636" cy="351308"/>
          </a:xfrm>
          <a:prstGeom prst="rect">
            <a:avLst/>
          </a:prstGeom>
        </p:spPr>
        <p:txBody>
          <a:bodyPr vert="horz" lIns="47092" tIns="23546" rIns="47092" bIns="23546" rtlCol="0"/>
          <a:lstStyle>
            <a:lvl1pPr algn="r">
              <a:defRPr sz="600"/>
            </a:lvl1pPr>
          </a:lstStyle>
          <a:p>
            <a:fld id="{BA6E888F-4D11-6642-A67A-175E177747A6}" type="datetimeFigureOut">
              <a:rPr lang="es-CL" smtClean="0"/>
              <a:t>04-05-2026</a:t>
            </a:fld>
            <a:endParaRPr lang="es-CL"/>
          </a:p>
        </p:txBody>
      </p:sp>
      <p:sp>
        <p:nvSpPr>
          <p:cNvPr id="4" name="Marcador de imagen de diapositiva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47092" tIns="23546" rIns="47092" bIns="23546" rtlCol="0" anchor="ctr"/>
          <a:lstStyle/>
          <a:p>
            <a:endParaRPr lang="es-CL"/>
          </a:p>
        </p:txBody>
      </p:sp>
      <p:sp>
        <p:nvSpPr>
          <p:cNvPr id="5" name="Marcador de notas 4"/>
          <p:cNvSpPr>
            <a:spLocks noGrp="1"/>
          </p:cNvSpPr>
          <p:nvPr>
            <p:ph type="body" sz="quarter" idx="3"/>
          </p:nvPr>
        </p:nvSpPr>
        <p:spPr>
          <a:xfrm>
            <a:off x="929348" y="3373337"/>
            <a:ext cx="7437707" cy="2761255"/>
          </a:xfrm>
          <a:prstGeom prst="rect">
            <a:avLst/>
          </a:prstGeom>
        </p:spPr>
        <p:txBody>
          <a:bodyPr vert="horz" lIns="47092" tIns="23546" rIns="47092" bIns="23546"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6659094"/>
            <a:ext cx="4028636" cy="351307"/>
          </a:xfrm>
          <a:prstGeom prst="rect">
            <a:avLst/>
          </a:prstGeom>
        </p:spPr>
        <p:txBody>
          <a:bodyPr vert="horz" lIns="47092" tIns="23546" rIns="47092" bIns="23546" rtlCol="0" anchor="b"/>
          <a:lstStyle>
            <a:lvl1pPr algn="l">
              <a:defRPr sz="600"/>
            </a:lvl1pPr>
          </a:lstStyle>
          <a:p>
            <a:endParaRPr lang="es-CL"/>
          </a:p>
        </p:txBody>
      </p:sp>
      <p:sp>
        <p:nvSpPr>
          <p:cNvPr id="7" name="Marcador de número de diapositiva 6"/>
          <p:cNvSpPr>
            <a:spLocks noGrp="1"/>
          </p:cNvSpPr>
          <p:nvPr>
            <p:ph type="sldNum" sz="quarter" idx="5"/>
          </p:nvPr>
        </p:nvSpPr>
        <p:spPr>
          <a:xfrm>
            <a:off x="5265562" y="6659094"/>
            <a:ext cx="4028636" cy="351307"/>
          </a:xfrm>
          <a:prstGeom prst="rect">
            <a:avLst/>
          </a:prstGeom>
        </p:spPr>
        <p:txBody>
          <a:bodyPr vert="horz" lIns="47092" tIns="23546" rIns="47092" bIns="23546" rtlCol="0" anchor="b"/>
          <a:lstStyle>
            <a:lvl1pPr algn="r">
              <a:defRPr sz="600"/>
            </a:lvl1pPr>
          </a:lstStyle>
          <a:p>
            <a:fld id="{235CC6FD-75C5-034E-BC56-691A10C41604}" type="slidenum">
              <a:rPr lang="es-CL" smtClean="0"/>
              <a:t>‹Nº›</a:t>
            </a:fld>
            <a:endParaRPr lang="es-CL"/>
          </a:p>
        </p:txBody>
      </p:sp>
    </p:spTree>
    <p:extLst>
      <p:ext uri="{BB962C8B-B14F-4D97-AF65-F5344CB8AC3E}">
        <p14:creationId xmlns:p14="http://schemas.microsoft.com/office/powerpoint/2010/main" val="191082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35CC6FD-75C5-034E-BC56-691A10C41604}" type="slidenum">
              <a:rPr lang="es-CL" smtClean="0"/>
              <a:t>2</a:t>
            </a:fld>
            <a:endParaRPr lang="es-CL"/>
          </a:p>
        </p:txBody>
      </p:sp>
    </p:spTree>
    <p:extLst>
      <p:ext uri="{BB962C8B-B14F-4D97-AF65-F5344CB8AC3E}">
        <p14:creationId xmlns:p14="http://schemas.microsoft.com/office/powerpoint/2010/main" val="995652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CAE55-6725-0F9F-041C-9E7AF61086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8D27E9-5538-9CCB-17D6-6EE7CEDD43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F886C8-6933-4EA1-B401-2BA273EF1E5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9D2DC42-0F5E-1B4B-A753-922B965AC979}"/>
              </a:ext>
            </a:extLst>
          </p:cNvPr>
          <p:cNvSpPr>
            <a:spLocks noGrp="1"/>
          </p:cNvSpPr>
          <p:nvPr>
            <p:ph type="sldNum" sz="quarter" idx="5"/>
          </p:nvPr>
        </p:nvSpPr>
        <p:spPr/>
        <p:txBody>
          <a:bodyPr/>
          <a:lstStyle/>
          <a:p>
            <a:fld id="{235CC6FD-75C5-034E-BC56-691A10C41604}" type="slidenum">
              <a:rPr lang="es-CL" smtClean="0"/>
              <a:t>7</a:t>
            </a:fld>
            <a:endParaRPr lang="es-CL"/>
          </a:p>
        </p:txBody>
      </p:sp>
    </p:spTree>
    <p:extLst>
      <p:ext uri="{BB962C8B-B14F-4D97-AF65-F5344CB8AC3E}">
        <p14:creationId xmlns:p14="http://schemas.microsoft.com/office/powerpoint/2010/main" val="3523448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A0E7D-D9A6-ED46-9DE9-67FD8709AB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C90F61-E225-FDFA-FCF7-9D426DBA53E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A3A7FE-B0DD-0E4C-2196-C90985985E6D}"/>
              </a:ext>
            </a:extLst>
          </p:cNvPr>
          <p:cNvSpPr>
            <a:spLocks noGrp="1"/>
          </p:cNvSpPr>
          <p:nvPr>
            <p:ph type="body" idx="1"/>
          </p:nvPr>
        </p:nvSpPr>
        <p:spPr/>
        <p:txBody>
          <a:bodyPr/>
          <a:lstStyle/>
          <a:p>
            <a:r>
              <a:rPr lang="es-ES" dirty="0"/>
              <a:t>Estas arquitecturas pueden verse como formas de organizar nodos y enlaces. Punto a punto es simple; estrella centraliza; árbol escala por niveles; anillo mejora continuidad; y malla entrega mayor resiliencia. En redes ópticas de transporte, estas arquitecturas se relacionan con </a:t>
            </a:r>
            <a:r>
              <a:rPr lang="es-ES" dirty="0" err="1"/>
              <a:t>OTN</a:t>
            </a:r>
            <a:r>
              <a:rPr lang="es-ES" dirty="0"/>
              <a:t>, donde </a:t>
            </a:r>
            <a:r>
              <a:rPr lang="es-ES" dirty="0" err="1"/>
              <a:t>G.872</a:t>
            </a:r>
            <a:r>
              <a:rPr lang="es-ES" dirty="0"/>
              <a:t> define la arquitectura y </a:t>
            </a:r>
            <a:r>
              <a:rPr lang="es-ES" dirty="0" err="1"/>
              <a:t>G.709</a:t>
            </a:r>
            <a:r>
              <a:rPr lang="es-ES" dirty="0"/>
              <a:t> las interfaces.</a:t>
            </a:r>
            <a:endParaRPr lang="es-CL" dirty="0"/>
          </a:p>
        </p:txBody>
      </p:sp>
      <p:sp>
        <p:nvSpPr>
          <p:cNvPr id="4" name="Marcador de número de diapositiva 3">
            <a:extLst>
              <a:ext uri="{FF2B5EF4-FFF2-40B4-BE49-F238E27FC236}">
                <a16:creationId xmlns:a16="http://schemas.microsoft.com/office/drawing/2014/main" id="{D194513A-35CA-0856-A3D9-0B5910CD91F3}"/>
              </a:ext>
            </a:extLst>
          </p:cNvPr>
          <p:cNvSpPr>
            <a:spLocks noGrp="1"/>
          </p:cNvSpPr>
          <p:nvPr>
            <p:ph type="sldNum" sz="quarter" idx="5"/>
          </p:nvPr>
        </p:nvSpPr>
        <p:spPr/>
        <p:txBody>
          <a:bodyPr/>
          <a:lstStyle/>
          <a:p>
            <a:fld id="{235CC6FD-75C5-034E-BC56-691A10C41604}" type="slidenum">
              <a:rPr lang="es-CL" smtClean="0"/>
              <a:t>8</a:t>
            </a:fld>
            <a:endParaRPr lang="es-CL"/>
          </a:p>
        </p:txBody>
      </p:sp>
    </p:spTree>
    <p:extLst>
      <p:ext uri="{BB962C8B-B14F-4D97-AF65-F5344CB8AC3E}">
        <p14:creationId xmlns:p14="http://schemas.microsoft.com/office/powerpoint/2010/main" val="377354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26BA-96D8-8FDD-98C2-69EA212BBE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A67FE3-1E3E-2CB6-BA42-FC5C84BE5F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E971A3-7439-59D2-81E5-3A405E486908}"/>
              </a:ext>
            </a:extLst>
          </p:cNvPr>
          <p:cNvSpPr>
            <a:spLocks noGrp="1"/>
          </p:cNvSpPr>
          <p:nvPr>
            <p:ph type="body" idx="1"/>
          </p:nvPr>
        </p:nvSpPr>
        <p:spPr/>
        <p:txBody>
          <a:bodyPr/>
          <a:lstStyle/>
          <a:p>
            <a:r>
              <a:rPr lang="es-ES" dirty="0"/>
              <a:t>En redes ópticas, debemos distinguir el enlace del nodo. El enlace es el tramo que transporta la señal óptica; el nodo es el punto donde podemos terminar, agregar, conmutar, regenerar o proteger tráfico. Esta diferencia será importante cuando veamos ruteo, WDM y protección</a:t>
            </a:r>
            <a:endParaRPr lang="es-CL" dirty="0"/>
          </a:p>
        </p:txBody>
      </p:sp>
      <p:sp>
        <p:nvSpPr>
          <p:cNvPr id="4" name="Marcador de número de diapositiva 3">
            <a:extLst>
              <a:ext uri="{FF2B5EF4-FFF2-40B4-BE49-F238E27FC236}">
                <a16:creationId xmlns:a16="http://schemas.microsoft.com/office/drawing/2014/main" id="{B96EC278-9EA1-6F41-6821-73161C691461}"/>
              </a:ext>
            </a:extLst>
          </p:cNvPr>
          <p:cNvSpPr>
            <a:spLocks noGrp="1"/>
          </p:cNvSpPr>
          <p:nvPr>
            <p:ph type="sldNum" sz="quarter" idx="5"/>
          </p:nvPr>
        </p:nvSpPr>
        <p:spPr/>
        <p:txBody>
          <a:bodyPr/>
          <a:lstStyle/>
          <a:p>
            <a:fld id="{235CC6FD-75C5-034E-BC56-691A10C41604}" type="slidenum">
              <a:rPr lang="es-CL" smtClean="0"/>
              <a:t>9</a:t>
            </a:fld>
            <a:endParaRPr lang="es-CL"/>
          </a:p>
        </p:txBody>
      </p:sp>
    </p:spTree>
    <p:extLst>
      <p:ext uri="{BB962C8B-B14F-4D97-AF65-F5344CB8AC3E}">
        <p14:creationId xmlns:p14="http://schemas.microsoft.com/office/powerpoint/2010/main" val="196855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70AA-870F-A241-7482-902014D455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6C4118-4281-0BC7-F626-43DADCBB15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5AC95E8-35E3-289D-C39E-6955F501D1CE}"/>
              </a:ext>
            </a:extLst>
          </p:cNvPr>
          <p:cNvSpPr>
            <a:spLocks noGrp="1"/>
          </p:cNvSpPr>
          <p:nvPr>
            <p:ph type="body" idx="1"/>
          </p:nvPr>
        </p:nvSpPr>
        <p:spPr/>
        <p:txBody>
          <a:bodyPr/>
          <a:lstStyle/>
          <a:p>
            <a:r>
              <a:rPr lang="es-ES" dirty="0"/>
              <a:t>En redes ópticas, debemos distinguir el enlace del nodo. El enlace es el tramo que transporta la señal óptica; el nodo es el punto donde podemos terminar, agregar, conmutar, regenerar o proteger tráfico. Esta diferencia será importante cuando veamos ruteo, WDM y protección</a:t>
            </a:r>
            <a:endParaRPr lang="es-CL" dirty="0"/>
          </a:p>
        </p:txBody>
      </p:sp>
      <p:sp>
        <p:nvSpPr>
          <p:cNvPr id="4" name="Marcador de número de diapositiva 3">
            <a:extLst>
              <a:ext uri="{FF2B5EF4-FFF2-40B4-BE49-F238E27FC236}">
                <a16:creationId xmlns:a16="http://schemas.microsoft.com/office/drawing/2014/main" id="{5A0A1476-9620-C01C-4596-22BF362CE820}"/>
              </a:ext>
            </a:extLst>
          </p:cNvPr>
          <p:cNvSpPr>
            <a:spLocks noGrp="1"/>
          </p:cNvSpPr>
          <p:nvPr>
            <p:ph type="sldNum" sz="quarter" idx="5"/>
          </p:nvPr>
        </p:nvSpPr>
        <p:spPr/>
        <p:txBody>
          <a:bodyPr/>
          <a:lstStyle/>
          <a:p>
            <a:fld id="{235CC6FD-75C5-034E-BC56-691A10C41604}" type="slidenum">
              <a:rPr lang="es-CL" smtClean="0"/>
              <a:t>10</a:t>
            </a:fld>
            <a:endParaRPr lang="es-CL"/>
          </a:p>
        </p:txBody>
      </p:sp>
    </p:spTree>
    <p:extLst>
      <p:ext uri="{BB962C8B-B14F-4D97-AF65-F5344CB8AC3E}">
        <p14:creationId xmlns:p14="http://schemas.microsoft.com/office/powerpoint/2010/main" val="3993920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58D2-E462-856F-4DFE-2C89F4633B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D8EBB7-AB5C-05F2-98BE-146730F56E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1DA2EB-ADCF-9CF2-2834-CFC66F7C808F}"/>
              </a:ext>
            </a:extLst>
          </p:cNvPr>
          <p:cNvSpPr>
            <a:spLocks noGrp="1"/>
          </p:cNvSpPr>
          <p:nvPr>
            <p:ph type="body" idx="1"/>
          </p:nvPr>
        </p:nvSpPr>
        <p:spPr/>
        <p:txBody>
          <a:bodyPr/>
          <a:lstStyle/>
          <a:p>
            <a:r>
              <a:rPr lang="es-ES" dirty="0" err="1"/>
              <a:t>OTN</a:t>
            </a:r>
            <a:r>
              <a:rPr lang="es-ES" dirty="0"/>
              <a:t> es la capa que permite transportar servicios sobre una red óptica de manera ordenada, gestionable y </a:t>
            </a:r>
            <a:r>
              <a:rPr lang="es-ES" dirty="0" err="1"/>
              <a:t>supervisable</a:t>
            </a:r>
            <a:r>
              <a:rPr lang="es-ES" dirty="0"/>
              <a:t>. En términos simples, no basta con tener fibra física: necesitamos una estructura que encapsule servicios, controle calidad, permita monitoreo y entregue mecanismos de protección. Esa estructura es </a:t>
            </a:r>
            <a:r>
              <a:rPr lang="es-ES" dirty="0" err="1"/>
              <a:t>OTN</a:t>
            </a:r>
            <a:endParaRPr lang="es-CL" dirty="0"/>
          </a:p>
        </p:txBody>
      </p:sp>
      <p:sp>
        <p:nvSpPr>
          <p:cNvPr id="4" name="Marcador de número de diapositiva 3">
            <a:extLst>
              <a:ext uri="{FF2B5EF4-FFF2-40B4-BE49-F238E27FC236}">
                <a16:creationId xmlns:a16="http://schemas.microsoft.com/office/drawing/2014/main" id="{9F265159-096B-7291-08DC-ADEA1A95863C}"/>
              </a:ext>
            </a:extLst>
          </p:cNvPr>
          <p:cNvSpPr>
            <a:spLocks noGrp="1"/>
          </p:cNvSpPr>
          <p:nvPr>
            <p:ph type="sldNum" sz="quarter" idx="5"/>
          </p:nvPr>
        </p:nvSpPr>
        <p:spPr/>
        <p:txBody>
          <a:bodyPr/>
          <a:lstStyle/>
          <a:p>
            <a:fld id="{235CC6FD-75C5-034E-BC56-691A10C41604}" type="slidenum">
              <a:rPr lang="es-CL" smtClean="0"/>
              <a:t>11</a:t>
            </a:fld>
            <a:endParaRPr lang="es-CL"/>
          </a:p>
        </p:txBody>
      </p:sp>
    </p:spTree>
    <p:extLst>
      <p:ext uri="{BB962C8B-B14F-4D97-AF65-F5344CB8AC3E}">
        <p14:creationId xmlns:p14="http://schemas.microsoft.com/office/powerpoint/2010/main" val="4290062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B5AC-5A93-3490-3BF0-9E8892329C9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C9CB28-5EE4-500E-B77F-AA4F204CF4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9C889F-41CA-F49E-B98A-83E8F92B4D21}"/>
              </a:ext>
            </a:extLst>
          </p:cNvPr>
          <p:cNvSpPr>
            <a:spLocks noGrp="1"/>
          </p:cNvSpPr>
          <p:nvPr>
            <p:ph type="body" idx="1"/>
          </p:nvPr>
        </p:nvSpPr>
        <p:spPr/>
        <p:txBody>
          <a:bodyPr/>
          <a:lstStyle/>
          <a:p>
            <a:r>
              <a:rPr lang="es-ES" dirty="0"/>
              <a:t>Los conectores ópticos son críticos. Aunque </a:t>
            </a:r>
            <a:r>
              <a:rPr lang="es-ES" dirty="0" err="1"/>
              <a:t>LC</a:t>
            </a:r>
            <a:r>
              <a:rPr lang="es-ES" dirty="0"/>
              <a:t> o SC describen la forma física del conector, no indican por sí solos si la fibra es monomodo o multimodo. Además, el tipo de pulido importa: UPC y APC no deben mezclarse. En redes ópticas, una mala limpieza o una incompatibilidad puede generar pérdidas suficientes para dejar el enlace fuera de presupuesto</a:t>
            </a:r>
            <a:endParaRPr lang="es-CL" dirty="0"/>
          </a:p>
        </p:txBody>
      </p:sp>
      <p:sp>
        <p:nvSpPr>
          <p:cNvPr id="4" name="Marcador de número de diapositiva 3">
            <a:extLst>
              <a:ext uri="{FF2B5EF4-FFF2-40B4-BE49-F238E27FC236}">
                <a16:creationId xmlns:a16="http://schemas.microsoft.com/office/drawing/2014/main" id="{D784342E-1E54-D814-8A76-A5E7A0CA7756}"/>
              </a:ext>
            </a:extLst>
          </p:cNvPr>
          <p:cNvSpPr>
            <a:spLocks noGrp="1"/>
          </p:cNvSpPr>
          <p:nvPr>
            <p:ph type="sldNum" sz="quarter" idx="5"/>
          </p:nvPr>
        </p:nvSpPr>
        <p:spPr/>
        <p:txBody>
          <a:bodyPr/>
          <a:lstStyle/>
          <a:p>
            <a:fld id="{235CC6FD-75C5-034E-BC56-691A10C41604}" type="slidenum">
              <a:rPr lang="es-CL" smtClean="0"/>
              <a:t>12</a:t>
            </a:fld>
            <a:endParaRPr lang="es-CL"/>
          </a:p>
        </p:txBody>
      </p:sp>
    </p:spTree>
    <p:extLst>
      <p:ext uri="{BB962C8B-B14F-4D97-AF65-F5344CB8AC3E}">
        <p14:creationId xmlns:p14="http://schemas.microsoft.com/office/powerpoint/2010/main" val="2220831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C25B2-D93B-58CA-1929-2492BC5F47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B6CB5F-506E-7BF1-228C-B1413E4014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A381C6-9564-7FC7-EB83-4A16B360EA7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06A2C99-39A7-31F6-1C92-A6273A7B35D8}"/>
              </a:ext>
            </a:extLst>
          </p:cNvPr>
          <p:cNvSpPr>
            <a:spLocks noGrp="1"/>
          </p:cNvSpPr>
          <p:nvPr>
            <p:ph type="sldNum" sz="quarter" idx="5"/>
          </p:nvPr>
        </p:nvSpPr>
        <p:spPr/>
        <p:txBody>
          <a:bodyPr/>
          <a:lstStyle/>
          <a:p>
            <a:fld id="{235CC6FD-75C5-034E-BC56-691A10C41604}" type="slidenum">
              <a:rPr lang="es-CL" smtClean="0"/>
              <a:t>13</a:t>
            </a:fld>
            <a:endParaRPr lang="es-CL"/>
          </a:p>
        </p:txBody>
      </p:sp>
    </p:spTree>
    <p:extLst>
      <p:ext uri="{BB962C8B-B14F-4D97-AF65-F5344CB8AC3E}">
        <p14:creationId xmlns:p14="http://schemas.microsoft.com/office/powerpoint/2010/main" val="1285930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E796C-E213-3AFB-924A-39FC50642A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B3D78A-8F54-F49E-612A-F0558053A7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6B7374A-04EB-088D-021A-82DAEA83A168}"/>
              </a:ext>
            </a:extLst>
          </p:cNvPr>
          <p:cNvSpPr>
            <a:spLocks noGrp="1"/>
          </p:cNvSpPr>
          <p:nvPr>
            <p:ph type="body" idx="1"/>
          </p:nvPr>
        </p:nvSpPr>
        <p:spPr/>
        <p:txBody>
          <a:bodyPr/>
          <a:lstStyle/>
          <a:p>
            <a:r>
              <a:rPr lang="es-ES" dirty="0"/>
              <a:t>“El ruteo en fibra óptica no se limita a elegir cualquier camino disponible. Se deben considerar parámetros físicos y de red: pérdidas del enlace, distancia, capacidad disponible y disponibilidad. Además, en redes críticas es fundamental contar con una ruta alternativa para continuidad operacional</a:t>
            </a:r>
            <a:endParaRPr lang="es-CL" dirty="0"/>
          </a:p>
        </p:txBody>
      </p:sp>
      <p:sp>
        <p:nvSpPr>
          <p:cNvPr id="4" name="Marcador de número de diapositiva 3">
            <a:extLst>
              <a:ext uri="{FF2B5EF4-FFF2-40B4-BE49-F238E27FC236}">
                <a16:creationId xmlns:a16="http://schemas.microsoft.com/office/drawing/2014/main" id="{105410AB-49C3-B72C-7579-F249A1C563EB}"/>
              </a:ext>
            </a:extLst>
          </p:cNvPr>
          <p:cNvSpPr>
            <a:spLocks noGrp="1"/>
          </p:cNvSpPr>
          <p:nvPr>
            <p:ph type="sldNum" sz="quarter" idx="5"/>
          </p:nvPr>
        </p:nvSpPr>
        <p:spPr/>
        <p:txBody>
          <a:bodyPr/>
          <a:lstStyle/>
          <a:p>
            <a:fld id="{235CC6FD-75C5-034E-BC56-691A10C41604}" type="slidenum">
              <a:rPr lang="es-CL" smtClean="0"/>
              <a:t>14</a:t>
            </a:fld>
            <a:endParaRPr lang="es-CL"/>
          </a:p>
        </p:txBody>
      </p:sp>
    </p:spTree>
    <p:extLst>
      <p:ext uri="{BB962C8B-B14F-4D97-AF65-F5344CB8AC3E}">
        <p14:creationId xmlns:p14="http://schemas.microsoft.com/office/powerpoint/2010/main" val="630082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F494-2417-1738-8F51-3E63F2B796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DCE9E6-75D5-2E2E-2B5F-BAE878DA2C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3EEC70-E889-40FE-5B9D-DA7806B21AC1}"/>
              </a:ext>
            </a:extLst>
          </p:cNvPr>
          <p:cNvSpPr>
            <a:spLocks noGrp="1"/>
          </p:cNvSpPr>
          <p:nvPr>
            <p:ph type="body" idx="1"/>
          </p:nvPr>
        </p:nvSpPr>
        <p:spPr/>
        <p:txBody>
          <a:bodyPr/>
          <a:lstStyle/>
          <a:p>
            <a:r>
              <a:rPr lang="es-ES" dirty="0"/>
              <a:t>WDM permite aprovechar mejor una fibra. En vez de enviar una sola señal óptica, se envían varias señales al mismo tiempo, cada una en una longitud de onda distinta. Es similar a tener varios carriles dentro de la misma fibra</a:t>
            </a:r>
            <a:endParaRPr lang="es-CL" dirty="0"/>
          </a:p>
        </p:txBody>
      </p:sp>
      <p:sp>
        <p:nvSpPr>
          <p:cNvPr id="4" name="Marcador de número de diapositiva 3">
            <a:extLst>
              <a:ext uri="{FF2B5EF4-FFF2-40B4-BE49-F238E27FC236}">
                <a16:creationId xmlns:a16="http://schemas.microsoft.com/office/drawing/2014/main" id="{69119A76-447E-B4E7-2249-CB0D0C3AD3AE}"/>
              </a:ext>
            </a:extLst>
          </p:cNvPr>
          <p:cNvSpPr>
            <a:spLocks noGrp="1"/>
          </p:cNvSpPr>
          <p:nvPr>
            <p:ph type="sldNum" sz="quarter" idx="5"/>
          </p:nvPr>
        </p:nvSpPr>
        <p:spPr/>
        <p:txBody>
          <a:bodyPr/>
          <a:lstStyle/>
          <a:p>
            <a:fld id="{235CC6FD-75C5-034E-BC56-691A10C41604}" type="slidenum">
              <a:rPr lang="es-CL" smtClean="0"/>
              <a:t>15</a:t>
            </a:fld>
            <a:endParaRPr lang="es-CL"/>
          </a:p>
        </p:txBody>
      </p:sp>
    </p:spTree>
    <p:extLst>
      <p:ext uri="{BB962C8B-B14F-4D97-AF65-F5344CB8AC3E}">
        <p14:creationId xmlns:p14="http://schemas.microsoft.com/office/powerpoint/2010/main" val="2034604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47480-34FC-536F-87F9-892306AA28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CE55F5-FAC1-8BF0-8172-3261EC8C3D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289A56-454E-E2D6-4521-D4B17E3D3B02}"/>
              </a:ext>
            </a:extLst>
          </p:cNvPr>
          <p:cNvSpPr>
            <a:spLocks noGrp="1"/>
          </p:cNvSpPr>
          <p:nvPr>
            <p:ph type="body" idx="1"/>
          </p:nvPr>
        </p:nvSpPr>
        <p:spPr/>
        <p:txBody>
          <a:bodyPr/>
          <a:lstStyle/>
          <a:p>
            <a:r>
              <a:rPr lang="es-ES" dirty="0"/>
              <a:t>WDM permite aprovechar mejor una fibra. En vez de enviar una sola señal óptica, se envían varias señales al mismo tiempo, cada una en una longitud de onda distinta. Es similar a tener varios carriles dentro de la misma fibra</a:t>
            </a:r>
            <a:endParaRPr lang="es-CL" dirty="0"/>
          </a:p>
        </p:txBody>
      </p:sp>
      <p:sp>
        <p:nvSpPr>
          <p:cNvPr id="4" name="Marcador de número de diapositiva 3">
            <a:extLst>
              <a:ext uri="{FF2B5EF4-FFF2-40B4-BE49-F238E27FC236}">
                <a16:creationId xmlns:a16="http://schemas.microsoft.com/office/drawing/2014/main" id="{16057E09-E03E-CF99-710B-4E7A62ED443D}"/>
              </a:ext>
            </a:extLst>
          </p:cNvPr>
          <p:cNvSpPr>
            <a:spLocks noGrp="1"/>
          </p:cNvSpPr>
          <p:nvPr>
            <p:ph type="sldNum" sz="quarter" idx="5"/>
          </p:nvPr>
        </p:nvSpPr>
        <p:spPr/>
        <p:txBody>
          <a:bodyPr/>
          <a:lstStyle/>
          <a:p>
            <a:fld id="{235CC6FD-75C5-034E-BC56-691A10C41604}" type="slidenum">
              <a:rPr lang="es-CL" smtClean="0"/>
              <a:t>16</a:t>
            </a:fld>
            <a:endParaRPr lang="es-CL"/>
          </a:p>
        </p:txBody>
      </p:sp>
    </p:spTree>
    <p:extLst>
      <p:ext uri="{BB962C8B-B14F-4D97-AF65-F5344CB8AC3E}">
        <p14:creationId xmlns:p14="http://schemas.microsoft.com/office/powerpoint/2010/main" val="1627542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47F06-6124-6D28-6901-3D5F78A301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40ADED-30A3-8E18-BBE0-314327D8BE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8D4658-B68F-145D-926C-02D49735F9E3}"/>
              </a:ext>
            </a:extLst>
          </p:cNvPr>
          <p:cNvSpPr>
            <a:spLocks noGrp="1"/>
          </p:cNvSpPr>
          <p:nvPr>
            <p:ph type="body" idx="1"/>
          </p:nvPr>
        </p:nvSpPr>
        <p:spPr/>
        <p:txBody>
          <a:bodyPr/>
          <a:lstStyle/>
          <a:p>
            <a:r>
              <a:rPr lang="es-ES" dirty="0"/>
              <a:t>WDM es el concepto general: varias longitudes de onda en una fibra. </a:t>
            </a:r>
            <a:r>
              <a:rPr lang="es-ES" dirty="0" err="1"/>
              <a:t>DWDM</a:t>
            </a:r>
            <a:r>
              <a:rPr lang="es-ES" dirty="0"/>
              <a:t> es una implementación más densa, donde los canales están más próximos entre sí y permiten transportar mayor cantidad de servicios. Por eso </a:t>
            </a:r>
            <a:r>
              <a:rPr lang="es-ES" dirty="0" err="1"/>
              <a:t>DWDM</a:t>
            </a:r>
            <a:r>
              <a:rPr lang="es-ES" dirty="0"/>
              <a:t> se usa mucho en redes metropolitanas, troncales y </a:t>
            </a:r>
            <a:r>
              <a:rPr lang="es-ES" dirty="0" err="1"/>
              <a:t>backbone</a:t>
            </a:r>
            <a:r>
              <a:rPr lang="es-ES" dirty="0"/>
              <a:t> óptico</a:t>
            </a:r>
            <a:endParaRPr lang="es-CL" dirty="0"/>
          </a:p>
        </p:txBody>
      </p:sp>
      <p:sp>
        <p:nvSpPr>
          <p:cNvPr id="4" name="Marcador de número de diapositiva 3">
            <a:extLst>
              <a:ext uri="{FF2B5EF4-FFF2-40B4-BE49-F238E27FC236}">
                <a16:creationId xmlns:a16="http://schemas.microsoft.com/office/drawing/2014/main" id="{F28FA8C3-E702-4947-0851-4FADCB1B0244}"/>
              </a:ext>
            </a:extLst>
          </p:cNvPr>
          <p:cNvSpPr>
            <a:spLocks noGrp="1"/>
          </p:cNvSpPr>
          <p:nvPr>
            <p:ph type="sldNum" sz="quarter" idx="5"/>
          </p:nvPr>
        </p:nvSpPr>
        <p:spPr/>
        <p:txBody>
          <a:bodyPr/>
          <a:lstStyle/>
          <a:p>
            <a:fld id="{235CC6FD-75C5-034E-BC56-691A10C41604}" type="slidenum">
              <a:rPr lang="es-CL" smtClean="0"/>
              <a:t>17</a:t>
            </a:fld>
            <a:endParaRPr lang="es-CL"/>
          </a:p>
        </p:txBody>
      </p:sp>
    </p:spTree>
    <p:extLst>
      <p:ext uri="{BB962C8B-B14F-4D97-AF65-F5344CB8AC3E}">
        <p14:creationId xmlns:p14="http://schemas.microsoft.com/office/powerpoint/2010/main" val="3267698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B8A1-879E-1C14-28BB-550105AC53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F9D788-3150-7B40-705C-0C215516C9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E8C3C-B6D8-7B52-1316-DA07F911DE26}"/>
              </a:ext>
            </a:extLst>
          </p:cNvPr>
          <p:cNvSpPr>
            <a:spLocks noGrp="1"/>
          </p:cNvSpPr>
          <p:nvPr>
            <p:ph type="body" idx="1"/>
          </p:nvPr>
        </p:nvSpPr>
        <p:spPr/>
        <p:txBody>
          <a:bodyPr/>
          <a:lstStyle/>
          <a:p>
            <a:r>
              <a:rPr lang="es-ES" dirty="0"/>
              <a:t>La idea más importante es que una longitud de onda puede tratarse como un canal. En vez de instalar una fibra por cada servicio, WDM permite usar varias longitudes de onda sobre la misma fibra. Esto aumenta la capacidad de transporte y permite organizar servicios ópticos de forma más eficiente</a:t>
            </a:r>
            <a:endParaRPr lang="es-CL" dirty="0"/>
          </a:p>
        </p:txBody>
      </p:sp>
      <p:sp>
        <p:nvSpPr>
          <p:cNvPr id="4" name="Marcador de número de diapositiva 3">
            <a:extLst>
              <a:ext uri="{FF2B5EF4-FFF2-40B4-BE49-F238E27FC236}">
                <a16:creationId xmlns:a16="http://schemas.microsoft.com/office/drawing/2014/main" id="{FDF4F147-8E7F-4BC6-70B6-A1F437A8FFC8}"/>
              </a:ext>
            </a:extLst>
          </p:cNvPr>
          <p:cNvSpPr>
            <a:spLocks noGrp="1"/>
          </p:cNvSpPr>
          <p:nvPr>
            <p:ph type="sldNum" sz="quarter" idx="5"/>
          </p:nvPr>
        </p:nvSpPr>
        <p:spPr/>
        <p:txBody>
          <a:bodyPr/>
          <a:lstStyle/>
          <a:p>
            <a:fld id="{235CC6FD-75C5-034E-BC56-691A10C41604}" type="slidenum">
              <a:rPr lang="es-CL" smtClean="0"/>
              <a:t>18</a:t>
            </a:fld>
            <a:endParaRPr lang="es-CL"/>
          </a:p>
        </p:txBody>
      </p:sp>
    </p:spTree>
    <p:extLst>
      <p:ext uri="{BB962C8B-B14F-4D97-AF65-F5344CB8AC3E}">
        <p14:creationId xmlns:p14="http://schemas.microsoft.com/office/powerpoint/2010/main" val="1208824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6D034-1522-82D2-97A2-B8E93E4276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CE6CE4-B7F1-F2F7-564D-4B4D3F0C500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043DCC2-C421-6CC4-5221-8C53042E4850}"/>
              </a:ext>
            </a:extLst>
          </p:cNvPr>
          <p:cNvSpPr>
            <a:spLocks noGrp="1"/>
          </p:cNvSpPr>
          <p:nvPr>
            <p:ph type="body" idx="1"/>
          </p:nvPr>
        </p:nvSpPr>
        <p:spPr/>
        <p:txBody>
          <a:bodyPr/>
          <a:lstStyle/>
          <a:p>
            <a:r>
              <a:rPr lang="es-ES" dirty="0"/>
              <a:t>En redes WDM, la ruta física y la longitud de onda forman una decisión conjunta. Aunque exista una ruta disponible, si la longitud de onda está ocupada en algún tramo, el servicio no puede establecerse por ese camino. Este problema se conoce como </a:t>
            </a:r>
            <a:r>
              <a:rPr lang="es-ES" dirty="0" err="1"/>
              <a:t>RWA</a:t>
            </a:r>
            <a:r>
              <a:rPr lang="es-ES" dirty="0"/>
              <a:t>: </a:t>
            </a:r>
            <a:r>
              <a:rPr lang="es-ES" dirty="0" err="1"/>
              <a:t>Routing</a:t>
            </a:r>
            <a:r>
              <a:rPr lang="es-ES" dirty="0"/>
              <a:t> and </a:t>
            </a:r>
            <a:r>
              <a:rPr lang="es-ES" dirty="0" err="1"/>
              <a:t>Wavelength</a:t>
            </a:r>
            <a:r>
              <a:rPr lang="es-ES" dirty="0"/>
              <a:t> </a:t>
            </a:r>
            <a:r>
              <a:rPr lang="es-ES" dirty="0" err="1"/>
              <a:t>Assignment</a:t>
            </a:r>
            <a:r>
              <a:rPr lang="es-ES" dirty="0"/>
              <a:t>.</a:t>
            </a:r>
            <a:endParaRPr lang="es-CL" dirty="0"/>
          </a:p>
        </p:txBody>
      </p:sp>
      <p:sp>
        <p:nvSpPr>
          <p:cNvPr id="4" name="Marcador de número de diapositiva 3">
            <a:extLst>
              <a:ext uri="{FF2B5EF4-FFF2-40B4-BE49-F238E27FC236}">
                <a16:creationId xmlns:a16="http://schemas.microsoft.com/office/drawing/2014/main" id="{9EA6E693-E476-1C47-E117-E246943AC709}"/>
              </a:ext>
            </a:extLst>
          </p:cNvPr>
          <p:cNvSpPr>
            <a:spLocks noGrp="1"/>
          </p:cNvSpPr>
          <p:nvPr>
            <p:ph type="sldNum" sz="quarter" idx="5"/>
          </p:nvPr>
        </p:nvSpPr>
        <p:spPr/>
        <p:txBody>
          <a:bodyPr/>
          <a:lstStyle/>
          <a:p>
            <a:fld id="{235CC6FD-75C5-034E-BC56-691A10C41604}" type="slidenum">
              <a:rPr lang="es-CL" smtClean="0"/>
              <a:t>19</a:t>
            </a:fld>
            <a:endParaRPr lang="es-CL"/>
          </a:p>
        </p:txBody>
      </p:sp>
    </p:spTree>
    <p:extLst>
      <p:ext uri="{BB962C8B-B14F-4D97-AF65-F5344CB8AC3E}">
        <p14:creationId xmlns:p14="http://schemas.microsoft.com/office/powerpoint/2010/main" val="3335461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08E3-BAF4-F25C-FED6-1D5A0A2843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F8BEE7-40E8-A717-C368-991183BEA0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934D0F-74E2-14AE-42B5-DE9F0907DD22}"/>
              </a:ext>
            </a:extLst>
          </p:cNvPr>
          <p:cNvSpPr>
            <a:spLocks noGrp="1"/>
          </p:cNvSpPr>
          <p:nvPr>
            <p:ph type="body" idx="1"/>
          </p:nvPr>
        </p:nvSpPr>
        <p:spPr/>
        <p:txBody>
          <a:bodyPr/>
          <a:lstStyle/>
          <a:p>
            <a:r>
              <a:rPr lang="es-ES" dirty="0"/>
              <a:t>En una red óptica moderna, el servicio no viaja simplemente ‘por una fibra’. Normalmente pasa por varias capas: IP o Ethernet como servicio cliente, </a:t>
            </a:r>
            <a:r>
              <a:rPr lang="es-ES" dirty="0" err="1"/>
              <a:t>OTN</a:t>
            </a:r>
            <a:r>
              <a:rPr lang="es-ES" dirty="0"/>
              <a:t> como capa de transporte, WDM como capa de canales ópticos y finalmente la fibra física. Esta visión multicapa permite entender mejor cómo se transporta, protege y gestiona el tráfico</a:t>
            </a:r>
            <a:endParaRPr lang="es-CL" dirty="0"/>
          </a:p>
        </p:txBody>
      </p:sp>
      <p:sp>
        <p:nvSpPr>
          <p:cNvPr id="4" name="Marcador de número de diapositiva 3">
            <a:extLst>
              <a:ext uri="{FF2B5EF4-FFF2-40B4-BE49-F238E27FC236}">
                <a16:creationId xmlns:a16="http://schemas.microsoft.com/office/drawing/2014/main" id="{172BD833-4BBB-18ED-1233-7E9CF83462E3}"/>
              </a:ext>
            </a:extLst>
          </p:cNvPr>
          <p:cNvSpPr>
            <a:spLocks noGrp="1"/>
          </p:cNvSpPr>
          <p:nvPr>
            <p:ph type="sldNum" sz="quarter" idx="5"/>
          </p:nvPr>
        </p:nvSpPr>
        <p:spPr/>
        <p:txBody>
          <a:bodyPr/>
          <a:lstStyle/>
          <a:p>
            <a:fld id="{235CC6FD-75C5-034E-BC56-691A10C41604}" type="slidenum">
              <a:rPr lang="es-CL" smtClean="0"/>
              <a:t>20</a:t>
            </a:fld>
            <a:endParaRPr lang="es-CL"/>
          </a:p>
        </p:txBody>
      </p:sp>
    </p:spTree>
    <p:extLst>
      <p:ext uri="{BB962C8B-B14F-4D97-AF65-F5344CB8AC3E}">
        <p14:creationId xmlns:p14="http://schemas.microsoft.com/office/powerpoint/2010/main" val="211614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4E3D-4600-11EA-5B8B-2961DFF591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1D4226-EB9B-29EF-1630-1D2A6C2FAAE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4E3885-5C20-4D5C-DD50-13043163397E}"/>
              </a:ext>
            </a:extLst>
          </p:cNvPr>
          <p:cNvSpPr>
            <a:spLocks noGrp="1"/>
          </p:cNvSpPr>
          <p:nvPr>
            <p:ph type="body" idx="1"/>
          </p:nvPr>
        </p:nvSpPr>
        <p:spPr/>
        <p:txBody>
          <a:bodyPr/>
          <a:lstStyle/>
          <a:p>
            <a:r>
              <a:rPr lang="es-ES" dirty="0"/>
              <a:t>Una red </a:t>
            </a:r>
            <a:r>
              <a:rPr lang="es-ES" dirty="0" err="1"/>
              <a:t>overlay</a:t>
            </a:r>
            <a:r>
              <a:rPr lang="es-ES" dirty="0"/>
              <a:t> no cambia la fibra física, sino la forma lógica en que usamos esa infraestructura. Esto permite transportar distintos servicios sobre la misma red óptica, separarlos lógicamente y administrarlos de forma más flexible. Sin embargo, la dependencia física sigue existiendo: una falla en la fibra puede afectar varias redes lógicas al mismo tiempo</a:t>
            </a:r>
            <a:endParaRPr lang="es-CL" dirty="0"/>
          </a:p>
        </p:txBody>
      </p:sp>
      <p:sp>
        <p:nvSpPr>
          <p:cNvPr id="4" name="Marcador de número de diapositiva 3">
            <a:extLst>
              <a:ext uri="{FF2B5EF4-FFF2-40B4-BE49-F238E27FC236}">
                <a16:creationId xmlns:a16="http://schemas.microsoft.com/office/drawing/2014/main" id="{6700892F-416C-7335-23D9-C04ABBF6FB29}"/>
              </a:ext>
            </a:extLst>
          </p:cNvPr>
          <p:cNvSpPr>
            <a:spLocks noGrp="1"/>
          </p:cNvSpPr>
          <p:nvPr>
            <p:ph type="sldNum" sz="quarter" idx="5"/>
          </p:nvPr>
        </p:nvSpPr>
        <p:spPr/>
        <p:txBody>
          <a:bodyPr/>
          <a:lstStyle/>
          <a:p>
            <a:fld id="{235CC6FD-75C5-034E-BC56-691A10C41604}" type="slidenum">
              <a:rPr lang="es-CL" smtClean="0"/>
              <a:t>21</a:t>
            </a:fld>
            <a:endParaRPr lang="es-CL"/>
          </a:p>
        </p:txBody>
      </p:sp>
    </p:spTree>
    <p:extLst>
      <p:ext uri="{BB962C8B-B14F-4D97-AF65-F5344CB8AC3E}">
        <p14:creationId xmlns:p14="http://schemas.microsoft.com/office/powerpoint/2010/main" val="337615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6F65-6479-93AA-D7AE-EBF427D358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C2FD84-3B21-BB2E-92D5-CB6C2F3035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2953FB-A6D0-A275-217E-CE97AD5C9D0A}"/>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D66C4C1-EEE3-546C-E73B-A325687EEA03}"/>
              </a:ext>
            </a:extLst>
          </p:cNvPr>
          <p:cNvSpPr>
            <a:spLocks noGrp="1"/>
          </p:cNvSpPr>
          <p:nvPr>
            <p:ph type="sldNum" sz="quarter" idx="5"/>
          </p:nvPr>
        </p:nvSpPr>
        <p:spPr/>
        <p:txBody>
          <a:bodyPr/>
          <a:lstStyle/>
          <a:p>
            <a:fld id="{235CC6FD-75C5-034E-BC56-691A10C41604}" type="slidenum">
              <a:rPr lang="es-CL" smtClean="0"/>
              <a:t>22</a:t>
            </a:fld>
            <a:endParaRPr lang="es-CL"/>
          </a:p>
        </p:txBody>
      </p:sp>
    </p:spTree>
    <p:extLst>
      <p:ext uri="{BB962C8B-B14F-4D97-AF65-F5344CB8AC3E}">
        <p14:creationId xmlns:p14="http://schemas.microsoft.com/office/powerpoint/2010/main" val="1780164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3EFB9-4444-897F-9F1E-0934F2ADB9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33DEA6-7EEB-DAA2-C5B5-BA8407A212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D822D5-260F-F00D-4EAA-B927CF9A2789}"/>
              </a:ext>
            </a:extLst>
          </p:cNvPr>
          <p:cNvSpPr>
            <a:spLocks noGrp="1"/>
          </p:cNvSpPr>
          <p:nvPr>
            <p:ph type="body" idx="1"/>
          </p:nvPr>
        </p:nvSpPr>
        <p:spPr/>
        <p:txBody>
          <a:bodyPr/>
          <a:lstStyle/>
          <a:p>
            <a:r>
              <a:rPr lang="es-ES" dirty="0"/>
              <a:t>La señal óptica se degrada por diversos factores. La atenuación reduce la potencia, la dispersión deforma el pulso, y conectores o empalmes agregan pérdidas. En redes de alta capacidad o WDM también pueden aparecer efectos más complejos como ruido óptico y no linealidades. Por eso se requiere regeneración, amplificación o protección según el caso</a:t>
            </a:r>
            <a:endParaRPr lang="es-CL" dirty="0"/>
          </a:p>
        </p:txBody>
      </p:sp>
      <p:sp>
        <p:nvSpPr>
          <p:cNvPr id="4" name="Marcador de número de diapositiva 3">
            <a:extLst>
              <a:ext uri="{FF2B5EF4-FFF2-40B4-BE49-F238E27FC236}">
                <a16:creationId xmlns:a16="http://schemas.microsoft.com/office/drawing/2014/main" id="{4F92A13F-3493-F971-14FE-3D7302557D21}"/>
              </a:ext>
            </a:extLst>
          </p:cNvPr>
          <p:cNvSpPr>
            <a:spLocks noGrp="1"/>
          </p:cNvSpPr>
          <p:nvPr>
            <p:ph type="sldNum" sz="quarter" idx="5"/>
          </p:nvPr>
        </p:nvSpPr>
        <p:spPr/>
        <p:txBody>
          <a:bodyPr/>
          <a:lstStyle/>
          <a:p>
            <a:fld id="{235CC6FD-75C5-034E-BC56-691A10C41604}" type="slidenum">
              <a:rPr lang="es-CL" smtClean="0"/>
              <a:t>23</a:t>
            </a:fld>
            <a:endParaRPr lang="es-CL"/>
          </a:p>
        </p:txBody>
      </p:sp>
    </p:spTree>
    <p:extLst>
      <p:ext uri="{BB962C8B-B14F-4D97-AF65-F5344CB8AC3E}">
        <p14:creationId xmlns:p14="http://schemas.microsoft.com/office/powerpoint/2010/main" val="1501069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F2F99-BEDF-15E2-3FC6-F85F31FEDB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A5F76D-CB32-DC71-6363-AD86469E7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460383-E3D4-72DA-D123-01EB69B7F23A}"/>
              </a:ext>
            </a:extLst>
          </p:cNvPr>
          <p:cNvSpPr>
            <a:spLocks noGrp="1"/>
          </p:cNvSpPr>
          <p:nvPr>
            <p:ph type="body" idx="1"/>
          </p:nvPr>
        </p:nvSpPr>
        <p:spPr/>
        <p:txBody>
          <a:bodyPr/>
          <a:lstStyle/>
          <a:p>
            <a:r>
              <a:rPr lang="es-ES" dirty="0"/>
              <a:t>La regeneración se utiliza cuando la señal ya no puede seguir viajando con calidad suficiente. La amplificación ayuda con la potencia, pero no siempre corrige la forma del pulso ni el ruido. En algunos casos se requiere conversión óptico-eléctrico-óptico para reconstruir la señal</a:t>
            </a:r>
            <a:endParaRPr lang="es-CL" dirty="0"/>
          </a:p>
        </p:txBody>
      </p:sp>
      <p:sp>
        <p:nvSpPr>
          <p:cNvPr id="4" name="Marcador de número de diapositiva 3">
            <a:extLst>
              <a:ext uri="{FF2B5EF4-FFF2-40B4-BE49-F238E27FC236}">
                <a16:creationId xmlns:a16="http://schemas.microsoft.com/office/drawing/2014/main" id="{0AB72F22-3EFE-9D20-082D-953940042F92}"/>
              </a:ext>
            </a:extLst>
          </p:cNvPr>
          <p:cNvSpPr>
            <a:spLocks noGrp="1"/>
          </p:cNvSpPr>
          <p:nvPr>
            <p:ph type="sldNum" sz="quarter" idx="5"/>
          </p:nvPr>
        </p:nvSpPr>
        <p:spPr/>
        <p:txBody>
          <a:bodyPr/>
          <a:lstStyle/>
          <a:p>
            <a:fld id="{235CC6FD-75C5-034E-BC56-691A10C41604}" type="slidenum">
              <a:rPr lang="es-CL" smtClean="0"/>
              <a:t>24</a:t>
            </a:fld>
            <a:endParaRPr lang="es-CL"/>
          </a:p>
        </p:txBody>
      </p:sp>
    </p:spTree>
    <p:extLst>
      <p:ext uri="{BB962C8B-B14F-4D97-AF65-F5344CB8AC3E}">
        <p14:creationId xmlns:p14="http://schemas.microsoft.com/office/powerpoint/2010/main" val="1869117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634D9-1DC9-1C40-65BB-B28D6566AB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4BD38C-5AC9-EBE2-2F97-A61A8117D0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A6292F8-1163-2BBB-C0DD-B45549027046}"/>
              </a:ext>
            </a:extLst>
          </p:cNvPr>
          <p:cNvSpPr>
            <a:spLocks noGrp="1"/>
          </p:cNvSpPr>
          <p:nvPr>
            <p:ph type="body" idx="1"/>
          </p:nvPr>
        </p:nvSpPr>
        <p:spPr/>
        <p:txBody>
          <a:bodyPr/>
          <a:lstStyle/>
          <a:p>
            <a:r>
              <a:rPr lang="es-ES" dirty="0"/>
              <a:t>La regeneración </a:t>
            </a:r>
            <a:r>
              <a:rPr lang="es-ES" dirty="0" err="1"/>
              <a:t>3R</a:t>
            </a:r>
            <a:r>
              <a:rPr lang="es-ES" dirty="0"/>
              <a:t> diferencia entre simplemente amplificar una señal y reconstruirla con calidad. Un amplificador puede recuperar potencia, pero si la señal está deformada o desincronizada, puede seguir generando errores. La regeneración </a:t>
            </a:r>
            <a:r>
              <a:rPr lang="es-ES" dirty="0" err="1"/>
              <a:t>3R</a:t>
            </a:r>
            <a:r>
              <a:rPr lang="es-ES" dirty="0"/>
              <a:t> busca recuperar potencia, forma y tiempo.</a:t>
            </a:r>
            <a:endParaRPr lang="es-CL" dirty="0"/>
          </a:p>
        </p:txBody>
      </p:sp>
      <p:sp>
        <p:nvSpPr>
          <p:cNvPr id="4" name="Marcador de número de diapositiva 3">
            <a:extLst>
              <a:ext uri="{FF2B5EF4-FFF2-40B4-BE49-F238E27FC236}">
                <a16:creationId xmlns:a16="http://schemas.microsoft.com/office/drawing/2014/main" id="{B6FC0FEC-1C26-D5D5-98F0-5B56B98C83BB}"/>
              </a:ext>
            </a:extLst>
          </p:cNvPr>
          <p:cNvSpPr>
            <a:spLocks noGrp="1"/>
          </p:cNvSpPr>
          <p:nvPr>
            <p:ph type="sldNum" sz="quarter" idx="5"/>
          </p:nvPr>
        </p:nvSpPr>
        <p:spPr/>
        <p:txBody>
          <a:bodyPr/>
          <a:lstStyle/>
          <a:p>
            <a:fld id="{235CC6FD-75C5-034E-BC56-691A10C41604}" type="slidenum">
              <a:rPr lang="es-CL" smtClean="0"/>
              <a:t>25</a:t>
            </a:fld>
            <a:endParaRPr lang="es-CL"/>
          </a:p>
        </p:txBody>
      </p:sp>
    </p:spTree>
    <p:extLst>
      <p:ext uri="{BB962C8B-B14F-4D97-AF65-F5344CB8AC3E}">
        <p14:creationId xmlns:p14="http://schemas.microsoft.com/office/powerpoint/2010/main" val="26708393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9657-DB3D-57D0-1B17-91F58F6D45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B32C1C-F7BA-4C47-67FE-09A77F2D5B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2014A8-226B-DBDE-B858-9122D56BB58D}"/>
              </a:ext>
            </a:extLst>
          </p:cNvPr>
          <p:cNvSpPr>
            <a:spLocks noGrp="1"/>
          </p:cNvSpPr>
          <p:nvPr>
            <p:ph type="body" idx="1"/>
          </p:nvPr>
        </p:nvSpPr>
        <p:spPr/>
        <p:txBody>
          <a:bodyPr/>
          <a:lstStyle/>
          <a:p>
            <a:r>
              <a:rPr lang="es-ES" dirty="0"/>
              <a:t>En redes ópticas críticas, la protección es fundamental. Una fibra puede cortarse o un nodo puede fallar. La protección permite que el servicio sea conmutado hacia otra ruta. En 1+1 se transmite por dos rutas al mismo tiempo; en 1:1 la ruta de respaldo se reserva y se activa cuando ocurre la falla</a:t>
            </a:r>
            <a:endParaRPr lang="es-CL" dirty="0"/>
          </a:p>
        </p:txBody>
      </p:sp>
      <p:sp>
        <p:nvSpPr>
          <p:cNvPr id="4" name="Marcador de número de diapositiva 3">
            <a:extLst>
              <a:ext uri="{FF2B5EF4-FFF2-40B4-BE49-F238E27FC236}">
                <a16:creationId xmlns:a16="http://schemas.microsoft.com/office/drawing/2014/main" id="{E3F2162F-3742-39F2-DD52-EC44FD59CCA0}"/>
              </a:ext>
            </a:extLst>
          </p:cNvPr>
          <p:cNvSpPr>
            <a:spLocks noGrp="1"/>
          </p:cNvSpPr>
          <p:nvPr>
            <p:ph type="sldNum" sz="quarter" idx="5"/>
          </p:nvPr>
        </p:nvSpPr>
        <p:spPr/>
        <p:txBody>
          <a:bodyPr/>
          <a:lstStyle/>
          <a:p>
            <a:fld id="{235CC6FD-75C5-034E-BC56-691A10C41604}" type="slidenum">
              <a:rPr lang="es-CL" smtClean="0"/>
              <a:t>26</a:t>
            </a:fld>
            <a:endParaRPr lang="es-CL"/>
          </a:p>
        </p:txBody>
      </p:sp>
    </p:spTree>
    <p:extLst>
      <p:ext uri="{BB962C8B-B14F-4D97-AF65-F5344CB8AC3E}">
        <p14:creationId xmlns:p14="http://schemas.microsoft.com/office/powerpoint/2010/main" val="3725451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4BD1-2030-4259-405D-C3606022AF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2B043C-77F5-ACEB-5874-D83FE0B2BA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DA4DBA-C050-2F42-549E-7277AC7243F0}"/>
              </a:ext>
            </a:extLst>
          </p:cNvPr>
          <p:cNvSpPr>
            <a:spLocks noGrp="1"/>
          </p:cNvSpPr>
          <p:nvPr>
            <p:ph type="body" idx="1"/>
          </p:nvPr>
        </p:nvSpPr>
        <p:spPr/>
        <p:txBody>
          <a:bodyPr/>
          <a:lstStyle/>
          <a:p>
            <a:r>
              <a:rPr lang="es-ES" dirty="0"/>
              <a:t>La protección permite que la red no dependa de un único camino. Cuando falla un enlace, el tráfico puede conmutarse hacia una ruta alternativa. En redes críticas, este proceso debe ser rápido, coordinado y predefinido para minimizar la interrupción del servicio</a:t>
            </a:r>
            <a:endParaRPr lang="es-CL" dirty="0"/>
          </a:p>
        </p:txBody>
      </p:sp>
      <p:sp>
        <p:nvSpPr>
          <p:cNvPr id="4" name="Marcador de número de diapositiva 3">
            <a:extLst>
              <a:ext uri="{FF2B5EF4-FFF2-40B4-BE49-F238E27FC236}">
                <a16:creationId xmlns:a16="http://schemas.microsoft.com/office/drawing/2014/main" id="{689D210B-176A-D1DC-6B62-35753D6FD7E1}"/>
              </a:ext>
            </a:extLst>
          </p:cNvPr>
          <p:cNvSpPr>
            <a:spLocks noGrp="1"/>
          </p:cNvSpPr>
          <p:nvPr>
            <p:ph type="sldNum" sz="quarter" idx="5"/>
          </p:nvPr>
        </p:nvSpPr>
        <p:spPr/>
        <p:txBody>
          <a:bodyPr/>
          <a:lstStyle/>
          <a:p>
            <a:fld id="{235CC6FD-75C5-034E-BC56-691A10C41604}" type="slidenum">
              <a:rPr lang="es-CL" smtClean="0"/>
              <a:t>27</a:t>
            </a:fld>
            <a:endParaRPr lang="es-CL"/>
          </a:p>
        </p:txBody>
      </p:sp>
    </p:spTree>
    <p:extLst>
      <p:ext uri="{BB962C8B-B14F-4D97-AF65-F5344CB8AC3E}">
        <p14:creationId xmlns:p14="http://schemas.microsoft.com/office/powerpoint/2010/main" val="2481754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E63D8-21D9-5A2E-DB56-140E737AF8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5F6712-7371-C18D-AE8B-3880936699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D8C5EF-E966-8246-FDBD-D38C7DCF3029}"/>
              </a:ext>
            </a:extLst>
          </p:cNvPr>
          <p:cNvSpPr>
            <a:spLocks noGrp="1"/>
          </p:cNvSpPr>
          <p:nvPr>
            <p:ph type="body" idx="1"/>
          </p:nvPr>
        </p:nvSpPr>
        <p:spPr/>
        <p:txBody>
          <a:bodyPr/>
          <a:lstStyle/>
          <a:p>
            <a:r>
              <a:rPr lang="es-ES" dirty="0"/>
              <a:t>La protección permite que la red no dependa de un único camino. Cuando falla un enlace, el tráfico puede conmutarse hacia una ruta alternativa. En redes críticas, este proceso debe ser rápido, coordinado y predefinido para minimizar la interrupción del servicio</a:t>
            </a:r>
            <a:endParaRPr lang="es-CL" dirty="0"/>
          </a:p>
        </p:txBody>
      </p:sp>
      <p:sp>
        <p:nvSpPr>
          <p:cNvPr id="4" name="Marcador de número de diapositiva 3">
            <a:extLst>
              <a:ext uri="{FF2B5EF4-FFF2-40B4-BE49-F238E27FC236}">
                <a16:creationId xmlns:a16="http://schemas.microsoft.com/office/drawing/2014/main" id="{9CAE31A0-E108-03EA-09E7-81439655E263}"/>
              </a:ext>
            </a:extLst>
          </p:cNvPr>
          <p:cNvSpPr>
            <a:spLocks noGrp="1"/>
          </p:cNvSpPr>
          <p:nvPr>
            <p:ph type="sldNum" sz="quarter" idx="5"/>
          </p:nvPr>
        </p:nvSpPr>
        <p:spPr/>
        <p:txBody>
          <a:bodyPr/>
          <a:lstStyle/>
          <a:p>
            <a:fld id="{235CC6FD-75C5-034E-BC56-691A10C41604}" type="slidenum">
              <a:rPr lang="es-CL" smtClean="0"/>
              <a:t>28</a:t>
            </a:fld>
            <a:endParaRPr lang="es-CL"/>
          </a:p>
        </p:txBody>
      </p:sp>
    </p:spTree>
    <p:extLst>
      <p:ext uri="{BB962C8B-B14F-4D97-AF65-F5344CB8AC3E}">
        <p14:creationId xmlns:p14="http://schemas.microsoft.com/office/powerpoint/2010/main" val="3217281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F7865-B338-0B5E-CC33-53314AB506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9A3165-6D5F-5311-84C6-8CA5355F28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1E8D42-DBF0-0523-716C-9929C157F9BC}"/>
              </a:ext>
            </a:extLst>
          </p:cNvPr>
          <p:cNvSpPr>
            <a:spLocks noGrp="1"/>
          </p:cNvSpPr>
          <p:nvPr>
            <p:ph type="body" idx="1"/>
          </p:nvPr>
        </p:nvSpPr>
        <p:spPr/>
        <p:txBody>
          <a:bodyPr/>
          <a:lstStyle/>
          <a:p>
            <a:r>
              <a:rPr lang="es-ES" dirty="0"/>
              <a:t>El ruteo dinámico permite que la red no dependa de decisiones fijas. Si un enlace falla o una ruta se degrada, la red puede buscar otro camino disponible. </a:t>
            </a:r>
            <a:r>
              <a:rPr lang="es-ES"/>
              <a:t>En redes WDM, además de encontrar ruta, también se debe verificar si existe una longitud de onda disponible.</a:t>
            </a:r>
            <a:endParaRPr lang="es-CL" dirty="0"/>
          </a:p>
        </p:txBody>
      </p:sp>
      <p:sp>
        <p:nvSpPr>
          <p:cNvPr id="4" name="Marcador de número de diapositiva 3">
            <a:extLst>
              <a:ext uri="{FF2B5EF4-FFF2-40B4-BE49-F238E27FC236}">
                <a16:creationId xmlns:a16="http://schemas.microsoft.com/office/drawing/2014/main" id="{86D7F698-7357-40F5-5606-9D8250699ADD}"/>
              </a:ext>
            </a:extLst>
          </p:cNvPr>
          <p:cNvSpPr>
            <a:spLocks noGrp="1"/>
          </p:cNvSpPr>
          <p:nvPr>
            <p:ph type="sldNum" sz="quarter" idx="5"/>
          </p:nvPr>
        </p:nvSpPr>
        <p:spPr/>
        <p:txBody>
          <a:bodyPr/>
          <a:lstStyle/>
          <a:p>
            <a:fld id="{235CC6FD-75C5-034E-BC56-691A10C41604}" type="slidenum">
              <a:rPr lang="es-CL" smtClean="0"/>
              <a:t>29</a:t>
            </a:fld>
            <a:endParaRPr lang="es-CL"/>
          </a:p>
        </p:txBody>
      </p:sp>
    </p:spTree>
    <p:extLst>
      <p:ext uri="{BB962C8B-B14F-4D97-AF65-F5344CB8AC3E}">
        <p14:creationId xmlns:p14="http://schemas.microsoft.com/office/powerpoint/2010/main" val="288173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4DCFF-58D8-97D2-51D3-6268BB6964E5}"/>
              </a:ext>
            </a:extLst>
          </p:cNvPr>
          <p:cNvSpPr>
            <a:spLocks noGrp="1"/>
          </p:cNvSpPr>
          <p:nvPr>
            <p:ph type="ctrTitle"/>
          </p:nvPr>
        </p:nvSpPr>
        <p:spPr>
          <a:xfrm>
            <a:off x="2513013" y="1850860"/>
            <a:ext cx="15078075" cy="3937329"/>
          </a:xfrm>
        </p:spPr>
        <p:txBody>
          <a:bodyPr anchor="b"/>
          <a:lstStyle>
            <a:lvl1pPr algn="ctr">
              <a:defRPr sz="9894"/>
            </a:lvl1pPr>
          </a:lstStyle>
          <a:p>
            <a:r>
              <a:rPr lang="es-MX"/>
              <a:t>Haz clic para modificar el estilo de título del patrón</a:t>
            </a:r>
            <a:endParaRPr lang="es-CL"/>
          </a:p>
        </p:txBody>
      </p:sp>
      <p:sp>
        <p:nvSpPr>
          <p:cNvPr id="3" name="Subtítulo 2">
            <a:extLst>
              <a:ext uri="{FF2B5EF4-FFF2-40B4-BE49-F238E27FC236}">
                <a16:creationId xmlns:a16="http://schemas.microsoft.com/office/drawing/2014/main" id="{55B0821F-352C-1076-2ECE-CDE7AF308798}"/>
              </a:ext>
            </a:extLst>
          </p:cNvPr>
          <p:cNvSpPr>
            <a:spLocks noGrp="1"/>
          </p:cNvSpPr>
          <p:nvPr>
            <p:ph type="subTitle" idx="1"/>
          </p:nvPr>
        </p:nvSpPr>
        <p:spPr>
          <a:xfrm>
            <a:off x="2513013" y="5940028"/>
            <a:ext cx="15078075" cy="2730474"/>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MX"/>
              <a:t>Haz clic para editar el estilo de subtítulo del patrón</a:t>
            </a:r>
            <a:endParaRPr lang="es-CL"/>
          </a:p>
        </p:txBody>
      </p:sp>
      <p:sp>
        <p:nvSpPr>
          <p:cNvPr id="4" name="Marcador de fecha 3">
            <a:extLst>
              <a:ext uri="{FF2B5EF4-FFF2-40B4-BE49-F238E27FC236}">
                <a16:creationId xmlns:a16="http://schemas.microsoft.com/office/drawing/2014/main" id="{D5FF513E-E201-4345-522F-05D5BDC94E6E}"/>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5" name="Marcador de pie de página 4">
            <a:extLst>
              <a:ext uri="{FF2B5EF4-FFF2-40B4-BE49-F238E27FC236}">
                <a16:creationId xmlns:a16="http://schemas.microsoft.com/office/drawing/2014/main" id="{32371351-BD5F-0CBD-6276-4BE74B70A5A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2B4A449-F555-EC65-0F1B-0ABB7AA84E3E}"/>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522483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535A15-CC56-D4D0-6469-74F8CA91D8D9}"/>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3761CDD0-AEA2-E1E1-8449-BEFC90594D4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E313E17-511C-62B9-D495-4FA0643416C2}"/>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5" name="Marcador de pie de página 4">
            <a:extLst>
              <a:ext uri="{FF2B5EF4-FFF2-40B4-BE49-F238E27FC236}">
                <a16:creationId xmlns:a16="http://schemas.microsoft.com/office/drawing/2014/main" id="{D045FD42-27BC-120C-3AF3-D3D355B05F5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3ED70BB-D70F-5C80-BEC5-C6A31C94AD80}"/>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42600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8923E4-E3C8-5760-2CD0-CDF9BFCBF7F1}"/>
              </a:ext>
            </a:extLst>
          </p:cNvPr>
          <p:cNvSpPr>
            <a:spLocks noGrp="1"/>
          </p:cNvSpPr>
          <p:nvPr>
            <p:ph type="title"/>
          </p:nvPr>
        </p:nvSpPr>
        <p:spPr>
          <a:xfrm>
            <a:off x="1371686" y="2819485"/>
            <a:ext cx="17339786" cy="4704375"/>
          </a:xfrm>
        </p:spPr>
        <p:txBody>
          <a:bodyPr anchor="b"/>
          <a:lstStyle>
            <a:lvl1pPr>
              <a:defRPr sz="9894"/>
            </a:lvl1p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6F085F8F-91AC-DEDF-BDC7-BE1F89C4C012}"/>
              </a:ext>
            </a:extLst>
          </p:cNvPr>
          <p:cNvSpPr>
            <a:spLocks noGrp="1"/>
          </p:cNvSpPr>
          <p:nvPr>
            <p:ph type="body" idx="1"/>
          </p:nvPr>
        </p:nvSpPr>
        <p:spPr>
          <a:xfrm>
            <a:off x="1371686" y="7568366"/>
            <a:ext cx="17339786" cy="247391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73BA4FA8-08B8-0E66-F01F-B235F110B7C6}"/>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5" name="Marcador de pie de página 4">
            <a:extLst>
              <a:ext uri="{FF2B5EF4-FFF2-40B4-BE49-F238E27FC236}">
                <a16:creationId xmlns:a16="http://schemas.microsoft.com/office/drawing/2014/main" id="{A1ACA919-6BF3-42BD-DBC7-09A7CBD6F48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6715315-E27F-B452-CA46-776C4AE89235}"/>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01413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98B64B-EBCD-6853-58B8-B2CA0C7D47D9}"/>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CADF2E63-4791-D0B1-D362-7EB60DD0D011}"/>
              </a:ext>
            </a:extLst>
          </p:cNvPr>
          <p:cNvSpPr>
            <a:spLocks noGrp="1"/>
          </p:cNvSpPr>
          <p:nvPr>
            <p:ph sz="half" idx="1"/>
          </p:nvPr>
        </p:nvSpPr>
        <p:spPr>
          <a:xfrm>
            <a:off x="1382157" y="3010591"/>
            <a:ext cx="8544243" cy="71756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contenido 3">
            <a:extLst>
              <a:ext uri="{FF2B5EF4-FFF2-40B4-BE49-F238E27FC236}">
                <a16:creationId xmlns:a16="http://schemas.microsoft.com/office/drawing/2014/main" id="{C718DFB6-1BE9-C5A5-B8E5-C1BF4C301DE2}"/>
              </a:ext>
            </a:extLst>
          </p:cNvPr>
          <p:cNvSpPr>
            <a:spLocks noGrp="1"/>
          </p:cNvSpPr>
          <p:nvPr>
            <p:ph sz="half" idx="2"/>
          </p:nvPr>
        </p:nvSpPr>
        <p:spPr>
          <a:xfrm>
            <a:off x="10177700" y="3010591"/>
            <a:ext cx="8544243" cy="71756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fecha 4">
            <a:extLst>
              <a:ext uri="{FF2B5EF4-FFF2-40B4-BE49-F238E27FC236}">
                <a16:creationId xmlns:a16="http://schemas.microsoft.com/office/drawing/2014/main" id="{37BC9F7E-0C80-2B3B-50ED-2EA3038F2CE1}"/>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6" name="Marcador de pie de página 5">
            <a:extLst>
              <a:ext uri="{FF2B5EF4-FFF2-40B4-BE49-F238E27FC236}">
                <a16:creationId xmlns:a16="http://schemas.microsoft.com/office/drawing/2014/main" id="{8FB1FDDF-62D9-10D0-3A15-E051505E913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530564F-FADB-7B9D-90E1-AF826F8D52E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2647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9F778-08A9-A6B8-5C93-C5AAB8EAF968}"/>
              </a:ext>
            </a:extLst>
          </p:cNvPr>
          <p:cNvSpPr>
            <a:spLocks noGrp="1"/>
          </p:cNvSpPr>
          <p:nvPr>
            <p:ph type="title"/>
          </p:nvPr>
        </p:nvSpPr>
        <p:spPr>
          <a:xfrm>
            <a:off x="1384776" y="602119"/>
            <a:ext cx="17339786" cy="2185952"/>
          </a:xfrm>
        </p:spPr>
        <p:txBody>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6DB1367A-B26A-422F-D2BD-31866324251D}"/>
              </a:ext>
            </a:extLst>
          </p:cNvPr>
          <p:cNvSpPr>
            <a:spLocks noGrp="1"/>
          </p:cNvSpPr>
          <p:nvPr>
            <p:ph type="body" idx="1"/>
          </p:nvPr>
        </p:nvSpPr>
        <p:spPr>
          <a:xfrm>
            <a:off x="1384776" y="2772362"/>
            <a:ext cx="8504976" cy="1358692"/>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90EB983-DE50-2793-94B1-6282B8FB5EBC}"/>
              </a:ext>
            </a:extLst>
          </p:cNvPr>
          <p:cNvSpPr>
            <a:spLocks noGrp="1"/>
          </p:cNvSpPr>
          <p:nvPr>
            <p:ph sz="half" idx="2"/>
          </p:nvPr>
        </p:nvSpPr>
        <p:spPr>
          <a:xfrm>
            <a:off x="1384776" y="4131054"/>
            <a:ext cx="8504976" cy="607615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texto 4">
            <a:extLst>
              <a:ext uri="{FF2B5EF4-FFF2-40B4-BE49-F238E27FC236}">
                <a16:creationId xmlns:a16="http://schemas.microsoft.com/office/drawing/2014/main" id="{78D20D19-F20A-717C-BA4D-6B5661EBED5A}"/>
              </a:ext>
            </a:extLst>
          </p:cNvPr>
          <p:cNvSpPr>
            <a:spLocks noGrp="1"/>
          </p:cNvSpPr>
          <p:nvPr>
            <p:ph type="body" sz="quarter" idx="3"/>
          </p:nvPr>
        </p:nvSpPr>
        <p:spPr>
          <a:xfrm>
            <a:off x="10177701" y="2772362"/>
            <a:ext cx="8546861" cy="1358692"/>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2562768-89FD-AA2F-EB7A-2C15C13625C1}"/>
              </a:ext>
            </a:extLst>
          </p:cNvPr>
          <p:cNvSpPr>
            <a:spLocks noGrp="1"/>
          </p:cNvSpPr>
          <p:nvPr>
            <p:ph sz="quarter" idx="4"/>
          </p:nvPr>
        </p:nvSpPr>
        <p:spPr>
          <a:xfrm>
            <a:off x="10177701" y="4131054"/>
            <a:ext cx="8546861" cy="607615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7" name="Marcador de fecha 6">
            <a:extLst>
              <a:ext uri="{FF2B5EF4-FFF2-40B4-BE49-F238E27FC236}">
                <a16:creationId xmlns:a16="http://schemas.microsoft.com/office/drawing/2014/main" id="{C2A6A63F-08A7-06F9-6F36-72AC2E1E9515}"/>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8" name="Marcador de pie de página 7">
            <a:extLst>
              <a:ext uri="{FF2B5EF4-FFF2-40B4-BE49-F238E27FC236}">
                <a16:creationId xmlns:a16="http://schemas.microsoft.com/office/drawing/2014/main" id="{C35A53C4-A8EF-EB7C-EA3A-6C78EC4B0E4F}"/>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910B013-DDC7-D0B3-F289-335856F75D2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03713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7347E-68C2-47E3-D5CA-088E9958A544}"/>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fecha 2">
            <a:extLst>
              <a:ext uri="{FF2B5EF4-FFF2-40B4-BE49-F238E27FC236}">
                <a16:creationId xmlns:a16="http://schemas.microsoft.com/office/drawing/2014/main" id="{52526359-41CF-4EFB-0CDE-88ABEEC21FD2}"/>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4" name="Marcador de pie de página 3">
            <a:extLst>
              <a:ext uri="{FF2B5EF4-FFF2-40B4-BE49-F238E27FC236}">
                <a16:creationId xmlns:a16="http://schemas.microsoft.com/office/drawing/2014/main" id="{CDB796C5-5685-6789-4FBC-3CF567A02944}"/>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7E7E3A9-9B64-71CD-9D73-9DC2A402D7AF}"/>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415190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686668C-654D-7680-D2F1-5951A5BA383A}"/>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3" name="Marcador de pie de página 2">
            <a:extLst>
              <a:ext uri="{FF2B5EF4-FFF2-40B4-BE49-F238E27FC236}">
                <a16:creationId xmlns:a16="http://schemas.microsoft.com/office/drawing/2014/main" id="{C4641BD1-643A-0141-998D-BA2EF4BCA944}"/>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1D63F749-E945-0A95-968F-044A4AC32EE4}"/>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417708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DDA742-F495-D4AC-270C-DA99995119BE}"/>
              </a:ext>
            </a:extLst>
          </p:cNvPr>
          <p:cNvSpPr>
            <a:spLocks noGrp="1"/>
          </p:cNvSpPr>
          <p:nvPr>
            <p:ph type="title"/>
          </p:nvPr>
        </p:nvSpPr>
        <p:spPr>
          <a:xfrm>
            <a:off x="1384776" y="753957"/>
            <a:ext cx="6484095" cy="2638848"/>
          </a:xfrm>
        </p:spPr>
        <p:txBody>
          <a:bodyPr anchor="b"/>
          <a:lstStyle>
            <a:lvl1pPr>
              <a:defRPr sz="5277"/>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F477B855-60C9-AC83-44EF-14F710C3993D}"/>
              </a:ext>
            </a:extLst>
          </p:cNvPr>
          <p:cNvSpPr>
            <a:spLocks noGrp="1"/>
          </p:cNvSpPr>
          <p:nvPr>
            <p:ph idx="1"/>
          </p:nvPr>
        </p:nvSpPr>
        <p:spPr>
          <a:xfrm>
            <a:off x="8546861" y="1628338"/>
            <a:ext cx="10177701" cy="8036969"/>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texto 3">
            <a:extLst>
              <a:ext uri="{FF2B5EF4-FFF2-40B4-BE49-F238E27FC236}">
                <a16:creationId xmlns:a16="http://schemas.microsoft.com/office/drawing/2014/main" id="{1823DF89-AB5E-D209-90B6-FBB140BD184C}"/>
              </a:ext>
            </a:extLst>
          </p:cNvPr>
          <p:cNvSpPr>
            <a:spLocks noGrp="1"/>
          </p:cNvSpPr>
          <p:nvPr>
            <p:ph type="body" sz="half" idx="2"/>
          </p:nvPr>
        </p:nvSpPr>
        <p:spPr>
          <a:xfrm>
            <a:off x="1384776" y="3392805"/>
            <a:ext cx="6484095" cy="6285591"/>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627FB68-BAF2-FAFC-20C5-50840A80BFD3}"/>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6" name="Marcador de pie de página 5">
            <a:extLst>
              <a:ext uri="{FF2B5EF4-FFF2-40B4-BE49-F238E27FC236}">
                <a16:creationId xmlns:a16="http://schemas.microsoft.com/office/drawing/2014/main" id="{80E96347-07C2-617F-DA6B-645148352AF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52B3FF74-E26C-3624-C160-FD84EBF2DA6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84062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E3DB23-2B68-8BE6-5BE8-74FB8AC893F3}"/>
              </a:ext>
            </a:extLst>
          </p:cNvPr>
          <p:cNvSpPr>
            <a:spLocks noGrp="1"/>
          </p:cNvSpPr>
          <p:nvPr>
            <p:ph type="title"/>
          </p:nvPr>
        </p:nvSpPr>
        <p:spPr>
          <a:xfrm>
            <a:off x="1384776" y="753957"/>
            <a:ext cx="6484095" cy="2638848"/>
          </a:xfrm>
        </p:spPr>
        <p:txBody>
          <a:bodyPr anchor="b"/>
          <a:lstStyle>
            <a:lvl1pPr>
              <a:defRPr sz="5277"/>
            </a:lvl1pPr>
          </a:lstStyle>
          <a:p>
            <a:r>
              <a:rPr lang="es-MX"/>
              <a:t>Haz clic para modificar el estilo de título del patrón</a:t>
            </a:r>
            <a:endParaRPr lang="es-CL"/>
          </a:p>
        </p:txBody>
      </p:sp>
      <p:sp>
        <p:nvSpPr>
          <p:cNvPr id="3" name="Marcador de posición de imagen 2">
            <a:extLst>
              <a:ext uri="{FF2B5EF4-FFF2-40B4-BE49-F238E27FC236}">
                <a16:creationId xmlns:a16="http://schemas.microsoft.com/office/drawing/2014/main" id="{F212C754-B8E4-3914-A69F-E1B36DCF67FA}"/>
              </a:ext>
            </a:extLst>
          </p:cNvPr>
          <p:cNvSpPr>
            <a:spLocks noGrp="1"/>
          </p:cNvSpPr>
          <p:nvPr>
            <p:ph type="pic" idx="1"/>
          </p:nvPr>
        </p:nvSpPr>
        <p:spPr>
          <a:xfrm>
            <a:off x="8546861" y="1628338"/>
            <a:ext cx="10177701" cy="8036969"/>
          </a:xfrm>
        </p:spPr>
        <p:txBody>
          <a:bodyPr/>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endParaRPr lang="es-CL"/>
          </a:p>
        </p:txBody>
      </p:sp>
      <p:sp>
        <p:nvSpPr>
          <p:cNvPr id="4" name="Marcador de texto 3">
            <a:extLst>
              <a:ext uri="{FF2B5EF4-FFF2-40B4-BE49-F238E27FC236}">
                <a16:creationId xmlns:a16="http://schemas.microsoft.com/office/drawing/2014/main" id="{25A8F03C-2BE0-3A95-F000-ACD6AD1C7C0F}"/>
              </a:ext>
            </a:extLst>
          </p:cNvPr>
          <p:cNvSpPr>
            <a:spLocks noGrp="1"/>
          </p:cNvSpPr>
          <p:nvPr>
            <p:ph type="body" sz="half" idx="2"/>
          </p:nvPr>
        </p:nvSpPr>
        <p:spPr>
          <a:xfrm>
            <a:off x="1384776" y="3392805"/>
            <a:ext cx="6484095" cy="6285591"/>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A51A9BF-B911-5C93-22DE-19FD68991032}"/>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6" name="Marcador de pie de página 5">
            <a:extLst>
              <a:ext uri="{FF2B5EF4-FFF2-40B4-BE49-F238E27FC236}">
                <a16:creationId xmlns:a16="http://schemas.microsoft.com/office/drawing/2014/main" id="{BEDF1256-7E86-58E3-6661-FA1D67375CA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F1259D9-D8FC-1B56-BFFA-37357293A55A}"/>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34611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06267-7792-D819-1250-3B80F216CD76}"/>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3C545AC6-7292-773C-7509-D7E1D0B69D1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AC3A385-780F-B272-80CB-E3EE272081C5}"/>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5" name="Marcador de pie de página 4">
            <a:extLst>
              <a:ext uri="{FF2B5EF4-FFF2-40B4-BE49-F238E27FC236}">
                <a16:creationId xmlns:a16="http://schemas.microsoft.com/office/drawing/2014/main" id="{FAE7FDF5-4CCA-2A20-13BC-D406ED96A1D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BF13AE1-0243-5662-3E9D-89565B76EF60}"/>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8910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72016D2-D6B9-D0D7-A956-FC3D8BE03CB3}"/>
              </a:ext>
            </a:extLst>
          </p:cNvPr>
          <p:cNvSpPr>
            <a:spLocks noGrp="1"/>
          </p:cNvSpPr>
          <p:nvPr>
            <p:ph type="title" orient="vert"/>
          </p:nvPr>
        </p:nvSpPr>
        <p:spPr>
          <a:xfrm>
            <a:off x="14386996" y="602118"/>
            <a:ext cx="4334947" cy="9584151"/>
          </a:xfrm>
        </p:spPr>
        <p:txBody>
          <a:bodyPr vert="eaVert"/>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0C84FC73-6922-E6BE-8B37-9A3D83C84D8E}"/>
              </a:ext>
            </a:extLst>
          </p:cNvPr>
          <p:cNvSpPr>
            <a:spLocks noGrp="1"/>
          </p:cNvSpPr>
          <p:nvPr>
            <p:ph type="body" orient="vert" idx="1"/>
          </p:nvPr>
        </p:nvSpPr>
        <p:spPr>
          <a:xfrm>
            <a:off x="1382157" y="602118"/>
            <a:ext cx="12753538" cy="958415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65029604-4D94-FF99-EACD-68549E65275D}"/>
              </a:ext>
            </a:extLst>
          </p:cNvPr>
          <p:cNvSpPr>
            <a:spLocks noGrp="1"/>
          </p:cNvSpPr>
          <p:nvPr>
            <p:ph type="dt" sz="half" idx="10"/>
          </p:nvPr>
        </p:nvSpPr>
        <p:spPr/>
        <p:txBody>
          <a:bodyPr/>
          <a:lstStyle/>
          <a:p>
            <a:fld id="{1D8BD707-D9CF-40AE-B4C6-C98DA3205C09}" type="datetimeFigureOut">
              <a:rPr lang="en-US" smtClean="0"/>
              <a:t>5/4/2026</a:t>
            </a:fld>
            <a:endParaRPr lang="en-US"/>
          </a:p>
        </p:txBody>
      </p:sp>
      <p:sp>
        <p:nvSpPr>
          <p:cNvPr id="5" name="Marcador de pie de página 4">
            <a:extLst>
              <a:ext uri="{FF2B5EF4-FFF2-40B4-BE49-F238E27FC236}">
                <a16:creationId xmlns:a16="http://schemas.microsoft.com/office/drawing/2014/main" id="{7AB03D43-86E0-0338-2B20-C4B28C452F3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02D1C4-EEBA-36AC-255B-B421F28F69CB}"/>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15433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323E6B1A-7AB0-C547-8394-097517D6C818}"/>
              </a:ext>
            </a:extLst>
          </p:cNvPr>
          <p:cNvCxnSpPr>
            <a:cxnSpLocks/>
          </p:cNvCxnSpPr>
          <p:nvPr userDrawn="1"/>
        </p:nvCxnSpPr>
        <p:spPr>
          <a:xfrm flipH="1">
            <a:off x="0" y="10821498"/>
            <a:ext cx="19059478" cy="0"/>
          </a:xfrm>
          <a:prstGeom prst="lin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245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F454EFA-1F7B-877B-469B-2D764857A419}"/>
              </a:ext>
            </a:extLst>
          </p:cNvPr>
          <p:cNvSpPr>
            <a:spLocks noGrp="1"/>
          </p:cNvSpPr>
          <p:nvPr>
            <p:ph type="title"/>
          </p:nvPr>
        </p:nvSpPr>
        <p:spPr>
          <a:xfrm>
            <a:off x="1382157" y="602119"/>
            <a:ext cx="17339786" cy="2185952"/>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1E7C16E2-A185-FEA6-7411-8103675A847E}"/>
              </a:ext>
            </a:extLst>
          </p:cNvPr>
          <p:cNvSpPr>
            <a:spLocks noGrp="1"/>
          </p:cNvSpPr>
          <p:nvPr>
            <p:ph type="body" idx="1"/>
          </p:nvPr>
        </p:nvSpPr>
        <p:spPr>
          <a:xfrm>
            <a:off x="1382157" y="3010591"/>
            <a:ext cx="17339786" cy="717567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3021F49-C348-4F08-D8CA-E6E1125C761E}"/>
              </a:ext>
            </a:extLst>
          </p:cNvPr>
          <p:cNvSpPr>
            <a:spLocks noGrp="1"/>
          </p:cNvSpPr>
          <p:nvPr>
            <p:ph type="dt" sz="half" idx="2"/>
          </p:nvPr>
        </p:nvSpPr>
        <p:spPr>
          <a:xfrm>
            <a:off x="1382157" y="10482093"/>
            <a:ext cx="4523423" cy="602118"/>
          </a:xfrm>
          <a:prstGeom prst="rect">
            <a:avLst/>
          </a:prstGeom>
        </p:spPr>
        <p:txBody>
          <a:bodyPr vert="horz" lIns="91440" tIns="45720" rIns="91440" bIns="45720" rtlCol="0" anchor="ctr"/>
          <a:lstStyle>
            <a:lvl1pPr algn="l">
              <a:defRPr sz="1979">
                <a:solidFill>
                  <a:schemeClr val="tx1">
                    <a:tint val="75000"/>
                  </a:schemeClr>
                </a:solidFill>
              </a:defRPr>
            </a:lvl1pPr>
          </a:lstStyle>
          <a:p>
            <a:fld id="{1D8BD707-D9CF-40AE-B4C6-C98DA3205C09}" type="datetimeFigureOut">
              <a:rPr lang="en-US" smtClean="0"/>
              <a:t>5/4/2026</a:t>
            </a:fld>
            <a:endParaRPr lang="en-US"/>
          </a:p>
        </p:txBody>
      </p:sp>
      <p:sp>
        <p:nvSpPr>
          <p:cNvPr id="5" name="Marcador de pie de página 4">
            <a:extLst>
              <a:ext uri="{FF2B5EF4-FFF2-40B4-BE49-F238E27FC236}">
                <a16:creationId xmlns:a16="http://schemas.microsoft.com/office/drawing/2014/main" id="{B71E2BA2-5BAF-A870-FA74-B2B0C7643BE3}"/>
              </a:ext>
            </a:extLst>
          </p:cNvPr>
          <p:cNvSpPr>
            <a:spLocks noGrp="1"/>
          </p:cNvSpPr>
          <p:nvPr>
            <p:ph type="ftr" sz="quarter" idx="3"/>
          </p:nvPr>
        </p:nvSpPr>
        <p:spPr>
          <a:xfrm>
            <a:off x="6659483" y="10482093"/>
            <a:ext cx="6785134" cy="602118"/>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926E0C4E-A769-0FA6-B059-676054203232}"/>
              </a:ext>
            </a:extLst>
          </p:cNvPr>
          <p:cNvSpPr>
            <a:spLocks noGrp="1"/>
          </p:cNvSpPr>
          <p:nvPr>
            <p:ph type="sldNum" sz="quarter" idx="4"/>
          </p:nvPr>
        </p:nvSpPr>
        <p:spPr>
          <a:xfrm>
            <a:off x="14198520" y="10482093"/>
            <a:ext cx="4523423" cy="602118"/>
          </a:xfrm>
          <a:prstGeom prst="rect">
            <a:avLst/>
          </a:prstGeom>
        </p:spPr>
        <p:txBody>
          <a:bodyPr vert="horz" lIns="91440" tIns="45720" rIns="91440" bIns="45720" rtlCol="0" anchor="ctr"/>
          <a:lstStyle>
            <a:lvl1pPr algn="r">
              <a:defRPr sz="1979">
                <a:solidFill>
                  <a:schemeClr val="tx1">
                    <a:tint val="75000"/>
                  </a:schemeClr>
                </a:solidFill>
              </a:defRPr>
            </a:lvl1pPr>
          </a:lstStyle>
          <a:p>
            <a:fld id="{B6F15528-21DE-4FAA-801E-634DDDAF4B2B}" type="slidenum">
              <a:rPr lang="es-CL" smtClean="0"/>
              <a:t>‹Nº›</a:t>
            </a:fld>
            <a:endParaRPr lang="es-CL"/>
          </a:p>
        </p:txBody>
      </p:sp>
    </p:spTree>
    <p:extLst>
      <p:ext uri="{BB962C8B-B14F-4D97-AF65-F5344CB8AC3E}">
        <p14:creationId xmlns:p14="http://schemas.microsoft.com/office/powerpoint/2010/main" val="188264041"/>
      </p:ext>
    </p:extLst>
  </p:cSld>
  <p:clrMap bg1="lt1" tx1="dk1" bg2="lt2" tx2="dk2" accent1="accent1" accent2="accent2" accent3="accent3" accent4="accent4" accent5="accent5" accent6="accent6" hlink="hlink" folHlink="folHlink"/>
  <p:sldLayoutIdLst>
    <p:sldLayoutId id="2147485172" r:id="rId1"/>
    <p:sldLayoutId id="2147485173" r:id="rId2"/>
    <p:sldLayoutId id="2147485174" r:id="rId3"/>
    <p:sldLayoutId id="2147485175" r:id="rId4"/>
    <p:sldLayoutId id="2147485176" r:id="rId5"/>
    <p:sldLayoutId id="2147485177" r:id="rId6"/>
    <p:sldLayoutId id="2147485178" r:id="rId7"/>
    <p:sldLayoutId id="2147485179" r:id="rId8"/>
    <p:sldLayoutId id="2147485180" r:id="rId9"/>
    <p:sldLayoutId id="2147485181" r:id="rId10"/>
    <p:sldLayoutId id="2147485182" r:id="rId11"/>
    <p:sldLayoutId id="2147485183" r:id="rId12"/>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s-CL"/>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gif"/><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1EB7-9429-938F-2206-0C0DF1A1F764}"/>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647993BD-1026-BE53-F0BF-6C1E19F33C17}"/>
              </a:ext>
            </a:extLst>
          </p:cNvPr>
          <p:cNvSpPr>
            <a:spLocks noGrp="1"/>
          </p:cNvSpPr>
          <p:nvPr>
            <p:ph type="title"/>
          </p:nvPr>
        </p:nvSpPr>
        <p:spPr/>
        <p:txBody>
          <a:bodyPr/>
          <a:lstStyle/>
          <a:p>
            <a:endParaRPr lang="es-CL" noProof="0" dirty="0"/>
          </a:p>
        </p:txBody>
      </p:sp>
      <p:pic>
        <p:nvPicPr>
          <p:cNvPr id="2050" name="Picture 2" descr="C:\Users\FHidalgoP\Downloads\Diapositiva1_portada3 (1).jpg">
            <a:extLst>
              <a:ext uri="{FF2B5EF4-FFF2-40B4-BE49-F238E27FC236}">
                <a16:creationId xmlns:a16="http://schemas.microsoft.com/office/drawing/2014/main" id="{E2C98402-7C99-52F0-8BAE-9D1EECF05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162"/>
            <a:ext cx="20112192" cy="11309350"/>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F0EEF1A1-EED1-4A80-05D6-1A782B76E8A3}"/>
              </a:ext>
            </a:extLst>
          </p:cNvPr>
          <p:cNvSpPr txBox="1"/>
          <p:nvPr/>
        </p:nvSpPr>
        <p:spPr>
          <a:xfrm>
            <a:off x="831850" y="8161793"/>
            <a:ext cx="18564837" cy="2223813"/>
          </a:xfrm>
          <a:prstGeom prst="rect">
            <a:avLst/>
          </a:prstGeom>
          <a:noFill/>
          <a:effectLst>
            <a:outerShdw blurRad="50800" dist="38100" dir="5400000" algn="t" rotWithShape="0">
              <a:prstClr val="black">
                <a:alpha val="40000"/>
              </a:prstClr>
            </a:outerShdw>
          </a:effectLst>
        </p:spPr>
        <p:txBody>
          <a:bodyPr vert="horz" wrap="square" lIns="0" tIns="349884" rIns="0" bIns="0" rtlCol="0">
            <a:spAutoFit/>
          </a:bodyPr>
          <a:lstStyle/>
          <a:p>
            <a:pPr>
              <a:lnSpc>
                <a:spcPct val="150000"/>
              </a:lnSpc>
            </a:pPr>
            <a:r>
              <a:rPr lang="es-CL" sz="6000" b="1" kern="100"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SISTEMAS DE TRANSMISIÓN</a:t>
            </a:r>
          </a:p>
          <a:p>
            <a:pPr>
              <a:lnSpc>
                <a:spcPct val="150000"/>
              </a:lnSpc>
            </a:pPr>
            <a:r>
              <a:rPr lang="es-CL" sz="2400" b="1" kern="100" noProof="0" dirty="0">
                <a:solidFill>
                  <a:schemeClr val="bg1"/>
                </a:solidFill>
                <a:latin typeface="Arial" panose="020B0604020202020204" pitchFamily="34" charset="0"/>
                <a:ea typeface="Roboto" panose="02000000000000000000" pitchFamily="2" charset="0"/>
                <a:cs typeface="Arial" panose="020B0604020202020204" pitchFamily="34" charset="0"/>
              </a:rPr>
              <a:t>CAP. JACOB BARQUI PÉREZ</a:t>
            </a:r>
          </a:p>
        </p:txBody>
      </p:sp>
      <p:sp>
        <p:nvSpPr>
          <p:cNvPr id="6" name="CuadroTexto 1">
            <a:extLst>
              <a:ext uri="{FF2B5EF4-FFF2-40B4-BE49-F238E27FC236}">
                <a16:creationId xmlns:a16="http://schemas.microsoft.com/office/drawing/2014/main" id="{04A64BD5-A679-1220-6BE4-18316EBEAFEE}"/>
              </a:ext>
            </a:extLst>
          </p:cNvPr>
          <p:cNvSpPr txBox="1"/>
          <p:nvPr/>
        </p:nvSpPr>
        <p:spPr>
          <a:xfrm>
            <a:off x="17637126" y="1937258"/>
            <a:ext cx="2051049" cy="400110"/>
          </a:xfrm>
          <a:prstGeom prst="rect">
            <a:avLst/>
          </a:prstGeom>
          <a:noFill/>
        </p:spPr>
        <p:txBody>
          <a:bodyPr wrap="square" rtlCol="0">
            <a:spAutoFit/>
          </a:bodyPr>
          <a:lstStyle/>
          <a:p>
            <a:pPr algn="ctr"/>
            <a:r>
              <a:rPr lang="es-CL" sz="2000" noProof="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s-CL" sz="2000" b="1"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MAY, 2026</a:t>
            </a:r>
          </a:p>
        </p:txBody>
      </p:sp>
      <p:pic>
        <p:nvPicPr>
          <p:cNvPr id="7" name="Imagen 4">
            <a:extLst>
              <a:ext uri="{FF2B5EF4-FFF2-40B4-BE49-F238E27FC236}">
                <a16:creationId xmlns:a16="http://schemas.microsoft.com/office/drawing/2014/main" id="{75267336-5C6F-233B-B307-ACCAAEB663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8615" y="168276"/>
            <a:ext cx="1468072" cy="1600200"/>
          </a:xfrm>
          <a:prstGeom prst="rect">
            <a:avLst/>
          </a:prstGeom>
        </p:spPr>
      </p:pic>
      <p:pic>
        <p:nvPicPr>
          <p:cNvPr id="13" name="Imagen 12" descr="Logotipo&#10;&#10;El contenido generado por IA puede ser incorrecto.">
            <a:extLst>
              <a:ext uri="{FF2B5EF4-FFF2-40B4-BE49-F238E27FC236}">
                <a16:creationId xmlns:a16="http://schemas.microsoft.com/office/drawing/2014/main" id="{C9712216-5E15-034A-5027-79B61F1C67F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5657" y="-366510"/>
            <a:ext cx="1632386" cy="1937258"/>
          </a:xfrm>
          <a:prstGeom prst="rect">
            <a:avLst/>
          </a:prstGeom>
        </p:spPr>
      </p:pic>
    </p:spTree>
    <p:extLst>
      <p:ext uri="{BB962C8B-B14F-4D97-AF65-F5344CB8AC3E}">
        <p14:creationId xmlns:p14="http://schemas.microsoft.com/office/powerpoint/2010/main" val="3278461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Marcador de contenido 2">
            <a:extLst>
              <a:ext uri="{FF2B5EF4-FFF2-40B4-BE49-F238E27FC236}">
                <a16:creationId xmlns:a16="http://schemas.microsoft.com/office/drawing/2014/main" id="{7181627E-945E-922A-A8C8-DEDA2C7AC933}"/>
              </a:ext>
            </a:extLst>
          </p:cNvPr>
          <p:cNvSpPr txBox="1">
            <a:spLocks/>
          </p:cNvSpPr>
          <p:nvPr/>
        </p:nvSpPr>
        <p:spPr>
          <a:xfrm>
            <a:off x="8375650" y="1507362"/>
            <a:ext cx="10591799" cy="8013237"/>
          </a:xfrm>
          <a:prstGeom prst="rect">
            <a:avLst/>
          </a:prstGeom>
          <a:effectLst/>
        </p:spPr>
        <p:txBody>
          <a:bodyPr vert="horz" lIns="91440" tIns="45720" rIns="91440" bIns="45720" rtlCol="0">
            <a:normAutofit/>
          </a:bodyPr>
          <a:lst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pPr marL="514350" indent="-514350">
              <a:buFont typeface="+mj-lt"/>
              <a:buAutoNum type="arabicPeriod"/>
            </a:pPr>
            <a:r>
              <a:rPr lang="es-CL" sz="3200" b="1" noProof="0" dirty="0">
                <a:latin typeface="Atkinson Hyperlegible" pitchFamily="2" charset="77"/>
              </a:rPr>
              <a:t>OBJETIVO DE LA UNIDAD DE APRENDIZAJE.</a:t>
            </a:r>
            <a:endParaRPr lang="es-CL" sz="3200" noProof="0" dirty="0">
              <a:latin typeface="Atkinson Hyperlegible" pitchFamily="2" charset="77"/>
            </a:endParaRPr>
          </a:p>
          <a:p>
            <a:pPr marL="514350" indent="-514350">
              <a:buFont typeface="+mj-lt"/>
              <a:buAutoNum type="arabicPeriod"/>
            </a:pPr>
            <a:r>
              <a:rPr lang="es-ES" sz="3200" b="1" noProof="0" dirty="0">
                <a:latin typeface="Atkinson Hyperlegible" pitchFamily="2" charset="77"/>
              </a:rPr>
              <a:t>ARQUITECTURAS DE REDES DE FIBRA ÓPTICA.</a:t>
            </a:r>
          </a:p>
          <a:p>
            <a:pPr marL="514350" indent="-514350">
              <a:buFont typeface="+mj-lt"/>
              <a:buAutoNum type="arabicPeriod"/>
            </a:pPr>
            <a:r>
              <a:rPr lang="es-ES" sz="3200" b="1" noProof="0" dirty="0">
                <a:latin typeface="Atkinson Hyperlegible" pitchFamily="2" charset="77"/>
              </a:rPr>
              <a:t>PROCESOS Y ALGORITMOS DE RUTEO EN REDES DE FIBRA ÓPTICA.</a:t>
            </a:r>
          </a:p>
          <a:p>
            <a:pPr marL="514350" indent="-514350">
              <a:buFont typeface="+mj-lt"/>
              <a:buAutoNum type="arabicPeriod"/>
            </a:pPr>
            <a:r>
              <a:rPr lang="es-ES" sz="3200" b="1" noProof="0" dirty="0">
                <a:latin typeface="Atkinson Hyperlegible" pitchFamily="2" charset="77"/>
              </a:rPr>
              <a:t>RUTEO WDM. </a:t>
            </a:r>
          </a:p>
          <a:p>
            <a:pPr marL="514350" indent="-514350">
              <a:buFont typeface="+mj-lt"/>
              <a:buAutoNum type="arabicPeriod"/>
            </a:pPr>
            <a:r>
              <a:rPr lang="es-ES" sz="3200" b="1" noProof="0" dirty="0">
                <a:latin typeface="Atkinson Hyperlegible" pitchFamily="2" charset="77"/>
              </a:rPr>
              <a:t>REDES MULTICAPA Y REDES </a:t>
            </a:r>
            <a:r>
              <a:rPr lang="es-ES" sz="3200" b="1" noProof="0" dirty="0" err="1">
                <a:latin typeface="Atkinson Hyperlegible" pitchFamily="2" charset="77"/>
              </a:rPr>
              <a:t>OVERLAY</a:t>
            </a:r>
            <a:r>
              <a:rPr lang="es-ES" sz="3200" b="1" noProof="0" dirty="0">
                <a:latin typeface="Atkinson Hyperlegible" pitchFamily="2" charset="77"/>
              </a:rPr>
              <a:t>.</a:t>
            </a:r>
          </a:p>
          <a:p>
            <a:pPr marL="514350" indent="-514350">
              <a:buFont typeface="+mj-lt"/>
              <a:buAutoNum type="arabicPeriod"/>
            </a:pPr>
            <a:r>
              <a:rPr lang="es-ES" sz="3200" b="1" noProof="0" dirty="0">
                <a:latin typeface="Atkinson Hyperlegible" pitchFamily="2" charset="77"/>
              </a:rPr>
              <a:t>REGENERACIÓN DE SEÑALES. </a:t>
            </a:r>
          </a:p>
          <a:p>
            <a:pPr marL="514350" indent="-514350">
              <a:buFont typeface="+mj-lt"/>
              <a:buAutoNum type="arabicPeriod"/>
            </a:pPr>
            <a:r>
              <a:rPr lang="es-ES" sz="3200" b="1" noProof="0" dirty="0">
                <a:latin typeface="Atkinson Hyperlegible" pitchFamily="2" charset="77"/>
              </a:rPr>
              <a:t>TÉCNICAS Y MÉTODOS DE PROTECCIÓN EN REDES DE FIBRA.</a:t>
            </a:r>
          </a:p>
          <a:p>
            <a:pPr marL="514350" indent="-514350">
              <a:buFont typeface="+mj-lt"/>
              <a:buAutoNum type="arabicPeriod"/>
            </a:pPr>
            <a:r>
              <a:rPr lang="es-ES" sz="3200" b="1" noProof="0" dirty="0">
                <a:latin typeface="Atkinson Hyperlegible" pitchFamily="2" charset="77"/>
              </a:rPr>
              <a:t>RUTEO DINÁMICO EN REDES DE FIBRA ÓPTICA.</a:t>
            </a:r>
          </a:p>
          <a:p>
            <a:pPr marL="514350" indent="-514350">
              <a:buFont typeface="+mj-lt"/>
              <a:buAutoNum type="arabicPeriod"/>
            </a:pPr>
            <a:endParaRPr lang="es-CL" sz="3200" b="1" noProof="0" dirty="0">
              <a:latin typeface="Atkinson Hyperlegible" pitchFamily="2" charset="77"/>
            </a:endParaRPr>
          </a:p>
          <a:p>
            <a:pPr marL="514350" indent="-514350">
              <a:buFont typeface="+mj-lt"/>
              <a:buAutoNum type="arabicPeriod"/>
            </a:pPr>
            <a:endParaRPr lang="es-CL" sz="3200" b="1" noProof="0" dirty="0">
              <a:latin typeface="Atkinson Hyperlegible" pitchFamily="2" charset="77"/>
            </a:endParaRPr>
          </a:p>
          <a:p>
            <a:pPr marL="514350" indent="-514350">
              <a:buFont typeface="+mj-lt"/>
              <a:buAutoNum type="arabicPeriod"/>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2400" noProof="0" dirty="0">
              <a:latin typeface="Atkinson Hyperlegible" pitchFamily="2" charset="77"/>
            </a:endParaRPr>
          </a:p>
          <a:p>
            <a:pPr marL="0" indent="0">
              <a:buNone/>
            </a:pPr>
            <a:endParaRPr lang="es-CL" sz="2400" noProof="0" dirty="0"/>
          </a:p>
          <a:p>
            <a:pPr marL="0" indent="0">
              <a:buNone/>
            </a:pPr>
            <a:endParaRPr lang="es-CL" sz="2400" noProof="0" dirty="0"/>
          </a:p>
          <a:p>
            <a:pPr marL="0" indent="0">
              <a:buNone/>
            </a:pPr>
            <a:endParaRPr lang="es-CL" sz="2400" noProof="0" dirty="0"/>
          </a:p>
          <a:p>
            <a:pPr marL="0" indent="0">
              <a:buFont typeface="Arial" panose="020B0604020202020204" pitchFamily="34" charset="0"/>
              <a:buNone/>
            </a:pPr>
            <a:endParaRPr lang="es-CL" sz="3200" noProof="0" dirty="0"/>
          </a:p>
          <a:p>
            <a:endParaRPr lang="es-CL" sz="3200" noProof="0" dirty="0"/>
          </a:p>
        </p:txBody>
      </p:sp>
      <p:sp>
        <p:nvSpPr>
          <p:cNvPr id="9" name="object 3">
            <a:extLst>
              <a:ext uri="{FF2B5EF4-FFF2-40B4-BE49-F238E27FC236}">
                <a16:creationId xmlns:a16="http://schemas.microsoft.com/office/drawing/2014/main" id="{CF8EB62E-9478-2731-9162-83AA65AA10D2}"/>
              </a:ext>
            </a:extLst>
          </p:cNvPr>
          <p:cNvSpPr txBox="1"/>
          <p:nvPr/>
        </p:nvSpPr>
        <p:spPr>
          <a:xfrm>
            <a:off x="8375650" y="24840"/>
            <a:ext cx="8610595" cy="1482522"/>
          </a:xfrm>
          <a:prstGeom prst="rect">
            <a:avLst/>
          </a:prstGeom>
          <a:noFill/>
        </p:spPr>
        <p:txBody>
          <a:bodyPr vert="horz" wrap="square" lIns="0" tIns="349885" rIns="0" bIns="0" rtlCol="0">
            <a:spAutoFit/>
          </a:bodyPr>
          <a:lstStyle/>
          <a:p>
            <a:pPr>
              <a:lnSpc>
                <a:spcPct val="150000"/>
              </a:lnSpc>
            </a:pPr>
            <a:r>
              <a:rPr lang="es-CL" sz="5400" b="1" kern="100" noProof="0" dirty="0">
                <a:latin typeface="Atkinson Hyperlegible" pitchFamily="2" charset="77"/>
                <a:ea typeface="Calibri" panose="020F0502020204030204" pitchFamily="34" charset="0"/>
                <a:cs typeface="Gotham" pitchFamily="2" charset="0"/>
              </a:rPr>
              <a:t>TEMARIO</a:t>
            </a:r>
            <a:endParaRPr lang="es-CL" sz="5400" b="1" kern="100" noProof="0" dirty="0">
              <a:effectLst/>
              <a:latin typeface="Atkinson Hyperlegible" pitchFamily="2" charset="77"/>
              <a:ea typeface="Calibri" panose="020F0502020204030204" pitchFamily="34" charset="0"/>
              <a:cs typeface="Gotham" pitchFamily="2" charset="0"/>
            </a:endParaRPr>
          </a:p>
        </p:txBody>
      </p:sp>
      <p:cxnSp>
        <p:nvCxnSpPr>
          <p:cNvPr id="10" name="Conector recto 9">
            <a:extLst>
              <a:ext uri="{FF2B5EF4-FFF2-40B4-BE49-F238E27FC236}">
                <a16:creationId xmlns:a16="http://schemas.microsoft.com/office/drawing/2014/main" id="{80913B85-DB62-6753-27C9-B93610CCB519}"/>
              </a:ext>
            </a:extLst>
          </p:cNvPr>
          <p:cNvCxnSpPr>
            <a:cxnSpLocks/>
          </p:cNvCxnSpPr>
          <p:nvPr/>
        </p:nvCxnSpPr>
        <p:spPr>
          <a:xfrm>
            <a:off x="80708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pic>
        <p:nvPicPr>
          <p:cNvPr id="11" name="Picture 2" descr="C:\Users\FHidalgoP\Downloads\WhatsApp Image 2025-03-12 at 14.35.36.jpeg"/>
          <p:cNvPicPr>
            <a:picLocks noChangeAspect="1" noChangeArrowheads="1"/>
          </p:cNvPicPr>
          <p:nvPr/>
        </p:nvPicPr>
        <p:blipFill rotWithShape="1">
          <a:blip r:embed="rId4">
            <a:extLst>
              <a:ext uri="{28A0092B-C50C-407E-A947-70E740481C1C}">
                <a14:useLocalDpi xmlns:a14="http://schemas.microsoft.com/office/drawing/2010/main" val="0"/>
              </a:ext>
            </a:extLst>
          </a:blip>
          <a:srcRect l="21148" r="43683" b="714"/>
          <a:stretch/>
        </p:blipFill>
        <p:spPr bwMode="auto">
          <a:xfrm>
            <a:off x="0" y="0"/>
            <a:ext cx="7308850" cy="10489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01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6BDD0DA-35A7-19FD-C84B-195C6F463A82}"/>
              </a:ext>
            </a:extLst>
          </p:cNvPr>
          <p:cNvSpPr txBox="1"/>
          <p:nvPr/>
        </p:nvSpPr>
        <p:spPr>
          <a:xfrm>
            <a:off x="7766631" y="6036368"/>
            <a:ext cx="4523423" cy="406040"/>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pPr algn="just"/>
            <a:endParaRPr lang="es-CL" sz="1649" noProof="0" dirty="0"/>
          </a:p>
        </p:txBody>
      </p:sp>
      <p:sp>
        <p:nvSpPr>
          <p:cNvPr id="2" name="CuadroTexto 1">
            <a:extLst>
              <a:ext uri="{FF2B5EF4-FFF2-40B4-BE49-F238E27FC236}">
                <a16:creationId xmlns:a16="http://schemas.microsoft.com/office/drawing/2014/main" id="{094B6FE4-EB02-E344-53F4-F643E93825FE}"/>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E0D695D3-82B4-0843-C646-1FDE68CDAE13}"/>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8" name="5 Rectángulo">
            <a:extLst>
              <a:ext uri="{FF2B5EF4-FFF2-40B4-BE49-F238E27FC236}">
                <a16:creationId xmlns:a16="http://schemas.microsoft.com/office/drawing/2014/main" id="{AC5A5358-5A9B-B423-3443-E2F3ABECD712}"/>
              </a:ext>
            </a:extLst>
          </p:cNvPr>
          <p:cNvSpPr/>
          <p:nvPr/>
        </p:nvSpPr>
        <p:spPr>
          <a:xfrm>
            <a:off x="846666" y="3316256"/>
            <a:ext cx="7653867" cy="29091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91440" tIns="45720" rIns="91440" bIns="45720" anchor="t">
            <a:spAutoFit/>
          </a:bodyPr>
          <a:lstStyle/>
          <a:p>
            <a:pPr algn="just">
              <a:lnSpc>
                <a:spcPct val="200000"/>
              </a:lnSpc>
              <a:defRPr/>
            </a:pPr>
            <a:r>
              <a:rPr lang="es-CL" sz="3200" b="1" noProof="0" dirty="0">
                <a:effectLst/>
                <a:latin typeface="Atkinson Hyperlegible"/>
                <a:ea typeface="Times New Roman" panose="02020603050405020304" pitchFamily="18" charset="0"/>
              </a:rPr>
              <a:t>Aplicar conocimientos en los distintos medios de transmisión físicos y guiados de </a:t>
            </a:r>
          </a:p>
          <a:p>
            <a:pPr algn="just">
              <a:lnSpc>
                <a:spcPct val="200000"/>
              </a:lnSpc>
              <a:defRPr/>
            </a:pPr>
            <a:r>
              <a:rPr lang="es-CL" sz="3200" b="1" noProof="0" dirty="0">
                <a:effectLst/>
                <a:latin typeface="Atkinson Hyperlegible"/>
                <a:ea typeface="Times New Roman" panose="02020603050405020304" pitchFamily="18" charset="0"/>
              </a:rPr>
              <a:t>redes de transmisión.</a:t>
            </a:r>
            <a:endParaRPr lang="es-CL" sz="3200" b="1" noProof="0" dirty="0">
              <a:latin typeface="Atkinson Hyperlegible"/>
              <a:cs typeface="Times New Roman" pitchFamily="18" charset="0"/>
            </a:endParaRPr>
          </a:p>
        </p:txBody>
      </p:sp>
      <p:pic>
        <p:nvPicPr>
          <p:cNvPr id="2054" name="Picture 6" descr="Cómo funciona un conector de fibra óptica - Exposición - Focc Technology  Co., Ltd">
            <a:extLst>
              <a:ext uri="{FF2B5EF4-FFF2-40B4-BE49-F238E27FC236}">
                <a16:creationId xmlns:a16="http://schemas.microsoft.com/office/drawing/2014/main" id="{0E0CC03A-4C48-3252-B353-458D3BE4D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8969" y="2997364"/>
            <a:ext cx="4074634" cy="50341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6" name="Picture 8" descr="Qué Topologías de Red Existen">
            <a:extLst>
              <a:ext uri="{FF2B5EF4-FFF2-40B4-BE49-F238E27FC236}">
                <a16:creationId xmlns:a16="http://schemas.microsoft.com/office/drawing/2014/main" id="{8F3833C3-0150-146D-7061-E3C390290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98" y="3049332"/>
            <a:ext cx="6062274" cy="6820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8" name="Picture 10" descr="Redes por Medios No Guiados – Herramientas Tecnológicas">
            <a:extLst>
              <a:ext uri="{FF2B5EF4-FFF2-40B4-BE49-F238E27FC236}">
                <a16:creationId xmlns:a16="http://schemas.microsoft.com/office/drawing/2014/main" id="{6B114107-2BA0-8A26-35AF-3B03D6362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54" y="7416455"/>
            <a:ext cx="6055369" cy="30276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0" name="Picture 2" descr="tipos-de-cable-red-">
            <a:extLst>
              <a:ext uri="{FF2B5EF4-FFF2-40B4-BE49-F238E27FC236}">
                <a16:creationId xmlns:a16="http://schemas.microsoft.com/office/drawing/2014/main" id="{0DADB60D-8609-A6A6-C7D1-9EF835B28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9014" y="7383944"/>
            <a:ext cx="3956946" cy="22309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C8034206-837D-C333-5695-2E829BF0D9B1}"/>
              </a:ext>
            </a:extLst>
          </p:cNvPr>
          <p:cNvPicPr>
            <a:picLocks noChangeAspect="1"/>
          </p:cNvPicPr>
          <p:nvPr/>
        </p:nvPicPr>
        <p:blipFill>
          <a:blip r:embed="rId6"/>
          <a:stretch>
            <a:fillRect/>
          </a:stretch>
        </p:blipFill>
        <p:spPr>
          <a:xfrm>
            <a:off x="8886932" y="2912254"/>
            <a:ext cx="11010014" cy="75190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37263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5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8161-E743-BE49-064B-CB7D07D71B0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E1DF841-C4F9-3803-3EC3-7ADDE2C2B736}"/>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77A41CF5-6C7A-894F-1885-A65049BB8B4B}"/>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TAREA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8" name="5 Rectángulo">
            <a:extLst>
              <a:ext uri="{FF2B5EF4-FFF2-40B4-BE49-F238E27FC236}">
                <a16:creationId xmlns:a16="http://schemas.microsoft.com/office/drawing/2014/main" id="{BB1A79F7-0E03-99C9-7F6F-A149134A742D}"/>
              </a:ext>
            </a:extLst>
          </p:cNvPr>
          <p:cNvSpPr/>
          <p:nvPr/>
        </p:nvSpPr>
        <p:spPr>
          <a:xfrm>
            <a:off x="846666" y="3316256"/>
            <a:ext cx="7653867" cy="29091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91440" tIns="45720" rIns="91440" bIns="45720" anchor="t">
            <a:spAutoFit/>
          </a:bodyPr>
          <a:lstStyle/>
          <a:p>
            <a:pPr algn="just">
              <a:lnSpc>
                <a:spcPct val="200000"/>
              </a:lnSpc>
              <a:defRPr/>
            </a:pPr>
            <a:r>
              <a:rPr lang="es-CL" sz="3200" b="1" noProof="0" dirty="0">
                <a:latin typeface="Atkinson Hyperlegible"/>
              </a:rPr>
              <a:t>Analizar sistemas transmisión desde los fundamentos que sustentan las tecnologías de la aplicación militar. </a:t>
            </a:r>
            <a:endParaRPr lang="es-CL" sz="3200" b="1" noProof="0" dirty="0">
              <a:latin typeface="Atkinson Hyperlegible"/>
              <a:cs typeface="Times New Roman" pitchFamily="18" charset="0"/>
            </a:endParaRPr>
          </a:p>
        </p:txBody>
      </p:sp>
      <p:pic>
        <p:nvPicPr>
          <p:cNvPr id="6146" name="Picture 2">
            <a:extLst>
              <a:ext uri="{FF2B5EF4-FFF2-40B4-BE49-F238E27FC236}">
                <a16:creationId xmlns:a16="http://schemas.microsoft.com/office/drawing/2014/main" id="{010472D1-4E4B-226B-3FB0-F6851B1F8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9614" y="3243258"/>
            <a:ext cx="8748150" cy="71909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41182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51B1-2380-EAA3-522C-C9153F803C1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00A7AD0-808B-F2F0-1A64-D80879603938}"/>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EFDF1386-B050-7714-150D-67856E0AD2D5}"/>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 DE LA CLASE</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6" name="5 Rectángulo">
            <a:extLst>
              <a:ext uri="{FF2B5EF4-FFF2-40B4-BE49-F238E27FC236}">
                <a16:creationId xmlns:a16="http://schemas.microsoft.com/office/drawing/2014/main" id="{B0F417D9-033E-D5F5-9726-8037B9002420}"/>
              </a:ext>
            </a:extLst>
          </p:cNvPr>
          <p:cNvSpPr/>
          <p:nvPr/>
        </p:nvSpPr>
        <p:spPr>
          <a:xfrm>
            <a:off x="1696951" y="3474151"/>
            <a:ext cx="17775273" cy="4370427"/>
          </a:xfrm>
          <a:prstGeom prst="rect">
            <a:avLst/>
          </a:prstGeom>
          <a:noFill/>
          <a:effectLst/>
        </p:spPr>
        <p:txBody>
          <a:bodyPr wrap="square" lIns="91440" tIns="45720" rIns="91440" bIns="45720" anchor="t">
            <a:spAutoFit/>
          </a:bodyPr>
          <a:lstStyle/>
          <a:p>
            <a:pPr marL="742950" indent="-742950" algn="just">
              <a:lnSpc>
                <a:spcPct val="150000"/>
              </a:lnSpc>
              <a:buFont typeface="+mj-lt"/>
              <a:buAutoNum type="arabicPeriod" startAt="3"/>
              <a:defRPr/>
            </a:pPr>
            <a:r>
              <a:rPr lang="es-ES" sz="3600" b="1" noProof="0" dirty="0">
                <a:effectLst/>
                <a:latin typeface="Atkinson Hyperlegible"/>
                <a:ea typeface="Times New Roman" panose="02020603050405020304" pitchFamily="18" charset="0"/>
              </a:rPr>
              <a:t>Sistemas de transmisión guiados.</a:t>
            </a:r>
          </a:p>
          <a:p>
            <a:pPr algn="just">
              <a:defRPr/>
            </a:pPr>
            <a:r>
              <a:rPr lang="es-ES" sz="3200" noProof="0" dirty="0">
                <a:latin typeface="Atkinson Hyperlegible"/>
              </a:rPr>
              <a:t>3.4.1.	Arquitecturas de redes de fibra óptica.</a:t>
            </a:r>
          </a:p>
          <a:p>
            <a:pPr algn="just">
              <a:defRPr/>
            </a:pPr>
            <a:r>
              <a:rPr lang="es-ES" sz="3200" noProof="0" dirty="0">
                <a:latin typeface="Atkinson Hyperlegible"/>
              </a:rPr>
              <a:t>3.5.	Procesos y algoritmos de ruteo en redes de fibra óptica.</a:t>
            </a:r>
          </a:p>
          <a:p>
            <a:pPr algn="just">
              <a:defRPr/>
            </a:pPr>
            <a:r>
              <a:rPr lang="es-ES" sz="3200" noProof="0" dirty="0">
                <a:latin typeface="Atkinson Hyperlegible"/>
              </a:rPr>
              <a:t>3.6.	Ruteo WDM. </a:t>
            </a:r>
          </a:p>
          <a:p>
            <a:pPr algn="just">
              <a:defRPr/>
            </a:pPr>
            <a:r>
              <a:rPr lang="es-ES" sz="3200" noProof="0" dirty="0">
                <a:latin typeface="Atkinson Hyperlegible"/>
              </a:rPr>
              <a:t>3.7.	Redes multicapa y redes </a:t>
            </a:r>
            <a:r>
              <a:rPr lang="es-ES" sz="3200" noProof="0" dirty="0" err="1">
                <a:latin typeface="Atkinson Hyperlegible"/>
              </a:rPr>
              <a:t>overlay</a:t>
            </a:r>
            <a:r>
              <a:rPr lang="es-ES" sz="3200" noProof="0" dirty="0">
                <a:latin typeface="Atkinson Hyperlegible"/>
              </a:rPr>
              <a:t>.</a:t>
            </a:r>
          </a:p>
          <a:p>
            <a:pPr algn="just">
              <a:defRPr/>
            </a:pPr>
            <a:r>
              <a:rPr lang="es-ES" sz="3200" noProof="0" dirty="0">
                <a:latin typeface="Atkinson Hyperlegible"/>
              </a:rPr>
              <a:t>3.8.	Regeneración de señales. </a:t>
            </a:r>
          </a:p>
          <a:p>
            <a:pPr algn="just">
              <a:defRPr/>
            </a:pPr>
            <a:r>
              <a:rPr lang="es-ES" sz="3200" noProof="0" dirty="0">
                <a:latin typeface="Atkinson Hyperlegible"/>
              </a:rPr>
              <a:t>3.9.	Técnicas y métodos de protección en redes de fibra.</a:t>
            </a:r>
          </a:p>
          <a:p>
            <a:pPr algn="just">
              <a:defRPr/>
            </a:pPr>
            <a:r>
              <a:rPr lang="es-ES" sz="3200" noProof="0" dirty="0">
                <a:latin typeface="Atkinson Hyperlegible"/>
              </a:rPr>
              <a:t>3.10.	Ruteo dinámico en redes de fibra óptica.</a:t>
            </a:r>
          </a:p>
        </p:txBody>
      </p:sp>
      <p:sp>
        <p:nvSpPr>
          <p:cNvPr id="8" name="CuadroTexto 7">
            <a:extLst>
              <a:ext uri="{FF2B5EF4-FFF2-40B4-BE49-F238E27FC236}">
                <a16:creationId xmlns:a16="http://schemas.microsoft.com/office/drawing/2014/main" id="{BFE4BD31-0C5E-EFE9-1AA1-3F00F2CADD93}"/>
              </a:ext>
            </a:extLst>
          </p:cNvPr>
          <p:cNvSpPr txBox="1"/>
          <p:nvPr/>
        </p:nvSpPr>
        <p:spPr>
          <a:xfrm>
            <a:off x="8917065" y="2889315"/>
            <a:ext cx="3113687"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CONTENIDOS</a:t>
            </a:r>
            <a:endParaRPr lang="es-CL" sz="4000" noProof="0" dirty="0"/>
          </a:p>
        </p:txBody>
      </p:sp>
    </p:spTree>
    <p:extLst>
      <p:ext uri="{BB962C8B-B14F-4D97-AF65-F5344CB8AC3E}">
        <p14:creationId xmlns:p14="http://schemas.microsoft.com/office/powerpoint/2010/main" val="52327700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E8D25-85D9-E04C-486C-47D90C11FDD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A0F57B8-3A8B-5EB4-1FE2-C04A71699F61}"/>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09290603-0D84-307D-6C66-78F87FE24653}"/>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 DE LA CLASE</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4BF20D85-CAB9-8520-3FEA-7DACC72DF43F}"/>
              </a:ext>
            </a:extLst>
          </p:cNvPr>
          <p:cNvSpPr txBox="1"/>
          <p:nvPr/>
        </p:nvSpPr>
        <p:spPr>
          <a:xfrm>
            <a:off x="6953491" y="2269418"/>
            <a:ext cx="6629539"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INDICADORES DE DESEMPEÑO</a:t>
            </a:r>
            <a:endParaRPr lang="es-CL" sz="4000" noProof="0" dirty="0"/>
          </a:p>
        </p:txBody>
      </p:sp>
      <p:graphicFrame>
        <p:nvGraphicFramePr>
          <p:cNvPr id="5" name="Tabla 4">
            <a:extLst>
              <a:ext uri="{FF2B5EF4-FFF2-40B4-BE49-F238E27FC236}">
                <a16:creationId xmlns:a16="http://schemas.microsoft.com/office/drawing/2014/main" id="{C31C0C65-5FB0-FC55-34FB-3885FAD55A1B}"/>
              </a:ext>
            </a:extLst>
          </p:cNvPr>
          <p:cNvGraphicFramePr>
            <a:graphicFrameLocks noGrp="1"/>
          </p:cNvGraphicFramePr>
          <p:nvPr>
            <p:extLst>
              <p:ext uri="{D42A27DB-BD31-4B8C-83A1-F6EECF244321}">
                <p14:modId xmlns:p14="http://schemas.microsoft.com/office/powerpoint/2010/main" val="1104043026"/>
              </p:ext>
            </p:extLst>
          </p:nvPr>
        </p:nvGraphicFramePr>
        <p:xfrm>
          <a:off x="1528996" y="2951419"/>
          <a:ext cx="17478531" cy="2293620"/>
        </p:xfrm>
        <a:graphic>
          <a:graphicData uri="http://schemas.openxmlformats.org/drawingml/2006/table">
            <a:tbl>
              <a:tblPr/>
              <a:tblGrid>
                <a:gridCol w="17478531">
                  <a:extLst>
                    <a:ext uri="{9D8B030D-6E8A-4147-A177-3AD203B41FA5}">
                      <a16:colId xmlns:a16="http://schemas.microsoft.com/office/drawing/2014/main" val="3873856205"/>
                    </a:ext>
                  </a:extLst>
                </a:gridCol>
              </a:tblGrid>
              <a:tr h="0">
                <a:tc>
                  <a:txBody>
                    <a:bodyPr/>
                    <a:lstStyle/>
                    <a:p>
                      <a:pPr fontAlgn="t">
                        <a:buNone/>
                      </a:pPr>
                      <a:r>
                        <a:rPr lang="es-ES" sz="3200" noProof="0" dirty="0">
                          <a:effectLst/>
                          <a:latin typeface="Atkinson Hyperlegible"/>
                        </a:rPr>
                        <a:t>3.4. Analiza las características de los parámetros de la fibra óptica y los limites de la fibra óptica en cuanto a atenuación y dispersión.</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65564622"/>
                  </a:ext>
                </a:extLst>
              </a:tr>
              <a:tr h="0">
                <a:tc>
                  <a:txBody>
                    <a:bodyPr/>
                    <a:lstStyle/>
                    <a:p>
                      <a:pPr fontAlgn="t">
                        <a:buNone/>
                      </a:pPr>
                      <a:r>
                        <a:rPr lang="es-ES" sz="3200" noProof="0" dirty="0">
                          <a:effectLst/>
                          <a:latin typeface="Atkinson Hyperlegible"/>
                        </a:rPr>
                        <a:t>3.5. Examina los enlaces de telecomunicaciones mediante fibra ópticas.</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6460708"/>
                  </a:ext>
                </a:extLst>
              </a:tr>
              <a:tr h="0">
                <a:tc>
                  <a:txBody>
                    <a:bodyPr/>
                    <a:lstStyle/>
                    <a:p>
                      <a:pPr fontAlgn="t">
                        <a:buNone/>
                      </a:pPr>
                      <a:r>
                        <a:rPr lang="es-ES" sz="3200" noProof="0" dirty="0">
                          <a:effectLst/>
                          <a:latin typeface="Atkinson Hyperlegible"/>
                        </a:rPr>
                        <a:t>3.6. Examina los conceptos y aplicaciones de WDM y </a:t>
                      </a:r>
                      <a:r>
                        <a:rPr lang="es-ES" sz="3200" noProof="0" dirty="0" err="1">
                          <a:effectLst/>
                          <a:latin typeface="Atkinson Hyperlegible"/>
                        </a:rPr>
                        <a:t>DWCM</a:t>
                      </a:r>
                      <a:r>
                        <a:rPr lang="es-ES" sz="3200" noProof="0" dirty="0">
                          <a:effectLst/>
                          <a:latin typeface="Atkinson Hyperlegible"/>
                        </a:rPr>
                        <a:t>.</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38544915"/>
                  </a:ext>
                </a:extLst>
              </a:tr>
            </a:tbl>
          </a:graphicData>
        </a:graphic>
      </p:graphicFrame>
    </p:spTree>
    <p:extLst>
      <p:ext uri="{BB962C8B-B14F-4D97-AF65-F5344CB8AC3E}">
        <p14:creationId xmlns:p14="http://schemas.microsoft.com/office/powerpoint/2010/main" val="382042661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1D16AB4-C482-33FC-4A8F-5598C1EBCC3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E6EB659-C84C-53F1-4337-7EC7F0765F3F}"/>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42D3F89A-D9F5-C601-8BA7-0AE39010997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225DB0A-0DC2-A46C-78CE-EB1C42187F7E}"/>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Arquitecturas principales en redes de fibra óptica</a:t>
            </a:r>
            <a:endParaRPr lang="es-CL" sz="4000" noProof="0" dirty="0">
              <a:latin typeface="Atkinson Hyperlegible"/>
            </a:endParaRPr>
          </a:p>
        </p:txBody>
      </p:sp>
      <p:sp>
        <p:nvSpPr>
          <p:cNvPr id="10" name="CuadroTexto 9">
            <a:extLst>
              <a:ext uri="{FF2B5EF4-FFF2-40B4-BE49-F238E27FC236}">
                <a16:creationId xmlns:a16="http://schemas.microsoft.com/office/drawing/2014/main" id="{741CA54E-2D43-4498-3533-EC30D59E0F8C}"/>
              </a:ext>
            </a:extLst>
          </p:cNvPr>
          <p:cNvSpPr txBox="1"/>
          <p:nvPr/>
        </p:nvSpPr>
        <p:spPr>
          <a:xfrm>
            <a:off x="1234086" y="8579850"/>
            <a:ext cx="8849542"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G.872</a:t>
            </a:r>
            <a:r>
              <a:rPr lang="es-CL" sz="2400" dirty="0">
                <a:latin typeface="Atkinson Hyperlegible"/>
              </a:rPr>
              <a:t> — arquitectura de la </a:t>
            </a:r>
            <a:r>
              <a:rPr lang="es-CL" sz="2400" dirty="0" err="1">
                <a:latin typeface="Atkinson Hyperlegible"/>
              </a:rPr>
              <a:t>Optical</a:t>
            </a:r>
            <a:r>
              <a:rPr lang="es-CL" sz="2400" dirty="0">
                <a:latin typeface="Atkinson Hyperlegible"/>
              </a:rPr>
              <a:t> </a:t>
            </a:r>
            <a:r>
              <a:rPr lang="es-CL" sz="2400" dirty="0" err="1">
                <a:latin typeface="Atkinson Hyperlegible"/>
              </a:rPr>
              <a:t>Transport</a:t>
            </a:r>
            <a:r>
              <a:rPr lang="es-CL" sz="2400" dirty="0">
                <a:latin typeface="Atkinson Hyperlegible"/>
              </a:rPr>
              <a:t> Network (</a:t>
            </a:r>
            <a:r>
              <a:rPr lang="es-CL" sz="2400" dirty="0" err="1">
                <a:latin typeface="Atkinson Hyperlegible"/>
              </a:rPr>
              <a:t>OTN</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interfaces para </a:t>
            </a:r>
            <a:r>
              <a:rPr lang="es-CL" sz="2400" dirty="0" err="1">
                <a:latin typeface="Atkinson Hyperlegible"/>
              </a:rPr>
              <a:t>Optical</a:t>
            </a:r>
            <a:r>
              <a:rPr lang="es-CL" sz="2400" dirty="0">
                <a:latin typeface="Atkinson Hyperlegible"/>
              </a:rPr>
              <a:t> </a:t>
            </a:r>
            <a:r>
              <a:rPr lang="es-CL" sz="2400" dirty="0" err="1">
                <a:latin typeface="Atkinson Hyperlegible"/>
              </a:rPr>
              <a:t>Transport</a:t>
            </a:r>
            <a:r>
              <a:rPr lang="es-CL" sz="2400" dirty="0">
                <a:latin typeface="Atkinson Hyperlegible"/>
              </a:rPr>
              <a:t> Network (</a:t>
            </a:r>
            <a:r>
              <a:rPr lang="es-CL" sz="2400" dirty="0" err="1">
                <a:latin typeface="Atkinson Hyperlegible"/>
              </a:rPr>
              <a:t>OTN</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G.798</a:t>
            </a:r>
            <a:r>
              <a:rPr lang="es-CL" sz="2400" dirty="0">
                <a:latin typeface="Atkinson Hyperlegible"/>
              </a:rPr>
              <a:t> — bloques funcionales de equipos </a:t>
            </a:r>
            <a:r>
              <a:rPr lang="es-CL" sz="2400" dirty="0" err="1">
                <a:latin typeface="Atkinson Hyperlegible"/>
              </a:rPr>
              <a:t>OTN</a:t>
            </a:r>
            <a:r>
              <a:rPr lang="es-CL" sz="2400" dirty="0">
                <a:latin typeface="Atkinson Hyperlegible"/>
              </a:rPr>
              <a:t>.</a:t>
            </a:r>
            <a:br>
              <a:rPr lang="es-CL" sz="2400" dirty="0">
                <a:latin typeface="Atkinson Hyperlegible"/>
              </a:rPr>
            </a:br>
            <a:r>
              <a:rPr lang="es-CL" sz="2400" b="1" dirty="0">
                <a:latin typeface="Atkinson Hyperlegible"/>
              </a:rPr>
              <a:t>ANSI/</a:t>
            </a:r>
            <a:r>
              <a:rPr lang="es-CL" sz="2400" b="1" dirty="0" err="1">
                <a:latin typeface="Atkinson Hyperlegible"/>
              </a:rPr>
              <a:t>TIA</a:t>
            </a:r>
            <a:r>
              <a:rPr lang="es-CL" sz="2400" b="1" dirty="0">
                <a:latin typeface="Atkinson Hyperlegible"/>
              </a:rPr>
              <a:t>-568.3-E</a:t>
            </a:r>
            <a:r>
              <a:rPr lang="es-CL" sz="2400" dirty="0">
                <a:latin typeface="Atkinson Hyperlegible"/>
              </a:rPr>
              <a:t> — cableado de fibra óptica.</a:t>
            </a:r>
            <a:endParaRPr lang="es-CL" sz="2400" noProof="0" dirty="0">
              <a:latin typeface="Atkinson Hyperlegible"/>
            </a:endParaRPr>
          </a:p>
        </p:txBody>
      </p:sp>
      <p:sp>
        <p:nvSpPr>
          <p:cNvPr id="17" name="5 Rectángulo">
            <a:extLst>
              <a:ext uri="{FF2B5EF4-FFF2-40B4-BE49-F238E27FC236}">
                <a16:creationId xmlns:a16="http://schemas.microsoft.com/office/drawing/2014/main" id="{05051C5A-4CE3-5DE6-5256-FDA9935CC352}"/>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Una red de fibra óptica puede organizarse con distintas </a:t>
            </a:r>
            <a:r>
              <a:rPr lang="es-ES" sz="3200" b="1" dirty="0">
                <a:latin typeface="Atkinson Hyperlegible"/>
              </a:rPr>
              <a:t>topologías físicas y lógicas</a:t>
            </a:r>
            <a:r>
              <a:rPr lang="es-ES" sz="3200" dirty="0">
                <a:latin typeface="Atkinson Hyperlegible"/>
              </a:rPr>
              <a:t>, según el objetivo de diseño: </a:t>
            </a:r>
            <a:r>
              <a:rPr lang="es-ES" sz="3200" b="1" dirty="0">
                <a:latin typeface="Atkinson Hyperlegible"/>
              </a:rPr>
              <a:t>alcance, disponibilidad, escalabilidad, costo y resiliencia</a:t>
            </a:r>
            <a:r>
              <a:rPr lang="es-ES" sz="3200" dirty="0">
                <a:latin typeface="Atkinson Hyperlegible"/>
              </a:rPr>
              <a:t>.</a:t>
            </a:r>
            <a:endParaRPr lang="es-CL" sz="3200" b="1" i="1" noProof="0" dirty="0">
              <a:latin typeface="Atkinson Hyperlegible"/>
            </a:endParaRPr>
          </a:p>
        </p:txBody>
      </p:sp>
      <p:graphicFrame>
        <p:nvGraphicFramePr>
          <p:cNvPr id="6" name="Tabla 5">
            <a:extLst>
              <a:ext uri="{FF2B5EF4-FFF2-40B4-BE49-F238E27FC236}">
                <a16:creationId xmlns:a16="http://schemas.microsoft.com/office/drawing/2014/main" id="{44D17C2D-5D34-D29D-64F7-A9585B2A5A39}"/>
              </a:ext>
            </a:extLst>
          </p:cNvPr>
          <p:cNvGraphicFramePr>
            <a:graphicFrameLocks noGrp="1"/>
          </p:cNvGraphicFramePr>
          <p:nvPr>
            <p:extLst>
              <p:ext uri="{D42A27DB-BD31-4B8C-83A1-F6EECF244321}">
                <p14:modId xmlns:p14="http://schemas.microsoft.com/office/powerpoint/2010/main" val="3125320268"/>
              </p:ext>
            </p:extLst>
          </p:nvPr>
        </p:nvGraphicFramePr>
        <p:xfrm>
          <a:off x="1234086" y="2990619"/>
          <a:ext cx="18000000" cy="5657592"/>
        </p:xfrm>
        <a:graphic>
          <a:graphicData uri="http://schemas.openxmlformats.org/drawingml/2006/table">
            <a:tbl>
              <a:tblPr firstRow="1" firstCol="1">
                <a:tableStyleId>{073A0DAA-6AF3-43AB-8588-CEC1D06C72B9}</a:tableStyleId>
              </a:tblPr>
              <a:tblGrid>
                <a:gridCol w="3600000">
                  <a:extLst>
                    <a:ext uri="{9D8B030D-6E8A-4147-A177-3AD203B41FA5}">
                      <a16:colId xmlns:a16="http://schemas.microsoft.com/office/drawing/2014/main" val="532817996"/>
                    </a:ext>
                  </a:extLst>
                </a:gridCol>
                <a:gridCol w="3600000">
                  <a:extLst>
                    <a:ext uri="{9D8B030D-6E8A-4147-A177-3AD203B41FA5}">
                      <a16:colId xmlns:a16="http://schemas.microsoft.com/office/drawing/2014/main" val="4064785547"/>
                    </a:ext>
                  </a:extLst>
                </a:gridCol>
                <a:gridCol w="3600000">
                  <a:extLst>
                    <a:ext uri="{9D8B030D-6E8A-4147-A177-3AD203B41FA5}">
                      <a16:colId xmlns:a16="http://schemas.microsoft.com/office/drawing/2014/main" val="4068252357"/>
                    </a:ext>
                  </a:extLst>
                </a:gridCol>
                <a:gridCol w="3600000">
                  <a:extLst>
                    <a:ext uri="{9D8B030D-6E8A-4147-A177-3AD203B41FA5}">
                      <a16:colId xmlns:a16="http://schemas.microsoft.com/office/drawing/2014/main" val="618933699"/>
                    </a:ext>
                  </a:extLst>
                </a:gridCol>
                <a:gridCol w="3600000">
                  <a:extLst>
                    <a:ext uri="{9D8B030D-6E8A-4147-A177-3AD203B41FA5}">
                      <a16:colId xmlns:a16="http://schemas.microsoft.com/office/drawing/2014/main" val="1171634020"/>
                    </a:ext>
                  </a:extLst>
                </a:gridCol>
              </a:tblGrid>
              <a:tr h="0">
                <a:tc>
                  <a:txBody>
                    <a:bodyPr/>
                    <a:lstStyle/>
                    <a:p>
                      <a:pPr>
                        <a:buNone/>
                      </a:pPr>
                      <a:r>
                        <a:rPr lang="es-CL" sz="2800" dirty="0">
                          <a:latin typeface="Atkinson Hyperlegible"/>
                        </a:rPr>
                        <a:t>Arquitectura</a:t>
                      </a:r>
                    </a:p>
                  </a:txBody>
                  <a:tcPr marL="89492" marR="89492" marT="44746" marB="44746" anchor="ctr"/>
                </a:tc>
                <a:tc>
                  <a:txBody>
                    <a:bodyPr/>
                    <a:lstStyle/>
                    <a:p>
                      <a:pPr>
                        <a:buNone/>
                      </a:pPr>
                      <a:r>
                        <a:rPr lang="es-CL" sz="2800" dirty="0">
                          <a:latin typeface="Atkinson Hyperlegible"/>
                        </a:rPr>
                        <a:t>Descripción</a:t>
                      </a:r>
                    </a:p>
                  </a:txBody>
                  <a:tcPr marL="89492" marR="89492" marT="44746" marB="44746" anchor="ctr"/>
                </a:tc>
                <a:tc>
                  <a:txBody>
                    <a:bodyPr/>
                    <a:lstStyle/>
                    <a:p>
                      <a:pPr>
                        <a:buNone/>
                      </a:pPr>
                      <a:r>
                        <a:rPr lang="es-CL" sz="2800">
                          <a:latin typeface="Atkinson Hyperlegible"/>
                        </a:rPr>
                        <a:t>Ventaja principal</a:t>
                      </a:r>
                    </a:p>
                  </a:txBody>
                  <a:tcPr marL="89492" marR="89492" marT="44746" marB="44746" anchor="ctr"/>
                </a:tc>
                <a:tc>
                  <a:txBody>
                    <a:bodyPr/>
                    <a:lstStyle/>
                    <a:p>
                      <a:pPr>
                        <a:buNone/>
                      </a:pPr>
                      <a:r>
                        <a:rPr lang="es-CL" sz="2800">
                          <a:latin typeface="Atkinson Hyperlegible"/>
                        </a:rPr>
                        <a:t>Limitación principal</a:t>
                      </a:r>
                    </a:p>
                  </a:txBody>
                  <a:tcPr marL="89492" marR="89492" marT="44746" marB="44746" anchor="ctr"/>
                </a:tc>
                <a:tc>
                  <a:txBody>
                    <a:bodyPr/>
                    <a:lstStyle/>
                    <a:p>
                      <a:pPr>
                        <a:buNone/>
                      </a:pPr>
                      <a:r>
                        <a:rPr lang="es-CL" sz="2800">
                          <a:latin typeface="Atkinson Hyperlegible"/>
                        </a:rPr>
                        <a:t>Uso típico</a:t>
                      </a:r>
                    </a:p>
                  </a:txBody>
                  <a:tcPr marL="89492" marR="89492" marT="44746" marB="44746" anchor="ctr"/>
                </a:tc>
                <a:extLst>
                  <a:ext uri="{0D108BD9-81ED-4DB2-BD59-A6C34878D82A}">
                    <a16:rowId xmlns:a16="http://schemas.microsoft.com/office/drawing/2014/main" val="3217316696"/>
                  </a:ext>
                </a:extLst>
              </a:tr>
              <a:tr h="0">
                <a:tc>
                  <a:txBody>
                    <a:bodyPr/>
                    <a:lstStyle/>
                    <a:p>
                      <a:pPr>
                        <a:buNone/>
                      </a:pPr>
                      <a:r>
                        <a:rPr lang="es-CL" sz="2800" b="1" dirty="0">
                          <a:latin typeface="Atkinson Hyperlegible"/>
                        </a:rPr>
                        <a:t>Punto a punto</a:t>
                      </a:r>
                      <a:endParaRPr lang="es-CL" sz="2800" dirty="0">
                        <a:latin typeface="Atkinson Hyperlegible"/>
                      </a:endParaRPr>
                    </a:p>
                  </a:txBody>
                  <a:tcPr marL="89492" marR="89492" marT="44746" marB="44746" anchor="ctr"/>
                </a:tc>
                <a:tc>
                  <a:txBody>
                    <a:bodyPr/>
                    <a:lstStyle/>
                    <a:p>
                      <a:pPr>
                        <a:buNone/>
                      </a:pPr>
                      <a:r>
                        <a:rPr lang="es-CL" sz="2800" dirty="0">
                          <a:latin typeface="Atkinson Hyperlegible"/>
                        </a:rPr>
                        <a:t>Enlace directo entre dos nodos</a:t>
                      </a:r>
                    </a:p>
                  </a:txBody>
                  <a:tcPr marL="89492" marR="89492" marT="44746" marB="44746" anchor="ctr"/>
                </a:tc>
                <a:tc>
                  <a:txBody>
                    <a:bodyPr/>
                    <a:lstStyle/>
                    <a:p>
                      <a:pPr>
                        <a:buNone/>
                      </a:pPr>
                      <a:r>
                        <a:rPr lang="es-CL" sz="2800" dirty="0">
                          <a:latin typeface="Atkinson Hyperlegible"/>
                        </a:rPr>
                        <a:t>Simple y eficiente</a:t>
                      </a:r>
                    </a:p>
                  </a:txBody>
                  <a:tcPr marL="89492" marR="89492" marT="44746" marB="44746" anchor="ctr"/>
                </a:tc>
                <a:tc>
                  <a:txBody>
                    <a:bodyPr/>
                    <a:lstStyle/>
                    <a:p>
                      <a:pPr>
                        <a:buNone/>
                      </a:pPr>
                      <a:r>
                        <a:rPr lang="es-CL" sz="2800">
                          <a:latin typeface="Atkinson Hyperlegible"/>
                        </a:rPr>
                        <a:t>Baja redundancia</a:t>
                      </a:r>
                    </a:p>
                  </a:txBody>
                  <a:tcPr marL="89492" marR="89492" marT="44746" marB="44746" anchor="ctr"/>
                </a:tc>
                <a:tc>
                  <a:txBody>
                    <a:bodyPr/>
                    <a:lstStyle/>
                    <a:p>
                      <a:pPr>
                        <a:buNone/>
                      </a:pPr>
                      <a:r>
                        <a:rPr lang="es-CL" sz="2800">
                          <a:latin typeface="Atkinson Hyperlegible"/>
                        </a:rPr>
                        <a:t>Enlace dedicado / interconexión directa</a:t>
                      </a:r>
                    </a:p>
                  </a:txBody>
                  <a:tcPr marL="89492" marR="89492" marT="44746" marB="44746" anchor="ctr"/>
                </a:tc>
                <a:extLst>
                  <a:ext uri="{0D108BD9-81ED-4DB2-BD59-A6C34878D82A}">
                    <a16:rowId xmlns:a16="http://schemas.microsoft.com/office/drawing/2014/main" val="3672150011"/>
                  </a:ext>
                </a:extLst>
              </a:tr>
              <a:tr h="0">
                <a:tc>
                  <a:txBody>
                    <a:bodyPr/>
                    <a:lstStyle/>
                    <a:p>
                      <a:pPr>
                        <a:buNone/>
                      </a:pPr>
                      <a:r>
                        <a:rPr lang="es-CL" sz="2800" b="1">
                          <a:latin typeface="Atkinson Hyperlegible"/>
                        </a:rPr>
                        <a:t>Estrella</a:t>
                      </a:r>
                      <a:endParaRPr lang="es-CL" sz="2800">
                        <a:latin typeface="Atkinson Hyperlegible"/>
                      </a:endParaRPr>
                    </a:p>
                  </a:txBody>
                  <a:tcPr marL="89492" marR="89492" marT="44746" marB="44746" anchor="ctr"/>
                </a:tc>
                <a:tc>
                  <a:txBody>
                    <a:bodyPr/>
                    <a:lstStyle/>
                    <a:p>
                      <a:pPr>
                        <a:buNone/>
                      </a:pPr>
                      <a:r>
                        <a:rPr lang="es-ES" sz="2800" dirty="0">
                          <a:latin typeface="Atkinson Hyperlegible"/>
                        </a:rPr>
                        <a:t>Varios nodos conectan a un nodo central</a:t>
                      </a:r>
                    </a:p>
                  </a:txBody>
                  <a:tcPr marL="89492" marR="89492" marT="44746" marB="44746" anchor="ctr"/>
                </a:tc>
                <a:tc>
                  <a:txBody>
                    <a:bodyPr/>
                    <a:lstStyle/>
                    <a:p>
                      <a:pPr>
                        <a:buNone/>
                      </a:pPr>
                      <a:r>
                        <a:rPr lang="es-CL" sz="2800" dirty="0">
                          <a:latin typeface="Atkinson Hyperlegible"/>
                        </a:rPr>
                        <a:t>Administración centralizada</a:t>
                      </a:r>
                    </a:p>
                  </a:txBody>
                  <a:tcPr marL="89492" marR="89492" marT="44746" marB="44746" anchor="ctr"/>
                </a:tc>
                <a:tc>
                  <a:txBody>
                    <a:bodyPr/>
                    <a:lstStyle/>
                    <a:p>
                      <a:pPr>
                        <a:buNone/>
                      </a:pPr>
                      <a:r>
                        <a:rPr lang="es-CL" sz="2800" dirty="0">
                          <a:latin typeface="Atkinson Hyperlegible"/>
                        </a:rPr>
                        <a:t>Dependencia del nodo central</a:t>
                      </a:r>
                    </a:p>
                  </a:txBody>
                  <a:tcPr marL="89492" marR="89492" marT="44746" marB="44746" anchor="ctr"/>
                </a:tc>
                <a:tc>
                  <a:txBody>
                    <a:bodyPr/>
                    <a:lstStyle/>
                    <a:p>
                      <a:pPr>
                        <a:buNone/>
                      </a:pPr>
                      <a:r>
                        <a:rPr lang="es-CL" sz="2800" dirty="0">
                          <a:latin typeface="Atkinson Hyperlegible"/>
                        </a:rPr>
                        <a:t>LAN, campus, acceso</a:t>
                      </a:r>
                    </a:p>
                  </a:txBody>
                  <a:tcPr marL="89492" marR="89492" marT="44746" marB="44746" anchor="ctr"/>
                </a:tc>
                <a:extLst>
                  <a:ext uri="{0D108BD9-81ED-4DB2-BD59-A6C34878D82A}">
                    <a16:rowId xmlns:a16="http://schemas.microsoft.com/office/drawing/2014/main" val="591408218"/>
                  </a:ext>
                </a:extLst>
              </a:tr>
              <a:tr h="0">
                <a:tc>
                  <a:txBody>
                    <a:bodyPr/>
                    <a:lstStyle/>
                    <a:p>
                      <a:pPr>
                        <a:buNone/>
                      </a:pPr>
                      <a:r>
                        <a:rPr lang="es-CL" sz="2800" b="1">
                          <a:latin typeface="Atkinson Hyperlegible"/>
                        </a:rPr>
                        <a:t>Árbol / jerárquica</a:t>
                      </a:r>
                      <a:endParaRPr lang="es-CL" sz="2800">
                        <a:latin typeface="Atkinson Hyperlegible"/>
                      </a:endParaRPr>
                    </a:p>
                  </a:txBody>
                  <a:tcPr marL="89492" marR="89492" marT="44746" marB="44746" anchor="ctr"/>
                </a:tc>
                <a:tc>
                  <a:txBody>
                    <a:bodyPr/>
                    <a:lstStyle/>
                    <a:p>
                      <a:pPr>
                        <a:buNone/>
                      </a:pPr>
                      <a:r>
                        <a:rPr lang="es-CL" sz="2800">
                          <a:latin typeface="Atkinson Hyperlegible"/>
                        </a:rPr>
                        <a:t>Nodos organizados por niveles</a:t>
                      </a:r>
                    </a:p>
                  </a:txBody>
                  <a:tcPr marL="89492" marR="89492" marT="44746" marB="44746" anchor="ctr"/>
                </a:tc>
                <a:tc>
                  <a:txBody>
                    <a:bodyPr/>
                    <a:lstStyle/>
                    <a:p>
                      <a:pPr>
                        <a:buNone/>
                      </a:pPr>
                      <a:r>
                        <a:rPr lang="es-CL" sz="2800" dirty="0">
                          <a:latin typeface="Atkinson Hyperlegible"/>
                        </a:rPr>
                        <a:t>Escalable y ordenada</a:t>
                      </a:r>
                    </a:p>
                  </a:txBody>
                  <a:tcPr marL="89492" marR="89492" marT="44746" marB="44746" anchor="ctr"/>
                </a:tc>
                <a:tc>
                  <a:txBody>
                    <a:bodyPr/>
                    <a:lstStyle/>
                    <a:p>
                      <a:pPr>
                        <a:buNone/>
                      </a:pPr>
                      <a:r>
                        <a:rPr lang="es-ES" sz="2800">
                          <a:latin typeface="Atkinson Hyperlegible"/>
                        </a:rPr>
                        <a:t>Falla en nodo superior afecta ramas</a:t>
                      </a:r>
                    </a:p>
                  </a:txBody>
                  <a:tcPr marL="89492" marR="89492" marT="44746" marB="44746" anchor="ctr"/>
                </a:tc>
                <a:tc>
                  <a:txBody>
                    <a:bodyPr/>
                    <a:lstStyle/>
                    <a:p>
                      <a:pPr>
                        <a:buNone/>
                      </a:pPr>
                      <a:r>
                        <a:rPr lang="es-CL" sz="2800" dirty="0">
                          <a:latin typeface="Atkinson Hyperlegible"/>
                        </a:rPr>
                        <a:t>Redes de acceso / distribución</a:t>
                      </a:r>
                    </a:p>
                  </a:txBody>
                  <a:tcPr marL="89492" marR="89492" marT="44746" marB="44746" anchor="ctr"/>
                </a:tc>
                <a:extLst>
                  <a:ext uri="{0D108BD9-81ED-4DB2-BD59-A6C34878D82A}">
                    <a16:rowId xmlns:a16="http://schemas.microsoft.com/office/drawing/2014/main" val="2909752823"/>
                  </a:ext>
                </a:extLst>
              </a:tr>
              <a:tr h="0">
                <a:tc>
                  <a:txBody>
                    <a:bodyPr/>
                    <a:lstStyle/>
                    <a:p>
                      <a:pPr>
                        <a:buNone/>
                      </a:pPr>
                      <a:r>
                        <a:rPr lang="es-CL" sz="2800" b="1">
                          <a:latin typeface="Atkinson Hyperlegible"/>
                        </a:rPr>
                        <a:t>Anillo</a:t>
                      </a:r>
                      <a:endParaRPr lang="es-CL" sz="2800">
                        <a:latin typeface="Atkinson Hyperlegible"/>
                      </a:endParaRPr>
                    </a:p>
                  </a:txBody>
                  <a:tcPr marL="89492" marR="89492" marT="44746" marB="44746" anchor="ctr"/>
                </a:tc>
                <a:tc>
                  <a:txBody>
                    <a:bodyPr/>
                    <a:lstStyle/>
                    <a:p>
                      <a:pPr>
                        <a:buNone/>
                      </a:pPr>
                      <a:r>
                        <a:rPr lang="es-CL" sz="2800">
                          <a:latin typeface="Atkinson Hyperlegible"/>
                        </a:rPr>
                        <a:t>Nodos conectados formando un circuito cerrado</a:t>
                      </a:r>
                    </a:p>
                  </a:txBody>
                  <a:tcPr marL="89492" marR="89492" marT="44746" marB="44746" anchor="ctr"/>
                </a:tc>
                <a:tc>
                  <a:txBody>
                    <a:bodyPr/>
                    <a:lstStyle/>
                    <a:p>
                      <a:pPr>
                        <a:buNone/>
                      </a:pPr>
                      <a:r>
                        <a:rPr lang="es-CL" sz="2800" dirty="0">
                          <a:latin typeface="Atkinson Hyperlegible"/>
                        </a:rPr>
                        <a:t>Permite ruta alternativa</a:t>
                      </a:r>
                    </a:p>
                  </a:txBody>
                  <a:tcPr marL="89492" marR="89492" marT="44746" marB="44746" anchor="ctr"/>
                </a:tc>
                <a:tc>
                  <a:txBody>
                    <a:bodyPr/>
                    <a:lstStyle/>
                    <a:p>
                      <a:pPr>
                        <a:buNone/>
                      </a:pPr>
                      <a:r>
                        <a:rPr lang="es-CL" sz="2800" dirty="0">
                          <a:latin typeface="Atkinson Hyperlegible"/>
                        </a:rPr>
                        <a:t>Requiere planificación de protección</a:t>
                      </a:r>
                    </a:p>
                  </a:txBody>
                  <a:tcPr marL="89492" marR="89492" marT="44746" marB="44746" anchor="ctr"/>
                </a:tc>
                <a:tc>
                  <a:txBody>
                    <a:bodyPr/>
                    <a:lstStyle/>
                    <a:p>
                      <a:pPr>
                        <a:buNone/>
                      </a:pPr>
                      <a:r>
                        <a:rPr lang="es-CL" sz="2800" dirty="0">
                          <a:latin typeface="Atkinson Hyperlegible"/>
                        </a:rPr>
                        <a:t>MAN / redes metropolitanas</a:t>
                      </a:r>
                    </a:p>
                  </a:txBody>
                  <a:tcPr marL="89492" marR="89492" marT="44746" marB="44746" anchor="ctr"/>
                </a:tc>
                <a:extLst>
                  <a:ext uri="{0D108BD9-81ED-4DB2-BD59-A6C34878D82A}">
                    <a16:rowId xmlns:a16="http://schemas.microsoft.com/office/drawing/2014/main" val="2794552050"/>
                  </a:ext>
                </a:extLst>
              </a:tr>
              <a:tr h="0">
                <a:tc>
                  <a:txBody>
                    <a:bodyPr/>
                    <a:lstStyle/>
                    <a:p>
                      <a:pPr>
                        <a:buNone/>
                      </a:pPr>
                      <a:r>
                        <a:rPr lang="es-CL" sz="2800" b="1">
                          <a:latin typeface="Atkinson Hyperlegible"/>
                        </a:rPr>
                        <a:t>Malla</a:t>
                      </a:r>
                      <a:endParaRPr lang="es-CL" sz="2800">
                        <a:latin typeface="Atkinson Hyperlegible"/>
                      </a:endParaRPr>
                    </a:p>
                  </a:txBody>
                  <a:tcPr marL="89492" marR="89492" marT="44746" marB="44746" anchor="ctr"/>
                </a:tc>
                <a:tc>
                  <a:txBody>
                    <a:bodyPr/>
                    <a:lstStyle/>
                    <a:p>
                      <a:pPr>
                        <a:buNone/>
                      </a:pPr>
                      <a:r>
                        <a:rPr lang="es-CL" sz="2800">
                          <a:latin typeface="Atkinson Hyperlegible"/>
                        </a:rPr>
                        <a:t>Múltiples enlaces entre nodos</a:t>
                      </a:r>
                    </a:p>
                  </a:txBody>
                  <a:tcPr marL="89492" marR="89492" marT="44746" marB="44746" anchor="ctr"/>
                </a:tc>
                <a:tc>
                  <a:txBody>
                    <a:bodyPr/>
                    <a:lstStyle/>
                    <a:p>
                      <a:pPr>
                        <a:buNone/>
                      </a:pPr>
                      <a:r>
                        <a:rPr lang="es-CL" sz="2800">
                          <a:latin typeface="Atkinson Hyperlegible"/>
                        </a:rPr>
                        <a:t>Alta resiliencia y flexibilidad</a:t>
                      </a:r>
                    </a:p>
                  </a:txBody>
                  <a:tcPr marL="89492" marR="89492" marT="44746" marB="44746" anchor="ctr"/>
                </a:tc>
                <a:tc>
                  <a:txBody>
                    <a:bodyPr/>
                    <a:lstStyle/>
                    <a:p>
                      <a:pPr>
                        <a:buNone/>
                      </a:pPr>
                      <a:r>
                        <a:rPr lang="es-CL" sz="2800" dirty="0">
                          <a:latin typeface="Atkinson Hyperlegible"/>
                        </a:rPr>
                        <a:t>Mayor costo y complejidad</a:t>
                      </a:r>
                    </a:p>
                  </a:txBody>
                  <a:tcPr marL="89492" marR="89492" marT="44746" marB="44746" anchor="ctr"/>
                </a:tc>
                <a:tc>
                  <a:txBody>
                    <a:bodyPr/>
                    <a:lstStyle/>
                    <a:p>
                      <a:pPr>
                        <a:buNone/>
                      </a:pPr>
                      <a:r>
                        <a:rPr lang="es-CL" sz="2800" dirty="0">
                          <a:latin typeface="Atkinson Hyperlegible"/>
                        </a:rPr>
                        <a:t>Backbone / transporte / redes críticas</a:t>
                      </a:r>
                    </a:p>
                  </a:txBody>
                  <a:tcPr marL="89492" marR="89492" marT="44746" marB="44746" anchor="ctr"/>
                </a:tc>
                <a:extLst>
                  <a:ext uri="{0D108BD9-81ED-4DB2-BD59-A6C34878D82A}">
                    <a16:rowId xmlns:a16="http://schemas.microsoft.com/office/drawing/2014/main" val="698563938"/>
                  </a:ext>
                </a:extLst>
              </a:tr>
            </a:tbl>
          </a:graphicData>
        </a:graphic>
      </p:graphicFrame>
    </p:spTree>
    <p:extLst>
      <p:ext uri="{BB962C8B-B14F-4D97-AF65-F5344CB8AC3E}">
        <p14:creationId xmlns:p14="http://schemas.microsoft.com/office/powerpoint/2010/main" val="204867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9D9D825-4260-E500-0D15-EDC60A34438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4FBCE452-B5DA-ADD2-E29F-1DA9142F10E1}"/>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47A966B1-0F13-1FFF-A032-F1FE26D897B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AB9A6C37-0C76-ADF2-C8FA-F75525A6115B}"/>
              </a:ext>
            </a:extLst>
          </p:cNvPr>
          <p:cNvSpPr txBox="1"/>
          <p:nvPr/>
        </p:nvSpPr>
        <p:spPr>
          <a:xfrm>
            <a:off x="1382157" y="898721"/>
            <a:ext cx="17055745" cy="707886"/>
          </a:xfrm>
          <a:prstGeom prst="rect">
            <a:avLst/>
          </a:prstGeom>
          <a:noFill/>
        </p:spPr>
        <p:txBody>
          <a:bodyPr wrap="square">
            <a:spAutoFit/>
          </a:bodyPr>
          <a:lstStyle/>
          <a:p>
            <a:r>
              <a:rPr lang="es-ES" sz="4000" b="1" dirty="0">
                <a:latin typeface="Atkinson Hyperlegible"/>
              </a:rPr>
              <a:t>Arquitecturas principales en redes de fibra óptica</a:t>
            </a:r>
            <a:endParaRPr lang="es-CL" sz="4000" b="1" noProof="0" dirty="0">
              <a:latin typeface="Atkinson Hyperlegible"/>
            </a:endParaRPr>
          </a:p>
        </p:txBody>
      </p:sp>
      <p:pic>
        <p:nvPicPr>
          <p:cNvPr id="3" name="Imagen 2">
            <a:extLst>
              <a:ext uri="{FF2B5EF4-FFF2-40B4-BE49-F238E27FC236}">
                <a16:creationId xmlns:a16="http://schemas.microsoft.com/office/drawing/2014/main" id="{6F24BE25-71CE-623F-F5AD-F5BEB82376E6}"/>
              </a:ext>
            </a:extLst>
          </p:cNvPr>
          <p:cNvPicPr>
            <a:picLocks noChangeAspect="1"/>
          </p:cNvPicPr>
          <p:nvPr/>
        </p:nvPicPr>
        <p:blipFill>
          <a:blip r:embed="rId4"/>
          <a:stretch>
            <a:fillRect/>
          </a:stretch>
        </p:blipFill>
        <p:spPr>
          <a:xfrm>
            <a:off x="869433" y="985804"/>
            <a:ext cx="18790163" cy="10211847"/>
          </a:xfrm>
          <a:prstGeom prst="rect">
            <a:avLst/>
          </a:prstGeom>
        </p:spPr>
      </p:pic>
    </p:spTree>
    <p:extLst>
      <p:ext uri="{BB962C8B-B14F-4D97-AF65-F5344CB8AC3E}">
        <p14:creationId xmlns:p14="http://schemas.microsoft.com/office/powerpoint/2010/main" val="3800874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17EF32F-B013-AC88-D08C-3A74FC179808}"/>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BA8CB83-BC43-E73C-4F37-EF418F8CEF70}"/>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A6133D7-F995-775A-574C-1ACA66318049}"/>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084B9A4A-0094-D493-C1DA-7D0070FBFA1A}"/>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Enlace óptico y nodo óptico</a:t>
            </a:r>
            <a:endParaRPr lang="es-CL" sz="4000" noProof="0" dirty="0">
              <a:latin typeface="Atkinson Hyperlegible"/>
            </a:endParaRPr>
          </a:p>
        </p:txBody>
      </p:sp>
      <p:sp>
        <p:nvSpPr>
          <p:cNvPr id="2" name="CuadroTexto 1">
            <a:extLst>
              <a:ext uri="{FF2B5EF4-FFF2-40B4-BE49-F238E27FC236}">
                <a16:creationId xmlns:a16="http://schemas.microsoft.com/office/drawing/2014/main" id="{281FC982-45A9-FDC4-F451-A94460BF9E05}"/>
              </a:ext>
            </a:extLst>
          </p:cNvPr>
          <p:cNvSpPr txBox="1"/>
          <p:nvPr/>
        </p:nvSpPr>
        <p:spPr>
          <a:xfrm>
            <a:off x="164892" y="8840969"/>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G.872</a:t>
            </a:r>
            <a:r>
              <a:rPr lang="es-CL" sz="2400" dirty="0">
                <a:latin typeface="Atkinson Hyperlegible"/>
              </a:rPr>
              <a:t> — arquitectura de redes ópticas de transporte.</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interfaces </a:t>
            </a:r>
            <a:r>
              <a:rPr lang="es-CL" sz="2400" dirty="0" err="1">
                <a:latin typeface="Atkinson Hyperlegible"/>
              </a:rPr>
              <a:t>OTN</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G.798</a:t>
            </a:r>
            <a:r>
              <a:rPr lang="es-CL" sz="2400" dirty="0">
                <a:latin typeface="Atkinson Hyperlegible"/>
              </a:rPr>
              <a:t> — bloques funcionales de equipos </a:t>
            </a:r>
            <a:r>
              <a:rPr lang="es-CL" sz="2400" dirty="0" err="1">
                <a:latin typeface="Atkinson Hyperlegible"/>
              </a:rPr>
              <a:t>OTN</a:t>
            </a:r>
            <a:r>
              <a:rPr lang="es-CL" sz="2400" dirty="0">
                <a:latin typeface="Atkinson Hyperlegible"/>
              </a:rPr>
              <a:t>.</a:t>
            </a:r>
            <a:endParaRPr lang="es-CL" sz="2400" noProof="0" dirty="0">
              <a:latin typeface="Atkinson Hyperlegible"/>
            </a:endParaRPr>
          </a:p>
        </p:txBody>
      </p:sp>
      <p:sp>
        <p:nvSpPr>
          <p:cNvPr id="4" name="5 Rectángulo">
            <a:extLst>
              <a:ext uri="{FF2B5EF4-FFF2-40B4-BE49-F238E27FC236}">
                <a16:creationId xmlns:a16="http://schemas.microsoft.com/office/drawing/2014/main" id="{F2590233-2603-73C7-28A7-C21D8DBF653C}"/>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Una red de fibra óptica se construye conectando </a:t>
            </a:r>
            <a:r>
              <a:rPr lang="es-ES" sz="3200" b="1" dirty="0">
                <a:latin typeface="Atkinson Hyperlegible"/>
              </a:rPr>
              <a:t>nodos ópticos</a:t>
            </a:r>
            <a:r>
              <a:rPr lang="es-ES" sz="3200" dirty="0">
                <a:latin typeface="Atkinson Hyperlegible"/>
              </a:rPr>
              <a:t> mediante </a:t>
            </a:r>
            <a:r>
              <a:rPr lang="es-ES" sz="3200" b="1" dirty="0">
                <a:latin typeface="Atkinson Hyperlegible"/>
              </a:rPr>
              <a:t>enlaces ópticos</a:t>
            </a:r>
            <a:r>
              <a:rPr lang="es-ES" sz="3200" dirty="0">
                <a:latin typeface="Atkinson Hyperlegible"/>
              </a:rPr>
              <a:t>, formando rutas de transporte para los servicios de telecomunicaciones.</a:t>
            </a:r>
            <a:endParaRPr lang="es-CL" sz="3200" b="1" i="1" noProof="0" dirty="0">
              <a:latin typeface="Atkinson Hyperlegible"/>
            </a:endParaRPr>
          </a:p>
        </p:txBody>
      </p:sp>
      <p:sp>
        <p:nvSpPr>
          <p:cNvPr id="5" name="5 Rectángulo">
            <a:extLst>
              <a:ext uri="{FF2B5EF4-FFF2-40B4-BE49-F238E27FC236}">
                <a16:creationId xmlns:a16="http://schemas.microsoft.com/office/drawing/2014/main" id="{CB86F467-53BC-F4F2-EB34-142455A1BC11}"/>
              </a:ext>
            </a:extLst>
          </p:cNvPr>
          <p:cNvSpPr/>
          <p:nvPr/>
        </p:nvSpPr>
        <p:spPr>
          <a:xfrm>
            <a:off x="1221684" y="3098286"/>
            <a:ext cx="7487602" cy="5016758"/>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b="1" dirty="0">
                <a:latin typeface="Atkinson Hyperlegible"/>
              </a:rPr>
              <a:t>Enlace óptico</a:t>
            </a:r>
          </a:p>
          <a:p>
            <a:r>
              <a:rPr lang="es-ES" sz="3200" dirty="0">
                <a:latin typeface="Atkinson Hyperlegible"/>
              </a:rPr>
              <a:t>Un </a:t>
            </a:r>
            <a:r>
              <a:rPr lang="es-ES" sz="3200" b="1" dirty="0">
                <a:latin typeface="Atkinson Hyperlegible"/>
              </a:rPr>
              <a:t>enlace óptico</a:t>
            </a:r>
            <a:r>
              <a:rPr lang="es-ES" sz="3200" dirty="0">
                <a:latin typeface="Atkinson Hyperlegible"/>
              </a:rPr>
              <a:t> es el tramo físico/lógico que conecta dos nodos mediante fibra.</a:t>
            </a:r>
          </a:p>
          <a:p>
            <a:r>
              <a:rPr lang="es-ES" sz="3200" dirty="0">
                <a:latin typeface="Atkinson Hyperlegible"/>
              </a:rPr>
              <a:t>Incluye:</a:t>
            </a:r>
          </a:p>
          <a:p>
            <a:pPr marL="457200" indent="-457200">
              <a:buFont typeface="Arial" panose="020B0604020202020204" pitchFamily="34" charset="0"/>
              <a:buChar char="•"/>
            </a:pPr>
            <a:r>
              <a:rPr lang="es-ES" sz="3200" dirty="0">
                <a:latin typeface="Atkinson Hyperlegible"/>
              </a:rPr>
              <a:t>Fibra óptica. </a:t>
            </a:r>
          </a:p>
          <a:p>
            <a:pPr marL="457200" indent="-457200">
              <a:buFont typeface="Arial" panose="020B0604020202020204" pitchFamily="34" charset="0"/>
              <a:buChar char="•"/>
            </a:pPr>
            <a:r>
              <a:rPr lang="es-ES" sz="3200" dirty="0">
                <a:latin typeface="Atkinson Hyperlegible"/>
              </a:rPr>
              <a:t>Conectores y empalmes. </a:t>
            </a:r>
          </a:p>
          <a:p>
            <a:pPr marL="457200" indent="-457200">
              <a:buFont typeface="Arial" panose="020B0604020202020204" pitchFamily="34" charset="0"/>
              <a:buChar char="•"/>
            </a:pPr>
            <a:r>
              <a:rPr lang="es-ES" sz="3200" dirty="0">
                <a:latin typeface="Atkinson Hyperlegible"/>
              </a:rPr>
              <a:t>Transceptores ópticos. </a:t>
            </a:r>
          </a:p>
          <a:p>
            <a:pPr marL="457200" indent="-457200">
              <a:buFont typeface="Arial" panose="020B0604020202020204" pitchFamily="34" charset="0"/>
              <a:buChar char="•"/>
            </a:pPr>
            <a:r>
              <a:rPr lang="es-ES" sz="3200" dirty="0">
                <a:latin typeface="Atkinson Hyperlegible"/>
              </a:rPr>
              <a:t>Pérdidas del enlace. </a:t>
            </a:r>
          </a:p>
          <a:p>
            <a:pPr marL="457200" indent="-457200">
              <a:buFont typeface="Arial" panose="020B0604020202020204" pitchFamily="34" charset="0"/>
              <a:buChar char="•"/>
            </a:pPr>
            <a:r>
              <a:rPr lang="es-ES" sz="3200" dirty="0">
                <a:latin typeface="Atkinson Hyperlegible"/>
              </a:rPr>
              <a:t>Capacidad disponible. </a:t>
            </a:r>
          </a:p>
          <a:p>
            <a:pPr marL="457200" indent="-457200">
              <a:buFont typeface="Arial" panose="020B0604020202020204" pitchFamily="34" charset="0"/>
              <a:buChar char="•"/>
            </a:pPr>
            <a:r>
              <a:rPr lang="es-ES" sz="3200" dirty="0">
                <a:latin typeface="Atkinson Hyperlegible"/>
              </a:rPr>
              <a:t>Parámetros de calidad de señal.</a:t>
            </a:r>
          </a:p>
        </p:txBody>
      </p:sp>
      <p:sp>
        <p:nvSpPr>
          <p:cNvPr id="8" name="5 Rectángulo">
            <a:extLst>
              <a:ext uri="{FF2B5EF4-FFF2-40B4-BE49-F238E27FC236}">
                <a16:creationId xmlns:a16="http://schemas.microsoft.com/office/drawing/2014/main" id="{B551D10A-1E57-D676-FB4C-1D3C2E50FC3A}"/>
              </a:ext>
            </a:extLst>
          </p:cNvPr>
          <p:cNvSpPr/>
          <p:nvPr/>
        </p:nvSpPr>
        <p:spPr>
          <a:xfrm>
            <a:off x="9198949" y="3098286"/>
            <a:ext cx="7487602" cy="4031873"/>
          </a:xfrm>
          <a:prstGeom prst="rect">
            <a:avLst/>
          </a:prstGeom>
          <a:solidFill>
            <a:schemeClr val="accent2">
              <a:lumMod val="40000"/>
              <a:lumOff val="60000"/>
            </a:schemeClr>
          </a:solidFill>
          <a:effectLst/>
        </p:spPr>
        <p:txBody>
          <a:bodyPr wrap="square" lIns="91440" tIns="45720" rIns="91440" bIns="45720" anchor="t">
            <a:spAutoFit/>
          </a:bodyPr>
          <a:lstStyle/>
          <a:p>
            <a:r>
              <a:rPr lang="es-ES" sz="3200" b="1" dirty="0">
                <a:latin typeface="Atkinson Hyperlegible"/>
              </a:rPr>
              <a:t>Nodo óptico</a:t>
            </a:r>
          </a:p>
          <a:p>
            <a:r>
              <a:rPr lang="es-ES" sz="3200" dirty="0">
                <a:latin typeface="Atkinson Hyperlegible"/>
              </a:rPr>
              <a:t>Un </a:t>
            </a:r>
            <a:r>
              <a:rPr lang="es-ES" sz="3200" b="1" dirty="0">
                <a:latin typeface="Atkinson Hyperlegible"/>
              </a:rPr>
              <a:t>nodo óptico</a:t>
            </a:r>
            <a:r>
              <a:rPr lang="es-ES" sz="3200" dirty="0">
                <a:latin typeface="Atkinson Hyperlegible"/>
              </a:rPr>
              <a:t> es un punto de la red donde se puede:</a:t>
            </a:r>
          </a:p>
          <a:p>
            <a:pPr marL="457200" indent="-457200">
              <a:buFont typeface="Arial" panose="020B0604020202020204" pitchFamily="34" charset="0"/>
              <a:buChar char="•"/>
            </a:pPr>
            <a:r>
              <a:rPr lang="es-ES" sz="3200" dirty="0">
                <a:latin typeface="Atkinson Hyperlegible"/>
              </a:rPr>
              <a:t>Terminar un enlace. </a:t>
            </a:r>
          </a:p>
          <a:p>
            <a:pPr marL="457200" indent="-457200">
              <a:buFont typeface="Arial" panose="020B0604020202020204" pitchFamily="34" charset="0"/>
              <a:buChar char="•"/>
            </a:pPr>
            <a:r>
              <a:rPr lang="es-ES" sz="3200" dirty="0">
                <a:latin typeface="Atkinson Hyperlegible"/>
              </a:rPr>
              <a:t>Agregar o extraer tráfico. </a:t>
            </a:r>
          </a:p>
          <a:p>
            <a:pPr marL="457200" indent="-457200">
              <a:buFont typeface="Arial" panose="020B0604020202020204" pitchFamily="34" charset="0"/>
              <a:buChar char="•"/>
            </a:pPr>
            <a:r>
              <a:rPr lang="es-ES" sz="3200" dirty="0">
                <a:latin typeface="Atkinson Hyperlegible"/>
              </a:rPr>
              <a:t>Conmutar o enrutar señales. </a:t>
            </a:r>
          </a:p>
          <a:p>
            <a:pPr marL="457200" indent="-457200">
              <a:buFont typeface="Arial" panose="020B0604020202020204" pitchFamily="34" charset="0"/>
              <a:buChar char="•"/>
            </a:pPr>
            <a:r>
              <a:rPr lang="es-ES" sz="3200" dirty="0">
                <a:latin typeface="Atkinson Hyperlegible"/>
              </a:rPr>
              <a:t>Regenerar o amplificar señales. </a:t>
            </a:r>
          </a:p>
          <a:p>
            <a:pPr marL="457200" indent="-457200">
              <a:buFont typeface="Arial" panose="020B0604020202020204" pitchFamily="34" charset="0"/>
              <a:buChar char="•"/>
            </a:pPr>
            <a:r>
              <a:rPr lang="es-ES" sz="3200" dirty="0">
                <a:latin typeface="Atkinson Hyperlegible"/>
              </a:rPr>
              <a:t>Proteger rutas ante fallas.</a:t>
            </a:r>
          </a:p>
        </p:txBody>
      </p:sp>
    </p:spTree>
    <p:extLst>
      <p:ext uri="{BB962C8B-B14F-4D97-AF65-F5344CB8AC3E}">
        <p14:creationId xmlns:p14="http://schemas.microsoft.com/office/powerpoint/2010/main" val="353566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239B9C5-097E-D2C8-1590-199746CFC3D9}"/>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11A88D1E-9092-7DAF-F970-B3D71316BB03}"/>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E26957A3-A2B3-54D3-E170-ACDF2583BBF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58AAD10-FCFD-CE4C-D1CF-9C5784B9F176}"/>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Enlace óptico y nodo óptico</a:t>
            </a:r>
            <a:endParaRPr lang="es-CL" sz="4000" noProof="0" dirty="0">
              <a:latin typeface="Atkinson Hyperlegible"/>
            </a:endParaRPr>
          </a:p>
        </p:txBody>
      </p:sp>
      <p:pic>
        <p:nvPicPr>
          <p:cNvPr id="6" name="Imagen 5">
            <a:extLst>
              <a:ext uri="{FF2B5EF4-FFF2-40B4-BE49-F238E27FC236}">
                <a16:creationId xmlns:a16="http://schemas.microsoft.com/office/drawing/2014/main" id="{78117422-EA44-73AE-2C61-21B964028EB9}"/>
              </a:ext>
            </a:extLst>
          </p:cNvPr>
          <p:cNvPicPr>
            <a:picLocks noChangeAspect="1"/>
          </p:cNvPicPr>
          <p:nvPr/>
        </p:nvPicPr>
        <p:blipFill>
          <a:blip r:embed="rId4"/>
          <a:stretch>
            <a:fillRect/>
          </a:stretch>
        </p:blipFill>
        <p:spPr>
          <a:xfrm>
            <a:off x="1382157" y="898721"/>
            <a:ext cx="17644550" cy="9792044"/>
          </a:xfrm>
          <a:prstGeom prst="rect">
            <a:avLst/>
          </a:prstGeom>
        </p:spPr>
      </p:pic>
    </p:spTree>
    <p:extLst>
      <p:ext uri="{BB962C8B-B14F-4D97-AF65-F5344CB8AC3E}">
        <p14:creationId xmlns:p14="http://schemas.microsoft.com/office/powerpoint/2010/main" val="3555550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1E968B7-388C-B7F5-D71E-BF6486F0C9B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D6528F6C-4B43-0B14-0691-DE7E77431EB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7FDB4F1-D129-F257-4C90-D5AFB8BA72D6}"/>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A107D11-3A3C-DB7E-EBB6-98697790CCE1}"/>
              </a:ext>
            </a:extLst>
          </p:cNvPr>
          <p:cNvSpPr txBox="1"/>
          <p:nvPr/>
        </p:nvSpPr>
        <p:spPr>
          <a:xfrm>
            <a:off x="1382157" y="898721"/>
            <a:ext cx="17055745" cy="707886"/>
          </a:xfrm>
          <a:prstGeom prst="rect">
            <a:avLst/>
          </a:prstGeom>
          <a:noFill/>
        </p:spPr>
        <p:txBody>
          <a:bodyPr wrap="square">
            <a:spAutoFit/>
          </a:bodyPr>
          <a:lstStyle/>
          <a:p>
            <a:r>
              <a:rPr lang="es-ES" sz="4000" dirty="0" err="1">
                <a:latin typeface="Atkinson Hyperlegible"/>
              </a:rPr>
              <a:t>OTN</a:t>
            </a:r>
            <a:r>
              <a:rPr lang="es-ES" sz="4000" dirty="0">
                <a:latin typeface="Atkinson Hyperlegible"/>
              </a:rPr>
              <a:t> (</a:t>
            </a:r>
            <a:r>
              <a:rPr lang="es-ES" sz="4000" dirty="0" err="1">
                <a:latin typeface="Atkinson Hyperlegible"/>
              </a:rPr>
              <a:t>Optical</a:t>
            </a:r>
            <a:r>
              <a:rPr lang="es-ES" sz="4000" dirty="0">
                <a:latin typeface="Atkinson Hyperlegible"/>
              </a:rPr>
              <a:t> </a:t>
            </a:r>
            <a:r>
              <a:rPr lang="es-ES" sz="4000" dirty="0" err="1">
                <a:latin typeface="Atkinson Hyperlegible"/>
              </a:rPr>
              <a:t>Transport</a:t>
            </a:r>
            <a:r>
              <a:rPr lang="es-ES" sz="4000" dirty="0">
                <a:latin typeface="Atkinson Hyperlegible"/>
              </a:rPr>
              <a:t> Network): red óptica de transporte</a:t>
            </a:r>
            <a:endParaRPr lang="es-CL" sz="4000" noProof="0" dirty="0">
              <a:latin typeface="Atkinson Hyperlegible"/>
            </a:endParaRPr>
          </a:p>
        </p:txBody>
      </p:sp>
      <p:sp>
        <p:nvSpPr>
          <p:cNvPr id="5" name="5 Rectángulo">
            <a:extLst>
              <a:ext uri="{FF2B5EF4-FFF2-40B4-BE49-F238E27FC236}">
                <a16:creationId xmlns:a16="http://schemas.microsoft.com/office/drawing/2014/main" id="{68138DE7-18E4-4BBE-5D7A-56AB0848884E}"/>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b="1" dirty="0" err="1">
                <a:latin typeface="Atkinson Hyperlegible"/>
              </a:rPr>
              <a:t>OTN</a:t>
            </a:r>
            <a:r>
              <a:rPr lang="es-ES" sz="3200" dirty="0">
                <a:latin typeface="Atkinson Hyperlegible"/>
              </a:rPr>
              <a:t> es una tecnología de transporte óptico que permite </a:t>
            </a:r>
            <a:r>
              <a:rPr lang="es-ES" sz="3200" b="1" dirty="0">
                <a:latin typeface="Atkinson Hyperlegible"/>
              </a:rPr>
              <a:t>encapsular, transportar, supervisar y gestionar</a:t>
            </a:r>
            <a:r>
              <a:rPr lang="es-ES" sz="3200" dirty="0">
                <a:latin typeface="Atkinson Hyperlegible"/>
              </a:rPr>
              <a:t> señales cliente sobre una red óptica.</a:t>
            </a:r>
            <a:endParaRPr lang="es-CL" sz="3200" b="1" i="1" noProof="0" dirty="0">
              <a:latin typeface="Atkinson Hyperlegible"/>
            </a:endParaRPr>
          </a:p>
        </p:txBody>
      </p:sp>
      <p:sp>
        <p:nvSpPr>
          <p:cNvPr id="6" name="5 Rectángulo">
            <a:extLst>
              <a:ext uri="{FF2B5EF4-FFF2-40B4-BE49-F238E27FC236}">
                <a16:creationId xmlns:a16="http://schemas.microsoft.com/office/drawing/2014/main" id="{AFB3F1CC-8212-1C10-D646-82BCE4035335}"/>
              </a:ext>
            </a:extLst>
          </p:cNvPr>
          <p:cNvSpPr/>
          <p:nvPr/>
        </p:nvSpPr>
        <p:spPr>
          <a:xfrm>
            <a:off x="1056791" y="3098286"/>
            <a:ext cx="18430421" cy="3046988"/>
          </a:xfrm>
          <a:prstGeom prst="rect">
            <a:avLst/>
          </a:prstGeom>
          <a:noFill/>
          <a:effectLst/>
        </p:spPr>
        <p:txBody>
          <a:bodyPr wrap="square" lIns="91440" tIns="45720" rIns="91440" bIns="45720" anchor="t">
            <a:spAutoFit/>
          </a:bodyPr>
          <a:lstStyle/>
          <a:p>
            <a:r>
              <a:rPr lang="es-ES" sz="3200" b="1" dirty="0">
                <a:latin typeface="Atkinson Hyperlegible"/>
              </a:rPr>
              <a:t>¿Para qué sirve </a:t>
            </a:r>
            <a:r>
              <a:rPr lang="es-ES" sz="3200" b="1" dirty="0" err="1">
                <a:latin typeface="Atkinson Hyperlegible"/>
              </a:rPr>
              <a:t>OTN</a:t>
            </a:r>
            <a:r>
              <a:rPr lang="es-ES" sz="3200" b="1" dirty="0">
                <a:latin typeface="Atkinson Hyperlegible"/>
              </a:rPr>
              <a:t>?</a:t>
            </a:r>
          </a:p>
          <a:p>
            <a:r>
              <a:rPr lang="es-ES" sz="3200" dirty="0">
                <a:latin typeface="Atkinson Hyperlegible"/>
              </a:rPr>
              <a:t>Transporta servicios de alta capacidad sobre infraestructura óptica. </a:t>
            </a:r>
          </a:p>
          <a:p>
            <a:r>
              <a:rPr lang="es-ES" sz="3200" dirty="0">
                <a:latin typeface="Atkinson Hyperlegible"/>
              </a:rPr>
              <a:t>Permite organizar señales cliente dentro de contenedores de transporte óptico. </a:t>
            </a:r>
          </a:p>
          <a:p>
            <a:r>
              <a:rPr lang="es-ES" sz="3200" dirty="0">
                <a:latin typeface="Atkinson Hyperlegible"/>
              </a:rPr>
              <a:t>Incorpora mecanismos de </a:t>
            </a:r>
            <a:r>
              <a:rPr lang="es-ES" sz="3200" b="1" dirty="0">
                <a:latin typeface="Atkinson Hyperlegible"/>
              </a:rPr>
              <a:t>monitoreo</a:t>
            </a:r>
            <a:r>
              <a:rPr lang="es-ES" sz="3200" dirty="0">
                <a:latin typeface="Atkinson Hyperlegible"/>
              </a:rPr>
              <a:t>, </a:t>
            </a:r>
            <a:r>
              <a:rPr lang="es-ES" sz="3200" b="1" dirty="0">
                <a:latin typeface="Atkinson Hyperlegible"/>
              </a:rPr>
              <a:t>gestión</a:t>
            </a:r>
            <a:r>
              <a:rPr lang="es-ES" sz="3200" dirty="0">
                <a:latin typeface="Atkinson Hyperlegible"/>
              </a:rPr>
              <a:t>, </a:t>
            </a:r>
            <a:r>
              <a:rPr lang="es-ES" sz="3200" b="1" dirty="0">
                <a:latin typeface="Atkinson Hyperlegible"/>
              </a:rPr>
              <a:t>supervisión</a:t>
            </a:r>
            <a:r>
              <a:rPr lang="es-ES" sz="3200" dirty="0">
                <a:latin typeface="Atkinson Hyperlegible"/>
              </a:rPr>
              <a:t> y </a:t>
            </a:r>
            <a:r>
              <a:rPr lang="es-ES" sz="3200" b="1" dirty="0">
                <a:latin typeface="Atkinson Hyperlegible"/>
              </a:rPr>
              <a:t>protección</a:t>
            </a:r>
            <a:r>
              <a:rPr lang="es-ES" sz="3200" dirty="0">
                <a:latin typeface="Atkinson Hyperlegible"/>
              </a:rPr>
              <a:t>. </a:t>
            </a:r>
          </a:p>
          <a:p>
            <a:r>
              <a:rPr lang="es-ES" sz="3200" dirty="0">
                <a:latin typeface="Atkinson Hyperlegible"/>
              </a:rPr>
              <a:t>Facilita la interoperabilidad entre equipos de transporte. </a:t>
            </a:r>
          </a:p>
          <a:p>
            <a:r>
              <a:rPr lang="es-ES" sz="3200" dirty="0">
                <a:latin typeface="Atkinson Hyperlegible"/>
              </a:rPr>
              <a:t>Se usa en redes </a:t>
            </a:r>
            <a:r>
              <a:rPr lang="es-ES" sz="3200" dirty="0" err="1">
                <a:latin typeface="Atkinson Hyperlegible"/>
              </a:rPr>
              <a:t>backbone</a:t>
            </a:r>
            <a:r>
              <a:rPr lang="es-ES" sz="3200" dirty="0">
                <a:latin typeface="Atkinson Hyperlegible"/>
              </a:rPr>
              <a:t>, metropolitanas y troncales de operador.</a:t>
            </a:r>
          </a:p>
        </p:txBody>
      </p:sp>
      <p:sp>
        <p:nvSpPr>
          <p:cNvPr id="10" name="CuadroTexto 9">
            <a:extLst>
              <a:ext uri="{FF2B5EF4-FFF2-40B4-BE49-F238E27FC236}">
                <a16:creationId xmlns:a16="http://schemas.microsoft.com/office/drawing/2014/main" id="{51083CEA-7AE0-EF0A-CB38-EEF6725E70EF}"/>
              </a:ext>
            </a:extLst>
          </p:cNvPr>
          <p:cNvSpPr txBox="1"/>
          <p:nvPr/>
        </p:nvSpPr>
        <p:spPr>
          <a:xfrm>
            <a:off x="164892" y="8840969"/>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G.872</a:t>
            </a:r>
            <a:r>
              <a:rPr lang="es-CL" sz="2400" dirty="0">
                <a:latin typeface="Atkinson Hyperlegible"/>
              </a:rPr>
              <a:t> — arquitectura de redes ópticas de transporte.</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interfaces </a:t>
            </a:r>
            <a:r>
              <a:rPr lang="es-CL" sz="2400" dirty="0" err="1">
                <a:latin typeface="Atkinson Hyperlegible"/>
              </a:rPr>
              <a:t>OTN</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G.798</a:t>
            </a:r>
            <a:r>
              <a:rPr lang="es-CL" sz="2400" dirty="0">
                <a:latin typeface="Atkinson Hyperlegible"/>
              </a:rPr>
              <a:t> — bloques funcionales de equipos </a:t>
            </a:r>
            <a:r>
              <a:rPr lang="es-CL" sz="2400" dirty="0" err="1">
                <a:latin typeface="Atkinson Hyperlegible"/>
              </a:rPr>
              <a:t>OTN</a:t>
            </a:r>
            <a:r>
              <a:rPr lang="es-CL" sz="2400" dirty="0">
                <a:latin typeface="Atkinson Hyperlegible"/>
              </a:rPr>
              <a:t>.</a:t>
            </a:r>
            <a:endParaRPr lang="es-CL" sz="2400" noProof="0" dirty="0">
              <a:latin typeface="Atkinson Hyperlegible"/>
            </a:endParaRPr>
          </a:p>
        </p:txBody>
      </p:sp>
    </p:spTree>
    <p:extLst>
      <p:ext uri="{BB962C8B-B14F-4D97-AF65-F5344CB8AC3E}">
        <p14:creationId xmlns:p14="http://schemas.microsoft.com/office/powerpoint/2010/main" val="415294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3243524-1B79-CF32-D012-72C2F66B1AE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7A7B98C-6A54-CD06-687D-CF80C14584E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8317F89-286D-786C-0B5B-71115C6E2431}"/>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40A99EFF-52AE-5BEB-A3A0-02494C27E9BE}"/>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Conectores ópticos, pulidos y compatibilidad</a:t>
            </a:r>
            <a:endParaRPr lang="es-CL" sz="4000" noProof="0" dirty="0">
              <a:latin typeface="Atkinson Hyperlegible"/>
            </a:endParaRPr>
          </a:p>
        </p:txBody>
      </p:sp>
      <p:sp>
        <p:nvSpPr>
          <p:cNvPr id="5" name="5 Rectángulo">
            <a:extLst>
              <a:ext uri="{FF2B5EF4-FFF2-40B4-BE49-F238E27FC236}">
                <a16:creationId xmlns:a16="http://schemas.microsoft.com/office/drawing/2014/main" id="{A906A779-D371-FA49-B8D9-0BB1C294D4D3}"/>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Los conectores ópticos permiten unir físicamente fibras, </a:t>
            </a:r>
            <a:r>
              <a:rPr lang="es-ES" sz="3200" dirty="0" err="1">
                <a:latin typeface="Atkinson Hyperlegible"/>
              </a:rPr>
              <a:t>patch</a:t>
            </a:r>
            <a:r>
              <a:rPr lang="es-ES" sz="3200" dirty="0">
                <a:latin typeface="Atkinson Hyperlegible"/>
              </a:rPr>
              <a:t> </a:t>
            </a:r>
            <a:r>
              <a:rPr lang="es-ES" sz="3200" dirty="0" err="1">
                <a:latin typeface="Atkinson Hyperlegible"/>
              </a:rPr>
              <a:t>cords</a:t>
            </a:r>
            <a:r>
              <a:rPr lang="es-ES" sz="3200" dirty="0">
                <a:latin typeface="Atkinson Hyperlegible"/>
              </a:rPr>
              <a:t>, paneles y transceptores. Su calidad de contacto influye directamente en la </a:t>
            </a:r>
            <a:r>
              <a:rPr lang="es-ES" sz="3200" b="1" dirty="0">
                <a:latin typeface="Atkinson Hyperlegible"/>
              </a:rPr>
              <a:t>pérdida óptica</a:t>
            </a:r>
            <a:r>
              <a:rPr lang="es-ES" sz="3200" dirty="0">
                <a:latin typeface="Atkinson Hyperlegible"/>
              </a:rPr>
              <a:t> y en la </a:t>
            </a:r>
            <a:r>
              <a:rPr lang="es-ES" sz="3200" b="1" dirty="0">
                <a:latin typeface="Atkinson Hyperlegible"/>
              </a:rPr>
              <a:t>reflexión</a:t>
            </a:r>
            <a:r>
              <a:rPr lang="es-ES" sz="3200" dirty="0">
                <a:latin typeface="Atkinson Hyperlegible"/>
              </a:rPr>
              <a:t> del enlace.</a:t>
            </a:r>
            <a:endParaRPr lang="es-CL" sz="3200" b="1" i="1" noProof="0" dirty="0">
              <a:latin typeface="Atkinson Hyperlegible"/>
            </a:endParaRPr>
          </a:p>
        </p:txBody>
      </p:sp>
      <p:graphicFrame>
        <p:nvGraphicFramePr>
          <p:cNvPr id="11" name="Tabla 10">
            <a:extLst>
              <a:ext uri="{FF2B5EF4-FFF2-40B4-BE49-F238E27FC236}">
                <a16:creationId xmlns:a16="http://schemas.microsoft.com/office/drawing/2014/main" id="{655332C4-7B1F-6DC8-8D10-E7DD163AFB2D}"/>
              </a:ext>
            </a:extLst>
          </p:cNvPr>
          <p:cNvGraphicFramePr>
            <a:graphicFrameLocks noGrp="1"/>
          </p:cNvGraphicFramePr>
          <p:nvPr>
            <p:extLst>
              <p:ext uri="{D42A27DB-BD31-4B8C-83A1-F6EECF244321}">
                <p14:modId xmlns:p14="http://schemas.microsoft.com/office/powerpoint/2010/main" val="526643476"/>
              </p:ext>
            </p:extLst>
          </p:nvPr>
        </p:nvGraphicFramePr>
        <p:xfrm>
          <a:off x="523137" y="2901439"/>
          <a:ext cx="9644351" cy="4114800"/>
        </p:xfrm>
        <a:graphic>
          <a:graphicData uri="http://schemas.openxmlformats.org/drawingml/2006/table">
            <a:tbl>
              <a:tblPr firstRow="1" firstCol="1">
                <a:tableStyleId>{073A0DAA-6AF3-43AB-8588-CEC1D06C72B9}</a:tableStyleId>
              </a:tblPr>
              <a:tblGrid>
                <a:gridCol w="1032024">
                  <a:extLst>
                    <a:ext uri="{9D8B030D-6E8A-4147-A177-3AD203B41FA5}">
                      <a16:colId xmlns:a16="http://schemas.microsoft.com/office/drawing/2014/main" val="1072986613"/>
                    </a:ext>
                  </a:extLst>
                </a:gridCol>
                <a:gridCol w="2217011">
                  <a:extLst>
                    <a:ext uri="{9D8B030D-6E8A-4147-A177-3AD203B41FA5}">
                      <a16:colId xmlns:a16="http://schemas.microsoft.com/office/drawing/2014/main" val="1779324874"/>
                    </a:ext>
                  </a:extLst>
                </a:gridCol>
                <a:gridCol w="2279462">
                  <a:extLst>
                    <a:ext uri="{9D8B030D-6E8A-4147-A177-3AD203B41FA5}">
                      <a16:colId xmlns:a16="http://schemas.microsoft.com/office/drawing/2014/main" val="367324897"/>
                    </a:ext>
                  </a:extLst>
                </a:gridCol>
                <a:gridCol w="1561275">
                  <a:extLst>
                    <a:ext uri="{9D8B030D-6E8A-4147-A177-3AD203B41FA5}">
                      <a16:colId xmlns:a16="http://schemas.microsoft.com/office/drawing/2014/main" val="2100689644"/>
                    </a:ext>
                  </a:extLst>
                </a:gridCol>
                <a:gridCol w="2554579">
                  <a:extLst>
                    <a:ext uri="{9D8B030D-6E8A-4147-A177-3AD203B41FA5}">
                      <a16:colId xmlns:a16="http://schemas.microsoft.com/office/drawing/2014/main" val="3125219771"/>
                    </a:ext>
                  </a:extLst>
                </a:gridCol>
              </a:tblGrid>
              <a:tr h="0">
                <a:tc>
                  <a:txBody>
                    <a:bodyPr/>
                    <a:lstStyle/>
                    <a:p>
                      <a:pPr>
                        <a:buNone/>
                      </a:pPr>
                      <a:r>
                        <a:rPr lang="es-CL" sz="2400" dirty="0">
                          <a:latin typeface="Atkinson Hyperlegible"/>
                        </a:rPr>
                        <a:t>Pulido</a:t>
                      </a:r>
                    </a:p>
                  </a:txBody>
                  <a:tcPr anchor="ctr"/>
                </a:tc>
                <a:tc>
                  <a:txBody>
                    <a:bodyPr/>
                    <a:lstStyle/>
                    <a:p>
                      <a:pPr>
                        <a:buNone/>
                      </a:pPr>
                      <a:r>
                        <a:rPr lang="es-CL" sz="2400">
                          <a:latin typeface="Atkinson Hyperlegible"/>
                        </a:rPr>
                        <a:t>Significado</a:t>
                      </a:r>
                    </a:p>
                  </a:txBody>
                  <a:tcPr anchor="ctr"/>
                </a:tc>
                <a:tc>
                  <a:txBody>
                    <a:bodyPr/>
                    <a:lstStyle/>
                    <a:p>
                      <a:pPr>
                        <a:buNone/>
                      </a:pPr>
                      <a:r>
                        <a:rPr lang="es-CL" sz="2400">
                          <a:latin typeface="Atkinson Hyperlegible"/>
                        </a:rPr>
                        <a:t>Forma física</a:t>
                      </a:r>
                    </a:p>
                  </a:txBody>
                  <a:tcPr anchor="ctr"/>
                </a:tc>
                <a:tc>
                  <a:txBody>
                    <a:bodyPr/>
                    <a:lstStyle/>
                    <a:p>
                      <a:pPr>
                        <a:buNone/>
                      </a:pPr>
                      <a:r>
                        <a:rPr lang="es-CL" sz="2400">
                          <a:latin typeface="Atkinson Hyperlegible"/>
                        </a:rPr>
                        <a:t>Reflexión típica</a:t>
                      </a:r>
                    </a:p>
                  </a:txBody>
                  <a:tcPr anchor="ctr"/>
                </a:tc>
                <a:tc>
                  <a:txBody>
                    <a:bodyPr/>
                    <a:lstStyle/>
                    <a:p>
                      <a:pPr>
                        <a:buNone/>
                      </a:pPr>
                      <a:r>
                        <a:rPr lang="es-CL" sz="2400">
                          <a:latin typeface="Atkinson Hyperlegible"/>
                        </a:rPr>
                        <a:t>Uso</a:t>
                      </a:r>
                    </a:p>
                  </a:txBody>
                  <a:tcPr anchor="ctr"/>
                </a:tc>
                <a:extLst>
                  <a:ext uri="{0D108BD9-81ED-4DB2-BD59-A6C34878D82A}">
                    <a16:rowId xmlns:a16="http://schemas.microsoft.com/office/drawing/2014/main" val="3826555694"/>
                  </a:ext>
                </a:extLst>
              </a:tr>
              <a:tr h="0">
                <a:tc>
                  <a:txBody>
                    <a:bodyPr/>
                    <a:lstStyle/>
                    <a:p>
                      <a:pPr>
                        <a:buNone/>
                      </a:pPr>
                      <a:r>
                        <a:rPr lang="es-CL" sz="2400" b="1" dirty="0">
                          <a:latin typeface="Atkinson Hyperlegible"/>
                        </a:rPr>
                        <a:t>Flat</a:t>
                      </a:r>
                      <a:endParaRPr lang="es-CL" sz="2400" dirty="0">
                        <a:latin typeface="Atkinson Hyperlegible"/>
                      </a:endParaRPr>
                    </a:p>
                  </a:txBody>
                  <a:tcPr anchor="ctr"/>
                </a:tc>
                <a:tc>
                  <a:txBody>
                    <a:bodyPr/>
                    <a:lstStyle/>
                    <a:p>
                      <a:pPr>
                        <a:buNone/>
                      </a:pPr>
                      <a:r>
                        <a:rPr lang="es-CL" sz="2400" dirty="0">
                          <a:latin typeface="Atkinson Hyperlegible"/>
                        </a:rPr>
                        <a:t>Plano</a:t>
                      </a:r>
                    </a:p>
                  </a:txBody>
                  <a:tcPr anchor="ctr"/>
                </a:tc>
                <a:tc>
                  <a:txBody>
                    <a:bodyPr/>
                    <a:lstStyle/>
                    <a:p>
                      <a:pPr>
                        <a:buNone/>
                      </a:pPr>
                      <a:r>
                        <a:rPr lang="es-CL" sz="2400">
                          <a:latin typeface="Atkinson Hyperlegible"/>
                        </a:rPr>
                        <a:t>Superficie plana</a:t>
                      </a:r>
                    </a:p>
                  </a:txBody>
                  <a:tcPr anchor="ctr"/>
                </a:tc>
                <a:tc>
                  <a:txBody>
                    <a:bodyPr/>
                    <a:lstStyle/>
                    <a:p>
                      <a:pPr>
                        <a:buNone/>
                      </a:pPr>
                      <a:r>
                        <a:rPr lang="es-CL" sz="2400" dirty="0">
                          <a:latin typeface="Atkinson Hyperlegible"/>
                        </a:rPr>
                        <a:t>&gt; -30 dB</a:t>
                      </a:r>
                    </a:p>
                  </a:txBody>
                  <a:tcPr anchor="ctr"/>
                </a:tc>
                <a:tc>
                  <a:txBody>
                    <a:bodyPr/>
                    <a:lstStyle/>
                    <a:p>
                      <a:pPr>
                        <a:buNone/>
                      </a:pPr>
                      <a:r>
                        <a:rPr lang="es-CL" sz="2400">
                          <a:latin typeface="Atkinson Hyperlegible"/>
                        </a:rPr>
                        <a:t>Obsoleto / equipos antiguos</a:t>
                      </a:r>
                    </a:p>
                  </a:txBody>
                  <a:tcPr anchor="ctr"/>
                </a:tc>
                <a:extLst>
                  <a:ext uri="{0D108BD9-81ED-4DB2-BD59-A6C34878D82A}">
                    <a16:rowId xmlns:a16="http://schemas.microsoft.com/office/drawing/2014/main" val="308115389"/>
                  </a:ext>
                </a:extLst>
              </a:tr>
              <a:tr h="0">
                <a:tc>
                  <a:txBody>
                    <a:bodyPr/>
                    <a:lstStyle/>
                    <a:p>
                      <a:pPr>
                        <a:buNone/>
                      </a:pPr>
                      <a:r>
                        <a:rPr lang="es-CL" sz="2400" b="1">
                          <a:latin typeface="Atkinson Hyperlegible"/>
                        </a:rPr>
                        <a:t>PC</a:t>
                      </a:r>
                      <a:endParaRPr lang="es-CL" sz="2400">
                        <a:latin typeface="Atkinson Hyperlegible"/>
                      </a:endParaRPr>
                    </a:p>
                  </a:txBody>
                  <a:tcPr anchor="ctr"/>
                </a:tc>
                <a:tc>
                  <a:txBody>
                    <a:bodyPr/>
                    <a:lstStyle/>
                    <a:p>
                      <a:pPr>
                        <a:buNone/>
                      </a:pPr>
                      <a:r>
                        <a:rPr lang="es-CL" sz="2400" dirty="0" err="1">
                          <a:latin typeface="Atkinson Hyperlegible"/>
                        </a:rPr>
                        <a:t>Physical</a:t>
                      </a:r>
                      <a:r>
                        <a:rPr lang="es-CL" sz="2400" dirty="0">
                          <a:latin typeface="Atkinson Hyperlegible"/>
                        </a:rPr>
                        <a:t> </a:t>
                      </a:r>
                      <a:r>
                        <a:rPr lang="es-CL" sz="2400" dirty="0" err="1">
                          <a:latin typeface="Atkinson Hyperlegible"/>
                        </a:rPr>
                        <a:t>Contact</a:t>
                      </a:r>
                      <a:endParaRPr lang="es-CL" sz="2400" dirty="0">
                        <a:latin typeface="Atkinson Hyperlegible"/>
                      </a:endParaRPr>
                    </a:p>
                  </a:txBody>
                  <a:tcPr anchor="ctr"/>
                </a:tc>
                <a:tc>
                  <a:txBody>
                    <a:bodyPr/>
                    <a:lstStyle/>
                    <a:p>
                      <a:pPr>
                        <a:buNone/>
                      </a:pPr>
                      <a:r>
                        <a:rPr lang="es-CL" sz="2400" dirty="0">
                          <a:latin typeface="Atkinson Hyperlegible"/>
                        </a:rPr>
                        <a:t>Superficie convexa</a:t>
                      </a:r>
                    </a:p>
                  </a:txBody>
                  <a:tcPr anchor="ctr"/>
                </a:tc>
                <a:tc>
                  <a:txBody>
                    <a:bodyPr/>
                    <a:lstStyle/>
                    <a:p>
                      <a:pPr>
                        <a:buNone/>
                      </a:pPr>
                      <a:r>
                        <a:rPr lang="es-CL" sz="2400">
                          <a:latin typeface="Atkinson Hyperlegible"/>
                        </a:rPr>
                        <a:t>≈ -40 dB</a:t>
                      </a:r>
                    </a:p>
                  </a:txBody>
                  <a:tcPr anchor="ctr"/>
                </a:tc>
                <a:tc>
                  <a:txBody>
                    <a:bodyPr/>
                    <a:lstStyle/>
                    <a:p>
                      <a:pPr>
                        <a:buNone/>
                      </a:pPr>
                      <a:r>
                        <a:rPr lang="es-CL" sz="2400">
                          <a:latin typeface="Atkinson Hyperlegible"/>
                        </a:rPr>
                        <a:t>Instalaciones estándar</a:t>
                      </a:r>
                    </a:p>
                  </a:txBody>
                  <a:tcPr anchor="ctr"/>
                </a:tc>
                <a:extLst>
                  <a:ext uri="{0D108BD9-81ED-4DB2-BD59-A6C34878D82A}">
                    <a16:rowId xmlns:a16="http://schemas.microsoft.com/office/drawing/2014/main" val="2630842474"/>
                  </a:ext>
                </a:extLst>
              </a:tr>
              <a:tr h="0">
                <a:tc>
                  <a:txBody>
                    <a:bodyPr/>
                    <a:lstStyle/>
                    <a:p>
                      <a:pPr>
                        <a:buNone/>
                      </a:pPr>
                      <a:r>
                        <a:rPr lang="es-CL" sz="2400" b="1">
                          <a:latin typeface="Atkinson Hyperlegible"/>
                        </a:rPr>
                        <a:t>UPC</a:t>
                      </a:r>
                      <a:endParaRPr lang="es-CL" sz="2400">
                        <a:latin typeface="Atkinson Hyperlegible"/>
                      </a:endParaRPr>
                    </a:p>
                  </a:txBody>
                  <a:tcPr anchor="ctr"/>
                </a:tc>
                <a:tc>
                  <a:txBody>
                    <a:bodyPr/>
                    <a:lstStyle/>
                    <a:p>
                      <a:pPr>
                        <a:buNone/>
                      </a:pPr>
                      <a:r>
                        <a:rPr lang="es-CL" sz="2400">
                          <a:latin typeface="Atkinson Hyperlegible"/>
                        </a:rPr>
                        <a:t>Ultra Physical Contact</a:t>
                      </a:r>
                    </a:p>
                  </a:txBody>
                  <a:tcPr anchor="ctr"/>
                </a:tc>
                <a:tc>
                  <a:txBody>
                    <a:bodyPr/>
                    <a:lstStyle/>
                    <a:p>
                      <a:pPr>
                        <a:buNone/>
                      </a:pPr>
                      <a:r>
                        <a:rPr lang="es-CL" sz="2400" dirty="0">
                          <a:latin typeface="Atkinson Hyperlegible"/>
                        </a:rPr>
                        <a:t>Convexo ultra pulido</a:t>
                      </a:r>
                    </a:p>
                  </a:txBody>
                  <a:tcPr anchor="ctr"/>
                </a:tc>
                <a:tc>
                  <a:txBody>
                    <a:bodyPr/>
                    <a:lstStyle/>
                    <a:p>
                      <a:pPr>
                        <a:buNone/>
                      </a:pPr>
                      <a:r>
                        <a:rPr lang="es-CL" sz="2400" dirty="0">
                          <a:latin typeface="Atkinson Hyperlegible"/>
                        </a:rPr>
                        <a:t>&lt; -50 dB</a:t>
                      </a:r>
                    </a:p>
                  </a:txBody>
                  <a:tcPr anchor="ctr"/>
                </a:tc>
                <a:tc>
                  <a:txBody>
                    <a:bodyPr/>
                    <a:lstStyle/>
                    <a:p>
                      <a:pPr>
                        <a:buNone/>
                      </a:pPr>
                      <a:r>
                        <a:rPr lang="es-ES" sz="2400">
                          <a:latin typeface="Atkinson Hyperlegible"/>
                        </a:rPr>
                        <a:t>Redes de datos / alta velocidad</a:t>
                      </a:r>
                    </a:p>
                  </a:txBody>
                  <a:tcPr anchor="ctr"/>
                </a:tc>
                <a:extLst>
                  <a:ext uri="{0D108BD9-81ED-4DB2-BD59-A6C34878D82A}">
                    <a16:rowId xmlns:a16="http://schemas.microsoft.com/office/drawing/2014/main" val="1555075303"/>
                  </a:ext>
                </a:extLst>
              </a:tr>
              <a:tr h="0">
                <a:tc>
                  <a:txBody>
                    <a:bodyPr/>
                    <a:lstStyle/>
                    <a:p>
                      <a:pPr>
                        <a:buNone/>
                      </a:pPr>
                      <a:r>
                        <a:rPr lang="es-CL" sz="2400" b="1">
                          <a:latin typeface="Atkinson Hyperlegible"/>
                        </a:rPr>
                        <a:t>APC</a:t>
                      </a:r>
                      <a:endParaRPr lang="es-CL" sz="2400">
                        <a:latin typeface="Atkinson Hyperlegible"/>
                      </a:endParaRPr>
                    </a:p>
                  </a:txBody>
                  <a:tcPr anchor="ctr"/>
                </a:tc>
                <a:tc>
                  <a:txBody>
                    <a:bodyPr/>
                    <a:lstStyle/>
                    <a:p>
                      <a:pPr>
                        <a:buNone/>
                      </a:pPr>
                      <a:r>
                        <a:rPr lang="es-CL" sz="2400">
                          <a:latin typeface="Atkinson Hyperlegible"/>
                        </a:rPr>
                        <a:t>Angled Physical Contact</a:t>
                      </a:r>
                    </a:p>
                  </a:txBody>
                  <a:tcPr anchor="ctr"/>
                </a:tc>
                <a:tc>
                  <a:txBody>
                    <a:bodyPr/>
                    <a:lstStyle/>
                    <a:p>
                      <a:pPr>
                        <a:buNone/>
                      </a:pPr>
                      <a:r>
                        <a:rPr lang="es-CL" sz="2400">
                          <a:latin typeface="Atkinson Hyperlegible"/>
                        </a:rPr>
                        <a:t>Pulido angular 8°</a:t>
                      </a:r>
                    </a:p>
                  </a:txBody>
                  <a:tcPr anchor="ctr"/>
                </a:tc>
                <a:tc>
                  <a:txBody>
                    <a:bodyPr/>
                    <a:lstStyle/>
                    <a:p>
                      <a:pPr>
                        <a:buNone/>
                      </a:pPr>
                      <a:r>
                        <a:rPr lang="es-CL" sz="2400" dirty="0">
                          <a:latin typeface="Atkinson Hyperlegible"/>
                        </a:rPr>
                        <a:t>&lt; -60 dB</a:t>
                      </a:r>
                    </a:p>
                  </a:txBody>
                  <a:tcPr anchor="ctr"/>
                </a:tc>
                <a:tc>
                  <a:txBody>
                    <a:bodyPr/>
                    <a:lstStyle/>
                    <a:p>
                      <a:pPr>
                        <a:buNone/>
                      </a:pPr>
                      <a:r>
                        <a:rPr lang="es-CL" sz="2400" dirty="0" err="1">
                          <a:latin typeface="Atkinson Hyperlegible"/>
                        </a:rPr>
                        <a:t>FTTH</a:t>
                      </a:r>
                      <a:r>
                        <a:rPr lang="es-CL" sz="2400" dirty="0">
                          <a:latin typeface="Atkinson Hyperlegible"/>
                        </a:rPr>
                        <a:t>, </a:t>
                      </a:r>
                      <a:r>
                        <a:rPr lang="es-CL" sz="2400" dirty="0" err="1">
                          <a:latin typeface="Atkinson Hyperlegible"/>
                        </a:rPr>
                        <a:t>CATV</a:t>
                      </a:r>
                      <a:r>
                        <a:rPr lang="es-CL" sz="2400" dirty="0">
                          <a:latin typeface="Atkinson Hyperlegible"/>
                        </a:rPr>
                        <a:t>, medición óptica</a:t>
                      </a:r>
                    </a:p>
                  </a:txBody>
                  <a:tcPr anchor="ctr"/>
                </a:tc>
                <a:extLst>
                  <a:ext uri="{0D108BD9-81ED-4DB2-BD59-A6C34878D82A}">
                    <a16:rowId xmlns:a16="http://schemas.microsoft.com/office/drawing/2014/main" val="2471313832"/>
                  </a:ext>
                </a:extLst>
              </a:tr>
            </a:tbl>
          </a:graphicData>
        </a:graphic>
      </p:graphicFrame>
      <p:pic>
        <p:nvPicPr>
          <p:cNvPr id="12" name="Imagen 11">
            <a:extLst>
              <a:ext uri="{FF2B5EF4-FFF2-40B4-BE49-F238E27FC236}">
                <a16:creationId xmlns:a16="http://schemas.microsoft.com/office/drawing/2014/main" id="{3EFEA58D-2920-B1CA-7072-7C9EC2A9403D}"/>
              </a:ext>
            </a:extLst>
          </p:cNvPr>
          <p:cNvPicPr>
            <a:picLocks noChangeAspect="1"/>
          </p:cNvPicPr>
          <p:nvPr/>
        </p:nvPicPr>
        <p:blipFill>
          <a:blip r:embed="rId4"/>
          <a:stretch>
            <a:fillRect/>
          </a:stretch>
        </p:blipFill>
        <p:spPr>
          <a:xfrm>
            <a:off x="523137" y="7180667"/>
            <a:ext cx="9644353" cy="3229962"/>
          </a:xfrm>
          <a:prstGeom prst="rect">
            <a:avLst/>
          </a:prstGeom>
        </p:spPr>
      </p:pic>
      <p:pic>
        <p:nvPicPr>
          <p:cNvPr id="13" name="Imagen 12">
            <a:extLst>
              <a:ext uri="{FF2B5EF4-FFF2-40B4-BE49-F238E27FC236}">
                <a16:creationId xmlns:a16="http://schemas.microsoft.com/office/drawing/2014/main" id="{C2AAAD63-FDCB-15C2-FF7B-AE510A9C21AC}"/>
              </a:ext>
            </a:extLst>
          </p:cNvPr>
          <p:cNvPicPr>
            <a:picLocks noChangeAspect="1"/>
          </p:cNvPicPr>
          <p:nvPr/>
        </p:nvPicPr>
        <p:blipFill>
          <a:blip r:embed="rId5"/>
          <a:stretch>
            <a:fillRect/>
          </a:stretch>
        </p:blipFill>
        <p:spPr>
          <a:xfrm>
            <a:off x="11729700" y="2901439"/>
            <a:ext cx="6708202" cy="5031152"/>
          </a:xfrm>
          <a:prstGeom prst="rect">
            <a:avLst/>
          </a:prstGeom>
        </p:spPr>
      </p:pic>
      <p:sp>
        <p:nvSpPr>
          <p:cNvPr id="15" name="CuadroTexto 14">
            <a:extLst>
              <a:ext uri="{FF2B5EF4-FFF2-40B4-BE49-F238E27FC236}">
                <a16:creationId xmlns:a16="http://schemas.microsoft.com/office/drawing/2014/main" id="{47C3542C-D5E6-EF53-1E4B-9B25C8A78583}"/>
              </a:ext>
            </a:extLst>
          </p:cNvPr>
          <p:cNvSpPr txBox="1"/>
          <p:nvPr/>
        </p:nvSpPr>
        <p:spPr>
          <a:xfrm>
            <a:off x="11254558" y="8716466"/>
            <a:ext cx="8849542"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ANSI/</a:t>
            </a:r>
            <a:r>
              <a:rPr lang="es-ES" sz="2400" b="1" dirty="0" err="1">
                <a:latin typeface="Atkinson Hyperlegible"/>
              </a:rPr>
              <a:t>TIA</a:t>
            </a:r>
            <a:r>
              <a:rPr lang="es-ES" sz="2400" b="1" dirty="0">
                <a:latin typeface="Atkinson Hyperlegible"/>
              </a:rPr>
              <a:t>-568.3-E</a:t>
            </a:r>
            <a:r>
              <a:rPr lang="es-ES" sz="2400" dirty="0">
                <a:latin typeface="Atkinson Hyperlegible"/>
              </a:rPr>
              <a:t> — cableado de fibra óptica, conectores, hardware de conexión, </a:t>
            </a:r>
            <a:r>
              <a:rPr lang="es-ES" sz="2400" dirty="0" err="1">
                <a:latin typeface="Atkinson Hyperlegible"/>
              </a:rPr>
              <a:t>patch</a:t>
            </a:r>
            <a:r>
              <a:rPr lang="es-ES" sz="2400" dirty="0">
                <a:latin typeface="Atkinson Hyperlegible"/>
              </a:rPr>
              <a:t> </a:t>
            </a:r>
            <a:r>
              <a:rPr lang="es-ES" sz="2400" dirty="0" err="1">
                <a:latin typeface="Atkinson Hyperlegible"/>
              </a:rPr>
              <a:t>cords</a:t>
            </a:r>
            <a:r>
              <a:rPr lang="es-ES" sz="2400" dirty="0">
                <a:latin typeface="Atkinson Hyperlegible"/>
              </a:rPr>
              <a:t> y requisitos de desempeño.</a:t>
            </a:r>
            <a:endParaRPr lang="es-CL" sz="2400" noProof="0" dirty="0">
              <a:latin typeface="Atkinson Hyperlegible"/>
            </a:endParaRPr>
          </a:p>
        </p:txBody>
      </p:sp>
    </p:spTree>
    <p:extLst>
      <p:ext uri="{BB962C8B-B14F-4D97-AF65-F5344CB8AC3E}">
        <p14:creationId xmlns:p14="http://schemas.microsoft.com/office/powerpoint/2010/main" val="59480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41A5A38-CAE3-8E4C-2804-1F6320CF8ED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8050BFB-7DFF-917F-F8DC-0971DFCF537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5C3BADAB-EEE2-E51B-8A37-9ABD9B62563E}"/>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271A633-8E2E-C7AC-226D-A9275022C300}"/>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Conectores ópticos, pulidos y compatibilidad</a:t>
            </a:r>
            <a:endParaRPr lang="es-CL" sz="4000" noProof="0" dirty="0">
              <a:latin typeface="Atkinson Hyperlegible"/>
            </a:endParaRPr>
          </a:p>
        </p:txBody>
      </p:sp>
      <p:sp>
        <p:nvSpPr>
          <p:cNvPr id="10" name="CuadroTexto 9">
            <a:extLst>
              <a:ext uri="{FF2B5EF4-FFF2-40B4-BE49-F238E27FC236}">
                <a16:creationId xmlns:a16="http://schemas.microsoft.com/office/drawing/2014/main" id="{8DC03E49-0C05-4F62-C935-9C8F40A94E78}"/>
              </a:ext>
            </a:extLst>
          </p:cNvPr>
          <p:cNvSpPr txBox="1"/>
          <p:nvPr/>
        </p:nvSpPr>
        <p:spPr>
          <a:xfrm>
            <a:off x="0" y="9297162"/>
            <a:ext cx="8849542"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En fibra óptica, el conector no solo une: también puede introducir pérdida, reflexión y fallas si no es compatible o está contaminado.</a:t>
            </a:r>
            <a:endParaRPr lang="es-CL" sz="2400" noProof="0" dirty="0">
              <a:latin typeface="Atkinson Hyperlegible"/>
            </a:endParaRPr>
          </a:p>
        </p:txBody>
      </p:sp>
      <p:graphicFrame>
        <p:nvGraphicFramePr>
          <p:cNvPr id="2" name="Tabla 1">
            <a:extLst>
              <a:ext uri="{FF2B5EF4-FFF2-40B4-BE49-F238E27FC236}">
                <a16:creationId xmlns:a16="http://schemas.microsoft.com/office/drawing/2014/main" id="{6542D9CC-A567-8BC2-2C99-22B6ACE2177B}"/>
              </a:ext>
            </a:extLst>
          </p:cNvPr>
          <p:cNvGraphicFramePr>
            <a:graphicFrameLocks noGrp="1"/>
          </p:cNvGraphicFramePr>
          <p:nvPr>
            <p:extLst>
              <p:ext uri="{D42A27DB-BD31-4B8C-83A1-F6EECF244321}">
                <p14:modId xmlns:p14="http://schemas.microsoft.com/office/powerpoint/2010/main" val="3325007973"/>
              </p:ext>
            </p:extLst>
          </p:nvPr>
        </p:nvGraphicFramePr>
        <p:xfrm>
          <a:off x="269824" y="3719322"/>
          <a:ext cx="19502197" cy="5366529"/>
        </p:xfrm>
        <a:graphic>
          <a:graphicData uri="http://schemas.openxmlformats.org/drawingml/2006/table">
            <a:tbl>
              <a:tblPr firstRow="1" firstCol="1">
                <a:tableStyleId>{073A0DAA-6AF3-43AB-8588-CEC1D06C72B9}</a:tableStyleId>
              </a:tblPr>
              <a:tblGrid>
                <a:gridCol w="2154092">
                  <a:extLst>
                    <a:ext uri="{9D8B030D-6E8A-4147-A177-3AD203B41FA5}">
                      <a16:colId xmlns:a16="http://schemas.microsoft.com/office/drawing/2014/main" val="1437579987"/>
                    </a:ext>
                  </a:extLst>
                </a:gridCol>
                <a:gridCol w="7597007">
                  <a:extLst>
                    <a:ext uri="{9D8B030D-6E8A-4147-A177-3AD203B41FA5}">
                      <a16:colId xmlns:a16="http://schemas.microsoft.com/office/drawing/2014/main" val="3759478236"/>
                    </a:ext>
                  </a:extLst>
                </a:gridCol>
                <a:gridCol w="4875549">
                  <a:extLst>
                    <a:ext uri="{9D8B030D-6E8A-4147-A177-3AD203B41FA5}">
                      <a16:colId xmlns:a16="http://schemas.microsoft.com/office/drawing/2014/main" val="2067360950"/>
                    </a:ext>
                  </a:extLst>
                </a:gridCol>
                <a:gridCol w="4875549">
                  <a:extLst>
                    <a:ext uri="{9D8B030D-6E8A-4147-A177-3AD203B41FA5}">
                      <a16:colId xmlns:a16="http://schemas.microsoft.com/office/drawing/2014/main" val="3528975384"/>
                    </a:ext>
                  </a:extLst>
                </a:gridCol>
              </a:tblGrid>
              <a:tr h="433379">
                <a:tc>
                  <a:txBody>
                    <a:bodyPr/>
                    <a:lstStyle/>
                    <a:p>
                      <a:pPr>
                        <a:buNone/>
                      </a:pPr>
                      <a:r>
                        <a:rPr lang="es-CL" sz="3000" dirty="0">
                          <a:latin typeface="Atkinson Hyperlegible"/>
                        </a:rPr>
                        <a:t>Conector</a:t>
                      </a:r>
                    </a:p>
                  </a:txBody>
                  <a:tcPr anchor="ctr"/>
                </a:tc>
                <a:tc>
                  <a:txBody>
                    <a:bodyPr/>
                    <a:lstStyle/>
                    <a:p>
                      <a:pPr>
                        <a:buNone/>
                      </a:pPr>
                      <a:r>
                        <a:rPr lang="es-CL" sz="3000" dirty="0">
                          <a:latin typeface="Atkinson Hyperlegible"/>
                        </a:rPr>
                        <a:t>Significado</a:t>
                      </a:r>
                    </a:p>
                  </a:txBody>
                  <a:tcPr anchor="ctr"/>
                </a:tc>
                <a:tc>
                  <a:txBody>
                    <a:bodyPr/>
                    <a:lstStyle/>
                    <a:p>
                      <a:pPr>
                        <a:buNone/>
                      </a:pPr>
                      <a:r>
                        <a:rPr lang="es-CL" sz="3000">
                          <a:latin typeface="Atkinson Hyperlegible"/>
                        </a:rPr>
                        <a:t>Característica principal</a:t>
                      </a:r>
                    </a:p>
                  </a:txBody>
                  <a:tcPr anchor="ctr"/>
                </a:tc>
                <a:tc>
                  <a:txBody>
                    <a:bodyPr/>
                    <a:lstStyle/>
                    <a:p>
                      <a:pPr>
                        <a:buNone/>
                      </a:pPr>
                      <a:r>
                        <a:rPr lang="es-CL" sz="3000">
                          <a:latin typeface="Atkinson Hyperlegible"/>
                        </a:rPr>
                        <a:t>Uso típico</a:t>
                      </a:r>
                    </a:p>
                  </a:txBody>
                  <a:tcPr anchor="ctr"/>
                </a:tc>
                <a:extLst>
                  <a:ext uri="{0D108BD9-81ED-4DB2-BD59-A6C34878D82A}">
                    <a16:rowId xmlns:a16="http://schemas.microsoft.com/office/drawing/2014/main" val="1128764264"/>
                  </a:ext>
                </a:extLst>
              </a:tr>
              <a:tr h="794529">
                <a:tc>
                  <a:txBody>
                    <a:bodyPr/>
                    <a:lstStyle/>
                    <a:p>
                      <a:pPr>
                        <a:buNone/>
                      </a:pPr>
                      <a:r>
                        <a:rPr lang="es-CL" sz="3000" b="1" dirty="0">
                          <a:latin typeface="Atkinson Hyperlegible"/>
                        </a:rPr>
                        <a:t>FC</a:t>
                      </a:r>
                      <a:endParaRPr lang="es-CL" sz="3000" dirty="0">
                        <a:latin typeface="Atkinson Hyperlegible"/>
                      </a:endParaRPr>
                    </a:p>
                  </a:txBody>
                  <a:tcPr anchor="ctr"/>
                </a:tc>
                <a:tc>
                  <a:txBody>
                    <a:bodyPr/>
                    <a:lstStyle/>
                    <a:p>
                      <a:pPr>
                        <a:buNone/>
                      </a:pPr>
                      <a:r>
                        <a:rPr lang="es-CL" sz="3000" dirty="0" err="1">
                          <a:latin typeface="Atkinson Hyperlegible"/>
                        </a:rPr>
                        <a:t>Ferrule</a:t>
                      </a:r>
                      <a:r>
                        <a:rPr lang="es-CL" sz="3000" dirty="0">
                          <a:latin typeface="Atkinson Hyperlegible"/>
                        </a:rPr>
                        <a:t> </a:t>
                      </a:r>
                      <a:r>
                        <a:rPr lang="es-CL" sz="3000" dirty="0" err="1">
                          <a:latin typeface="Atkinson Hyperlegible"/>
                        </a:rPr>
                        <a:t>Connector</a:t>
                      </a:r>
                      <a:endParaRPr lang="es-CL" sz="3000" dirty="0">
                        <a:latin typeface="Atkinson Hyperlegible"/>
                      </a:endParaRPr>
                    </a:p>
                  </a:txBody>
                  <a:tcPr anchor="ctr"/>
                </a:tc>
                <a:tc>
                  <a:txBody>
                    <a:bodyPr/>
                    <a:lstStyle/>
                    <a:p>
                      <a:pPr>
                        <a:buNone/>
                      </a:pPr>
                      <a:r>
                        <a:rPr lang="es-CL" sz="3000" dirty="0">
                          <a:latin typeface="Atkinson Hyperlegible"/>
                        </a:rPr>
                        <a:t>Conector roscado, resistente a vibraciones</a:t>
                      </a:r>
                    </a:p>
                  </a:txBody>
                  <a:tcPr anchor="ctr"/>
                </a:tc>
                <a:tc>
                  <a:txBody>
                    <a:bodyPr/>
                    <a:lstStyle/>
                    <a:p>
                      <a:pPr>
                        <a:buNone/>
                      </a:pPr>
                      <a:r>
                        <a:rPr lang="es-CL" sz="3000">
                          <a:latin typeface="Atkinson Hyperlegible"/>
                        </a:rPr>
                        <a:t>Monomodo, laboratorio, telecom</a:t>
                      </a:r>
                    </a:p>
                  </a:txBody>
                  <a:tcPr anchor="ctr"/>
                </a:tc>
                <a:extLst>
                  <a:ext uri="{0D108BD9-81ED-4DB2-BD59-A6C34878D82A}">
                    <a16:rowId xmlns:a16="http://schemas.microsoft.com/office/drawing/2014/main" val="1028126756"/>
                  </a:ext>
                </a:extLst>
              </a:tr>
              <a:tr h="794529">
                <a:tc>
                  <a:txBody>
                    <a:bodyPr/>
                    <a:lstStyle/>
                    <a:p>
                      <a:pPr>
                        <a:buNone/>
                      </a:pPr>
                      <a:r>
                        <a:rPr lang="es-CL" sz="3000" b="1" dirty="0" err="1">
                          <a:latin typeface="Atkinson Hyperlegible"/>
                        </a:rPr>
                        <a:t>ST</a:t>
                      </a:r>
                      <a:endParaRPr lang="es-CL" sz="3000" dirty="0">
                        <a:latin typeface="Atkinson Hyperlegible"/>
                      </a:endParaRPr>
                    </a:p>
                  </a:txBody>
                  <a:tcPr anchor="ctr"/>
                </a:tc>
                <a:tc>
                  <a:txBody>
                    <a:bodyPr/>
                    <a:lstStyle/>
                    <a:p>
                      <a:pPr>
                        <a:buNone/>
                      </a:pPr>
                      <a:r>
                        <a:rPr lang="es-CL" sz="3000" dirty="0">
                          <a:latin typeface="Atkinson Hyperlegible"/>
                        </a:rPr>
                        <a:t>Straight Tip</a:t>
                      </a:r>
                    </a:p>
                  </a:txBody>
                  <a:tcPr anchor="ctr"/>
                </a:tc>
                <a:tc>
                  <a:txBody>
                    <a:bodyPr/>
                    <a:lstStyle/>
                    <a:p>
                      <a:pPr>
                        <a:buNone/>
                      </a:pPr>
                      <a:r>
                        <a:rPr lang="es-CL" sz="3000">
                          <a:latin typeface="Atkinson Hyperlegible"/>
                        </a:rPr>
                        <a:t>Montura tipo bayoneta</a:t>
                      </a:r>
                    </a:p>
                  </a:txBody>
                  <a:tcPr anchor="ctr"/>
                </a:tc>
                <a:tc>
                  <a:txBody>
                    <a:bodyPr/>
                    <a:lstStyle/>
                    <a:p>
                      <a:pPr>
                        <a:buNone/>
                      </a:pPr>
                      <a:r>
                        <a:rPr lang="es-CL" sz="3000">
                          <a:latin typeface="Atkinson Hyperlegible"/>
                        </a:rPr>
                        <a:t>Multimodo, instalaciones antiguas</a:t>
                      </a:r>
                    </a:p>
                  </a:txBody>
                  <a:tcPr anchor="ctr"/>
                </a:tc>
                <a:extLst>
                  <a:ext uri="{0D108BD9-81ED-4DB2-BD59-A6C34878D82A}">
                    <a16:rowId xmlns:a16="http://schemas.microsoft.com/office/drawing/2014/main" val="4077273517"/>
                  </a:ext>
                </a:extLst>
              </a:tr>
              <a:tr h="794529">
                <a:tc>
                  <a:txBody>
                    <a:bodyPr/>
                    <a:lstStyle/>
                    <a:p>
                      <a:pPr>
                        <a:buNone/>
                      </a:pPr>
                      <a:r>
                        <a:rPr lang="es-CL" sz="3000" b="1">
                          <a:latin typeface="Atkinson Hyperlegible"/>
                        </a:rPr>
                        <a:t>LC</a:t>
                      </a:r>
                      <a:endParaRPr lang="es-CL" sz="3000">
                        <a:latin typeface="Atkinson Hyperlegible"/>
                      </a:endParaRPr>
                    </a:p>
                  </a:txBody>
                  <a:tcPr anchor="ctr"/>
                </a:tc>
                <a:tc>
                  <a:txBody>
                    <a:bodyPr/>
                    <a:lstStyle/>
                    <a:p>
                      <a:pPr>
                        <a:buNone/>
                      </a:pPr>
                      <a:r>
                        <a:rPr lang="es-CL" sz="3000" dirty="0" err="1">
                          <a:latin typeface="Atkinson Hyperlegible"/>
                        </a:rPr>
                        <a:t>Lucent</a:t>
                      </a:r>
                      <a:r>
                        <a:rPr lang="es-CL" sz="3000" dirty="0">
                          <a:latin typeface="Atkinson Hyperlegible"/>
                        </a:rPr>
                        <a:t> </a:t>
                      </a:r>
                      <a:r>
                        <a:rPr lang="es-CL" sz="3000" dirty="0" err="1">
                          <a:latin typeface="Atkinson Hyperlegible"/>
                        </a:rPr>
                        <a:t>Connector</a:t>
                      </a:r>
                      <a:r>
                        <a:rPr lang="es-CL" sz="3000" dirty="0">
                          <a:latin typeface="Atkinson Hyperlegible"/>
                        </a:rPr>
                        <a:t> / Little </a:t>
                      </a:r>
                      <a:r>
                        <a:rPr lang="es-CL" sz="3000" dirty="0" err="1">
                          <a:latin typeface="Atkinson Hyperlegible"/>
                        </a:rPr>
                        <a:t>Connector</a:t>
                      </a:r>
                      <a:endParaRPr lang="es-CL" sz="3000" dirty="0">
                        <a:latin typeface="Atkinson Hyperlegible"/>
                      </a:endParaRPr>
                    </a:p>
                  </a:txBody>
                  <a:tcPr anchor="ctr"/>
                </a:tc>
                <a:tc>
                  <a:txBody>
                    <a:bodyPr/>
                    <a:lstStyle/>
                    <a:p>
                      <a:pPr>
                        <a:buNone/>
                      </a:pPr>
                      <a:r>
                        <a:rPr lang="es-CL" sz="3000" dirty="0">
                          <a:latin typeface="Atkinson Hyperlegible"/>
                        </a:rPr>
                        <a:t>Compacto, </a:t>
                      </a:r>
                      <a:r>
                        <a:rPr lang="es-CL" sz="3000" dirty="0" err="1">
                          <a:latin typeface="Atkinson Hyperlegible"/>
                        </a:rPr>
                        <a:t>push-pull</a:t>
                      </a:r>
                      <a:r>
                        <a:rPr lang="es-CL" sz="3000" dirty="0">
                          <a:latin typeface="Atkinson Hyperlegible"/>
                        </a:rPr>
                        <a:t>, alta densidad</a:t>
                      </a:r>
                    </a:p>
                  </a:txBody>
                  <a:tcPr anchor="ctr"/>
                </a:tc>
                <a:tc>
                  <a:txBody>
                    <a:bodyPr/>
                    <a:lstStyle/>
                    <a:p>
                      <a:pPr>
                        <a:buNone/>
                      </a:pPr>
                      <a:r>
                        <a:rPr lang="es-CL" sz="3000">
                          <a:latin typeface="Atkinson Hyperlegible"/>
                        </a:rPr>
                        <a:t>SFP/SFP+, data center</a:t>
                      </a:r>
                    </a:p>
                  </a:txBody>
                  <a:tcPr anchor="ctr"/>
                </a:tc>
                <a:extLst>
                  <a:ext uri="{0D108BD9-81ED-4DB2-BD59-A6C34878D82A}">
                    <a16:rowId xmlns:a16="http://schemas.microsoft.com/office/drawing/2014/main" val="2483525520"/>
                  </a:ext>
                </a:extLst>
              </a:tr>
              <a:tr h="794529">
                <a:tc>
                  <a:txBody>
                    <a:bodyPr/>
                    <a:lstStyle/>
                    <a:p>
                      <a:pPr>
                        <a:buNone/>
                      </a:pPr>
                      <a:r>
                        <a:rPr lang="es-CL" sz="3000" b="1">
                          <a:latin typeface="Atkinson Hyperlegible"/>
                        </a:rPr>
                        <a:t>SC</a:t>
                      </a:r>
                      <a:endParaRPr lang="es-CL" sz="3000">
                        <a:latin typeface="Atkinson Hyperlegible"/>
                      </a:endParaRPr>
                    </a:p>
                  </a:txBody>
                  <a:tcPr anchor="ctr"/>
                </a:tc>
                <a:tc>
                  <a:txBody>
                    <a:bodyPr/>
                    <a:lstStyle/>
                    <a:p>
                      <a:pPr>
                        <a:buNone/>
                      </a:pPr>
                      <a:r>
                        <a:rPr lang="es-CL" sz="3000">
                          <a:latin typeface="Atkinson Hyperlegible"/>
                        </a:rPr>
                        <a:t>Subscriber Connector / Square Connector</a:t>
                      </a:r>
                    </a:p>
                  </a:txBody>
                  <a:tcPr anchor="ctr"/>
                </a:tc>
                <a:tc>
                  <a:txBody>
                    <a:bodyPr/>
                    <a:lstStyle/>
                    <a:p>
                      <a:pPr>
                        <a:buNone/>
                      </a:pPr>
                      <a:r>
                        <a:rPr lang="es-CL" sz="3000" dirty="0">
                          <a:latin typeface="Atkinson Hyperlegible"/>
                        </a:rPr>
                        <a:t>Push-</a:t>
                      </a:r>
                      <a:r>
                        <a:rPr lang="es-CL" sz="3000" dirty="0" err="1">
                          <a:latin typeface="Atkinson Hyperlegible"/>
                        </a:rPr>
                        <a:t>pull</a:t>
                      </a:r>
                      <a:r>
                        <a:rPr lang="es-CL" sz="3000" dirty="0">
                          <a:latin typeface="Atkinson Hyperlegible"/>
                        </a:rPr>
                        <a:t>, formato cuadrado</a:t>
                      </a:r>
                    </a:p>
                  </a:txBody>
                  <a:tcPr anchor="ctr"/>
                </a:tc>
                <a:tc>
                  <a:txBody>
                    <a:bodyPr/>
                    <a:lstStyle/>
                    <a:p>
                      <a:pPr>
                        <a:buNone/>
                      </a:pPr>
                      <a:r>
                        <a:rPr lang="es-CL" sz="3000" dirty="0">
                          <a:latin typeface="Atkinson Hyperlegible"/>
                        </a:rPr>
                        <a:t>Redes ópticas, </a:t>
                      </a:r>
                      <a:r>
                        <a:rPr lang="es-CL" sz="3000" dirty="0" err="1">
                          <a:latin typeface="Atkinson Hyperlegible"/>
                        </a:rPr>
                        <a:t>patch</a:t>
                      </a:r>
                      <a:r>
                        <a:rPr lang="es-CL" sz="3000" dirty="0">
                          <a:latin typeface="Atkinson Hyperlegible"/>
                        </a:rPr>
                        <a:t> </a:t>
                      </a:r>
                      <a:r>
                        <a:rPr lang="es-CL" sz="3000" dirty="0" err="1">
                          <a:latin typeface="Atkinson Hyperlegible"/>
                        </a:rPr>
                        <a:t>panels</a:t>
                      </a:r>
                      <a:endParaRPr lang="es-CL" sz="3000" dirty="0">
                        <a:latin typeface="Atkinson Hyperlegible"/>
                      </a:endParaRPr>
                    </a:p>
                  </a:txBody>
                  <a:tcPr anchor="ctr"/>
                </a:tc>
                <a:extLst>
                  <a:ext uri="{0D108BD9-81ED-4DB2-BD59-A6C34878D82A}">
                    <a16:rowId xmlns:a16="http://schemas.microsoft.com/office/drawing/2014/main" val="2710014477"/>
                  </a:ext>
                </a:extLst>
              </a:tr>
              <a:tr h="794529">
                <a:tc>
                  <a:txBody>
                    <a:bodyPr/>
                    <a:lstStyle/>
                    <a:p>
                      <a:pPr>
                        <a:buNone/>
                      </a:pPr>
                      <a:r>
                        <a:rPr lang="es-CL" sz="3000" b="1">
                          <a:latin typeface="Atkinson Hyperlegible"/>
                        </a:rPr>
                        <a:t>SC Duplex</a:t>
                      </a:r>
                      <a:endParaRPr lang="es-CL" sz="3000">
                        <a:latin typeface="Atkinson Hyperlegible"/>
                      </a:endParaRPr>
                    </a:p>
                  </a:txBody>
                  <a:tcPr anchor="ctr"/>
                </a:tc>
                <a:tc>
                  <a:txBody>
                    <a:bodyPr/>
                    <a:lstStyle/>
                    <a:p>
                      <a:pPr>
                        <a:buNone/>
                      </a:pPr>
                      <a:r>
                        <a:rPr lang="es-CL" sz="3000" dirty="0">
                          <a:latin typeface="Atkinson Hyperlegible"/>
                        </a:rPr>
                        <a:t>Doble SC</a:t>
                      </a:r>
                    </a:p>
                  </a:txBody>
                  <a:tcPr anchor="ctr"/>
                </a:tc>
                <a:tc>
                  <a:txBody>
                    <a:bodyPr/>
                    <a:lstStyle/>
                    <a:p>
                      <a:pPr>
                        <a:buNone/>
                      </a:pPr>
                      <a:r>
                        <a:rPr lang="es-CL" sz="3000" dirty="0">
                          <a:latin typeface="Atkinson Hyperlegible"/>
                        </a:rPr>
                        <a:t>Transmisión y recepción separadas</a:t>
                      </a:r>
                    </a:p>
                  </a:txBody>
                  <a:tcPr anchor="ctr"/>
                </a:tc>
                <a:tc>
                  <a:txBody>
                    <a:bodyPr/>
                    <a:lstStyle/>
                    <a:p>
                      <a:pPr>
                        <a:buNone/>
                      </a:pPr>
                      <a:r>
                        <a:rPr lang="es-CL" sz="3000" dirty="0">
                          <a:latin typeface="Atkinson Hyperlegible"/>
                        </a:rPr>
                        <a:t>Enlaces dúplex</a:t>
                      </a:r>
                    </a:p>
                  </a:txBody>
                  <a:tcPr anchor="ctr"/>
                </a:tc>
                <a:extLst>
                  <a:ext uri="{0D108BD9-81ED-4DB2-BD59-A6C34878D82A}">
                    <a16:rowId xmlns:a16="http://schemas.microsoft.com/office/drawing/2014/main" val="2085602049"/>
                  </a:ext>
                </a:extLst>
              </a:tr>
            </a:tbl>
          </a:graphicData>
        </a:graphic>
      </p:graphicFrame>
      <p:pic>
        <p:nvPicPr>
          <p:cNvPr id="6" name="Imagen 5">
            <a:extLst>
              <a:ext uri="{FF2B5EF4-FFF2-40B4-BE49-F238E27FC236}">
                <a16:creationId xmlns:a16="http://schemas.microsoft.com/office/drawing/2014/main" id="{9C958821-4833-345D-1554-4128531B695E}"/>
              </a:ext>
            </a:extLst>
          </p:cNvPr>
          <p:cNvPicPr>
            <a:picLocks noChangeAspect="1"/>
          </p:cNvPicPr>
          <p:nvPr/>
        </p:nvPicPr>
        <p:blipFill>
          <a:blip r:embed="rId4"/>
          <a:stretch>
            <a:fillRect/>
          </a:stretch>
        </p:blipFill>
        <p:spPr>
          <a:xfrm>
            <a:off x="1382157" y="985805"/>
            <a:ext cx="16477655" cy="2667000"/>
          </a:xfrm>
          <a:prstGeom prst="rect">
            <a:avLst/>
          </a:prstGeom>
        </p:spPr>
      </p:pic>
    </p:spTree>
    <p:extLst>
      <p:ext uri="{BB962C8B-B14F-4D97-AF65-F5344CB8AC3E}">
        <p14:creationId xmlns:p14="http://schemas.microsoft.com/office/powerpoint/2010/main" val="236498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1A992A2-6AA3-6CB7-7A61-71C9C0F62AD8}"/>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1CAAF6E1-B8C3-C549-7863-632B29EF0F9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CEBE58B-4727-0D66-C43C-9337CAD1725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EF8B7E2-CD13-50C3-B2E7-2D0FFE766A69}"/>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¿Qué es ruteo en redes de fibra óptica?</a:t>
            </a:r>
            <a:endParaRPr lang="es-CL" sz="4000" noProof="0" dirty="0">
              <a:latin typeface="Atkinson Hyperlegible"/>
            </a:endParaRPr>
          </a:p>
        </p:txBody>
      </p:sp>
      <p:sp>
        <p:nvSpPr>
          <p:cNvPr id="5" name="5 Rectángulo">
            <a:extLst>
              <a:ext uri="{FF2B5EF4-FFF2-40B4-BE49-F238E27FC236}">
                <a16:creationId xmlns:a16="http://schemas.microsoft.com/office/drawing/2014/main" id="{9A44564E-DA5B-6891-BE63-1CF0D3B1DFE9}"/>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dirty="0"/>
              <a:t>El </a:t>
            </a:r>
            <a:r>
              <a:rPr lang="es-ES" sz="3200" b="1" dirty="0"/>
              <a:t>ruteo en redes de fibra óptica</a:t>
            </a:r>
            <a:r>
              <a:rPr lang="es-ES" sz="3200" dirty="0"/>
              <a:t> consiste en seleccionar el camino que seguirá una señal o servicio a través de una red formada por </a:t>
            </a:r>
            <a:r>
              <a:rPr lang="es-ES" sz="3200" b="1" dirty="0"/>
              <a:t>nodos ópticos</a:t>
            </a:r>
            <a:r>
              <a:rPr lang="es-ES" sz="3200" dirty="0"/>
              <a:t> y </a:t>
            </a:r>
            <a:r>
              <a:rPr lang="es-ES" sz="3200" b="1" dirty="0"/>
              <a:t>enlaces de fibra</a:t>
            </a:r>
            <a:r>
              <a:rPr lang="es-ES" sz="3200" dirty="0"/>
              <a:t>.</a:t>
            </a:r>
            <a:endParaRPr lang="es-CL" sz="3200" b="1" i="1" noProof="0" dirty="0">
              <a:latin typeface="Atkinson Hyperlegible"/>
            </a:endParaRPr>
          </a:p>
        </p:txBody>
      </p:sp>
      <p:sp>
        <p:nvSpPr>
          <p:cNvPr id="6" name="5 Rectángulo">
            <a:extLst>
              <a:ext uri="{FF2B5EF4-FFF2-40B4-BE49-F238E27FC236}">
                <a16:creationId xmlns:a16="http://schemas.microsoft.com/office/drawing/2014/main" id="{7018E24A-69D9-64FA-3FFC-D8A642FCFDBE}"/>
              </a:ext>
            </a:extLst>
          </p:cNvPr>
          <p:cNvSpPr/>
          <p:nvPr/>
        </p:nvSpPr>
        <p:spPr>
          <a:xfrm>
            <a:off x="1221684" y="3098286"/>
            <a:ext cx="11984650" cy="5016758"/>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b="1" dirty="0">
                <a:latin typeface="Atkinson Hyperlegible"/>
              </a:rPr>
              <a:t>Conceptos clave</a:t>
            </a:r>
          </a:p>
          <a:p>
            <a:pPr marL="457200" indent="-457200">
              <a:buFont typeface="Arial" panose="020B0604020202020204" pitchFamily="34" charset="0"/>
              <a:buChar char="•"/>
            </a:pPr>
            <a:r>
              <a:rPr lang="es-ES" sz="3200" dirty="0">
                <a:latin typeface="Atkinson Hyperlegible"/>
              </a:rPr>
              <a:t>Una red óptica puede tener </a:t>
            </a:r>
            <a:r>
              <a:rPr lang="es-ES" sz="3200" b="1" dirty="0">
                <a:latin typeface="Atkinson Hyperlegible"/>
              </a:rPr>
              <a:t>múltiples caminos</a:t>
            </a:r>
            <a:r>
              <a:rPr lang="es-ES" sz="3200" dirty="0">
                <a:latin typeface="Atkinson Hyperlegible"/>
              </a:rPr>
              <a:t> entre origen y destino. </a:t>
            </a:r>
          </a:p>
          <a:p>
            <a:pPr marL="457200" indent="-457200">
              <a:buFont typeface="Arial" panose="020B0604020202020204" pitchFamily="34" charset="0"/>
              <a:buChar char="•"/>
            </a:pPr>
            <a:r>
              <a:rPr lang="es-ES" sz="3200" dirty="0">
                <a:latin typeface="Atkinson Hyperlegible"/>
              </a:rPr>
              <a:t>Cada camino tiene condiciones distintas: </a:t>
            </a:r>
            <a:r>
              <a:rPr lang="es-ES" sz="3200" b="1" dirty="0">
                <a:latin typeface="Atkinson Hyperlegible"/>
              </a:rPr>
              <a:t>distancia</a:t>
            </a:r>
            <a:r>
              <a:rPr lang="es-ES" sz="3200" dirty="0">
                <a:latin typeface="Atkinson Hyperlegible"/>
              </a:rPr>
              <a:t>, </a:t>
            </a:r>
            <a:r>
              <a:rPr lang="es-ES" sz="3200" b="1" dirty="0">
                <a:latin typeface="Atkinson Hyperlegible"/>
              </a:rPr>
              <a:t>capacidad</a:t>
            </a:r>
            <a:r>
              <a:rPr lang="es-ES" sz="3200" dirty="0">
                <a:latin typeface="Atkinson Hyperlegible"/>
              </a:rPr>
              <a:t>, </a:t>
            </a:r>
            <a:r>
              <a:rPr lang="es-ES" sz="3200" b="1" dirty="0">
                <a:latin typeface="Atkinson Hyperlegible"/>
              </a:rPr>
              <a:t>pérdidas</a:t>
            </a:r>
            <a:r>
              <a:rPr lang="es-ES" sz="3200" dirty="0">
                <a:latin typeface="Atkinson Hyperlegible"/>
              </a:rPr>
              <a:t>, </a:t>
            </a:r>
            <a:r>
              <a:rPr lang="es-ES" sz="3200" b="1" dirty="0">
                <a:latin typeface="Atkinson Hyperlegible"/>
              </a:rPr>
              <a:t>disponibilidad</a:t>
            </a:r>
            <a:r>
              <a:rPr lang="es-ES" sz="3200" dirty="0">
                <a:latin typeface="Atkinson Hyperlegible"/>
              </a:rPr>
              <a:t> y </a:t>
            </a:r>
            <a:r>
              <a:rPr lang="es-ES" sz="3200" b="1" dirty="0">
                <a:latin typeface="Atkinson Hyperlegible"/>
              </a:rPr>
              <a:t>ocupación</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El ruteo permite elegir una </a:t>
            </a:r>
            <a:r>
              <a:rPr lang="es-ES" sz="3200" b="1" dirty="0">
                <a:latin typeface="Atkinson Hyperlegible"/>
              </a:rPr>
              <a:t>ruta principal</a:t>
            </a:r>
            <a:r>
              <a:rPr lang="es-ES" sz="3200" dirty="0">
                <a:latin typeface="Atkinson Hyperlegible"/>
              </a:rPr>
              <a:t> para transportar el tráfico. </a:t>
            </a:r>
          </a:p>
          <a:p>
            <a:pPr marL="457200" indent="-457200">
              <a:buFont typeface="Arial" panose="020B0604020202020204" pitchFamily="34" charset="0"/>
              <a:buChar char="•"/>
            </a:pPr>
            <a:r>
              <a:rPr lang="es-ES" sz="3200" dirty="0">
                <a:latin typeface="Atkinson Hyperlegible"/>
              </a:rPr>
              <a:t>También puede definir una </a:t>
            </a:r>
            <a:r>
              <a:rPr lang="es-ES" sz="3200" b="1" dirty="0">
                <a:latin typeface="Atkinson Hyperlegible"/>
              </a:rPr>
              <a:t>ruta alternativa</a:t>
            </a:r>
            <a:r>
              <a:rPr lang="es-ES" sz="3200" dirty="0">
                <a:latin typeface="Atkinson Hyperlegible"/>
              </a:rPr>
              <a:t> para respaldo ante fallas. </a:t>
            </a:r>
          </a:p>
          <a:p>
            <a:pPr marL="457200" indent="-457200">
              <a:buFont typeface="Arial" panose="020B0604020202020204" pitchFamily="34" charset="0"/>
              <a:buChar char="•"/>
            </a:pPr>
            <a:r>
              <a:rPr lang="es-ES" sz="3200" dirty="0">
                <a:latin typeface="Atkinson Hyperlegible"/>
              </a:rPr>
              <a:t>En redes ópticas modernas, el ruteo puede coordinarse con tecnologías como </a:t>
            </a:r>
            <a:r>
              <a:rPr lang="es-ES" sz="3200" b="1" dirty="0" err="1">
                <a:latin typeface="Atkinson Hyperlegible"/>
              </a:rPr>
              <a:t>OTN</a:t>
            </a:r>
            <a:r>
              <a:rPr lang="es-ES" sz="3200" dirty="0">
                <a:latin typeface="Atkinson Hyperlegible"/>
              </a:rPr>
              <a:t> y </a:t>
            </a:r>
            <a:r>
              <a:rPr lang="es-ES" sz="3200" b="1" dirty="0">
                <a:latin typeface="Atkinson Hyperlegible"/>
              </a:rPr>
              <a:t>WDM</a:t>
            </a:r>
            <a:r>
              <a:rPr lang="es-ES" sz="3200" dirty="0">
                <a:latin typeface="Atkinson Hyperlegible"/>
              </a:rPr>
              <a:t>.</a:t>
            </a:r>
          </a:p>
        </p:txBody>
      </p:sp>
      <p:sp>
        <p:nvSpPr>
          <p:cNvPr id="8" name="5 Rectángulo">
            <a:extLst>
              <a:ext uri="{FF2B5EF4-FFF2-40B4-BE49-F238E27FC236}">
                <a16:creationId xmlns:a16="http://schemas.microsoft.com/office/drawing/2014/main" id="{9FBCE548-5550-6769-EC86-DDC8F71CF3F8}"/>
              </a:ext>
            </a:extLst>
          </p:cNvPr>
          <p:cNvSpPr/>
          <p:nvPr/>
        </p:nvSpPr>
        <p:spPr>
          <a:xfrm>
            <a:off x="13508409" y="3098286"/>
            <a:ext cx="6151187" cy="3539430"/>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latin typeface="Atkinson Hyperlegible"/>
              </a:rPr>
              <a:t>Criterios para seleccionar una ruta</a:t>
            </a:r>
          </a:p>
          <a:p>
            <a:pPr marL="457200" indent="-457200">
              <a:buFont typeface="Arial" panose="020B0604020202020204" pitchFamily="34" charset="0"/>
              <a:buChar char="•"/>
            </a:pPr>
            <a:r>
              <a:rPr lang="es-ES" sz="3200" dirty="0">
                <a:latin typeface="Atkinson Hyperlegible"/>
              </a:rPr>
              <a:t>Menor distancia </a:t>
            </a:r>
          </a:p>
          <a:p>
            <a:pPr marL="457200" indent="-457200">
              <a:buFont typeface="Arial" panose="020B0604020202020204" pitchFamily="34" charset="0"/>
              <a:buChar char="•"/>
            </a:pPr>
            <a:r>
              <a:rPr lang="es-ES" sz="3200" dirty="0">
                <a:latin typeface="Atkinson Hyperlegible"/>
              </a:rPr>
              <a:t>Menor atenuación </a:t>
            </a:r>
          </a:p>
          <a:p>
            <a:pPr marL="457200" indent="-457200">
              <a:buFont typeface="Arial" panose="020B0604020202020204" pitchFamily="34" charset="0"/>
              <a:buChar char="•"/>
            </a:pPr>
            <a:r>
              <a:rPr lang="es-ES" sz="3200" dirty="0">
                <a:latin typeface="Atkinson Hyperlegible"/>
              </a:rPr>
              <a:t>Mayor disponibilidad </a:t>
            </a:r>
          </a:p>
          <a:p>
            <a:pPr marL="457200" indent="-457200">
              <a:buFont typeface="Arial" panose="020B0604020202020204" pitchFamily="34" charset="0"/>
              <a:buChar char="•"/>
            </a:pPr>
            <a:r>
              <a:rPr lang="es-ES" sz="3200" dirty="0">
                <a:latin typeface="Atkinson Hyperlegible"/>
              </a:rPr>
              <a:t>Capacidad disponible </a:t>
            </a:r>
          </a:p>
          <a:p>
            <a:pPr marL="457200" indent="-457200">
              <a:buFont typeface="Arial" panose="020B0604020202020204" pitchFamily="34" charset="0"/>
              <a:buChar char="•"/>
            </a:pPr>
            <a:r>
              <a:rPr lang="es-ES" sz="3200" dirty="0">
                <a:latin typeface="Atkinson Hyperlegible"/>
              </a:rPr>
              <a:t>Menor número de saltos </a:t>
            </a:r>
          </a:p>
          <a:p>
            <a:pPr marL="457200" indent="-457200">
              <a:buFont typeface="Arial" panose="020B0604020202020204" pitchFamily="34" charset="0"/>
              <a:buChar char="•"/>
            </a:pPr>
            <a:r>
              <a:rPr lang="es-ES" sz="3200" dirty="0">
                <a:latin typeface="Atkinson Hyperlegible"/>
              </a:rPr>
              <a:t>Existencia de ruta de respaldo</a:t>
            </a:r>
          </a:p>
        </p:txBody>
      </p:sp>
      <p:sp>
        <p:nvSpPr>
          <p:cNvPr id="10" name="CuadroTexto 9">
            <a:extLst>
              <a:ext uri="{FF2B5EF4-FFF2-40B4-BE49-F238E27FC236}">
                <a16:creationId xmlns:a16="http://schemas.microsoft.com/office/drawing/2014/main" id="{4D186626-2548-C1BF-5B31-F79966A17284}"/>
              </a:ext>
            </a:extLst>
          </p:cNvPr>
          <p:cNvSpPr txBox="1"/>
          <p:nvPr/>
        </p:nvSpPr>
        <p:spPr>
          <a:xfrm>
            <a:off x="164892" y="8840969"/>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G.872</a:t>
            </a:r>
            <a:r>
              <a:rPr lang="es-CL" sz="2400" dirty="0">
                <a:latin typeface="Atkinson Hyperlegible"/>
              </a:rPr>
              <a:t> — arquitectura de redes ópticas de transporte.</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interfaces </a:t>
            </a:r>
            <a:r>
              <a:rPr lang="es-CL" sz="2400" dirty="0" err="1">
                <a:latin typeface="Atkinson Hyperlegible"/>
              </a:rPr>
              <a:t>OTN</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G.798</a:t>
            </a:r>
            <a:r>
              <a:rPr lang="es-CL" sz="2400" dirty="0">
                <a:latin typeface="Atkinson Hyperlegible"/>
              </a:rPr>
              <a:t> — bloques funcionales de equipos </a:t>
            </a:r>
            <a:r>
              <a:rPr lang="es-CL" sz="2400" dirty="0" err="1">
                <a:latin typeface="Atkinson Hyperlegible"/>
              </a:rPr>
              <a:t>OTN</a:t>
            </a:r>
            <a:r>
              <a:rPr lang="es-CL" sz="2400" dirty="0">
                <a:latin typeface="Atkinson Hyperlegible"/>
              </a:rPr>
              <a:t>.</a:t>
            </a:r>
            <a:endParaRPr lang="es-CL" sz="2400" noProof="0" dirty="0">
              <a:latin typeface="Atkinson Hyperlegible"/>
            </a:endParaRPr>
          </a:p>
        </p:txBody>
      </p:sp>
    </p:spTree>
    <p:extLst>
      <p:ext uri="{BB962C8B-B14F-4D97-AF65-F5344CB8AC3E}">
        <p14:creationId xmlns:p14="http://schemas.microsoft.com/office/powerpoint/2010/main" val="385327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CC8A8AA-6F54-0057-4D1F-D18FE231301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612F3DD-41C8-686D-6202-1C0146B97BCA}"/>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644B4C2-B20C-3B98-04C2-2004107F372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A20D621-E7F4-F0B3-8DFA-C90950B0DD52}"/>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¿Qué es WDM (</a:t>
            </a:r>
            <a:r>
              <a:rPr lang="es-ES" sz="4000" dirty="0" err="1">
                <a:latin typeface="Atkinson Hyperlegible"/>
              </a:rPr>
              <a:t>Wavelength</a:t>
            </a:r>
            <a:r>
              <a:rPr lang="es-ES" sz="4000" dirty="0">
                <a:latin typeface="Atkinson Hyperlegible"/>
              </a:rPr>
              <a:t> </a:t>
            </a:r>
            <a:r>
              <a:rPr lang="es-ES" sz="4000" dirty="0" err="1">
                <a:latin typeface="Atkinson Hyperlegible"/>
              </a:rPr>
              <a:t>Division</a:t>
            </a:r>
            <a:r>
              <a:rPr lang="es-ES" sz="4000" dirty="0">
                <a:latin typeface="Atkinson Hyperlegible"/>
              </a:rPr>
              <a:t> </a:t>
            </a:r>
            <a:r>
              <a:rPr lang="es-ES" sz="4000" dirty="0" err="1">
                <a:latin typeface="Atkinson Hyperlegible"/>
              </a:rPr>
              <a:t>Multiplexing</a:t>
            </a:r>
            <a:r>
              <a:rPr lang="es-ES" sz="4000" dirty="0">
                <a:latin typeface="Atkinson Hyperlegible"/>
              </a:rPr>
              <a:t>)?</a:t>
            </a:r>
            <a:endParaRPr lang="es-CL" sz="4000" noProof="0" dirty="0">
              <a:latin typeface="Atkinson Hyperlegible"/>
            </a:endParaRPr>
          </a:p>
        </p:txBody>
      </p:sp>
      <p:sp>
        <p:nvSpPr>
          <p:cNvPr id="5" name="5 Rectángulo">
            <a:extLst>
              <a:ext uri="{FF2B5EF4-FFF2-40B4-BE49-F238E27FC236}">
                <a16:creationId xmlns:a16="http://schemas.microsoft.com/office/drawing/2014/main" id="{17564AA0-0284-8241-8A75-1A8796F89EBD}"/>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b="1" dirty="0">
                <a:latin typeface="Atkinson Hyperlegible"/>
              </a:rPr>
              <a:t>WDM</a:t>
            </a:r>
            <a:r>
              <a:rPr lang="es-ES" sz="3200" dirty="0">
                <a:latin typeface="Atkinson Hyperlegible"/>
              </a:rPr>
              <a:t> es una técnica que permite transmitir múltiples señales ópticas por una misma fibra, utilizando diferentes longitudes de onda.</a:t>
            </a:r>
            <a:endParaRPr lang="es-CL" sz="3200" b="1" i="1" noProof="0" dirty="0">
              <a:latin typeface="Atkinson Hyperlegible"/>
            </a:endParaRPr>
          </a:p>
        </p:txBody>
      </p:sp>
      <p:sp>
        <p:nvSpPr>
          <p:cNvPr id="6" name="5 Rectángulo">
            <a:extLst>
              <a:ext uri="{FF2B5EF4-FFF2-40B4-BE49-F238E27FC236}">
                <a16:creationId xmlns:a16="http://schemas.microsoft.com/office/drawing/2014/main" id="{DC17D882-7D21-1F9F-1598-848D0D3A4EF7}"/>
              </a:ext>
            </a:extLst>
          </p:cNvPr>
          <p:cNvSpPr/>
          <p:nvPr/>
        </p:nvSpPr>
        <p:spPr>
          <a:xfrm>
            <a:off x="1221684" y="3098286"/>
            <a:ext cx="11984650" cy="2554545"/>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b="1" dirty="0">
                <a:latin typeface="Atkinson Hyperlegible"/>
              </a:rPr>
              <a:t>Funcionamiento básico</a:t>
            </a:r>
          </a:p>
          <a:p>
            <a:pPr marL="457200" indent="-457200">
              <a:buFont typeface="Arial" panose="020B0604020202020204" pitchFamily="34" charset="0"/>
              <a:buChar char="•"/>
            </a:pPr>
            <a:r>
              <a:rPr lang="es-ES" sz="3200" dirty="0">
                <a:latin typeface="Atkinson Hyperlegible"/>
              </a:rPr>
              <a:t>Varias señales ópticas ingresan a un </a:t>
            </a:r>
            <a:r>
              <a:rPr lang="es-ES" sz="3200" b="1" dirty="0">
                <a:latin typeface="Atkinson Hyperlegible"/>
              </a:rPr>
              <a:t>multiplexor WDM</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Cada señal utiliza una </a:t>
            </a:r>
            <a:r>
              <a:rPr lang="es-ES" sz="3200" b="1" dirty="0">
                <a:latin typeface="Atkinson Hyperlegible"/>
              </a:rPr>
              <a:t>longitud de onda diferente</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Todas las longitudes de onda viajan juntas por la misma fibra. </a:t>
            </a:r>
          </a:p>
          <a:p>
            <a:pPr marL="457200" indent="-457200">
              <a:buFont typeface="Arial" panose="020B0604020202020204" pitchFamily="34" charset="0"/>
              <a:buChar char="•"/>
            </a:pPr>
            <a:r>
              <a:rPr lang="es-ES" sz="3200" dirty="0">
                <a:latin typeface="Atkinson Hyperlegible"/>
              </a:rPr>
              <a:t>Al final, un </a:t>
            </a:r>
            <a:r>
              <a:rPr lang="es-ES" sz="3200" b="1" dirty="0">
                <a:latin typeface="Atkinson Hyperlegible"/>
              </a:rPr>
              <a:t>demultiplexor</a:t>
            </a:r>
            <a:r>
              <a:rPr lang="es-ES" sz="3200" dirty="0">
                <a:latin typeface="Atkinson Hyperlegible"/>
              </a:rPr>
              <a:t> separa nuevamente las señales.</a:t>
            </a:r>
          </a:p>
        </p:txBody>
      </p:sp>
      <p:sp>
        <p:nvSpPr>
          <p:cNvPr id="8" name="5 Rectángulo">
            <a:extLst>
              <a:ext uri="{FF2B5EF4-FFF2-40B4-BE49-F238E27FC236}">
                <a16:creationId xmlns:a16="http://schemas.microsoft.com/office/drawing/2014/main" id="{B0B56D6E-836F-76EC-C83B-43AA0E200744}"/>
              </a:ext>
            </a:extLst>
          </p:cNvPr>
          <p:cNvSpPr/>
          <p:nvPr/>
        </p:nvSpPr>
        <p:spPr>
          <a:xfrm>
            <a:off x="13508409" y="3098286"/>
            <a:ext cx="6473480" cy="3046988"/>
          </a:xfrm>
          <a:prstGeom prst="rect">
            <a:avLst/>
          </a:prstGeom>
          <a:solidFill>
            <a:schemeClr val="accent4">
              <a:lumMod val="40000"/>
              <a:lumOff val="60000"/>
            </a:schemeClr>
          </a:solidFill>
          <a:effectLst/>
        </p:spPr>
        <p:txBody>
          <a:bodyPr wrap="square" lIns="91440" tIns="45720" rIns="91440" bIns="45720" anchor="t">
            <a:spAutoFit/>
          </a:bodyPr>
          <a:lstStyle/>
          <a:p>
            <a:r>
              <a:rPr lang="es-CL" sz="3200" dirty="0">
                <a:latin typeface="Atkinson Hyperlegible"/>
              </a:rPr>
              <a:t>Cada longitud de onda funciona como un </a:t>
            </a:r>
            <a:r>
              <a:rPr lang="es-CL" sz="3200" b="1" dirty="0">
                <a:latin typeface="Atkinson Hyperlegible"/>
              </a:rPr>
              <a:t>canal óptico independiente</a:t>
            </a:r>
            <a:r>
              <a:rPr lang="es-CL" sz="3200" dirty="0">
                <a:latin typeface="Atkinson Hyperlegible"/>
              </a:rPr>
              <a:t>.</a:t>
            </a:r>
          </a:p>
          <a:p>
            <a:pPr marL="457200" indent="-457200">
              <a:buFont typeface="Arial" panose="020B0604020202020204" pitchFamily="34" charset="0"/>
              <a:buChar char="•"/>
            </a:pPr>
            <a:r>
              <a:rPr lang="el-GR" sz="3200" dirty="0">
                <a:latin typeface="Atkinson Hyperlegible"/>
              </a:rPr>
              <a:t>λ1 → </a:t>
            </a:r>
            <a:r>
              <a:rPr lang="es-ES" sz="3200" dirty="0">
                <a:latin typeface="Atkinson Hyperlegible"/>
              </a:rPr>
              <a:t>Servicio 1</a:t>
            </a:r>
          </a:p>
          <a:p>
            <a:pPr marL="457200" indent="-457200">
              <a:buFont typeface="Arial" panose="020B0604020202020204" pitchFamily="34" charset="0"/>
              <a:buChar char="•"/>
            </a:pPr>
            <a:r>
              <a:rPr lang="el-GR" sz="3200" dirty="0">
                <a:latin typeface="Atkinson Hyperlegible"/>
              </a:rPr>
              <a:t>λ2 → </a:t>
            </a:r>
            <a:r>
              <a:rPr lang="es-ES" sz="3200" dirty="0">
                <a:latin typeface="Atkinson Hyperlegible"/>
              </a:rPr>
              <a:t>Servicio 2</a:t>
            </a:r>
          </a:p>
          <a:p>
            <a:pPr marL="457200" indent="-457200">
              <a:buFont typeface="Arial" panose="020B0604020202020204" pitchFamily="34" charset="0"/>
              <a:buChar char="•"/>
            </a:pPr>
            <a:r>
              <a:rPr lang="el-GR" sz="3200" dirty="0">
                <a:latin typeface="Atkinson Hyperlegible"/>
              </a:rPr>
              <a:t>λ3 → </a:t>
            </a:r>
            <a:r>
              <a:rPr lang="es-ES" sz="3200" dirty="0">
                <a:latin typeface="Atkinson Hyperlegible"/>
              </a:rPr>
              <a:t>Servicio 3</a:t>
            </a:r>
          </a:p>
          <a:p>
            <a:pPr marL="457200" indent="-457200">
              <a:buFont typeface="Arial" panose="020B0604020202020204" pitchFamily="34" charset="0"/>
              <a:buChar char="•"/>
            </a:pPr>
            <a:r>
              <a:rPr lang="el-GR" sz="3200" dirty="0">
                <a:latin typeface="Atkinson Hyperlegible"/>
              </a:rPr>
              <a:t>λ4 → </a:t>
            </a:r>
            <a:r>
              <a:rPr lang="es-ES" sz="3200" dirty="0">
                <a:latin typeface="Atkinson Hyperlegible"/>
              </a:rPr>
              <a:t>Servicio 4</a:t>
            </a:r>
          </a:p>
        </p:txBody>
      </p:sp>
      <p:sp>
        <p:nvSpPr>
          <p:cNvPr id="10" name="CuadroTexto 9">
            <a:extLst>
              <a:ext uri="{FF2B5EF4-FFF2-40B4-BE49-F238E27FC236}">
                <a16:creationId xmlns:a16="http://schemas.microsoft.com/office/drawing/2014/main" id="{169B2AFD-1137-7B3D-40CA-A0E0E582AC8F}"/>
              </a:ext>
            </a:extLst>
          </p:cNvPr>
          <p:cNvSpPr txBox="1"/>
          <p:nvPr/>
        </p:nvSpPr>
        <p:spPr>
          <a:xfrm>
            <a:off x="164892" y="8840969"/>
            <a:ext cx="8849542"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WDM multiplica la capacidad de una fibra sin instalar nuevas fibras físicas.</a:t>
            </a:r>
            <a:endParaRPr lang="es-ES" sz="2400" dirty="0">
              <a:latin typeface="Atkinson Hyperlegible"/>
            </a:endParaRPr>
          </a:p>
        </p:txBody>
      </p:sp>
      <p:sp>
        <p:nvSpPr>
          <p:cNvPr id="4" name="CuadroTexto 3">
            <a:extLst>
              <a:ext uri="{FF2B5EF4-FFF2-40B4-BE49-F238E27FC236}">
                <a16:creationId xmlns:a16="http://schemas.microsoft.com/office/drawing/2014/main" id="{13225A5D-BFFC-A356-056F-ABF50AD23AF6}"/>
              </a:ext>
            </a:extLst>
          </p:cNvPr>
          <p:cNvSpPr txBox="1"/>
          <p:nvPr/>
        </p:nvSpPr>
        <p:spPr>
          <a:xfrm>
            <a:off x="10180820" y="8840969"/>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G.694.1</a:t>
            </a:r>
            <a:r>
              <a:rPr lang="es-CL" sz="2400" dirty="0">
                <a:latin typeface="Atkinson Hyperlegible"/>
              </a:rPr>
              <a:t> — grilla de frecuencias para </a:t>
            </a:r>
            <a:r>
              <a:rPr lang="es-CL" sz="2400" dirty="0" err="1">
                <a:latin typeface="Atkinson Hyperlegible"/>
              </a:rPr>
              <a:t>DWDM</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a:t>
            </a:r>
            <a:r>
              <a:rPr lang="es-CL" sz="2400" dirty="0" err="1">
                <a:latin typeface="Atkinson Hyperlegible"/>
              </a:rPr>
              <a:t>Optical</a:t>
            </a:r>
            <a:r>
              <a:rPr lang="es-CL" sz="2400" dirty="0">
                <a:latin typeface="Atkinson Hyperlegible"/>
              </a:rPr>
              <a:t> </a:t>
            </a:r>
            <a:r>
              <a:rPr lang="es-CL" sz="2400" dirty="0" err="1">
                <a:latin typeface="Atkinson Hyperlegible"/>
              </a:rPr>
              <a:t>Transport</a:t>
            </a:r>
            <a:r>
              <a:rPr lang="es-CL" sz="2400" dirty="0">
                <a:latin typeface="Atkinson Hyperlegible"/>
              </a:rPr>
              <a:t> Network.</a:t>
            </a:r>
            <a:br>
              <a:rPr lang="es-CL" sz="2400" dirty="0">
                <a:latin typeface="Atkinson Hyperlegible"/>
              </a:rPr>
            </a:br>
            <a:r>
              <a:rPr lang="es-CL" sz="2400" b="1" dirty="0">
                <a:latin typeface="Atkinson Hyperlegible"/>
              </a:rPr>
              <a:t>ITU-T </a:t>
            </a:r>
            <a:r>
              <a:rPr lang="es-CL" sz="2400" b="1" dirty="0" err="1">
                <a:latin typeface="Atkinson Hyperlegible"/>
              </a:rPr>
              <a:t>G.872</a:t>
            </a:r>
            <a:r>
              <a:rPr lang="es-CL" sz="2400" dirty="0">
                <a:latin typeface="Atkinson Hyperlegible"/>
              </a:rPr>
              <a:t> — arquitectura </a:t>
            </a:r>
            <a:r>
              <a:rPr lang="es-CL" sz="2400" dirty="0" err="1">
                <a:latin typeface="Atkinson Hyperlegible"/>
              </a:rPr>
              <a:t>OTN</a:t>
            </a:r>
            <a:r>
              <a:rPr lang="es-CL" sz="2400" dirty="0">
                <a:latin typeface="Atkinson Hyperlegible"/>
              </a:rPr>
              <a:t>.</a:t>
            </a:r>
            <a:endParaRPr lang="es-ES" sz="2400" dirty="0">
              <a:latin typeface="Atkinson Hyperlegible"/>
            </a:endParaRPr>
          </a:p>
        </p:txBody>
      </p:sp>
    </p:spTree>
    <p:extLst>
      <p:ext uri="{BB962C8B-B14F-4D97-AF65-F5344CB8AC3E}">
        <p14:creationId xmlns:p14="http://schemas.microsoft.com/office/powerpoint/2010/main" val="347974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96D8EE7-6D8F-529C-B705-A8ADB8EED9A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81363CC-D620-40FC-9B47-D8DC9235BCC0}"/>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B7B7521-F470-E202-7BB2-1A294A00692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9C32349-866B-27AE-B911-5BB54260E950}"/>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¿Qué es WDM (</a:t>
            </a:r>
            <a:r>
              <a:rPr lang="es-ES" sz="4000" dirty="0" err="1">
                <a:latin typeface="Atkinson Hyperlegible"/>
              </a:rPr>
              <a:t>Wavelength</a:t>
            </a:r>
            <a:r>
              <a:rPr lang="es-ES" sz="4000" dirty="0">
                <a:latin typeface="Atkinson Hyperlegible"/>
              </a:rPr>
              <a:t> </a:t>
            </a:r>
            <a:r>
              <a:rPr lang="es-ES" sz="4000" dirty="0" err="1">
                <a:latin typeface="Atkinson Hyperlegible"/>
              </a:rPr>
              <a:t>Division</a:t>
            </a:r>
            <a:r>
              <a:rPr lang="es-ES" sz="4000" dirty="0">
                <a:latin typeface="Atkinson Hyperlegible"/>
              </a:rPr>
              <a:t> </a:t>
            </a:r>
            <a:r>
              <a:rPr lang="es-ES" sz="4000" dirty="0" err="1">
                <a:latin typeface="Atkinson Hyperlegible"/>
              </a:rPr>
              <a:t>Multiplexing</a:t>
            </a:r>
            <a:r>
              <a:rPr lang="es-ES" sz="4000" dirty="0">
                <a:latin typeface="Atkinson Hyperlegible"/>
              </a:rPr>
              <a:t>)?</a:t>
            </a:r>
            <a:endParaRPr lang="es-CL" sz="4000" noProof="0" dirty="0">
              <a:latin typeface="Atkinson Hyperlegible"/>
            </a:endParaRPr>
          </a:p>
        </p:txBody>
      </p:sp>
      <p:pic>
        <p:nvPicPr>
          <p:cNvPr id="3" name="Imagen 2">
            <a:extLst>
              <a:ext uri="{FF2B5EF4-FFF2-40B4-BE49-F238E27FC236}">
                <a16:creationId xmlns:a16="http://schemas.microsoft.com/office/drawing/2014/main" id="{67903D4A-6722-CFE9-48F2-1DFEFBB3B291}"/>
              </a:ext>
            </a:extLst>
          </p:cNvPr>
          <p:cNvPicPr>
            <a:picLocks noChangeAspect="1"/>
          </p:cNvPicPr>
          <p:nvPr/>
        </p:nvPicPr>
        <p:blipFill>
          <a:blip r:embed="rId4"/>
          <a:stretch>
            <a:fillRect/>
          </a:stretch>
        </p:blipFill>
        <p:spPr>
          <a:xfrm>
            <a:off x="848088" y="985805"/>
            <a:ext cx="19088825" cy="9567270"/>
          </a:xfrm>
          <a:prstGeom prst="rect">
            <a:avLst/>
          </a:prstGeom>
        </p:spPr>
      </p:pic>
    </p:spTree>
    <p:extLst>
      <p:ext uri="{BB962C8B-B14F-4D97-AF65-F5344CB8AC3E}">
        <p14:creationId xmlns:p14="http://schemas.microsoft.com/office/powerpoint/2010/main" val="567124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AF1B5F4-3B05-18E0-E935-D763DD153D8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4C0017B9-D9B4-1923-64A9-CBB58B726C77}"/>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823A0AE5-5AF0-6C82-25BF-99020B357521}"/>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8D9070B-1EA7-CE22-AB69-6079CEC08211}"/>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WDM y </a:t>
            </a:r>
            <a:r>
              <a:rPr lang="es-ES" sz="4000" dirty="0" err="1">
                <a:latin typeface="Atkinson Hyperlegible"/>
              </a:rPr>
              <a:t>DWDM</a:t>
            </a:r>
            <a:r>
              <a:rPr lang="es-ES" sz="4000" dirty="0">
                <a:latin typeface="Atkinson Hyperlegible"/>
              </a:rPr>
              <a:t>: multiplexación por longitud de onda</a:t>
            </a:r>
            <a:endParaRPr lang="es-CL" sz="4000" noProof="0" dirty="0">
              <a:latin typeface="Atkinson Hyperlegible"/>
            </a:endParaRPr>
          </a:p>
        </p:txBody>
      </p:sp>
      <p:sp>
        <p:nvSpPr>
          <p:cNvPr id="5" name="5 Rectángulo">
            <a:extLst>
              <a:ext uri="{FF2B5EF4-FFF2-40B4-BE49-F238E27FC236}">
                <a16:creationId xmlns:a16="http://schemas.microsoft.com/office/drawing/2014/main" id="{4B0D17DC-6157-7B65-4A96-B4E7B280E6F4}"/>
              </a:ext>
            </a:extLst>
          </p:cNvPr>
          <p:cNvSpPr/>
          <p:nvPr/>
        </p:nvSpPr>
        <p:spPr>
          <a:xfrm>
            <a:off x="1221683" y="1828291"/>
            <a:ext cx="18598386" cy="1569660"/>
          </a:xfrm>
          <a:prstGeom prst="rect">
            <a:avLst/>
          </a:prstGeom>
          <a:noFill/>
          <a:effectLst/>
        </p:spPr>
        <p:txBody>
          <a:bodyPr wrap="square" lIns="91440" tIns="45720" rIns="91440" bIns="45720" anchor="t">
            <a:spAutoFit/>
          </a:bodyPr>
          <a:lstStyle/>
          <a:p>
            <a:pPr algn="ctr"/>
            <a:r>
              <a:rPr lang="es-ES" sz="3200" b="1" dirty="0">
                <a:latin typeface="Atkinson Hyperlegible"/>
              </a:rPr>
              <a:t>WDM</a:t>
            </a:r>
            <a:r>
              <a:rPr lang="es-ES" sz="3200" dirty="0">
                <a:latin typeface="Atkinson Hyperlegible"/>
              </a:rPr>
              <a:t> permite transportar múltiples señales ópticas en una misma fibra.</a:t>
            </a:r>
            <a:br>
              <a:rPr lang="es-ES" sz="3200" dirty="0">
                <a:latin typeface="Atkinson Hyperlegible"/>
              </a:rPr>
            </a:br>
            <a:r>
              <a:rPr lang="es-ES" sz="3200" b="1" dirty="0" err="1">
                <a:latin typeface="Atkinson Hyperlegible"/>
              </a:rPr>
              <a:t>DWDM</a:t>
            </a:r>
            <a:r>
              <a:rPr lang="es-ES" sz="3200" dirty="0">
                <a:latin typeface="Atkinson Hyperlegible"/>
              </a:rPr>
              <a:t> es una variante de WDM que utiliza una separación más estrecha entre canales, permitiendo transportar más longitudes de onda.</a:t>
            </a:r>
            <a:endParaRPr lang="es-CL" sz="3200" b="1" i="1" noProof="0" dirty="0">
              <a:latin typeface="Atkinson Hyperlegible"/>
            </a:endParaRPr>
          </a:p>
        </p:txBody>
      </p:sp>
      <p:sp>
        <p:nvSpPr>
          <p:cNvPr id="10" name="CuadroTexto 9">
            <a:extLst>
              <a:ext uri="{FF2B5EF4-FFF2-40B4-BE49-F238E27FC236}">
                <a16:creationId xmlns:a16="http://schemas.microsoft.com/office/drawing/2014/main" id="{0FE1288C-ABA1-1087-6D21-27B942822BE5}"/>
              </a:ext>
            </a:extLst>
          </p:cNvPr>
          <p:cNvSpPr txBox="1"/>
          <p:nvPr/>
        </p:nvSpPr>
        <p:spPr>
          <a:xfrm>
            <a:off x="164892" y="8840969"/>
            <a:ext cx="8849542"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WDM multiplica la capacidad de una fibra sin instalar nuevas fibras físicas.</a:t>
            </a:r>
            <a:endParaRPr lang="es-ES" sz="2400" dirty="0">
              <a:latin typeface="Atkinson Hyperlegible"/>
            </a:endParaRPr>
          </a:p>
        </p:txBody>
      </p:sp>
      <p:sp>
        <p:nvSpPr>
          <p:cNvPr id="4" name="CuadroTexto 3">
            <a:extLst>
              <a:ext uri="{FF2B5EF4-FFF2-40B4-BE49-F238E27FC236}">
                <a16:creationId xmlns:a16="http://schemas.microsoft.com/office/drawing/2014/main" id="{AB719603-C6F3-9EA6-F809-58C3F2F9E511}"/>
              </a:ext>
            </a:extLst>
          </p:cNvPr>
          <p:cNvSpPr txBox="1"/>
          <p:nvPr/>
        </p:nvSpPr>
        <p:spPr>
          <a:xfrm>
            <a:off x="10180820" y="8840969"/>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G.694.1</a:t>
            </a:r>
            <a:r>
              <a:rPr lang="es-CL" sz="2400" dirty="0">
                <a:latin typeface="Atkinson Hyperlegible"/>
              </a:rPr>
              <a:t> — grilla de frecuencias para </a:t>
            </a:r>
            <a:r>
              <a:rPr lang="es-CL" sz="2400" dirty="0" err="1">
                <a:latin typeface="Atkinson Hyperlegible"/>
              </a:rPr>
              <a:t>DWDM</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a:t>
            </a:r>
            <a:r>
              <a:rPr lang="es-CL" sz="2400" dirty="0" err="1">
                <a:latin typeface="Atkinson Hyperlegible"/>
              </a:rPr>
              <a:t>Optical</a:t>
            </a:r>
            <a:r>
              <a:rPr lang="es-CL" sz="2400" dirty="0">
                <a:latin typeface="Atkinson Hyperlegible"/>
              </a:rPr>
              <a:t> </a:t>
            </a:r>
            <a:r>
              <a:rPr lang="es-CL" sz="2400" dirty="0" err="1">
                <a:latin typeface="Atkinson Hyperlegible"/>
              </a:rPr>
              <a:t>Transport</a:t>
            </a:r>
            <a:r>
              <a:rPr lang="es-CL" sz="2400" dirty="0">
                <a:latin typeface="Atkinson Hyperlegible"/>
              </a:rPr>
              <a:t> Network.</a:t>
            </a:r>
            <a:br>
              <a:rPr lang="es-CL" sz="2400" dirty="0">
                <a:latin typeface="Atkinson Hyperlegible"/>
              </a:rPr>
            </a:br>
            <a:r>
              <a:rPr lang="es-CL" sz="2400" b="1" dirty="0">
                <a:latin typeface="Atkinson Hyperlegible"/>
              </a:rPr>
              <a:t>ITU-T </a:t>
            </a:r>
            <a:r>
              <a:rPr lang="es-CL" sz="2400" b="1" dirty="0" err="1">
                <a:latin typeface="Atkinson Hyperlegible"/>
              </a:rPr>
              <a:t>G.872</a:t>
            </a:r>
            <a:r>
              <a:rPr lang="es-CL" sz="2400" dirty="0">
                <a:latin typeface="Atkinson Hyperlegible"/>
              </a:rPr>
              <a:t> — arquitectura </a:t>
            </a:r>
            <a:r>
              <a:rPr lang="es-CL" sz="2400" dirty="0" err="1">
                <a:latin typeface="Atkinson Hyperlegible"/>
              </a:rPr>
              <a:t>OTN</a:t>
            </a:r>
            <a:r>
              <a:rPr lang="es-CL" sz="2400" dirty="0">
                <a:latin typeface="Atkinson Hyperlegible"/>
              </a:rPr>
              <a:t>.</a:t>
            </a:r>
            <a:endParaRPr lang="es-ES" sz="2400" dirty="0">
              <a:latin typeface="Atkinson Hyperlegible"/>
            </a:endParaRPr>
          </a:p>
        </p:txBody>
      </p:sp>
      <p:graphicFrame>
        <p:nvGraphicFramePr>
          <p:cNvPr id="2" name="Tabla 1">
            <a:extLst>
              <a:ext uri="{FF2B5EF4-FFF2-40B4-BE49-F238E27FC236}">
                <a16:creationId xmlns:a16="http://schemas.microsoft.com/office/drawing/2014/main" id="{D628CF22-E0C7-4F88-A9CE-CACA1127C57A}"/>
              </a:ext>
            </a:extLst>
          </p:cNvPr>
          <p:cNvGraphicFramePr>
            <a:graphicFrameLocks noGrp="1"/>
          </p:cNvGraphicFramePr>
          <p:nvPr>
            <p:extLst>
              <p:ext uri="{D42A27DB-BD31-4B8C-83A1-F6EECF244321}">
                <p14:modId xmlns:p14="http://schemas.microsoft.com/office/powerpoint/2010/main" val="3174064918"/>
              </p:ext>
            </p:extLst>
          </p:nvPr>
        </p:nvGraphicFramePr>
        <p:xfrm>
          <a:off x="1382712" y="3532019"/>
          <a:ext cx="18276883" cy="4480560"/>
        </p:xfrm>
        <a:graphic>
          <a:graphicData uri="http://schemas.openxmlformats.org/drawingml/2006/table">
            <a:tbl>
              <a:tblPr firstRow="1" firstCol="1">
                <a:tableStyleId>{073A0DAA-6AF3-43AB-8588-CEC1D06C72B9}</a:tableStyleId>
              </a:tblPr>
              <a:tblGrid>
                <a:gridCol w="4562760">
                  <a:extLst>
                    <a:ext uri="{9D8B030D-6E8A-4147-A177-3AD203B41FA5}">
                      <a16:colId xmlns:a16="http://schemas.microsoft.com/office/drawing/2014/main" val="4231060798"/>
                    </a:ext>
                  </a:extLst>
                </a:gridCol>
                <a:gridCol w="7621829">
                  <a:extLst>
                    <a:ext uri="{9D8B030D-6E8A-4147-A177-3AD203B41FA5}">
                      <a16:colId xmlns:a16="http://schemas.microsoft.com/office/drawing/2014/main" val="872231560"/>
                    </a:ext>
                  </a:extLst>
                </a:gridCol>
                <a:gridCol w="6092294">
                  <a:extLst>
                    <a:ext uri="{9D8B030D-6E8A-4147-A177-3AD203B41FA5}">
                      <a16:colId xmlns:a16="http://schemas.microsoft.com/office/drawing/2014/main" val="2554111545"/>
                    </a:ext>
                  </a:extLst>
                </a:gridCol>
              </a:tblGrid>
              <a:tr h="0">
                <a:tc>
                  <a:txBody>
                    <a:bodyPr/>
                    <a:lstStyle/>
                    <a:p>
                      <a:pPr>
                        <a:buNone/>
                      </a:pPr>
                      <a:r>
                        <a:rPr lang="es-CL" sz="2800" dirty="0"/>
                        <a:t>Criterio</a:t>
                      </a:r>
                      <a:endParaRPr lang="es-CL" sz="2800" dirty="0">
                        <a:latin typeface="Atkinson Hyperlegible"/>
                      </a:endParaRPr>
                    </a:p>
                  </a:txBody>
                  <a:tcPr anchor="ctr"/>
                </a:tc>
                <a:tc>
                  <a:txBody>
                    <a:bodyPr/>
                    <a:lstStyle/>
                    <a:p>
                      <a:pPr>
                        <a:buNone/>
                      </a:pPr>
                      <a:r>
                        <a:rPr lang="es-CL" sz="2800"/>
                        <a:t>WDM</a:t>
                      </a:r>
                      <a:endParaRPr lang="es-CL" sz="2800">
                        <a:latin typeface="Atkinson Hyperlegible"/>
                      </a:endParaRPr>
                    </a:p>
                  </a:txBody>
                  <a:tcPr anchor="ctr"/>
                </a:tc>
                <a:tc>
                  <a:txBody>
                    <a:bodyPr/>
                    <a:lstStyle/>
                    <a:p>
                      <a:pPr>
                        <a:buNone/>
                      </a:pPr>
                      <a:r>
                        <a:rPr lang="es-CL" sz="2800"/>
                        <a:t>DWDM</a:t>
                      </a:r>
                      <a:endParaRPr lang="es-CL" sz="2800">
                        <a:latin typeface="Atkinson Hyperlegible"/>
                      </a:endParaRPr>
                    </a:p>
                  </a:txBody>
                  <a:tcPr anchor="ctr"/>
                </a:tc>
                <a:extLst>
                  <a:ext uri="{0D108BD9-81ED-4DB2-BD59-A6C34878D82A}">
                    <a16:rowId xmlns:a16="http://schemas.microsoft.com/office/drawing/2014/main" val="1455670119"/>
                  </a:ext>
                </a:extLst>
              </a:tr>
              <a:tr h="0">
                <a:tc>
                  <a:txBody>
                    <a:bodyPr/>
                    <a:lstStyle/>
                    <a:p>
                      <a:pPr>
                        <a:buNone/>
                      </a:pPr>
                      <a:r>
                        <a:rPr lang="es-CL" sz="2800" dirty="0"/>
                        <a:t>Significado</a:t>
                      </a:r>
                      <a:endParaRPr lang="es-CL" sz="2800" dirty="0">
                        <a:latin typeface="Atkinson Hyperlegible"/>
                      </a:endParaRPr>
                    </a:p>
                  </a:txBody>
                  <a:tcPr anchor="ctr"/>
                </a:tc>
                <a:tc>
                  <a:txBody>
                    <a:bodyPr/>
                    <a:lstStyle/>
                    <a:p>
                      <a:pPr>
                        <a:buNone/>
                      </a:pPr>
                      <a:r>
                        <a:rPr lang="es-CL" sz="2800"/>
                        <a:t>Wavelength Division Multiplexing</a:t>
                      </a:r>
                      <a:endParaRPr lang="es-CL" sz="2800">
                        <a:latin typeface="Atkinson Hyperlegible"/>
                      </a:endParaRPr>
                    </a:p>
                  </a:txBody>
                  <a:tcPr anchor="ctr"/>
                </a:tc>
                <a:tc>
                  <a:txBody>
                    <a:bodyPr/>
                    <a:lstStyle/>
                    <a:p>
                      <a:pPr>
                        <a:buNone/>
                      </a:pPr>
                      <a:r>
                        <a:rPr lang="es-CL" sz="2800"/>
                        <a:t>Dense Wavelength Division Multiplexing</a:t>
                      </a:r>
                      <a:endParaRPr lang="es-CL" sz="2800">
                        <a:latin typeface="Atkinson Hyperlegible"/>
                      </a:endParaRPr>
                    </a:p>
                  </a:txBody>
                  <a:tcPr anchor="ctr"/>
                </a:tc>
                <a:extLst>
                  <a:ext uri="{0D108BD9-81ED-4DB2-BD59-A6C34878D82A}">
                    <a16:rowId xmlns:a16="http://schemas.microsoft.com/office/drawing/2014/main" val="3671745283"/>
                  </a:ext>
                </a:extLst>
              </a:tr>
              <a:tr h="0">
                <a:tc>
                  <a:txBody>
                    <a:bodyPr/>
                    <a:lstStyle/>
                    <a:p>
                      <a:pPr>
                        <a:buNone/>
                      </a:pPr>
                      <a:r>
                        <a:rPr lang="es-CL" sz="2800"/>
                        <a:t>Idea principal</a:t>
                      </a:r>
                      <a:endParaRPr lang="es-CL" sz="2800">
                        <a:latin typeface="Atkinson Hyperlegible"/>
                      </a:endParaRPr>
                    </a:p>
                  </a:txBody>
                  <a:tcPr anchor="ctr"/>
                </a:tc>
                <a:tc>
                  <a:txBody>
                    <a:bodyPr/>
                    <a:lstStyle/>
                    <a:p>
                      <a:pPr>
                        <a:buNone/>
                      </a:pPr>
                      <a:r>
                        <a:rPr lang="es-CL" sz="2800" dirty="0"/>
                        <a:t>Múltiples longitudes de onda en una fibra</a:t>
                      </a:r>
                      <a:endParaRPr lang="es-CL" sz="2800" dirty="0">
                        <a:latin typeface="Atkinson Hyperlegible"/>
                      </a:endParaRPr>
                    </a:p>
                  </a:txBody>
                  <a:tcPr anchor="ctr"/>
                </a:tc>
                <a:tc>
                  <a:txBody>
                    <a:bodyPr/>
                    <a:lstStyle/>
                    <a:p>
                      <a:pPr>
                        <a:buNone/>
                      </a:pPr>
                      <a:r>
                        <a:rPr lang="es-ES" sz="2800"/>
                        <a:t>Muchas longitudes de onda con separación más densa</a:t>
                      </a:r>
                      <a:endParaRPr lang="es-ES" sz="2800">
                        <a:latin typeface="Atkinson Hyperlegible"/>
                      </a:endParaRPr>
                    </a:p>
                  </a:txBody>
                  <a:tcPr anchor="ctr"/>
                </a:tc>
                <a:extLst>
                  <a:ext uri="{0D108BD9-81ED-4DB2-BD59-A6C34878D82A}">
                    <a16:rowId xmlns:a16="http://schemas.microsoft.com/office/drawing/2014/main" val="785420357"/>
                  </a:ext>
                </a:extLst>
              </a:tr>
              <a:tr h="0">
                <a:tc>
                  <a:txBody>
                    <a:bodyPr/>
                    <a:lstStyle/>
                    <a:p>
                      <a:pPr>
                        <a:buNone/>
                      </a:pPr>
                      <a:r>
                        <a:rPr lang="es-CL" sz="2800"/>
                        <a:t>Cantidad de canales</a:t>
                      </a:r>
                      <a:endParaRPr lang="es-CL" sz="2800">
                        <a:latin typeface="Atkinson Hyperlegible"/>
                      </a:endParaRPr>
                    </a:p>
                  </a:txBody>
                  <a:tcPr anchor="ctr"/>
                </a:tc>
                <a:tc>
                  <a:txBody>
                    <a:bodyPr/>
                    <a:lstStyle/>
                    <a:p>
                      <a:pPr>
                        <a:buNone/>
                      </a:pPr>
                      <a:r>
                        <a:rPr lang="es-CL" sz="2800" dirty="0"/>
                        <a:t>Menor</a:t>
                      </a:r>
                      <a:endParaRPr lang="es-CL" sz="2800" dirty="0">
                        <a:latin typeface="Atkinson Hyperlegible"/>
                      </a:endParaRPr>
                    </a:p>
                  </a:txBody>
                  <a:tcPr anchor="ctr"/>
                </a:tc>
                <a:tc>
                  <a:txBody>
                    <a:bodyPr/>
                    <a:lstStyle/>
                    <a:p>
                      <a:pPr>
                        <a:buNone/>
                      </a:pPr>
                      <a:r>
                        <a:rPr lang="es-CL" sz="2800"/>
                        <a:t>Mayor</a:t>
                      </a:r>
                      <a:endParaRPr lang="es-CL" sz="2800">
                        <a:latin typeface="Atkinson Hyperlegible"/>
                      </a:endParaRPr>
                    </a:p>
                  </a:txBody>
                  <a:tcPr anchor="ctr"/>
                </a:tc>
                <a:extLst>
                  <a:ext uri="{0D108BD9-81ED-4DB2-BD59-A6C34878D82A}">
                    <a16:rowId xmlns:a16="http://schemas.microsoft.com/office/drawing/2014/main" val="1101352511"/>
                  </a:ext>
                </a:extLst>
              </a:tr>
              <a:tr h="0">
                <a:tc>
                  <a:txBody>
                    <a:bodyPr/>
                    <a:lstStyle/>
                    <a:p>
                      <a:pPr>
                        <a:buNone/>
                      </a:pPr>
                      <a:r>
                        <a:rPr lang="es-CL" sz="2800"/>
                        <a:t>Separación entre canales</a:t>
                      </a:r>
                      <a:endParaRPr lang="es-CL" sz="2800">
                        <a:latin typeface="Atkinson Hyperlegible"/>
                      </a:endParaRPr>
                    </a:p>
                  </a:txBody>
                  <a:tcPr anchor="ctr"/>
                </a:tc>
                <a:tc>
                  <a:txBody>
                    <a:bodyPr/>
                    <a:lstStyle/>
                    <a:p>
                      <a:pPr>
                        <a:buNone/>
                      </a:pPr>
                      <a:r>
                        <a:rPr lang="es-CL" sz="2800" dirty="0"/>
                        <a:t>Más amplia</a:t>
                      </a:r>
                      <a:endParaRPr lang="es-CL" sz="2800" dirty="0">
                        <a:latin typeface="Atkinson Hyperlegible"/>
                      </a:endParaRPr>
                    </a:p>
                  </a:txBody>
                  <a:tcPr anchor="ctr"/>
                </a:tc>
                <a:tc>
                  <a:txBody>
                    <a:bodyPr/>
                    <a:lstStyle/>
                    <a:p>
                      <a:pPr>
                        <a:buNone/>
                      </a:pPr>
                      <a:r>
                        <a:rPr lang="es-CL" sz="2800" dirty="0"/>
                        <a:t>Más estrecha</a:t>
                      </a:r>
                      <a:endParaRPr lang="es-CL" sz="2800" dirty="0">
                        <a:latin typeface="Atkinson Hyperlegible"/>
                      </a:endParaRPr>
                    </a:p>
                  </a:txBody>
                  <a:tcPr anchor="ctr"/>
                </a:tc>
                <a:extLst>
                  <a:ext uri="{0D108BD9-81ED-4DB2-BD59-A6C34878D82A}">
                    <a16:rowId xmlns:a16="http://schemas.microsoft.com/office/drawing/2014/main" val="736628537"/>
                  </a:ext>
                </a:extLst>
              </a:tr>
              <a:tr h="0">
                <a:tc>
                  <a:txBody>
                    <a:bodyPr/>
                    <a:lstStyle/>
                    <a:p>
                      <a:pPr>
                        <a:buNone/>
                      </a:pPr>
                      <a:r>
                        <a:rPr lang="es-CL" sz="2800"/>
                        <a:t>Uso típico</a:t>
                      </a:r>
                      <a:endParaRPr lang="es-CL" sz="2800">
                        <a:latin typeface="Atkinson Hyperlegible"/>
                      </a:endParaRPr>
                    </a:p>
                  </a:txBody>
                  <a:tcPr anchor="ctr"/>
                </a:tc>
                <a:tc>
                  <a:txBody>
                    <a:bodyPr/>
                    <a:lstStyle/>
                    <a:p>
                      <a:pPr>
                        <a:buNone/>
                      </a:pPr>
                      <a:r>
                        <a:rPr lang="es-CL" sz="2800"/>
                        <a:t>Redes simples o de menor densidad</a:t>
                      </a:r>
                      <a:endParaRPr lang="es-CL" sz="2800">
                        <a:latin typeface="Atkinson Hyperlegible"/>
                      </a:endParaRPr>
                    </a:p>
                  </a:txBody>
                  <a:tcPr anchor="ctr"/>
                </a:tc>
                <a:tc>
                  <a:txBody>
                    <a:bodyPr/>
                    <a:lstStyle/>
                    <a:p>
                      <a:pPr>
                        <a:buNone/>
                      </a:pPr>
                      <a:r>
                        <a:rPr lang="es-ES" sz="2800" dirty="0"/>
                        <a:t>Redes metropolitanas, transporte y </a:t>
                      </a:r>
                      <a:r>
                        <a:rPr lang="es-ES" sz="2800" dirty="0" err="1"/>
                        <a:t>backbone</a:t>
                      </a:r>
                      <a:endParaRPr lang="es-ES" sz="2800" dirty="0">
                        <a:latin typeface="Atkinson Hyperlegible"/>
                      </a:endParaRPr>
                    </a:p>
                  </a:txBody>
                  <a:tcPr anchor="ctr"/>
                </a:tc>
                <a:extLst>
                  <a:ext uri="{0D108BD9-81ED-4DB2-BD59-A6C34878D82A}">
                    <a16:rowId xmlns:a16="http://schemas.microsoft.com/office/drawing/2014/main" val="4179589065"/>
                  </a:ext>
                </a:extLst>
              </a:tr>
              <a:tr h="0">
                <a:tc>
                  <a:txBody>
                    <a:bodyPr/>
                    <a:lstStyle/>
                    <a:p>
                      <a:pPr>
                        <a:buNone/>
                      </a:pPr>
                      <a:r>
                        <a:rPr lang="es-CL" sz="2800"/>
                        <a:t>Requiere mayor precisión</a:t>
                      </a:r>
                      <a:endParaRPr lang="es-CL" sz="2800">
                        <a:latin typeface="Atkinson Hyperlegible"/>
                      </a:endParaRPr>
                    </a:p>
                  </a:txBody>
                  <a:tcPr anchor="ctr"/>
                </a:tc>
                <a:tc>
                  <a:txBody>
                    <a:bodyPr/>
                    <a:lstStyle/>
                    <a:p>
                      <a:pPr>
                        <a:buNone/>
                      </a:pPr>
                      <a:r>
                        <a:rPr lang="es-CL" sz="2800"/>
                        <a:t>Media</a:t>
                      </a:r>
                      <a:endParaRPr lang="es-CL" sz="2800">
                        <a:latin typeface="Atkinson Hyperlegible"/>
                      </a:endParaRPr>
                    </a:p>
                  </a:txBody>
                  <a:tcPr anchor="ctr"/>
                </a:tc>
                <a:tc>
                  <a:txBody>
                    <a:bodyPr/>
                    <a:lstStyle/>
                    <a:p>
                      <a:pPr>
                        <a:buNone/>
                      </a:pPr>
                      <a:r>
                        <a:rPr lang="es-CL" sz="2800" dirty="0"/>
                        <a:t>Alta</a:t>
                      </a:r>
                      <a:endParaRPr lang="es-CL" sz="2800" dirty="0">
                        <a:latin typeface="Atkinson Hyperlegible"/>
                      </a:endParaRPr>
                    </a:p>
                  </a:txBody>
                  <a:tcPr anchor="ctr"/>
                </a:tc>
                <a:extLst>
                  <a:ext uri="{0D108BD9-81ED-4DB2-BD59-A6C34878D82A}">
                    <a16:rowId xmlns:a16="http://schemas.microsoft.com/office/drawing/2014/main" val="2707442329"/>
                  </a:ext>
                </a:extLst>
              </a:tr>
            </a:tbl>
          </a:graphicData>
        </a:graphic>
      </p:graphicFrame>
    </p:spTree>
    <p:extLst>
      <p:ext uri="{BB962C8B-B14F-4D97-AF65-F5344CB8AC3E}">
        <p14:creationId xmlns:p14="http://schemas.microsoft.com/office/powerpoint/2010/main" val="325609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76AC568-BE37-95AD-F3EB-C01535550279}"/>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22EEEF5C-637B-81F3-4F11-1B4124380710}"/>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8D261552-3BDE-1667-7AD2-D01E7D5CFCE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67A8B6F-0273-4699-DA53-97EC791BC48C}"/>
              </a:ext>
            </a:extLst>
          </p:cNvPr>
          <p:cNvSpPr txBox="1"/>
          <p:nvPr/>
        </p:nvSpPr>
        <p:spPr>
          <a:xfrm>
            <a:off x="1382157" y="898721"/>
            <a:ext cx="17055745" cy="707886"/>
          </a:xfrm>
          <a:prstGeom prst="rect">
            <a:avLst/>
          </a:prstGeom>
          <a:noFill/>
        </p:spPr>
        <p:txBody>
          <a:bodyPr wrap="square">
            <a:spAutoFit/>
          </a:bodyPr>
          <a:lstStyle/>
          <a:p>
            <a:r>
              <a:rPr lang="pt-BR" sz="4000" dirty="0" err="1">
                <a:latin typeface="Atkinson Hyperlegible"/>
              </a:rPr>
              <a:t>Longitud</a:t>
            </a:r>
            <a:r>
              <a:rPr lang="pt-BR" sz="4000" dirty="0">
                <a:latin typeface="Atkinson Hyperlegible"/>
              </a:rPr>
              <a:t> de onda como canal óptico</a:t>
            </a:r>
            <a:endParaRPr lang="es-CL" sz="4000" noProof="0" dirty="0">
              <a:latin typeface="Atkinson Hyperlegible"/>
            </a:endParaRPr>
          </a:p>
        </p:txBody>
      </p:sp>
      <mc:AlternateContent xmlns:mc="http://schemas.openxmlformats.org/markup-compatibility/2006">
        <mc:Choice xmlns:a14="http://schemas.microsoft.com/office/drawing/2010/main" Requires="a14">
          <p:sp>
            <p:nvSpPr>
              <p:cNvPr id="5" name="5 Rectángulo">
                <a:extLst>
                  <a:ext uri="{FF2B5EF4-FFF2-40B4-BE49-F238E27FC236}">
                    <a16:creationId xmlns:a16="http://schemas.microsoft.com/office/drawing/2014/main" id="{68FA723A-5C9C-0D11-B6E2-F14AA4ADCA35}"/>
                  </a:ext>
                </a:extLst>
              </p:cNvPr>
              <p:cNvSpPr/>
              <p:nvPr/>
            </p:nvSpPr>
            <p:spPr>
              <a:xfrm>
                <a:off x="1221683" y="1828291"/>
                <a:ext cx="18598386" cy="584775"/>
              </a:xfrm>
              <a:prstGeom prst="rect">
                <a:avLst/>
              </a:prstGeom>
              <a:noFill/>
              <a:effectLst/>
            </p:spPr>
            <p:txBody>
              <a:bodyPr wrap="square" lIns="91440" tIns="45720" rIns="91440" bIns="45720" anchor="t">
                <a:spAutoFit/>
              </a:bodyPr>
              <a:lstStyle/>
              <a:p>
                <a:pPr algn="ctr"/>
                <a:r>
                  <a:rPr lang="es-ES" sz="3200" dirty="0">
                    <a:latin typeface="Atkinson Hyperlegible"/>
                  </a:rPr>
                  <a:t>En WDM, cada </a:t>
                </a:r>
                <a:r>
                  <a:rPr lang="es-ES" sz="3200" b="1" dirty="0">
                    <a:latin typeface="Atkinson Hyperlegible"/>
                  </a:rPr>
                  <a:t>longitud de onda</a:t>
                </a:r>
                <a:r>
                  <a:rPr lang="es-ES" sz="3200" dirty="0">
                    <a:latin typeface="Atkinson Hyperlegible"/>
                  </a:rPr>
                  <a:t> </a:t>
                </a:r>
                <a14:m>
                  <m:oMath xmlns:m="http://schemas.openxmlformats.org/officeDocument/2006/math">
                    <m:r>
                      <a:rPr lang="es-ES" sz="3200" i="1"/>
                      <m:t>𝜆</m:t>
                    </m:r>
                  </m:oMath>
                </a14:m>
                <a:r>
                  <a:rPr lang="es-ES" sz="3200" dirty="0">
                    <a:latin typeface="Atkinson Hyperlegible"/>
                  </a:rPr>
                  <a:t> funciona como un </a:t>
                </a:r>
                <a:r>
                  <a:rPr lang="es-ES" sz="3200" b="1" dirty="0">
                    <a:latin typeface="Atkinson Hyperlegible"/>
                  </a:rPr>
                  <a:t>canal óptico independiente</a:t>
                </a:r>
                <a:r>
                  <a:rPr lang="es-ES" sz="3200" dirty="0">
                    <a:latin typeface="Atkinson Hyperlegible"/>
                  </a:rPr>
                  <a:t> dentro de la misma fibra.</a:t>
                </a:r>
                <a:endParaRPr lang="es-CL" sz="3200" b="1" i="1" noProof="0" dirty="0">
                  <a:latin typeface="Atkinson Hyperlegible"/>
                </a:endParaRPr>
              </a:p>
            </p:txBody>
          </p:sp>
        </mc:Choice>
        <mc:Fallback>
          <p:sp>
            <p:nvSpPr>
              <p:cNvPr id="5" name="5 Rectángulo">
                <a:extLst>
                  <a:ext uri="{FF2B5EF4-FFF2-40B4-BE49-F238E27FC236}">
                    <a16:creationId xmlns:a16="http://schemas.microsoft.com/office/drawing/2014/main" id="{68FA723A-5C9C-0D11-B6E2-F14AA4ADCA35}"/>
                  </a:ext>
                </a:extLst>
              </p:cNvPr>
              <p:cNvSpPr>
                <a:spLocks noRot="1" noChangeAspect="1" noMove="1" noResize="1" noEditPoints="1" noAdjustHandles="1" noChangeArrowheads="1" noChangeShapeType="1" noTextEdit="1"/>
              </p:cNvSpPr>
              <p:nvPr/>
            </p:nvSpPr>
            <p:spPr>
              <a:xfrm>
                <a:off x="1221683" y="1828291"/>
                <a:ext cx="18598386" cy="584775"/>
              </a:xfrm>
              <a:prstGeom prst="rect">
                <a:avLst/>
              </a:prstGeom>
              <a:blipFill>
                <a:blip r:embed="rId4"/>
                <a:stretch>
                  <a:fillRect t="-12500" b="-34375"/>
                </a:stretch>
              </a:blipFill>
              <a:effectLst/>
            </p:spPr>
            <p:txBody>
              <a:bodyPr/>
              <a:lstStyle/>
              <a:p>
                <a:r>
                  <a:rPr lang="es-CL">
                    <a:noFill/>
                  </a:rPr>
                  <a:t> </a:t>
                </a:r>
              </a:p>
            </p:txBody>
          </p:sp>
        </mc:Fallback>
      </mc:AlternateContent>
      <p:sp>
        <p:nvSpPr>
          <p:cNvPr id="6" name="5 Rectángulo">
            <a:extLst>
              <a:ext uri="{FF2B5EF4-FFF2-40B4-BE49-F238E27FC236}">
                <a16:creationId xmlns:a16="http://schemas.microsoft.com/office/drawing/2014/main" id="{0DD148EA-B901-9CD9-2A94-589F00391597}"/>
              </a:ext>
            </a:extLst>
          </p:cNvPr>
          <p:cNvSpPr/>
          <p:nvPr/>
        </p:nvSpPr>
        <p:spPr>
          <a:xfrm>
            <a:off x="1221684" y="3098286"/>
            <a:ext cx="11984650" cy="4031873"/>
          </a:xfrm>
          <a:prstGeom prst="rect">
            <a:avLst/>
          </a:prstGeom>
          <a:solidFill>
            <a:schemeClr val="accent6">
              <a:lumMod val="40000"/>
              <a:lumOff val="60000"/>
            </a:schemeClr>
          </a:solidFill>
          <a:effectLst/>
        </p:spPr>
        <p:txBody>
          <a:bodyPr wrap="square" lIns="91440" tIns="45720" rIns="91440" bIns="45720" anchor="t">
            <a:spAutoFit/>
          </a:bodyPr>
          <a:lstStyle/>
          <a:p>
            <a:r>
              <a:rPr lang="es-ES" sz="3200" b="1" dirty="0">
                <a:latin typeface="Atkinson Hyperlegible"/>
              </a:rPr>
              <a:t>Conceptos clave</a:t>
            </a:r>
          </a:p>
          <a:p>
            <a:pPr marL="457200" indent="-457200">
              <a:buFont typeface="Arial" panose="020B0604020202020204" pitchFamily="34" charset="0"/>
              <a:buChar char="•"/>
            </a:pPr>
            <a:r>
              <a:rPr lang="es-ES" sz="3200" dirty="0">
                <a:latin typeface="Atkinson Hyperlegible"/>
              </a:rPr>
              <a:t>Una misma fibra puede transportar varias señales al mismo tiempo. </a:t>
            </a:r>
          </a:p>
          <a:p>
            <a:pPr marL="457200" indent="-457200">
              <a:buFont typeface="Arial" panose="020B0604020202020204" pitchFamily="34" charset="0"/>
              <a:buChar char="•"/>
            </a:pPr>
            <a:r>
              <a:rPr lang="es-ES" sz="3200" dirty="0">
                <a:latin typeface="Atkinson Hyperlegible"/>
              </a:rPr>
              <a:t>Cada señal utiliza una </a:t>
            </a:r>
            <a:r>
              <a:rPr lang="es-ES" sz="3200" b="1" dirty="0">
                <a:latin typeface="Atkinson Hyperlegible"/>
              </a:rPr>
              <a:t>longitud de onda diferente</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Cada longitud de onda puede asociarse a un servicio, cliente o flujo de tráfico. </a:t>
            </a:r>
          </a:p>
          <a:p>
            <a:pPr marL="457200" indent="-457200">
              <a:buFont typeface="Arial" panose="020B0604020202020204" pitchFamily="34" charset="0"/>
              <a:buChar char="•"/>
            </a:pPr>
            <a:r>
              <a:rPr lang="es-ES" sz="3200" dirty="0">
                <a:latin typeface="Atkinson Hyperlegible"/>
              </a:rPr>
              <a:t>El multiplexor combina los canales ópticos. </a:t>
            </a:r>
          </a:p>
          <a:p>
            <a:pPr marL="457200" indent="-457200">
              <a:buFont typeface="Arial" panose="020B0604020202020204" pitchFamily="34" charset="0"/>
              <a:buChar char="•"/>
            </a:pPr>
            <a:r>
              <a:rPr lang="es-ES" sz="3200" dirty="0">
                <a:latin typeface="Atkinson Hyperlegible"/>
              </a:rPr>
              <a:t>El demultiplexor separa los canales en el extremo receptor. </a:t>
            </a:r>
          </a:p>
          <a:p>
            <a:pPr marL="457200" indent="-457200">
              <a:buFont typeface="Arial" panose="020B0604020202020204" pitchFamily="34" charset="0"/>
              <a:buChar char="•"/>
            </a:pPr>
            <a:r>
              <a:rPr lang="es-ES" sz="3200" dirty="0">
                <a:latin typeface="Atkinson Hyperlegible"/>
              </a:rPr>
              <a:t>En </a:t>
            </a:r>
            <a:r>
              <a:rPr lang="es-ES" sz="3200" dirty="0" err="1">
                <a:latin typeface="Atkinson Hyperlegible"/>
              </a:rPr>
              <a:t>DWDM</a:t>
            </a:r>
            <a:r>
              <a:rPr lang="es-ES" sz="3200" dirty="0">
                <a:latin typeface="Atkinson Hyperlegible"/>
              </a:rPr>
              <a:t>, los canales están organizados sobre una </a:t>
            </a:r>
            <a:r>
              <a:rPr lang="es-ES" sz="3200" b="1" dirty="0">
                <a:latin typeface="Atkinson Hyperlegible"/>
              </a:rPr>
              <a:t>grilla espectral</a:t>
            </a:r>
            <a:r>
              <a:rPr lang="es-ES" sz="3200" dirty="0"/>
              <a:t>. </a:t>
            </a:r>
          </a:p>
        </p:txBody>
      </p:sp>
      <p:sp>
        <p:nvSpPr>
          <p:cNvPr id="8" name="5 Rectángulo">
            <a:extLst>
              <a:ext uri="{FF2B5EF4-FFF2-40B4-BE49-F238E27FC236}">
                <a16:creationId xmlns:a16="http://schemas.microsoft.com/office/drawing/2014/main" id="{D71F98C4-969F-80B2-5D43-A8F0517D947D}"/>
              </a:ext>
            </a:extLst>
          </p:cNvPr>
          <p:cNvSpPr/>
          <p:nvPr/>
        </p:nvSpPr>
        <p:spPr>
          <a:xfrm>
            <a:off x="13346589" y="3799819"/>
            <a:ext cx="3172572" cy="2062103"/>
          </a:xfrm>
          <a:prstGeom prst="rect">
            <a:avLst/>
          </a:prstGeom>
          <a:solidFill>
            <a:schemeClr val="accent6">
              <a:lumMod val="40000"/>
              <a:lumOff val="60000"/>
            </a:schemeClr>
          </a:solidFill>
          <a:effectLst/>
        </p:spPr>
        <p:txBody>
          <a:bodyPr wrap="square" lIns="91440" tIns="45720" rIns="91440" bIns="45720" anchor="t">
            <a:spAutoFit/>
          </a:bodyPr>
          <a:lstStyle/>
          <a:p>
            <a:r>
              <a:rPr lang="el-GR" sz="3200" dirty="0"/>
              <a:t>λ1 → </a:t>
            </a:r>
            <a:r>
              <a:rPr lang="es-CL" sz="3200" dirty="0"/>
              <a:t>Servicio A</a:t>
            </a:r>
            <a:br>
              <a:rPr lang="es-CL" sz="3200" dirty="0"/>
            </a:br>
            <a:r>
              <a:rPr lang="el-GR" sz="3200" dirty="0"/>
              <a:t>λ2 → </a:t>
            </a:r>
            <a:r>
              <a:rPr lang="es-CL" sz="3200" dirty="0"/>
              <a:t>Servicio B</a:t>
            </a:r>
            <a:br>
              <a:rPr lang="es-CL" sz="3200" dirty="0"/>
            </a:br>
            <a:r>
              <a:rPr lang="el-GR" sz="3200" dirty="0"/>
              <a:t>λ3 → </a:t>
            </a:r>
            <a:r>
              <a:rPr lang="es-CL" sz="3200" dirty="0"/>
              <a:t>Servicio C</a:t>
            </a:r>
            <a:br>
              <a:rPr lang="es-CL" sz="3200" dirty="0"/>
            </a:br>
            <a:r>
              <a:rPr lang="el-GR" sz="3200" dirty="0"/>
              <a:t>λ4 → </a:t>
            </a:r>
            <a:r>
              <a:rPr lang="es-CL" sz="3200" dirty="0"/>
              <a:t>Servicio D</a:t>
            </a:r>
            <a:endParaRPr lang="es-ES" sz="3200" dirty="0">
              <a:latin typeface="Atkinson Hyperlegible"/>
            </a:endParaRPr>
          </a:p>
        </p:txBody>
      </p:sp>
      <p:sp>
        <p:nvSpPr>
          <p:cNvPr id="10" name="CuadroTexto 9">
            <a:extLst>
              <a:ext uri="{FF2B5EF4-FFF2-40B4-BE49-F238E27FC236}">
                <a16:creationId xmlns:a16="http://schemas.microsoft.com/office/drawing/2014/main" id="{A1134A78-37A1-5971-CA36-91CAE3E64BBA}"/>
              </a:ext>
            </a:extLst>
          </p:cNvPr>
          <p:cNvSpPr txBox="1"/>
          <p:nvPr/>
        </p:nvSpPr>
        <p:spPr>
          <a:xfrm>
            <a:off x="164892" y="8840969"/>
            <a:ext cx="8849542"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WDM multiplica la capacidad de una fibra sin instalar nuevas fibras físicas.</a:t>
            </a:r>
            <a:endParaRPr lang="es-ES" sz="2400" dirty="0">
              <a:latin typeface="Atkinson Hyperlegible"/>
            </a:endParaRPr>
          </a:p>
        </p:txBody>
      </p:sp>
      <p:sp>
        <p:nvSpPr>
          <p:cNvPr id="4" name="CuadroTexto 3">
            <a:extLst>
              <a:ext uri="{FF2B5EF4-FFF2-40B4-BE49-F238E27FC236}">
                <a16:creationId xmlns:a16="http://schemas.microsoft.com/office/drawing/2014/main" id="{0D959E3E-7FDE-16FB-6150-45B19A0EDE0F}"/>
              </a:ext>
            </a:extLst>
          </p:cNvPr>
          <p:cNvSpPr txBox="1"/>
          <p:nvPr/>
        </p:nvSpPr>
        <p:spPr>
          <a:xfrm>
            <a:off x="10180820" y="8840969"/>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ITU-T </a:t>
            </a:r>
            <a:r>
              <a:rPr lang="es-CL" sz="2400" b="1" dirty="0" err="1">
                <a:latin typeface="Atkinson Hyperlegible"/>
              </a:rPr>
              <a:t>G.694.1</a:t>
            </a:r>
            <a:r>
              <a:rPr lang="es-CL" sz="2400" dirty="0">
                <a:latin typeface="Atkinson Hyperlegible"/>
              </a:rPr>
              <a:t> — grilla de frecuencias para </a:t>
            </a:r>
            <a:r>
              <a:rPr lang="es-CL" sz="2400" dirty="0" err="1">
                <a:latin typeface="Atkinson Hyperlegible"/>
              </a:rPr>
              <a:t>DWDM</a:t>
            </a:r>
            <a:r>
              <a:rPr lang="es-CL" sz="2400" dirty="0">
                <a:latin typeface="Atkinson Hyperlegible"/>
              </a:rPr>
              <a:t>.</a:t>
            </a:r>
            <a:br>
              <a:rPr lang="es-CL" sz="2400" dirty="0">
                <a:latin typeface="Atkinson Hyperlegible"/>
              </a:rPr>
            </a:br>
            <a:r>
              <a:rPr lang="es-CL" sz="2400" b="1" dirty="0">
                <a:latin typeface="Atkinson Hyperlegible"/>
              </a:rPr>
              <a:t>ITU-T </a:t>
            </a:r>
            <a:r>
              <a:rPr lang="es-CL" sz="2400" b="1" dirty="0" err="1">
                <a:latin typeface="Atkinson Hyperlegible"/>
              </a:rPr>
              <a:t>G.709</a:t>
            </a:r>
            <a:r>
              <a:rPr lang="es-CL" sz="2400" dirty="0">
                <a:latin typeface="Atkinson Hyperlegible"/>
              </a:rPr>
              <a:t> — </a:t>
            </a:r>
            <a:r>
              <a:rPr lang="es-CL" sz="2400" dirty="0" err="1">
                <a:latin typeface="Atkinson Hyperlegible"/>
              </a:rPr>
              <a:t>Optical</a:t>
            </a:r>
            <a:r>
              <a:rPr lang="es-CL" sz="2400" dirty="0">
                <a:latin typeface="Atkinson Hyperlegible"/>
              </a:rPr>
              <a:t> </a:t>
            </a:r>
            <a:r>
              <a:rPr lang="es-CL" sz="2400" dirty="0" err="1">
                <a:latin typeface="Atkinson Hyperlegible"/>
              </a:rPr>
              <a:t>Transport</a:t>
            </a:r>
            <a:r>
              <a:rPr lang="es-CL" sz="2400" dirty="0">
                <a:latin typeface="Atkinson Hyperlegible"/>
              </a:rPr>
              <a:t> Network.</a:t>
            </a:r>
            <a:br>
              <a:rPr lang="es-CL" sz="2400" dirty="0">
                <a:latin typeface="Atkinson Hyperlegible"/>
              </a:rPr>
            </a:br>
            <a:r>
              <a:rPr lang="es-CL" sz="2400" b="1" dirty="0">
                <a:latin typeface="Atkinson Hyperlegible"/>
              </a:rPr>
              <a:t>ITU-T </a:t>
            </a:r>
            <a:r>
              <a:rPr lang="es-CL" sz="2400" b="1" dirty="0" err="1">
                <a:latin typeface="Atkinson Hyperlegible"/>
              </a:rPr>
              <a:t>G.872</a:t>
            </a:r>
            <a:r>
              <a:rPr lang="es-CL" sz="2400" dirty="0">
                <a:latin typeface="Atkinson Hyperlegible"/>
              </a:rPr>
              <a:t> — arquitectura </a:t>
            </a:r>
            <a:r>
              <a:rPr lang="es-CL" sz="2400" dirty="0" err="1">
                <a:latin typeface="Atkinson Hyperlegible"/>
              </a:rPr>
              <a:t>OTN</a:t>
            </a:r>
            <a:r>
              <a:rPr lang="es-CL" sz="2400" dirty="0">
                <a:latin typeface="Atkinson Hyperlegible"/>
              </a:rPr>
              <a:t>.</a:t>
            </a:r>
            <a:endParaRPr lang="es-ES" sz="2400" dirty="0">
              <a:latin typeface="Atkinson Hyperlegible"/>
            </a:endParaRPr>
          </a:p>
        </p:txBody>
      </p:sp>
    </p:spTree>
    <p:extLst>
      <p:ext uri="{BB962C8B-B14F-4D97-AF65-F5344CB8AC3E}">
        <p14:creationId xmlns:p14="http://schemas.microsoft.com/office/powerpoint/2010/main" val="2936476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4A94A55-8B95-DD4E-2919-BADE76FA316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94B264B-8426-25FF-F879-4612B6879CD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274B864-C8BD-BC00-E004-9CE0F4AA0AA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24E077D4-31C9-CD0C-F4C8-45EE5EE2F7CC}"/>
              </a:ext>
            </a:extLst>
          </p:cNvPr>
          <p:cNvSpPr txBox="1"/>
          <p:nvPr/>
        </p:nvSpPr>
        <p:spPr>
          <a:xfrm>
            <a:off x="1382157" y="898721"/>
            <a:ext cx="17055745" cy="707886"/>
          </a:xfrm>
          <a:prstGeom prst="rect">
            <a:avLst/>
          </a:prstGeom>
          <a:noFill/>
        </p:spPr>
        <p:txBody>
          <a:bodyPr wrap="square">
            <a:spAutoFit/>
          </a:bodyPr>
          <a:lstStyle/>
          <a:p>
            <a:r>
              <a:rPr lang="pt-BR" sz="4000" dirty="0" err="1">
                <a:latin typeface="Atkinson Hyperlegible"/>
              </a:rPr>
              <a:t>Ruteo</a:t>
            </a:r>
            <a:r>
              <a:rPr lang="pt-BR" sz="4000" dirty="0">
                <a:latin typeface="Atkinson Hyperlegible"/>
              </a:rPr>
              <a:t> </a:t>
            </a:r>
            <a:r>
              <a:rPr lang="pt-BR" sz="4000" dirty="0" err="1">
                <a:latin typeface="Atkinson Hyperlegible"/>
              </a:rPr>
              <a:t>WDM</a:t>
            </a:r>
            <a:r>
              <a:rPr lang="pt-BR" sz="4000" dirty="0">
                <a:latin typeface="Atkinson Hyperlegible"/>
              </a:rPr>
              <a:t>: ruta + </a:t>
            </a:r>
            <a:r>
              <a:rPr lang="pt-BR" sz="4000" dirty="0" err="1">
                <a:latin typeface="Atkinson Hyperlegible"/>
              </a:rPr>
              <a:t>longitud</a:t>
            </a:r>
            <a:r>
              <a:rPr lang="pt-BR" sz="4000" dirty="0">
                <a:latin typeface="Atkinson Hyperlegible"/>
              </a:rPr>
              <a:t> de onda</a:t>
            </a:r>
            <a:endParaRPr lang="es-CL" sz="4000" noProof="0" dirty="0">
              <a:latin typeface="Atkinson Hyperlegible"/>
            </a:endParaRPr>
          </a:p>
        </p:txBody>
      </p:sp>
      <p:sp>
        <p:nvSpPr>
          <p:cNvPr id="5" name="5 Rectángulo">
            <a:extLst>
              <a:ext uri="{FF2B5EF4-FFF2-40B4-BE49-F238E27FC236}">
                <a16:creationId xmlns:a16="http://schemas.microsoft.com/office/drawing/2014/main" id="{7FF554CD-33C0-6B6E-28F1-4E46BC06F04B}"/>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En una red WDM, no basta con seleccionar una </a:t>
            </a:r>
            <a:r>
              <a:rPr lang="es-ES" sz="3200" b="1" dirty="0">
                <a:latin typeface="Atkinson Hyperlegible"/>
              </a:rPr>
              <a:t>ruta física</a:t>
            </a:r>
            <a:r>
              <a:rPr lang="es-ES" sz="3200" dirty="0">
                <a:latin typeface="Atkinson Hyperlegible"/>
              </a:rPr>
              <a:t> entre origen y destino.</a:t>
            </a:r>
            <a:br>
              <a:rPr lang="es-ES" sz="3200" dirty="0">
                <a:latin typeface="Atkinson Hyperlegible"/>
              </a:rPr>
            </a:br>
            <a:r>
              <a:rPr lang="es-ES" sz="3200" dirty="0">
                <a:latin typeface="Atkinson Hyperlegible"/>
              </a:rPr>
              <a:t>También se debe asignar una </a:t>
            </a:r>
            <a:r>
              <a:rPr lang="es-ES" sz="3200" b="1" dirty="0">
                <a:latin typeface="Atkinson Hyperlegible"/>
              </a:rPr>
              <a:t>longitud de onda disponible</a:t>
            </a:r>
            <a:r>
              <a:rPr lang="es-ES" sz="3200" dirty="0">
                <a:latin typeface="Atkinson Hyperlegible"/>
              </a:rPr>
              <a:t> para transportar el servicio.</a:t>
            </a:r>
            <a:endParaRPr lang="es-CL" sz="3200" b="1" i="1" noProof="0" dirty="0">
              <a:latin typeface="Atkinson Hyperlegible"/>
            </a:endParaRPr>
          </a:p>
        </p:txBody>
      </p:sp>
      <mc:AlternateContent xmlns:mc="http://schemas.openxmlformats.org/markup-compatibility/2006">
        <mc:Choice xmlns:a14="http://schemas.microsoft.com/office/drawing/2010/main" Requires="a14">
          <p:sp>
            <p:nvSpPr>
              <p:cNvPr id="6" name="5 Rectángulo">
                <a:extLst>
                  <a:ext uri="{FF2B5EF4-FFF2-40B4-BE49-F238E27FC236}">
                    <a16:creationId xmlns:a16="http://schemas.microsoft.com/office/drawing/2014/main" id="{549F4231-B1A1-C7A0-72CE-EAFBE1A7A477}"/>
                  </a:ext>
                </a:extLst>
              </p:cNvPr>
              <p:cNvSpPr/>
              <p:nvPr/>
            </p:nvSpPr>
            <p:spPr>
              <a:xfrm>
                <a:off x="930078" y="2965934"/>
                <a:ext cx="15199339" cy="6001643"/>
              </a:xfrm>
              <a:prstGeom prst="rect">
                <a:avLst/>
              </a:prstGeom>
              <a:noFill/>
              <a:effectLst/>
            </p:spPr>
            <p:txBody>
              <a:bodyPr wrap="square" lIns="91440" tIns="45720" rIns="91440" bIns="45720" anchor="t">
                <a:spAutoFit/>
              </a:bodyPr>
              <a:lstStyle/>
              <a:p>
                <a:r>
                  <a:rPr lang="es-ES" sz="3200" b="1" dirty="0">
                    <a:latin typeface="Atkinson Hyperlegible"/>
                  </a:rPr>
                  <a:t>Conceptos clave</a:t>
                </a:r>
              </a:p>
              <a:p>
                <a:r>
                  <a:rPr lang="es-ES" sz="3200" dirty="0">
                    <a:latin typeface="Atkinson Hyperlegible"/>
                  </a:rPr>
                  <a:t>Cada longitud de onda </a:t>
                </a:r>
                <a14:m>
                  <m:oMath xmlns:m="http://schemas.openxmlformats.org/officeDocument/2006/math">
                    <m:r>
                      <a:rPr lang="es-ES" sz="3200" i="1"/>
                      <m:t>𝜆</m:t>
                    </m:r>
                  </m:oMath>
                </a14:m>
                <a:r>
                  <a:rPr lang="es-ES" sz="3200" dirty="0">
                    <a:latin typeface="Atkinson Hyperlegible"/>
                  </a:rPr>
                  <a:t> funciona como un </a:t>
                </a:r>
                <a:r>
                  <a:rPr lang="es-ES" sz="3200" b="1" dirty="0">
                    <a:latin typeface="Atkinson Hyperlegible"/>
                  </a:rPr>
                  <a:t>canal óptico</a:t>
                </a:r>
                <a:r>
                  <a:rPr lang="es-ES" sz="3200" dirty="0">
                    <a:latin typeface="Atkinson Hyperlegible"/>
                  </a:rPr>
                  <a:t>. </a:t>
                </a:r>
              </a:p>
              <a:p>
                <a:r>
                  <a:rPr lang="es-ES" sz="3200" dirty="0">
                    <a:latin typeface="Atkinson Hyperlegible"/>
                  </a:rPr>
                  <a:t>El ruteo WDM debe decidir: </a:t>
                </a:r>
              </a:p>
              <a:p>
                <a:pPr marL="914400" lvl="1" indent="-457200">
                  <a:buFont typeface="Arial" panose="020B0604020202020204" pitchFamily="34" charset="0"/>
                  <a:buChar char="•"/>
                </a:pPr>
                <a:r>
                  <a:rPr lang="es-ES" sz="3200" b="1" dirty="0">
                    <a:latin typeface="Atkinson Hyperlegible"/>
                  </a:rPr>
                  <a:t>Qué camino físico</a:t>
                </a:r>
                <a:r>
                  <a:rPr lang="es-ES" sz="3200" dirty="0">
                    <a:latin typeface="Atkinson Hyperlegible"/>
                  </a:rPr>
                  <a:t> seguirá el servicio. </a:t>
                </a:r>
              </a:p>
              <a:p>
                <a:pPr marL="914400" lvl="1" indent="-457200">
                  <a:buFont typeface="Arial" panose="020B0604020202020204" pitchFamily="34" charset="0"/>
                  <a:buChar char="•"/>
                </a:pPr>
                <a:r>
                  <a:rPr lang="es-ES" sz="3200" b="1" dirty="0">
                    <a:latin typeface="Atkinson Hyperlegible"/>
                  </a:rPr>
                  <a:t>Qué longitud de onda</a:t>
                </a:r>
                <a:r>
                  <a:rPr lang="es-ES" sz="3200" dirty="0">
                    <a:latin typeface="Atkinson Hyperlegible"/>
                  </a:rPr>
                  <a:t> utilizará. </a:t>
                </a:r>
              </a:p>
              <a:p>
                <a:r>
                  <a:rPr lang="es-ES" sz="3200" dirty="0">
                    <a:latin typeface="Atkinson Hyperlegible"/>
                  </a:rPr>
                  <a:t>Una longitud de onda ocupada no puede ser usada simultáneamente por otro servicio en el mismo enlace, salvo que exista conversión de longitud de onda. </a:t>
                </a:r>
              </a:p>
              <a:p>
                <a:r>
                  <a:rPr lang="es-ES" sz="3200" dirty="0">
                    <a:latin typeface="Atkinson Hyperlegible"/>
                  </a:rPr>
                  <a:t>Si no hay longitud de onda disponible, puede ser necesario: </a:t>
                </a:r>
              </a:p>
              <a:p>
                <a:pPr marL="914400" lvl="1" indent="-457200">
                  <a:buFont typeface="Arial" panose="020B0604020202020204" pitchFamily="34" charset="0"/>
                  <a:buChar char="•"/>
                </a:pPr>
                <a:r>
                  <a:rPr lang="es-ES" sz="3200" dirty="0">
                    <a:latin typeface="Atkinson Hyperlegible"/>
                  </a:rPr>
                  <a:t>elegir otra ruta; </a:t>
                </a:r>
              </a:p>
              <a:p>
                <a:pPr marL="914400" lvl="1" indent="-457200">
                  <a:buFont typeface="Arial" panose="020B0604020202020204" pitchFamily="34" charset="0"/>
                  <a:buChar char="•"/>
                </a:pPr>
                <a:r>
                  <a:rPr lang="es-ES" sz="3200" dirty="0">
                    <a:latin typeface="Atkinson Hyperlegible"/>
                  </a:rPr>
                  <a:t>usar conversión de longitud de onda; </a:t>
                </a:r>
              </a:p>
              <a:p>
                <a:pPr marL="914400" lvl="1" indent="-457200">
                  <a:buFont typeface="Arial" panose="020B0604020202020204" pitchFamily="34" charset="0"/>
                  <a:buChar char="•"/>
                </a:pPr>
                <a:r>
                  <a:rPr lang="es-ES" sz="3200" dirty="0">
                    <a:latin typeface="Atkinson Hyperlegible"/>
                  </a:rPr>
                  <a:t>bloquear la solicitud; </a:t>
                </a:r>
              </a:p>
              <a:p>
                <a:pPr marL="914400" lvl="1" indent="-457200">
                  <a:buFont typeface="Arial" panose="020B0604020202020204" pitchFamily="34" charset="0"/>
                  <a:buChar char="•"/>
                </a:pPr>
                <a:r>
                  <a:rPr lang="es-ES" sz="3200" dirty="0">
                    <a:latin typeface="Atkinson Hyperlegible"/>
                  </a:rPr>
                  <a:t>ampliar capacidad.</a:t>
                </a:r>
              </a:p>
            </p:txBody>
          </p:sp>
        </mc:Choice>
        <mc:Fallback>
          <p:sp>
            <p:nvSpPr>
              <p:cNvPr id="6" name="5 Rectángulo">
                <a:extLst>
                  <a:ext uri="{FF2B5EF4-FFF2-40B4-BE49-F238E27FC236}">
                    <a16:creationId xmlns:a16="http://schemas.microsoft.com/office/drawing/2014/main" id="{549F4231-B1A1-C7A0-72CE-EAFBE1A7A477}"/>
                  </a:ext>
                </a:extLst>
              </p:cNvPr>
              <p:cNvSpPr>
                <a:spLocks noRot="1" noChangeAspect="1" noMove="1" noResize="1" noEditPoints="1" noAdjustHandles="1" noChangeArrowheads="1" noChangeShapeType="1" noTextEdit="1"/>
              </p:cNvSpPr>
              <p:nvPr/>
            </p:nvSpPr>
            <p:spPr>
              <a:xfrm>
                <a:off x="930078" y="2965934"/>
                <a:ext cx="15199339" cy="6001643"/>
              </a:xfrm>
              <a:prstGeom prst="rect">
                <a:avLst/>
              </a:prstGeom>
              <a:blipFill>
                <a:blip r:embed="rId4"/>
                <a:stretch>
                  <a:fillRect l="-1043" t="-1321" b="-2439"/>
                </a:stretch>
              </a:blipFill>
              <a:effectLst/>
            </p:spPr>
            <p:txBody>
              <a:bodyPr/>
              <a:lstStyle/>
              <a:p>
                <a:r>
                  <a:rPr lang="es-CL">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459A67D7-885B-2C69-44F7-F7A2A312F26C}"/>
                  </a:ext>
                </a:extLst>
              </p:cNvPr>
              <p:cNvSpPr txBox="1"/>
              <p:nvPr/>
            </p:nvSpPr>
            <p:spPr>
              <a:xfrm>
                <a:off x="9910029" y="8349616"/>
                <a:ext cx="10194071" cy="2061013"/>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a:latin typeface="Atkinson Hyperlegible"/>
                  </a:rPr>
                  <a:t>Concepto técnico</a:t>
                </a:r>
              </a:p>
              <a:p>
                <a14:m>
                  <m:oMathPara xmlns:m="http://schemas.openxmlformats.org/officeDocument/2006/math">
                    <m:oMathParaPr>
                      <m:jc m:val="centerGroup"/>
                    </m:oMathParaPr>
                    <m:oMath xmlns:m="http://schemas.openxmlformats.org/officeDocument/2006/math">
                      <m:r>
                        <m:rPr>
                          <m:nor/>
                        </m:rPr>
                        <a:rPr lang="es-CL" sz="2400" b="0">
                          <a:latin typeface="Atkinson Hyperlegible"/>
                        </a:rPr>
                        <m:t>Ruteo</m:t>
                      </m:r>
                      <m:r>
                        <m:rPr>
                          <m:nor/>
                        </m:rPr>
                        <a:rPr lang="es-CL" sz="2400" b="0" i="1">
                          <a:latin typeface="Atkinson Hyperlegible"/>
                        </a:rPr>
                        <m:t> </m:t>
                      </m:r>
                      <m:r>
                        <m:rPr>
                          <m:nor/>
                        </m:rPr>
                        <a:rPr lang="es-CL" sz="2400" b="0" i="1">
                          <a:latin typeface="Atkinson Hyperlegible"/>
                        </a:rPr>
                        <m:t>WDM</m:t>
                      </m:r>
                      <m:r>
                        <a:rPr lang="es-CL" sz="2400"/>
                        <m:t>=</m:t>
                      </m:r>
                      <m:r>
                        <m:rPr>
                          <m:nor/>
                        </m:rPr>
                        <a:rPr lang="es-CL" sz="2400" i="1">
                          <a:latin typeface="Atkinson Hyperlegible"/>
                        </a:rPr>
                        <m:t>Selecci</m:t>
                      </m:r>
                      <m:limUpp>
                        <m:limUppPr>
                          <m:ctrlPr>
                            <a:rPr lang="ar-AE" sz="2400" i="1"/>
                          </m:ctrlPr>
                        </m:limUppPr>
                        <m:e>
                          <m:r>
                            <m:rPr>
                              <m:nor/>
                            </m:rPr>
                            <a:rPr lang="es-CL" sz="2400" i="1" smtClean="0">
                              <a:latin typeface="Atkinson Hyperlegible"/>
                            </a:rPr>
                            <m:t>o</m:t>
                          </m:r>
                        </m:e>
                        <m:lim/>
                      </m:limUpp>
                      <m:r>
                        <m:rPr>
                          <m:nor/>
                        </m:rPr>
                        <a:rPr lang="es-CL" sz="2400" i="1">
                          <a:latin typeface="Atkinson Hyperlegible"/>
                        </a:rPr>
                        <m:t>n</m:t>
                      </m:r>
                      <m:r>
                        <m:rPr>
                          <m:nor/>
                        </m:rPr>
                        <a:rPr lang="es-CL" sz="2400" i="1">
                          <a:latin typeface="Atkinson Hyperlegible"/>
                        </a:rPr>
                        <m:t> </m:t>
                      </m:r>
                      <m:r>
                        <m:rPr>
                          <m:nor/>
                        </m:rPr>
                        <a:rPr lang="es-CL" sz="2400" i="1">
                          <a:latin typeface="Atkinson Hyperlegible"/>
                        </a:rPr>
                        <m:t>de</m:t>
                      </m:r>
                      <m:r>
                        <m:rPr>
                          <m:nor/>
                        </m:rPr>
                        <a:rPr lang="es-CL" sz="2400" i="1">
                          <a:latin typeface="Atkinson Hyperlegible"/>
                        </a:rPr>
                        <m:t> </m:t>
                      </m:r>
                      <m:r>
                        <m:rPr>
                          <m:nor/>
                        </m:rPr>
                        <a:rPr lang="es-CL" sz="2400" i="1">
                          <a:latin typeface="Atkinson Hyperlegible"/>
                        </a:rPr>
                        <m:t>ruta</m:t>
                      </m:r>
                      <m:r>
                        <a:rPr lang="es-CL" sz="2400"/>
                        <m:t>+</m:t>
                      </m:r>
                      <m:r>
                        <m:rPr>
                          <m:nor/>
                        </m:rPr>
                        <a:rPr lang="es-CL" sz="2400" i="1">
                          <a:latin typeface="Atkinson Hyperlegible"/>
                        </a:rPr>
                        <m:t>Asignaci</m:t>
                      </m:r>
                      <m:limUpp>
                        <m:limUppPr>
                          <m:ctrlPr>
                            <a:rPr lang="ar-AE" sz="2400" i="1"/>
                          </m:ctrlPr>
                        </m:limUppPr>
                        <m:e>
                          <m:r>
                            <m:rPr>
                              <m:nor/>
                            </m:rPr>
                            <a:rPr lang="es-CL" sz="2400" i="1">
                              <a:latin typeface="Atkinson Hyperlegible"/>
                            </a:rPr>
                            <m:t>o</m:t>
                          </m:r>
                        </m:e>
                        <m:lim/>
                      </m:limUpp>
                      <m:r>
                        <m:rPr>
                          <m:nor/>
                        </m:rPr>
                        <a:rPr lang="es-CL" sz="2400" i="1">
                          <a:latin typeface="Atkinson Hyperlegible"/>
                        </a:rPr>
                        <m:t>n</m:t>
                      </m:r>
                      <m:r>
                        <m:rPr>
                          <m:nor/>
                        </m:rPr>
                        <a:rPr lang="es-CL" sz="2400" i="1">
                          <a:latin typeface="Atkinson Hyperlegible"/>
                        </a:rPr>
                        <m:t> </m:t>
                      </m:r>
                      <m:r>
                        <m:rPr>
                          <m:nor/>
                        </m:rPr>
                        <a:rPr lang="es-CL" sz="2400" i="1">
                          <a:latin typeface="Atkinson Hyperlegible"/>
                        </a:rPr>
                        <m:t>de</m:t>
                      </m:r>
                      <m:r>
                        <m:rPr>
                          <m:nor/>
                        </m:rPr>
                        <a:rPr lang="es-CL" sz="2400" i="1">
                          <a:latin typeface="Atkinson Hyperlegible"/>
                        </a:rPr>
                        <m:t> </m:t>
                      </m:r>
                      <m:r>
                        <m:rPr>
                          <m:nor/>
                        </m:rPr>
                        <a:rPr lang="es-CL" sz="2400" i="1">
                          <a:latin typeface="Atkinson Hyperlegible"/>
                        </a:rPr>
                        <m:t>longitud</m:t>
                      </m:r>
                      <m:r>
                        <m:rPr>
                          <m:nor/>
                        </m:rPr>
                        <a:rPr lang="es-CL" sz="2400" i="1">
                          <a:latin typeface="Atkinson Hyperlegible"/>
                        </a:rPr>
                        <m:t> </m:t>
                      </m:r>
                      <m:r>
                        <m:rPr>
                          <m:nor/>
                        </m:rPr>
                        <a:rPr lang="es-CL" sz="2400" i="1">
                          <a:latin typeface="Atkinson Hyperlegible"/>
                        </a:rPr>
                        <m:t>de</m:t>
                      </m:r>
                      <m:r>
                        <m:rPr>
                          <m:nor/>
                        </m:rPr>
                        <a:rPr lang="es-CL" sz="2400" i="1">
                          <a:latin typeface="Atkinson Hyperlegible"/>
                        </a:rPr>
                        <m:t> </m:t>
                      </m:r>
                      <m:r>
                        <m:rPr>
                          <m:nor/>
                        </m:rPr>
                        <a:rPr lang="es-CL" sz="2400" i="1">
                          <a:latin typeface="Atkinson Hyperlegible"/>
                        </a:rPr>
                        <m:t>onda</m:t>
                      </m:r>
                    </m:oMath>
                  </m:oMathPara>
                </a14:m>
                <a:endParaRPr lang="es-CL" sz="2400" b="0" dirty="0">
                  <a:latin typeface="Atkinson Hyperlegible"/>
                </a:endParaRPr>
              </a:p>
              <a:p>
                <a:r>
                  <a:rPr lang="es-CL" sz="2400" dirty="0">
                    <a:latin typeface="Atkinson Hyperlegible"/>
                  </a:rPr>
                  <a:t>También se conoce como:</a:t>
                </a:r>
              </a:p>
              <a:p>
                <a14:m>
                  <m:oMathPara xmlns:m="http://schemas.openxmlformats.org/officeDocument/2006/math">
                    <m:oMathParaPr>
                      <m:jc m:val="centerGroup"/>
                    </m:oMathParaPr>
                    <m:oMath xmlns:m="http://schemas.openxmlformats.org/officeDocument/2006/math">
                      <m:r>
                        <m:rPr>
                          <m:nor/>
                        </m:rPr>
                        <a:rPr lang="es-CL" sz="2400" b="0">
                          <a:latin typeface="Atkinson Hyperlegible"/>
                        </a:rPr>
                        <m:t>RWA</m:t>
                      </m:r>
                      <m:r>
                        <a:rPr lang="es-CL" sz="2400"/>
                        <m:t>=</m:t>
                      </m:r>
                      <m:r>
                        <m:rPr>
                          <m:nor/>
                        </m:rPr>
                        <a:rPr lang="es-CL" sz="2400" i="1">
                          <a:latin typeface="Atkinson Hyperlegible"/>
                        </a:rPr>
                        <m:t>Routing</m:t>
                      </m:r>
                      <m:r>
                        <m:rPr>
                          <m:nor/>
                        </m:rPr>
                        <a:rPr lang="es-CL" sz="2400" i="1">
                          <a:latin typeface="Atkinson Hyperlegible"/>
                        </a:rPr>
                        <m:t> </m:t>
                      </m:r>
                      <m:r>
                        <m:rPr>
                          <m:nor/>
                        </m:rPr>
                        <a:rPr lang="es-CL" sz="2400" i="1">
                          <a:latin typeface="Atkinson Hyperlegible"/>
                        </a:rPr>
                        <m:t>and</m:t>
                      </m:r>
                      <m:r>
                        <m:rPr>
                          <m:nor/>
                        </m:rPr>
                        <a:rPr lang="es-CL" sz="2400" i="1">
                          <a:latin typeface="Atkinson Hyperlegible"/>
                        </a:rPr>
                        <m:t> </m:t>
                      </m:r>
                      <m:r>
                        <m:rPr>
                          <m:nor/>
                        </m:rPr>
                        <a:rPr lang="es-CL" sz="2400" i="1">
                          <a:latin typeface="Atkinson Hyperlegible"/>
                        </a:rPr>
                        <m:t>Wavelength</m:t>
                      </m:r>
                      <m:r>
                        <m:rPr>
                          <m:nor/>
                        </m:rPr>
                        <a:rPr lang="es-CL" sz="2400" i="1">
                          <a:latin typeface="Atkinson Hyperlegible"/>
                        </a:rPr>
                        <m:t> </m:t>
                      </m:r>
                      <m:r>
                        <m:rPr>
                          <m:nor/>
                        </m:rPr>
                        <a:rPr lang="es-CL" sz="2400" i="1">
                          <a:latin typeface="Atkinson Hyperlegible"/>
                        </a:rPr>
                        <m:t>Assignment</m:t>
                      </m:r>
                    </m:oMath>
                  </m:oMathPara>
                </a14:m>
                <a:endParaRPr lang="es-CL" sz="2400" b="0" dirty="0">
                  <a:latin typeface="Atkinson Hyperlegible"/>
                </a:endParaRPr>
              </a:p>
            </p:txBody>
          </p:sp>
        </mc:Choice>
        <mc:Fallback>
          <p:sp>
            <p:nvSpPr>
              <p:cNvPr id="10" name="CuadroTexto 9">
                <a:extLst>
                  <a:ext uri="{FF2B5EF4-FFF2-40B4-BE49-F238E27FC236}">
                    <a16:creationId xmlns:a16="http://schemas.microsoft.com/office/drawing/2014/main" id="{459A67D7-885B-2C69-44F7-F7A2A312F26C}"/>
                  </a:ext>
                </a:extLst>
              </p:cNvPr>
              <p:cNvSpPr txBox="1">
                <a:spLocks noRot="1" noChangeAspect="1" noMove="1" noResize="1" noEditPoints="1" noAdjustHandles="1" noChangeArrowheads="1" noChangeShapeType="1" noTextEdit="1"/>
              </p:cNvSpPr>
              <p:nvPr/>
            </p:nvSpPr>
            <p:spPr>
              <a:xfrm>
                <a:off x="9910029" y="8349616"/>
                <a:ext cx="10194071" cy="2061013"/>
              </a:xfrm>
              <a:prstGeom prst="rect">
                <a:avLst/>
              </a:prstGeom>
              <a:blipFill>
                <a:blip r:embed="rId5"/>
                <a:stretch>
                  <a:fillRect l="-957" t="-2663" b="-2959"/>
                </a:stretch>
              </a:blipFill>
            </p:spPr>
            <p:txBody>
              <a:bodyPr/>
              <a:lstStyle/>
              <a:p>
                <a:r>
                  <a:rPr lang="es-CL">
                    <a:noFill/>
                  </a:rPr>
                  <a:t> </a:t>
                </a:r>
              </a:p>
            </p:txBody>
          </p:sp>
        </mc:Fallback>
      </mc:AlternateContent>
    </p:spTree>
    <p:extLst>
      <p:ext uri="{BB962C8B-B14F-4D97-AF65-F5344CB8AC3E}">
        <p14:creationId xmlns:p14="http://schemas.microsoft.com/office/powerpoint/2010/main" val="308783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BA27217-E4FE-6F6B-374C-4E25A866584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3B867E0-4C5E-2C3D-858B-4E745300E56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079D627D-891B-992A-1BB3-834E23E1703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A7B4618-A6E7-23AE-E800-A19430465C97}"/>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Redes multicapa en redes ópticas</a:t>
            </a:r>
            <a:endParaRPr lang="es-CL" sz="4000" noProof="0" dirty="0">
              <a:latin typeface="Atkinson Hyperlegible"/>
            </a:endParaRPr>
          </a:p>
        </p:txBody>
      </p:sp>
      <p:sp>
        <p:nvSpPr>
          <p:cNvPr id="5" name="5 Rectángulo">
            <a:extLst>
              <a:ext uri="{FF2B5EF4-FFF2-40B4-BE49-F238E27FC236}">
                <a16:creationId xmlns:a16="http://schemas.microsoft.com/office/drawing/2014/main" id="{E6E431C0-4CD9-AC19-DF42-28AF88B2860F}"/>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Una red multicapa organiza el transporte de servicios en distintos niveles, donde cada capa cumple una función específica.</a:t>
            </a:r>
            <a:endParaRPr lang="es-CL" sz="3200" b="1" i="1" noProof="0" dirty="0">
              <a:latin typeface="Atkinson Hyperlegible"/>
            </a:endParaRPr>
          </a:p>
        </p:txBody>
      </p:sp>
      <p:sp>
        <p:nvSpPr>
          <p:cNvPr id="10" name="CuadroTexto 9">
            <a:extLst>
              <a:ext uri="{FF2B5EF4-FFF2-40B4-BE49-F238E27FC236}">
                <a16:creationId xmlns:a16="http://schemas.microsoft.com/office/drawing/2014/main" id="{FA780EBD-00BC-6EAB-DF3C-6C63B25EEB3F}"/>
              </a:ext>
            </a:extLst>
          </p:cNvPr>
          <p:cNvSpPr txBox="1"/>
          <p:nvPr/>
        </p:nvSpPr>
        <p:spPr>
          <a:xfrm>
            <a:off x="1890292" y="8880894"/>
            <a:ext cx="1019407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En redes multicapa, un servicio IP puede depender de </a:t>
            </a:r>
            <a:r>
              <a:rPr lang="es-ES" sz="2400" b="1" dirty="0" err="1">
                <a:latin typeface="Atkinson Hyperlegible"/>
              </a:rPr>
              <a:t>OTN</a:t>
            </a:r>
            <a:r>
              <a:rPr lang="es-ES" sz="2400" b="1" dirty="0">
                <a:latin typeface="Atkinson Hyperlegible"/>
              </a:rPr>
              <a:t>, WDM y de la fibra física que lo transporta.</a:t>
            </a:r>
            <a:endParaRPr lang="es-CL" sz="2400" b="0" dirty="0">
              <a:latin typeface="Atkinson Hyperlegible"/>
            </a:endParaRPr>
          </a:p>
        </p:txBody>
      </p:sp>
      <p:graphicFrame>
        <p:nvGraphicFramePr>
          <p:cNvPr id="2" name="Tabla 1">
            <a:extLst>
              <a:ext uri="{FF2B5EF4-FFF2-40B4-BE49-F238E27FC236}">
                <a16:creationId xmlns:a16="http://schemas.microsoft.com/office/drawing/2014/main" id="{68CE49CC-7165-5C7F-C49E-87C125CE6CFD}"/>
              </a:ext>
            </a:extLst>
          </p:cNvPr>
          <p:cNvGraphicFramePr>
            <a:graphicFrameLocks noGrp="1"/>
          </p:cNvGraphicFramePr>
          <p:nvPr>
            <p:extLst>
              <p:ext uri="{D42A27DB-BD31-4B8C-83A1-F6EECF244321}">
                <p14:modId xmlns:p14="http://schemas.microsoft.com/office/powerpoint/2010/main" val="3520329325"/>
              </p:ext>
            </p:extLst>
          </p:nvPr>
        </p:nvGraphicFramePr>
        <p:xfrm>
          <a:off x="1697507" y="3127193"/>
          <a:ext cx="17338674" cy="4358640"/>
        </p:xfrm>
        <a:graphic>
          <a:graphicData uri="http://schemas.openxmlformats.org/drawingml/2006/table">
            <a:tbl>
              <a:tblPr firstRow="1" firstCol="1">
                <a:tableStyleId>{073A0DAA-6AF3-43AB-8588-CEC1D06C72B9}</a:tableStyleId>
              </a:tblPr>
              <a:tblGrid>
                <a:gridCol w="3638991">
                  <a:extLst>
                    <a:ext uri="{9D8B030D-6E8A-4147-A177-3AD203B41FA5}">
                      <a16:colId xmlns:a16="http://schemas.microsoft.com/office/drawing/2014/main" val="299048098"/>
                    </a:ext>
                  </a:extLst>
                </a:gridCol>
                <a:gridCol w="7920125">
                  <a:extLst>
                    <a:ext uri="{9D8B030D-6E8A-4147-A177-3AD203B41FA5}">
                      <a16:colId xmlns:a16="http://schemas.microsoft.com/office/drawing/2014/main" val="395401586"/>
                    </a:ext>
                  </a:extLst>
                </a:gridCol>
                <a:gridCol w="5779558">
                  <a:extLst>
                    <a:ext uri="{9D8B030D-6E8A-4147-A177-3AD203B41FA5}">
                      <a16:colId xmlns:a16="http://schemas.microsoft.com/office/drawing/2014/main" val="2539152139"/>
                    </a:ext>
                  </a:extLst>
                </a:gridCol>
              </a:tblGrid>
              <a:tr h="0">
                <a:tc>
                  <a:txBody>
                    <a:bodyPr/>
                    <a:lstStyle/>
                    <a:p>
                      <a:pPr>
                        <a:buNone/>
                      </a:pPr>
                      <a:r>
                        <a:rPr lang="es-CL" sz="3200" dirty="0">
                          <a:latin typeface="Atkinson Hyperlegible"/>
                        </a:rPr>
                        <a:t>Capa</a:t>
                      </a:r>
                    </a:p>
                  </a:txBody>
                  <a:tcPr anchor="ctr"/>
                </a:tc>
                <a:tc>
                  <a:txBody>
                    <a:bodyPr/>
                    <a:lstStyle/>
                    <a:p>
                      <a:pPr>
                        <a:buNone/>
                      </a:pPr>
                      <a:r>
                        <a:rPr lang="es-CL" sz="3200">
                          <a:latin typeface="Atkinson Hyperlegible"/>
                        </a:rPr>
                        <a:t>Función principal</a:t>
                      </a:r>
                    </a:p>
                  </a:txBody>
                  <a:tcPr anchor="ctr"/>
                </a:tc>
                <a:tc>
                  <a:txBody>
                    <a:bodyPr/>
                    <a:lstStyle/>
                    <a:p>
                      <a:pPr>
                        <a:buNone/>
                      </a:pPr>
                      <a:r>
                        <a:rPr lang="es-CL" sz="3200">
                          <a:latin typeface="Atkinson Hyperlegible"/>
                        </a:rPr>
                        <a:t>Ejemplo</a:t>
                      </a:r>
                    </a:p>
                  </a:txBody>
                  <a:tcPr anchor="ctr"/>
                </a:tc>
                <a:extLst>
                  <a:ext uri="{0D108BD9-81ED-4DB2-BD59-A6C34878D82A}">
                    <a16:rowId xmlns:a16="http://schemas.microsoft.com/office/drawing/2014/main" val="2051669024"/>
                  </a:ext>
                </a:extLst>
              </a:tr>
              <a:tr h="0">
                <a:tc>
                  <a:txBody>
                    <a:bodyPr/>
                    <a:lstStyle/>
                    <a:p>
                      <a:pPr>
                        <a:buNone/>
                      </a:pPr>
                      <a:r>
                        <a:rPr lang="es-CL" sz="3200" b="1">
                          <a:latin typeface="Atkinson Hyperlegible"/>
                        </a:rPr>
                        <a:t>Capa de servicios / IP</a:t>
                      </a:r>
                      <a:endParaRPr lang="es-CL" sz="3200">
                        <a:latin typeface="Atkinson Hyperlegible"/>
                      </a:endParaRPr>
                    </a:p>
                  </a:txBody>
                  <a:tcPr anchor="ctr"/>
                </a:tc>
                <a:tc>
                  <a:txBody>
                    <a:bodyPr/>
                    <a:lstStyle/>
                    <a:p>
                      <a:pPr>
                        <a:buNone/>
                      </a:pPr>
                      <a:r>
                        <a:rPr lang="es-ES" sz="3200" dirty="0">
                          <a:latin typeface="Atkinson Hyperlegible"/>
                        </a:rPr>
                        <a:t>Genera y enruta tráfico de usuarios o aplicaciones</a:t>
                      </a:r>
                    </a:p>
                  </a:txBody>
                  <a:tcPr anchor="ctr"/>
                </a:tc>
                <a:tc>
                  <a:txBody>
                    <a:bodyPr/>
                    <a:lstStyle/>
                    <a:p>
                      <a:pPr>
                        <a:buNone/>
                      </a:pPr>
                      <a:r>
                        <a:rPr lang="es-CL" sz="3200">
                          <a:latin typeface="Atkinson Hyperlegible"/>
                        </a:rPr>
                        <a:t>IP, Ethernet</a:t>
                      </a:r>
                    </a:p>
                  </a:txBody>
                  <a:tcPr anchor="ctr"/>
                </a:tc>
                <a:extLst>
                  <a:ext uri="{0D108BD9-81ED-4DB2-BD59-A6C34878D82A}">
                    <a16:rowId xmlns:a16="http://schemas.microsoft.com/office/drawing/2014/main" val="2736223608"/>
                  </a:ext>
                </a:extLst>
              </a:tr>
              <a:tr h="0">
                <a:tc>
                  <a:txBody>
                    <a:bodyPr/>
                    <a:lstStyle/>
                    <a:p>
                      <a:pPr>
                        <a:buNone/>
                      </a:pPr>
                      <a:r>
                        <a:rPr lang="es-CL" sz="3200" b="1">
                          <a:latin typeface="Atkinson Hyperlegible"/>
                        </a:rPr>
                        <a:t>Capa OTN</a:t>
                      </a:r>
                      <a:endParaRPr lang="es-CL" sz="3200">
                        <a:latin typeface="Atkinson Hyperlegible"/>
                      </a:endParaRPr>
                    </a:p>
                  </a:txBody>
                  <a:tcPr anchor="ctr"/>
                </a:tc>
                <a:tc>
                  <a:txBody>
                    <a:bodyPr/>
                    <a:lstStyle/>
                    <a:p>
                      <a:pPr>
                        <a:buNone/>
                      </a:pPr>
                      <a:r>
                        <a:rPr lang="es-ES" sz="3200" dirty="0">
                          <a:latin typeface="Atkinson Hyperlegible"/>
                        </a:rPr>
                        <a:t>Encapsula, transporta, monitorea y protege servicios</a:t>
                      </a:r>
                    </a:p>
                  </a:txBody>
                  <a:tcPr anchor="ctr"/>
                </a:tc>
                <a:tc>
                  <a:txBody>
                    <a:bodyPr/>
                    <a:lstStyle/>
                    <a:p>
                      <a:pPr>
                        <a:buNone/>
                      </a:pPr>
                      <a:r>
                        <a:rPr lang="es-CL" sz="3200">
                          <a:latin typeface="Atkinson Hyperlegible"/>
                        </a:rPr>
                        <a:t>ODU / OTN</a:t>
                      </a:r>
                    </a:p>
                  </a:txBody>
                  <a:tcPr anchor="ctr"/>
                </a:tc>
                <a:extLst>
                  <a:ext uri="{0D108BD9-81ED-4DB2-BD59-A6C34878D82A}">
                    <a16:rowId xmlns:a16="http://schemas.microsoft.com/office/drawing/2014/main" val="4216761564"/>
                  </a:ext>
                </a:extLst>
              </a:tr>
              <a:tr h="0">
                <a:tc>
                  <a:txBody>
                    <a:bodyPr/>
                    <a:lstStyle/>
                    <a:p>
                      <a:pPr>
                        <a:buNone/>
                      </a:pPr>
                      <a:r>
                        <a:rPr lang="es-CL" sz="3200" b="1">
                          <a:latin typeface="Atkinson Hyperlegible"/>
                        </a:rPr>
                        <a:t>Capa WDM</a:t>
                      </a:r>
                      <a:endParaRPr lang="es-CL" sz="3200">
                        <a:latin typeface="Atkinson Hyperlegible"/>
                      </a:endParaRPr>
                    </a:p>
                  </a:txBody>
                  <a:tcPr anchor="ctr"/>
                </a:tc>
                <a:tc>
                  <a:txBody>
                    <a:bodyPr/>
                    <a:lstStyle/>
                    <a:p>
                      <a:pPr>
                        <a:buNone/>
                      </a:pPr>
                      <a:r>
                        <a:rPr lang="pt-BR" sz="3200">
                          <a:latin typeface="Atkinson Hyperlegible"/>
                        </a:rPr>
                        <a:t>Asigna longitudes de onda como canales ópticos</a:t>
                      </a:r>
                    </a:p>
                  </a:txBody>
                  <a:tcPr anchor="ctr"/>
                </a:tc>
                <a:tc>
                  <a:txBody>
                    <a:bodyPr/>
                    <a:lstStyle/>
                    <a:p>
                      <a:pPr>
                        <a:buNone/>
                      </a:pPr>
                      <a:r>
                        <a:rPr lang="el-GR" sz="3200" dirty="0"/>
                        <a:t>λ</a:t>
                      </a:r>
                      <a:r>
                        <a:rPr lang="es-ES" sz="3200" dirty="0"/>
                        <a:t>1</a:t>
                      </a:r>
                      <a:r>
                        <a:rPr lang="es-CL" sz="3200" dirty="0">
                          <a:latin typeface="Atkinson Hyperlegible"/>
                        </a:rPr>
                        <a:t>, </a:t>
                      </a:r>
                      <a:r>
                        <a:rPr lang="el-GR" sz="3200" dirty="0"/>
                        <a:t>λ</a:t>
                      </a:r>
                      <a:r>
                        <a:rPr lang="es-ES" sz="3200" dirty="0"/>
                        <a:t>2</a:t>
                      </a:r>
                      <a:r>
                        <a:rPr lang="es-CL" sz="3200" dirty="0">
                          <a:latin typeface="Atkinson Hyperlegible"/>
                        </a:rPr>
                        <a:t>, </a:t>
                      </a:r>
                      <a:r>
                        <a:rPr lang="el-GR" sz="3200" dirty="0"/>
                        <a:t>λ</a:t>
                      </a:r>
                      <a:r>
                        <a:rPr lang="es-ES" sz="3200" dirty="0"/>
                        <a:t>3</a:t>
                      </a:r>
                      <a:endParaRPr lang="es-CL" sz="3200" dirty="0">
                        <a:latin typeface="Atkinson Hyperlegible"/>
                      </a:endParaRPr>
                    </a:p>
                  </a:txBody>
                  <a:tcPr anchor="ctr"/>
                </a:tc>
                <a:extLst>
                  <a:ext uri="{0D108BD9-81ED-4DB2-BD59-A6C34878D82A}">
                    <a16:rowId xmlns:a16="http://schemas.microsoft.com/office/drawing/2014/main" val="4153809413"/>
                  </a:ext>
                </a:extLst>
              </a:tr>
              <a:tr h="0">
                <a:tc>
                  <a:txBody>
                    <a:bodyPr/>
                    <a:lstStyle/>
                    <a:p>
                      <a:pPr>
                        <a:buNone/>
                      </a:pPr>
                      <a:r>
                        <a:rPr lang="es-CL" sz="3200" b="1">
                          <a:latin typeface="Atkinson Hyperlegible"/>
                        </a:rPr>
                        <a:t>Capa física óptica</a:t>
                      </a:r>
                      <a:endParaRPr lang="es-CL" sz="3200">
                        <a:latin typeface="Atkinson Hyperlegible"/>
                      </a:endParaRPr>
                    </a:p>
                  </a:txBody>
                  <a:tcPr anchor="ctr"/>
                </a:tc>
                <a:tc>
                  <a:txBody>
                    <a:bodyPr/>
                    <a:lstStyle/>
                    <a:p>
                      <a:pPr>
                        <a:buNone/>
                      </a:pPr>
                      <a:r>
                        <a:rPr lang="es-ES" sz="3200">
                          <a:latin typeface="Atkinson Hyperlegible"/>
                        </a:rPr>
                        <a:t>Medio físico que guía la luz</a:t>
                      </a:r>
                    </a:p>
                  </a:txBody>
                  <a:tcPr anchor="ctr"/>
                </a:tc>
                <a:tc>
                  <a:txBody>
                    <a:bodyPr/>
                    <a:lstStyle/>
                    <a:p>
                      <a:pPr>
                        <a:buNone/>
                      </a:pPr>
                      <a:r>
                        <a:rPr lang="es-CL" sz="3200" dirty="0">
                          <a:latin typeface="Atkinson Hyperlegible"/>
                        </a:rPr>
                        <a:t>Fibra óptica</a:t>
                      </a:r>
                    </a:p>
                  </a:txBody>
                  <a:tcPr anchor="ctr"/>
                </a:tc>
                <a:extLst>
                  <a:ext uri="{0D108BD9-81ED-4DB2-BD59-A6C34878D82A}">
                    <a16:rowId xmlns:a16="http://schemas.microsoft.com/office/drawing/2014/main" val="2461860907"/>
                  </a:ext>
                </a:extLst>
              </a:tr>
            </a:tbl>
          </a:graphicData>
        </a:graphic>
      </p:graphicFrame>
    </p:spTree>
    <p:extLst>
      <p:ext uri="{BB962C8B-B14F-4D97-AF65-F5344CB8AC3E}">
        <p14:creationId xmlns:p14="http://schemas.microsoft.com/office/powerpoint/2010/main" val="299775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12D3B8A-EB7C-9404-D7F9-F1306F9B349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6F19E8FC-8D9A-F92B-4B1E-F19C8E7804B7}"/>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D75A7EF-C142-6129-78FB-D33CEEDD9248}"/>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E65C25A4-1D16-00D5-CF7D-34A3CAE44ACE}"/>
              </a:ext>
            </a:extLst>
          </p:cNvPr>
          <p:cNvSpPr txBox="1"/>
          <p:nvPr/>
        </p:nvSpPr>
        <p:spPr>
          <a:xfrm>
            <a:off x="1382156" y="940146"/>
            <a:ext cx="17055745" cy="707886"/>
          </a:xfrm>
          <a:prstGeom prst="rect">
            <a:avLst/>
          </a:prstGeom>
          <a:noFill/>
        </p:spPr>
        <p:txBody>
          <a:bodyPr wrap="square">
            <a:spAutoFit/>
          </a:bodyPr>
          <a:lstStyle/>
          <a:p>
            <a:r>
              <a:rPr lang="es-CL" sz="4000" dirty="0">
                <a:latin typeface="Atkinson Hyperlegible"/>
              </a:rPr>
              <a:t>Redes </a:t>
            </a:r>
            <a:r>
              <a:rPr lang="es-CL" sz="4000" dirty="0" err="1">
                <a:latin typeface="Atkinson Hyperlegible"/>
              </a:rPr>
              <a:t>overlay</a:t>
            </a:r>
            <a:r>
              <a:rPr lang="es-CL" sz="4000" dirty="0">
                <a:latin typeface="Atkinson Hyperlegible"/>
              </a:rPr>
              <a:t> en redes ópticas</a:t>
            </a:r>
            <a:endParaRPr lang="es-CL" sz="4000" noProof="0" dirty="0">
              <a:latin typeface="Atkinson Hyperlegible"/>
            </a:endParaRPr>
          </a:p>
        </p:txBody>
      </p:sp>
      <p:sp>
        <p:nvSpPr>
          <p:cNvPr id="5" name="5 Rectángulo">
            <a:extLst>
              <a:ext uri="{FF2B5EF4-FFF2-40B4-BE49-F238E27FC236}">
                <a16:creationId xmlns:a16="http://schemas.microsoft.com/office/drawing/2014/main" id="{CA78974A-8B06-2E44-9A35-57140CF50729}"/>
              </a:ext>
            </a:extLst>
          </p:cNvPr>
          <p:cNvSpPr/>
          <p:nvPr/>
        </p:nvSpPr>
        <p:spPr>
          <a:xfrm>
            <a:off x="1221683" y="1828291"/>
            <a:ext cx="18598386" cy="1569660"/>
          </a:xfrm>
          <a:prstGeom prst="rect">
            <a:avLst/>
          </a:prstGeom>
          <a:noFill/>
          <a:effectLst/>
        </p:spPr>
        <p:txBody>
          <a:bodyPr wrap="square" lIns="91440" tIns="45720" rIns="91440" bIns="45720" anchor="t">
            <a:spAutoFit/>
          </a:bodyPr>
          <a:lstStyle/>
          <a:p>
            <a:r>
              <a:rPr lang="es-ES" sz="3200" dirty="0"/>
              <a:t>Una </a:t>
            </a:r>
            <a:r>
              <a:rPr lang="es-ES" sz="3200" b="1" dirty="0"/>
              <a:t>red </a:t>
            </a:r>
            <a:r>
              <a:rPr lang="es-ES" sz="3200" b="1" dirty="0" err="1"/>
              <a:t>overlay</a:t>
            </a:r>
            <a:r>
              <a:rPr lang="es-ES" sz="3200" dirty="0"/>
              <a:t> es una red lógica que se construye sobre una infraestructura física existente.</a:t>
            </a:r>
          </a:p>
          <a:p>
            <a:r>
              <a:rPr lang="es-ES" sz="3200" dirty="0"/>
              <a:t>En redes ópticas, esto permite que servicios o clientes distintos usen la misma infraestructura, pero con separación lógica.</a:t>
            </a:r>
          </a:p>
        </p:txBody>
      </p:sp>
      <p:sp>
        <p:nvSpPr>
          <p:cNvPr id="6" name="5 Rectángulo">
            <a:extLst>
              <a:ext uri="{FF2B5EF4-FFF2-40B4-BE49-F238E27FC236}">
                <a16:creationId xmlns:a16="http://schemas.microsoft.com/office/drawing/2014/main" id="{F5112A71-5B36-6EC8-2B61-D3A961204243}"/>
              </a:ext>
            </a:extLst>
          </p:cNvPr>
          <p:cNvSpPr/>
          <p:nvPr/>
        </p:nvSpPr>
        <p:spPr>
          <a:xfrm>
            <a:off x="1221683" y="3598875"/>
            <a:ext cx="17381110" cy="3539430"/>
          </a:xfrm>
          <a:prstGeom prst="rect">
            <a:avLst/>
          </a:prstGeom>
          <a:noFill/>
          <a:effectLst/>
        </p:spPr>
        <p:txBody>
          <a:bodyPr wrap="square" lIns="91440" tIns="45720" rIns="91440" bIns="45720" anchor="t">
            <a:spAutoFit/>
          </a:bodyPr>
          <a:lstStyle/>
          <a:p>
            <a:r>
              <a:rPr lang="es-ES" sz="3200" b="1" dirty="0">
                <a:latin typeface="Atkinson Hyperlegible"/>
              </a:rPr>
              <a:t>Conceptos clave</a:t>
            </a:r>
          </a:p>
          <a:p>
            <a:pPr marL="457200" indent="-457200">
              <a:buFont typeface="Arial" panose="020B0604020202020204" pitchFamily="34" charset="0"/>
              <a:buChar char="•"/>
            </a:pPr>
            <a:r>
              <a:rPr lang="es-ES" sz="3200" dirty="0">
                <a:latin typeface="Atkinson Hyperlegible"/>
              </a:rPr>
              <a:t>La infraestructura física puede ser común: </a:t>
            </a:r>
            <a:r>
              <a:rPr lang="es-ES" sz="3200" b="1" dirty="0">
                <a:latin typeface="Atkinson Hyperlegible"/>
              </a:rPr>
              <a:t>fibra, nodos, enlaces y equipos ópticos</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Sobre esa infraestructura se pueden crear </a:t>
            </a:r>
            <a:r>
              <a:rPr lang="es-ES" sz="3200" b="1" dirty="0">
                <a:latin typeface="Atkinson Hyperlegible"/>
              </a:rPr>
              <a:t>redes lógicas</a:t>
            </a:r>
            <a:r>
              <a:rPr lang="es-ES" sz="3200" dirty="0">
                <a:latin typeface="Atkinson Hyperlegible"/>
              </a:rPr>
              <a:t> o servicios independientes. </a:t>
            </a:r>
          </a:p>
          <a:p>
            <a:pPr marL="457200" indent="-457200">
              <a:buFont typeface="Arial" panose="020B0604020202020204" pitchFamily="34" charset="0"/>
              <a:buChar char="•"/>
            </a:pPr>
            <a:r>
              <a:rPr lang="es-ES" sz="3200" dirty="0">
                <a:latin typeface="Atkinson Hyperlegible"/>
              </a:rPr>
              <a:t>Una red </a:t>
            </a:r>
            <a:r>
              <a:rPr lang="es-ES" sz="3200" dirty="0" err="1">
                <a:latin typeface="Atkinson Hyperlegible"/>
              </a:rPr>
              <a:t>overlay</a:t>
            </a:r>
            <a:r>
              <a:rPr lang="es-ES" sz="3200" dirty="0">
                <a:latin typeface="Atkinson Hyperlegible"/>
              </a:rPr>
              <a:t> puede abstraer la red física para simplificar operación y provisión de servicios. </a:t>
            </a:r>
          </a:p>
          <a:p>
            <a:pPr marL="457200" indent="-457200">
              <a:buFont typeface="Arial" panose="020B0604020202020204" pitchFamily="34" charset="0"/>
              <a:buChar char="•"/>
            </a:pPr>
            <a:r>
              <a:rPr lang="es-ES" sz="3200" dirty="0">
                <a:latin typeface="Atkinson Hyperlegible"/>
              </a:rPr>
              <a:t>Permite separar tráfico, clientes o servicios sin construir una red física nueva. </a:t>
            </a:r>
          </a:p>
          <a:p>
            <a:pPr marL="457200" indent="-457200">
              <a:buFont typeface="Arial" panose="020B0604020202020204" pitchFamily="34" charset="0"/>
              <a:buChar char="•"/>
            </a:pPr>
            <a:r>
              <a:rPr lang="es-ES" sz="3200" dirty="0">
                <a:latin typeface="Atkinson Hyperlegible"/>
              </a:rPr>
              <a:t>Se relaciona con redes multicapa, </a:t>
            </a:r>
            <a:r>
              <a:rPr lang="es-ES" sz="3200" dirty="0" err="1">
                <a:latin typeface="Atkinson Hyperlegible"/>
              </a:rPr>
              <a:t>OTN</a:t>
            </a:r>
            <a:r>
              <a:rPr lang="es-ES" sz="3200" dirty="0">
                <a:latin typeface="Atkinson Hyperlegible"/>
              </a:rPr>
              <a:t>, WDM y servicios sobre IP/Ethernet. </a:t>
            </a:r>
          </a:p>
          <a:p>
            <a:pPr marL="457200" indent="-457200">
              <a:buFont typeface="Arial" panose="020B0604020202020204" pitchFamily="34" charset="0"/>
              <a:buChar char="•"/>
            </a:pPr>
            <a:r>
              <a:rPr lang="es-ES" sz="3200" dirty="0">
                <a:latin typeface="Atkinson Hyperlegible"/>
              </a:rPr>
              <a:t>La capa física sigue siendo crítica: si falla un enlace físico, puede afectar varias redes </a:t>
            </a:r>
            <a:r>
              <a:rPr lang="es-ES" sz="3200" dirty="0" err="1">
                <a:latin typeface="Atkinson Hyperlegible"/>
              </a:rPr>
              <a:t>overlay</a:t>
            </a:r>
            <a:r>
              <a:rPr lang="es-ES" sz="3200" dirty="0">
                <a:latin typeface="Atkinson Hyperlegible"/>
              </a:rPr>
              <a:t>.</a:t>
            </a:r>
          </a:p>
        </p:txBody>
      </p:sp>
    </p:spTree>
    <p:extLst>
      <p:ext uri="{BB962C8B-B14F-4D97-AF65-F5344CB8AC3E}">
        <p14:creationId xmlns:p14="http://schemas.microsoft.com/office/powerpoint/2010/main" val="2188975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9B2972C-19D1-5EEC-2FD8-165DE0B66AC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EC9D50EC-4649-E6BC-DF34-55DF23ED1D9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AEA4B12-7DD0-1C13-C38C-6F2E462C2B8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95498FAA-A10A-285B-7964-44E7E55C97A8}"/>
              </a:ext>
            </a:extLst>
          </p:cNvPr>
          <p:cNvSpPr txBox="1"/>
          <p:nvPr/>
        </p:nvSpPr>
        <p:spPr>
          <a:xfrm>
            <a:off x="1382156" y="940146"/>
            <a:ext cx="17055745" cy="707886"/>
          </a:xfrm>
          <a:prstGeom prst="rect">
            <a:avLst/>
          </a:prstGeom>
          <a:noFill/>
        </p:spPr>
        <p:txBody>
          <a:bodyPr wrap="square">
            <a:spAutoFit/>
          </a:bodyPr>
          <a:lstStyle/>
          <a:p>
            <a:r>
              <a:rPr lang="es-CL" sz="4000" dirty="0">
                <a:latin typeface="Atkinson Hyperlegible"/>
              </a:rPr>
              <a:t>Redes </a:t>
            </a:r>
            <a:r>
              <a:rPr lang="es-CL" sz="4000" dirty="0" err="1">
                <a:latin typeface="Atkinson Hyperlegible"/>
              </a:rPr>
              <a:t>overlay</a:t>
            </a:r>
            <a:r>
              <a:rPr lang="es-CL" sz="4000" dirty="0">
                <a:latin typeface="Atkinson Hyperlegible"/>
              </a:rPr>
              <a:t> en redes ópticas</a:t>
            </a:r>
            <a:endParaRPr lang="es-CL" sz="4000" noProof="0" dirty="0">
              <a:latin typeface="Atkinson Hyperlegible"/>
            </a:endParaRPr>
          </a:p>
        </p:txBody>
      </p:sp>
      <p:pic>
        <p:nvPicPr>
          <p:cNvPr id="8" name="Imagen 7">
            <a:extLst>
              <a:ext uri="{FF2B5EF4-FFF2-40B4-BE49-F238E27FC236}">
                <a16:creationId xmlns:a16="http://schemas.microsoft.com/office/drawing/2014/main" id="{B667110A-2B47-68F8-D2A6-0F4BAF20A063}"/>
              </a:ext>
            </a:extLst>
          </p:cNvPr>
          <p:cNvPicPr>
            <a:picLocks noChangeAspect="1"/>
          </p:cNvPicPr>
          <p:nvPr/>
        </p:nvPicPr>
        <p:blipFill>
          <a:blip r:embed="rId4"/>
          <a:stretch>
            <a:fillRect/>
          </a:stretch>
        </p:blipFill>
        <p:spPr>
          <a:xfrm>
            <a:off x="-1" y="985805"/>
            <a:ext cx="20104097" cy="9753600"/>
          </a:xfrm>
          <a:prstGeom prst="rect">
            <a:avLst/>
          </a:prstGeom>
        </p:spPr>
      </p:pic>
    </p:spTree>
    <p:extLst>
      <p:ext uri="{BB962C8B-B14F-4D97-AF65-F5344CB8AC3E}">
        <p14:creationId xmlns:p14="http://schemas.microsoft.com/office/powerpoint/2010/main" val="4097547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08EAD2A-EA5B-631C-DA05-9287295EDB0F}"/>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E8A4DBE-6AD3-42AD-860E-35AD0344707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DA51C50-A2A6-D0FD-8535-6C1145E9C737}"/>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B24E6F10-0D6A-4DD4-9C7A-8A7080FD8A0D}"/>
              </a:ext>
            </a:extLst>
          </p:cNvPr>
          <p:cNvSpPr txBox="1"/>
          <p:nvPr/>
        </p:nvSpPr>
        <p:spPr>
          <a:xfrm>
            <a:off x="1382156" y="940146"/>
            <a:ext cx="17055745" cy="707886"/>
          </a:xfrm>
          <a:prstGeom prst="rect">
            <a:avLst/>
          </a:prstGeom>
          <a:noFill/>
        </p:spPr>
        <p:txBody>
          <a:bodyPr wrap="square">
            <a:spAutoFit/>
          </a:bodyPr>
          <a:lstStyle/>
          <a:p>
            <a:r>
              <a:rPr lang="es-ES" sz="4000" dirty="0"/>
              <a:t>¿Por qué se degrada la señal óptica?</a:t>
            </a:r>
            <a:endParaRPr lang="es-CL" sz="4000" noProof="0" dirty="0">
              <a:latin typeface="Atkinson Hyperlegible"/>
            </a:endParaRPr>
          </a:p>
        </p:txBody>
      </p:sp>
      <p:sp>
        <p:nvSpPr>
          <p:cNvPr id="5" name="5 Rectángulo">
            <a:extLst>
              <a:ext uri="{FF2B5EF4-FFF2-40B4-BE49-F238E27FC236}">
                <a16:creationId xmlns:a16="http://schemas.microsoft.com/office/drawing/2014/main" id="{AE2BA496-DAE0-FEDE-3933-203B43CA3681}"/>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r>
              <a:rPr lang="es-ES" sz="3200" dirty="0"/>
              <a:t>A medida que una señal óptica se propaga por la red, puede perder potencia, deformarse o acumular efectos que reducen la calidad del enlace.</a:t>
            </a:r>
          </a:p>
        </p:txBody>
      </p:sp>
      <p:sp>
        <p:nvSpPr>
          <p:cNvPr id="6" name="5 Rectángulo">
            <a:extLst>
              <a:ext uri="{FF2B5EF4-FFF2-40B4-BE49-F238E27FC236}">
                <a16:creationId xmlns:a16="http://schemas.microsoft.com/office/drawing/2014/main" id="{01D482EB-03B9-402B-22A0-2931FB3060CB}"/>
              </a:ext>
            </a:extLst>
          </p:cNvPr>
          <p:cNvSpPr/>
          <p:nvPr/>
        </p:nvSpPr>
        <p:spPr>
          <a:xfrm>
            <a:off x="1221683" y="3598875"/>
            <a:ext cx="17381110" cy="3539430"/>
          </a:xfrm>
          <a:prstGeom prst="rect">
            <a:avLst/>
          </a:prstGeom>
          <a:noFill/>
          <a:effectLst/>
        </p:spPr>
        <p:txBody>
          <a:bodyPr wrap="square" lIns="91440" tIns="45720" rIns="91440" bIns="45720" anchor="t">
            <a:spAutoFit/>
          </a:bodyPr>
          <a:lstStyle/>
          <a:p>
            <a:r>
              <a:rPr lang="es-ES" sz="3200" b="1" dirty="0">
                <a:latin typeface="Atkinson Hyperlegible"/>
              </a:rPr>
              <a:t>Causas principales de degradación</a:t>
            </a:r>
          </a:p>
          <a:p>
            <a:pPr marL="457200" indent="-457200">
              <a:buFont typeface="Arial" panose="020B0604020202020204" pitchFamily="34" charset="0"/>
              <a:buChar char="•"/>
            </a:pPr>
            <a:r>
              <a:rPr lang="es-ES" sz="3200" b="1" dirty="0">
                <a:latin typeface="Atkinson Hyperlegible"/>
              </a:rPr>
              <a:t>Atenuación:</a:t>
            </a:r>
            <a:r>
              <a:rPr lang="es-ES" sz="3200" dirty="0">
                <a:latin typeface="Atkinson Hyperlegible"/>
              </a:rPr>
              <a:t> pérdida de potencia óptica con la distancia. </a:t>
            </a:r>
          </a:p>
          <a:p>
            <a:pPr marL="457200" indent="-457200">
              <a:buFont typeface="Arial" panose="020B0604020202020204" pitchFamily="34" charset="0"/>
              <a:buChar char="•"/>
            </a:pPr>
            <a:r>
              <a:rPr lang="es-ES" sz="3200" b="1" dirty="0">
                <a:latin typeface="Atkinson Hyperlegible"/>
              </a:rPr>
              <a:t>Dispersión:</a:t>
            </a:r>
            <a:r>
              <a:rPr lang="es-ES" sz="3200" dirty="0">
                <a:latin typeface="Atkinson Hyperlegible"/>
              </a:rPr>
              <a:t> ensanchamiento del pulso óptico en el tiempo. </a:t>
            </a:r>
          </a:p>
          <a:p>
            <a:pPr marL="457200" indent="-457200">
              <a:buFont typeface="Arial" panose="020B0604020202020204" pitchFamily="34" charset="0"/>
              <a:buChar char="•"/>
            </a:pPr>
            <a:r>
              <a:rPr lang="es-ES" sz="3200" b="1" dirty="0">
                <a:latin typeface="Atkinson Hyperlegible"/>
              </a:rPr>
              <a:t>Pérdidas por conectores y empalmes:</a:t>
            </a:r>
            <a:r>
              <a:rPr lang="es-ES" sz="3200" dirty="0">
                <a:latin typeface="Atkinson Hyperlegible"/>
              </a:rPr>
              <a:t> reducen el presupuesto óptico disponible. </a:t>
            </a:r>
          </a:p>
          <a:p>
            <a:pPr marL="457200" indent="-457200">
              <a:buFont typeface="Arial" panose="020B0604020202020204" pitchFamily="34" charset="0"/>
              <a:buChar char="•"/>
            </a:pPr>
            <a:r>
              <a:rPr lang="es-ES" sz="3200" b="1" dirty="0">
                <a:latin typeface="Atkinson Hyperlegible"/>
              </a:rPr>
              <a:t>Curvaturas excesivas:</a:t>
            </a:r>
            <a:r>
              <a:rPr lang="es-ES" sz="3200" dirty="0">
                <a:latin typeface="Atkinson Hyperlegible"/>
              </a:rPr>
              <a:t> provocan pérdidas por </a:t>
            </a:r>
            <a:r>
              <a:rPr lang="es-ES" sz="3200" dirty="0" err="1">
                <a:latin typeface="Atkinson Hyperlegible"/>
              </a:rPr>
              <a:t>macrocurvatura</a:t>
            </a:r>
            <a:r>
              <a:rPr lang="es-ES" sz="3200" dirty="0">
                <a:latin typeface="Atkinson Hyperlegible"/>
              </a:rPr>
              <a:t> o </a:t>
            </a:r>
            <a:r>
              <a:rPr lang="es-ES" sz="3200" dirty="0" err="1">
                <a:latin typeface="Atkinson Hyperlegible"/>
              </a:rPr>
              <a:t>microcurvatura</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Ruido óptico:</a:t>
            </a:r>
            <a:r>
              <a:rPr lang="es-ES" sz="3200" dirty="0">
                <a:latin typeface="Atkinson Hyperlegible"/>
              </a:rPr>
              <a:t> puede aparecer por amplificación o degradación acumulada. </a:t>
            </a:r>
          </a:p>
          <a:p>
            <a:pPr marL="457200" indent="-457200">
              <a:buFont typeface="Arial" panose="020B0604020202020204" pitchFamily="34" charset="0"/>
              <a:buChar char="•"/>
            </a:pPr>
            <a:r>
              <a:rPr lang="es-ES" sz="3200" b="1" dirty="0">
                <a:latin typeface="Atkinson Hyperlegible"/>
              </a:rPr>
              <a:t>No linealidades:</a:t>
            </a:r>
            <a:r>
              <a:rPr lang="es-ES" sz="3200" dirty="0">
                <a:latin typeface="Atkinson Hyperlegible"/>
              </a:rPr>
              <a:t> pueden afectar enlaces de alta potencia o sistemas WDM de alta capacidad</a:t>
            </a:r>
            <a:r>
              <a:rPr lang="es-ES" sz="3200" dirty="0"/>
              <a:t>.</a:t>
            </a:r>
          </a:p>
        </p:txBody>
      </p:sp>
      <p:sp>
        <p:nvSpPr>
          <p:cNvPr id="2" name="CuadroTexto 1">
            <a:extLst>
              <a:ext uri="{FF2B5EF4-FFF2-40B4-BE49-F238E27FC236}">
                <a16:creationId xmlns:a16="http://schemas.microsoft.com/office/drawing/2014/main" id="{9190EE3B-ED05-58C7-6AEE-AECF6B37D1BC}"/>
              </a:ext>
            </a:extLst>
          </p:cNvPr>
          <p:cNvSpPr txBox="1"/>
          <p:nvPr/>
        </p:nvSpPr>
        <p:spPr>
          <a:xfrm>
            <a:off x="9910029" y="8349616"/>
            <a:ext cx="1019407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dirty="0">
                <a:latin typeface="Atkinson Hyperlegible"/>
              </a:rPr>
              <a:t>La señal óptica debe llegar con potencia suficiente y forma adecuada para que el receptor la interprete correctamente.</a:t>
            </a:r>
            <a:endParaRPr lang="es-CL" sz="2400" b="0" dirty="0">
              <a:latin typeface="Atkinson Hyperlegible"/>
            </a:endParaRPr>
          </a:p>
        </p:txBody>
      </p:sp>
    </p:spTree>
    <p:extLst>
      <p:ext uri="{BB962C8B-B14F-4D97-AF65-F5344CB8AC3E}">
        <p14:creationId xmlns:p14="http://schemas.microsoft.com/office/powerpoint/2010/main" val="69375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17BC85A-1AD9-25EE-A61B-D26ABA2DFFF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6C534C3F-8BD1-2CE0-3C91-D7B1F9987F8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3E33377-F629-FD7C-7958-E36A204FCF4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EFBDF88-3D87-5F71-4528-D4D53DE03F28}"/>
              </a:ext>
            </a:extLst>
          </p:cNvPr>
          <p:cNvSpPr txBox="1"/>
          <p:nvPr/>
        </p:nvSpPr>
        <p:spPr>
          <a:xfrm>
            <a:off x="1382156" y="940146"/>
            <a:ext cx="17055745" cy="707886"/>
          </a:xfrm>
          <a:prstGeom prst="rect">
            <a:avLst/>
          </a:prstGeom>
          <a:noFill/>
        </p:spPr>
        <p:txBody>
          <a:bodyPr wrap="square">
            <a:spAutoFit/>
          </a:bodyPr>
          <a:lstStyle/>
          <a:p>
            <a:r>
              <a:rPr lang="es-CL" sz="4000" dirty="0">
                <a:latin typeface="Atkinson Hyperlegible"/>
              </a:rPr>
              <a:t>Regeneración de señales ópticas</a:t>
            </a:r>
            <a:endParaRPr lang="es-CL" sz="4000" noProof="0" dirty="0">
              <a:latin typeface="Atkinson Hyperlegible"/>
            </a:endParaRPr>
          </a:p>
        </p:txBody>
      </p:sp>
      <p:sp>
        <p:nvSpPr>
          <p:cNvPr id="5" name="5 Rectángulo">
            <a:extLst>
              <a:ext uri="{FF2B5EF4-FFF2-40B4-BE49-F238E27FC236}">
                <a16:creationId xmlns:a16="http://schemas.microsoft.com/office/drawing/2014/main" id="{A0AD2D8B-6625-94AC-B0CE-485F2FEE3F54}"/>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r>
              <a:rPr lang="es-ES" sz="3200" dirty="0">
                <a:latin typeface="Atkinson Hyperlegible"/>
              </a:rPr>
              <a:t>La </a:t>
            </a:r>
            <a:r>
              <a:rPr lang="es-ES" sz="3200" b="1" dirty="0">
                <a:latin typeface="Atkinson Hyperlegible"/>
              </a:rPr>
              <a:t>regeneración</a:t>
            </a:r>
            <a:r>
              <a:rPr lang="es-ES" sz="3200" dirty="0">
                <a:latin typeface="Atkinson Hyperlegible"/>
              </a:rPr>
              <a:t> permite recuperar una señal óptica degradada para extender el alcance y mantener la calidad del servicio.</a:t>
            </a:r>
          </a:p>
        </p:txBody>
      </p:sp>
      <p:sp>
        <p:nvSpPr>
          <p:cNvPr id="6" name="5 Rectángulo">
            <a:extLst>
              <a:ext uri="{FF2B5EF4-FFF2-40B4-BE49-F238E27FC236}">
                <a16:creationId xmlns:a16="http://schemas.microsoft.com/office/drawing/2014/main" id="{FFB5FC7A-52BC-3C1C-3869-26AC1D863A45}"/>
              </a:ext>
            </a:extLst>
          </p:cNvPr>
          <p:cNvSpPr/>
          <p:nvPr/>
        </p:nvSpPr>
        <p:spPr>
          <a:xfrm>
            <a:off x="1382156" y="2959734"/>
            <a:ext cx="17381110" cy="3046988"/>
          </a:xfrm>
          <a:prstGeom prst="rect">
            <a:avLst/>
          </a:prstGeom>
          <a:noFill/>
          <a:effectLst/>
        </p:spPr>
        <p:txBody>
          <a:bodyPr wrap="square" lIns="91440" tIns="45720" rIns="91440" bIns="45720" anchor="t">
            <a:spAutoFit/>
          </a:bodyPr>
          <a:lstStyle/>
          <a:p>
            <a:r>
              <a:rPr lang="es-ES" sz="3200" b="1" dirty="0">
                <a:latin typeface="Atkinson Hyperlegible"/>
              </a:rPr>
              <a:t>¿Por qué se requiere regeneración?</a:t>
            </a:r>
          </a:p>
          <a:p>
            <a:pPr marL="457200" indent="-457200">
              <a:buFont typeface="Arial" panose="020B0604020202020204" pitchFamily="34" charset="0"/>
              <a:buChar char="•"/>
            </a:pPr>
            <a:r>
              <a:rPr lang="es-ES" sz="3200" dirty="0">
                <a:latin typeface="Atkinson Hyperlegible"/>
              </a:rPr>
              <a:t>La señal pierde potencia por </a:t>
            </a:r>
            <a:r>
              <a:rPr lang="es-ES" sz="3200" b="1" dirty="0">
                <a:latin typeface="Atkinson Hyperlegible"/>
              </a:rPr>
              <a:t>atenuación</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Los pulsos pueden deformarse por </a:t>
            </a:r>
            <a:r>
              <a:rPr lang="es-ES" sz="3200" b="1" dirty="0">
                <a:latin typeface="Atkinson Hyperlegible"/>
              </a:rPr>
              <a:t>dispersión</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El ruido puede acumularse en enlaces de larga distancia. </a:t>
            </a:r>
          </a:p>
          <a:p>
            <a:pPr marL="457200" indent="-457200">
              <a:buFont typeface="Arial" panose="020B0604020202020204" pitchFamily="34" charset="0"/>
              <a:buChar char="•"/>
            </a:pPr>
            <a:r>
              <a:rPr lang="es-ES" sz="3200" dirty="0">
                <a:latin typeface="Atkinson Hyperlegible"/>
              </a:rPr>
              <a:t>Los conectores, empalmes y equipos agregan pérdidas. </a:t>
            </a:r>
          </a:p>
          <a:p>
            <a:pPr marL="457200" indent="-457200">
              <a:buFont typeface="Arial" panose="020B0604020202020204" pitchFamily="34" charset="0"/>
              <a:buChar char="•"/>
            </a:pPr>
            <a:r>
              <a:rPr lang="es-ES" sz="3200" dirty="0">
                <a:latin typeface="Atkinson Hyperlegible"/>
              </a:rPr>
              <a:t>En redes de transporte, se requiere mantener niveles aceptables de desempeño</a:t>
            </a:r>
            <a:r>
              <a:rPr lang="es-ES" sz="3200" dirty="0"/>
              <a:t>.</a:t>
            </a:r>
          </a:p>
        </p:txBody>
      </p:sp>
      <p:sp>
        <p:nvSpPr>
          <p:cNvPr id="2" name="CuadroTexto 1">
            <a:extLst>
              <a:ext uri="{FF2B5EF4-FFF2-40B4-BE49-F238E27FC236}">
                <a16:creationId xmlns:a16="http://schemas.microsoft.com/office/drawing/2014/main" id="{7E0D7775-E936-540A-BE3B-53E5B4867EB7}"/>
              </a:ext>
            </a:extLst>
          </p:cNvPr>
          <p:cNvSpPr txBox="1"/>
          <p:nvPr/>
        </p:nvSpPr>
        <p:spPr>
          <a:xfrm>
            <a:off x="9910029" y="8349616"/>
            <a:ext cx="10194071"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dirty="0">
                <a:latin typeface="Atkinson Hyperlegible"/>
              </a:rPr>
              <a:t>Amplificar aumenta potencia; regenerar busca recuperar calidad de señal.</a:t>
            </a:r>
            <a:endParaRPr lang="es-CL" sz="2400" b="0" dirty="0">
              <a:latin typeface="Atkinson Hyperlegible"/>
            </a:endParaRPr>
          </a:p>
        </p:txBody>
      </p:sp>
      <p:graphicFrame>
        <p:nvGraphicFramePr>
          <p:cNvPr id="3" name="Tabla 2">
            <a:extLst>
              <a:ext uri="{FF2B5EF4-FFF2-40B4-BE49-F238E27FC236}">
                <a16:creationId xmlns:a16="http://schemas.microsoft.com/office/drawing/2014/main" id="{45E5F5C1-6EFE-C6B3-510D-71E80295E705}"/>
              </a:ext>
            </a:extLst>
          </p:cNvPr>
          <p:cNvGraphicFramePr>
            <a:graphicFrameLocks noGrp="1"/>
          </p:cNvGraphicFramePr>
          <p:nvPr>
            <p:extLst>
              <p:ext uri="{D42A27DB-BD31-4B8C-83A1-F6EECF244321}">
                <p14:modId xmlns:p14="http://schemas.microsoft.com/office/powerpoint/2010/main" val="2080351567"/>
              </p:ext>
            </p:extLst>
          </p:nvPr>
        </p:nvGraphicFramePr>
        <p:xfrm>
          <a:off x="1424592" y="6004637"/>
          <a:ext cx="17338674" cy="2072640"/>
        </p:xfrm>
        <a:graphic>
          <a:graphicData uri="http://schemas.openxmlformats.org/drawingml/2006/table">
            <a:tbl>
              <a:tblPr firstRow="1" firstCol="1">
                <a:tableStyleId>{793D81CF-94F2-401A-BA57-92F5A7B2D0C5}</a:tableStyleId>
              </a:tblPr>
              <a:tblGrid>
                <a:gridCol w="5779558">
                  <a:extLst>
                    <a:ext uri="{9D8B030D-6E8A-4147-A177-3AD203B41FA5}">
                      <a16:colId xmlns:a16="http://schemas.microsoft.com/office/drawing/2014/main" val="3639489212"/>
                    </a:ext>
                  </a:extLst>
                </a:gridCol>
                <a:gridCol w="5779558">
                  <a:extLst>
                    <a:ext uri="{9D8B030D-6E8A-4147-A177-3AD203B41FA5}">
                      <a16:colId xmlns:a16="http://schemas.microsoft.com/office/drawing/2014/main" val="2779575933"/>
                    </a:ext>
                  </a:extLst>
                </a:gridCol>
                <a:gridCol w="5779558">
                  <a:extLst>
                    <a:ext uri="{9D8B030D-6E8A-4147-A177-3AD203B41FA5}">
                      <a16:colId xmlns:a16="http://schemas.microsoft.com/office/drawing/2014/main" val="2787733933"/>
                    </a:ext>
                  </a:extLst>
                </a:gridCol>
              </a:tblGrid>
              <a:tr h="0">
                <a:tc>
                  <a:txBody>
                    <a:bodyPr/>
                    <a:lstStyle/>
                    <a:p>
                      <a:pPr>
                        <a:buNone/>
                      </a:pPr>
                      <a:r>
                        <a:rPr lang="es-CL" sz="2800"/>
                        <a:t>Tipo</a:t>
                      </a:r>
                      <a:endParaRPr lang="es-CL" sz="2800">
                        <a:latin typeface="Atkinson Hyperlegible"/>
                      </a:endParaRPr>
                    </a:p>
                  </a:txBody>
                  <a:tcPr anchor="ctr"/>
                </a:tc>
                <a:tc>
                  <a:txBody>
                    <a:bodyPr/>
                    <a:lstStyle/>
                    <a:p>
                      <a:pPr>
                        <a:buNone/>
                      </a:pPr>
                      <a:r>
                        <a:rPr lang="es-CL" sz="2800"/>
                        <a:t>Qué hace</a:t>
                      </a:r>
                      <a:endParaRPr lang="es-CL" sz="2800">
                        <a:latin typeface="Atkinson Hyperlegible"/>
                      </a:endParaRPr>
                    </a:p>
                  </a:txBody>
                  <a:tcPr anchor="ctr"/>
                </a:tc>
                <a:tc>
                  <a:txBody>
                    <a:bodyPr/>
                    <a:lstStyle/>
                    <a:p>
                      <a:pPr>
                        <a:buNone/>
                      </a:pPr>
                      <a:r>
                        <a:rPr lang="es-CL" sz="2800"/>
                        <a:t>Propósito</a:t>
                      </a:r>
                      <a:endParaRPr lang="es-CL" sz="2800">
                        <a:latin typeface="Atkinson Hyperlegible"/>
                      </a:endParaRPr>
                    </a:p>
                  </a:txBody>
                  <a:tcPr anchor="ctr"/>
                </a:tc>
                <a:extLst>
                  <a:ext uri="{0D108BD9-81ED-4DB2-BD59-A6C34878D82A}">
                    <a16:rowId xmlns:a16="http://schemas.microsoft.com/office/drawing/2014/main" val="2359177880"/>
                  </a:ext>
                </a:extLst>
              </a:tr>
              <a:tr h="0">
                <a:tc>
                  <a:txBody>
                    <a:bodyPr/>
                    <a:lstStyle/>
                    <a:p>
                      <a:pPr>
                        <a:buNone/>
                      </a:pPr>
                      <a:r>
                        <a:rPr lang="es-CL" sz="2800" b="1"/>
                        <a:t>Amplificación</a:t>
                      </a:r>
                      <a:endParaRPr lang="es-CL" sz="2800">
                        <a:latin typeface="Atkinson Hyperlegible"/>
                      </a:endParaRPr>
                    </a:p>
                  </a:txBody>
                  <a:tcPr anchor="ctr"/>
                </a:tc>
                <a:tc>
                  <a:txBody>
                    <a:bodyPr/>
                    <a:lstStyle/>
                    <a:p>
                      <a:pPr>
                        <a:buNone/>
                      </a:pPr>
                      <a:r>
                        <a:rPr lang="es-CL" sz="2800"/>
                        <a:t>Aumenta potencia óptica</a:t>
                      </a:r>
                      <a:endParaRPr lang="es-CL" sz="2800">
                        <a:latin typeface="Atkinson Hyperlegible"/>
                      </a:endParaRPr>
                    </a:p>
                  </a:txBody>
                  <a:tcPr anchor="ctr"/>
                </a:tc>
                <a:tc>
                  <a:txBody>
                    <a:bodyPr/>
                    <a:lstStyle/>
                    <a:p>
                      <a:pPr>
                        <a:buNone/>
                      </a:pPr>
                      <a:r>
                        <a:rPr lang="es-CL" sz="2800"/>
                        <a:t>Compensa atenuación</a:t>
                      </a:r>
                      <a:endParaRPr lang="es-CL" sz="2800">
                        <a:latin typeface="Atkinson Hyperlegible"/>
                      </a:endParaRPr>
                    </a:p>
                  </a:txBody>
                  <a:tcPr anchor="ctr"/>
                </a:tc>
                <a:extLst>
                  <a:ext uri="{0D108BD9-81ED-4DB2-BD59-A6C34878D82A}">
                    <a16:rowId xmlns:a16="http://schemas.microsoft.com/office/drawing/2014/main" val="133157088"/>
                  </a:ext>
                </a:extLst>
              </a:tr>
              <a:tr h="0">
                <a:tc>
                  <a:txBody>
                    <a:bodyPr/>
                    <a:lstStyle/>
                    <a:p>
                      <a:pPr>
                        <a:buNone/>
                      </a:pPr>
                      <a:r>
                        <a:rPr lang="es-CL" sz="2800" b="1"/>
                        <a:t>Regeneración</a:t>
                      </a:r>
                      <a:endParaRPr lang="es-CL" sz="2800">
                        <a:latin typeface="Atkinson Hyperlegible"/>
                      </a:endParaRPr>
                    </a:p>
                  </a:txBody>
                  <a:tcPr anchor="ctr"/>
                </a:tc>
                <a:tc>
                  <a:txBody>
                    <a:bodyPr/>
                    <a:lstStyle/>
                    <a:p>
                      <a:pPr>
                        <a:buNone/>
                      </a:pPr>
                      <a:r>
                        <a:rPr lang="es-ES" sz="2800"/>
                        <a:t>Recupera forma/calidad de la señal</a:t>
                      </a:r>
                      <a:endParaRPr lang="es-ES" sz="2800">
                        <a:latin typeface="Atkinson Hyperlegible"/>
                      </a:endParaRPr>
                    </a:p>
                  </a:txBody>
                  <a:tcPr anchor="ctr"/>
                </a:tc>
                <a:tc>
                  <a:txBody>
                    <a:bodyPr/>
                    <a:lstStyle/>
                    <a:p>
                      <a:pPr>
                        <a:buNone/>
                      </a:pPr>
                      <a:r>
                        <a:rPr lang="es-CL" sz="2800"/>
                        <a:t>Reduce degradación acumulada</a:t>
                      </a:r>
                      <a:endParaRPr lang="es-CL" sz="2800">
                        <a:latin typeface="Atkinson Hyperlegible"/>
                      </a:endParaRPr>
                    </a:p>
                  </a:txBody>
                  <a:tcPr anchor="ctr"/>
                </a:tc>
                <a:extLst>
                  <a:ext uri="{0D108BD9-81ED-4DB2-BD59-A6C34878D82A}">
                    <a16:rowId xmlns:a16="http://schemas.microsoft.com/office/drawing/2014/main" val="2548550643"/>
                  </a:ext>
                </a:extLst>
              </a:tr>
              <a:tr h="0">
                <a:tc>
                  <a:txBody>
                    <a:bodyPr/>
                    <a:lstStyle/>
                    <a:p>
                      <a:pPr>
                        <a:buNone/>
                      </a:pPr>
                      <a:r>
                        <a:rPr lang="es-CL" sz="2800" b="1"/>
                        <a:t>Conversión O/E/O</a:t>
                      </a:r>
                      <a:endParaRPr lang="es-CL" sz="2800">
                        <a:latin typeface="Atkinson Hyperlegible"/>
                      </a:endParaRPr>
                    </a:p>
                  </a:txBody>
                  <a:tcPr anchor="ctr"/>
                </a:tc>
                <a:tc>
                  <a:txBody>
                    <a:bodyPr/>
                    <a:lstStyle/>
                    <a:p>
                      <a:pPr>
                        <a:buNone/>
                      </a:pPr>
                      <a:r>
                        <a:rPr lang="es-CL" sz="2800"/>
                        <a:t>Óptico → eléctrico → óptico</a:t>
                      </a:r>
                      <a:endParaRPr lang="es-CL" sz="2800">
                        <a:latin typeface="Atkinson Hyperlegible"/>
                      </a:endParaRPr>
                    </a:p>
                  </a:txBody>
                  <a:tcPr anchor="ctr"/>
                </a:tc>
                <a:tc>
                  <a:txBody>
                    <a:bodyPr/>
                    <a:lstStyle/>
                    <a:p>
                      <a:pPr>
                        <a:buNone/>
                      </a:pPr>
                      <a:r>
                        <a:rPr lang="es-CL" sz="2800" dirty="0"/>
                        <a:t>Permite reconstrucción completa</a:t>
                      </a:r>
                      <a:endParaRPr lang="es-CL" sz="2800" dirty="0">
                        <a:latin typeface="Atkinson Hyperlegible"/>
                      </a:endParaRPr>
                    </a:p>
                  </a:txBody>
                  <a:tcPr anchor="ctr"/>
                </a:tc>
                <a:extLst>
                  <a:ext uri="{0D108BD9-81ED-4DB2-BD59-A6C34878D82A}">
                    <a16:rowId xmlns:a16="http://schemas.microsoft.com/office/drawing/2014/main" val="2528287016"/>
                  </a:ext>
                </a:extLst>
              </a:tr>
            </a:tbl>
          </a:graphicData>
        </a:graphic>
      </p:graphicFrame>
    </p:spTree>
    <p:extLst>
      <p:ext uri="{BB962C8B-B14F-4D97-AF65-F5344CB8AC3E}">
        <p14:creationId xmlns:p14="http://schemas.microsoft.com/office/powerpoint/2010/main" val="347808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EBBC113-31CC-151B-E2CD-F6486E1161C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0E6760B-91EE-0E3D-39D2-C7D4543BBF6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AC6608C0-7F84-CA9F-F3C4-73C69F44082E}"/>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A1C87169-ABF4-B395-8580-20A3C70E8F63}"/>
              </a:ext>
            </a:extLst>
          </p:cNvPr>
          <p:cNvSpPr txBox="1"/>
          <p:nvPr/>
        </p:nvSpPr>
        <p:spPr>
          <a:xfrm>
            <a:off x="1382156" y="940146"/>
            <a:ext cx="17055745" cy="707886"/>
          </a:xfrm>
          <a:prstGeom prst="rect">
            <a:avLst/>
          </a:prstGeom>
          <a:noFill/>
        </p:spPr>
        <p:txBody>
          <a:bodyPr wrap="square">
            <a:spAutoFit/>
          </a:bodyPr>
          <a:lstStyle/>
          <a:p>
            <a:r>
              <a:rPr lang="es-ES" sz="4000" dirty="0"/>
              <a:t>Regeneración </a:t>
            </a:r>
            <a:r>
              <a:rPr lang="es-ES" sz="4000" dirty="0" err="1"/>
              <a:t>3R</a:t>
            </a:r>
            <a:r>
              <a:rPr lang="es-ES" sz="4000" dirty="0"/>
              <a:t>: </a:t>
            </a:r>
            <a:r>
              <a:rPr lang="es-ES" sz="4000" dirty="0" err="1"/>
              <a:t>reamplificación</a:t>
            </a:r>
            <a:r>
              <a:rPr lang="es-ES" sz="4000" dirty="0"/>
              <a:t>, </a:t>
            </a:r>
            <a:r>
              <a:rPr lang="es-ES" sz="4000" dirty="0" err="1"/>
              <a:t>reshaping</a:t>
            </a:r>
            <a:r>
              <a:rPr lang="es-ES" sz="4000" dirty="0"/>
              <a:t> y </a:t>
            </a:r>
            <a:r>
              <a:rPr lang="es-ES" sz="4000" dirty="0" err="1"/>
              <a:t>retiming</a:t>
            </a:r>
            <a:endParaRPr lang="es-CL" sz="4000" noProof="0" dirty="0">
              <a:latin typeface="Atkinson Hyperlegible"/>
            </a:endParaRPr>
          </a:p>
        </p:txBody>
      </p:sp>
      <p:sp>
        <p:nvSpPr>
          <p:cNvPr id="5" name="5 Rectángulo">
            <a:extLst>
              <a:ext uri="{FF2B5EF4-FFF2-40B4-BE49-F238E27FC236}">
                <a16:creationId xmlns:a16="http://schemas.microsoft.com/office/drawing/2014/main" id="{07721865-6925-7555-C654-651B1E9A3A14}"/>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r>
              <a:rPr lang="es-ES" sz="3200" dirty="0">
                <a:latin typeface="Atkinson Hyperlegible"/>
              </a:rPr>
              <a:t>La regeneración </a:t>
            </a:r>
            <a:r>
              <a:rPr lang="es-ES" sz="3200" b="1" dirty="0" err="1">
                <a:latin typeface="Atkinson Hyperlegible"/>
              </a:rPr>
              <a:t>3R</a:t>
            </a:r>
            <a:r>
              <a:rPr lang="es-ES" sz="3200" dirty="0">
                <a:latin typeface="Atkinson Hyperlegible"/>
              </a:rPr>
              <a:t> permite reconstruir una señal degradada corrigiendo tres aspectos fundamentales: </a:t>
            </a:r>
            <a:r>
              <a:rPr lang="es-ES" sz="3200" b="1" dirty="0">
                <a:latin typeface="Atkinson Hyperlegible"/>
              </a:rPr>
              <a:t>potencia</a:t>
            </a:r>
            <a:r>
              <a:rPr lang="es-ES" sz="3200" dirty="0">
                <a:latin typeface="Atkinson Hyperlegible"/>
              </a:rPr>
              <a:t>, </a:t>
            </a:r>
            <a:r>
              <a:rPr lang="es-ES" sz="3200" b="1" dirty="0">
                <a:latin typeface="Atkinson Hyperlegible"/>
              </a:rPr>
              <a:t>forma</a:t>
            </a:r>
            <a:r>
              <a:rPr lang="es-ES" sz="3200" dirty="0">
                <a:latin typeface="Atkinson Hyperlegible"/>
              </a:rPr>
              <a:t> y </a:t>
            </a:r>
            <a:r>
              <a:rPr lang="es-ES" sz="3200" b="1" dirty="0">
                <a:latin typeface="Atkinson Hyperlegible"/>
              </a:rPr>
              <a:t>sincronismo temporal</a:t>
            </a:r>
            <a:r>
              <a:rPr lang="es-ES" sz="3200" dirty="0">
                <a:latin typeface="Atkinson Hyperlegible"/>
              </a:rPr>
              <a:t>.</a:t>
            </a:r>
          </a:p>
        </p:txBody>
      </p:sp>
      <p:sp>
        <p:nvSpPr>
          <p:cNvPr id="6" name="5 Rectángulo">
            <a:extLst>
              <a:ext uri="{FF2B5EF4-FFF2-40B4-BE49-F238E27FC236}">
                <a16:creationId xmlns:a16="http://schemas.microsoft.com/office/drawing/2014/main" id="{B16010BD-8584-AE5B-91C0-291E39D55397}"/>
              </a:ext>
            </a:extLst>
          </p:cNvPr>
          <p:cNvSpPr/>
          <p:nvPr/>
        </p:nvSpPr>
        <p:spPr>
          <a:xfrm>
            <a:off x="1382156" y="2959734"/>
            <a:ext cx="17381110" cy="1569660"/>
          </a:xfrm>
          <a:prstGeom prst="rect">
            <a:avLst/>
          </a:prstGeom>
          <a:noFill/>
          <a:effectLst/>
        </p:spPr>
        <p:txBody>
          <a:bodyPr wrap="square" lIns="91440" tIns="45720" rIns="91440" bIns="45720" anchor="t">
            <a:spAutoFit/>
          </a:bodyPr>
          <a:lstStyle/>
          <a:p>
            <a:r>
              <a:rPr lang="es-ES" sz="3200" b="1" dirty="0" err="1">
                <a:latin typeface="Atkinson Hyperlegible"/>
              </a:rPr>
              <a:t>1R</a:t>
            </a:r>
            <a:r>
              <a:rPr lang="es-ES" sz="3200" b="1" dirty="0">
                <a:latin typeface="Atkinson Hyperlegible"/>
              </a:rPr>
              <a:t>:</a:t>
            </a:r>
            <a:r>
              <a:rPr lang="es-ES" sz="3200" dirty="0">
                <a:latin typeface="Atkinson Hyperlegible"/>
              </a:rPr>
              <a:t> amplifica, pero también puede amplificar ruido. </a:t>
            </a:r>
          </a:p>
          <a:p>
            <a:r>
              <a:rPr lang="es-ES" sz="3200" b="1" dirty="0" err="1">
                <a:latin typeface="Atkinson Hyperlegible"/>
              </a:rPr>
              <a:t>2R</a:t>
            </a:r>
            <a:r>
              <a:rPr lang="es-ES" sz="3200" b="1" dirty="0">
                <a:latin typeface="Atkinson Hyperlegible"/>
              </a:rPr>
              <a:t>:</a:t>
            </a:r>
            <a:r>
              <a:rPr lang="es-ES" sz="3200" dirty="0">
                <a:latin typeface="Atkinson Hyperlegible"/>
              </a:rPr>
              <a:t> mejora la forma de la señal. </a:t>
            </a:r>
          </a:p>
          <a:p>
            <a:r>
              <a:rPr lang="es-ES" sz="3200" b="1" dirty="0" err="1">
                <a:latin typeface="Atkinson Hyperlegible"/>
              </a:rPr>
              <a:t>3R</a:t>
            </a:r>
            <a:r>
              <a:rPr lang="es-ES" sz="3200" b="1" dirty="0">
                <a:latin typeface="Atkinson Hyperlegible"/>
              </a:rPr>
              <a:t>:</a:t>
            </a:r>
            <a:r>
              <a:rPr lang="es-ES" sz="3200" dirty="0">
                <a:latin typeface="Atkinson Hyperlegible"/>
              </a:rPr>
              <a:t> además corrige la temporización, reduciendo errores acumulados</a:t>
            </a:r>
            <a:r>
              <a:rPr lang="es-ES" sz="3200" dirty="0"/>
              <a:t>.</a:t>
            </a:r>
          </a:p>
        </p:txBody>
      </p:sp>
      <p:sp>
        <p:nvSpPr>
          <p:cNvPr id="2" name="CuadroTexto 1">
            <a:extLst>
              <a:ext uri="{FF2B5EF4-FFF2-40B4-BE49-F238E27FC236}">
                <a16:creationId xmlns:a16="http://schemas.microsoft.com/office/drawing/2014/main" id="{E44822A4-56AE-B275-8D05-5C32A8663AFF}"/>
              </a:ext>
            </a:extLst>
          </p:cNvPr>
          <p:cNvSpPr txBox="1"/>
          <p:nvPr/>
        </p:nvSpPr>
        <p:spPr>
          <a:xfrm>
            <a:off x="9910029" y="8349616"/>
            <a:ext cx="1019407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dirty="0">
                <a:latin typeface="Atkinson Hyperlegible"/>
              </a:rPr>
              <a:t>Amplificar no siempre basta: para enlaces críticos puede ser necesario reconstruir la señal completamente.</a:t>
            </a:r>
            <a:endParaRPr lang="es-CL" sz="2400" b="0" dirty="0">
              <a:latin typeface="Atkinson Hyperlegible"/>
            </a:endParaRPr>
          </a:p>
        </p:txBody>
      </p:sp>
      <p:graphicFrame>
        <p:nvGraphicFramePr>
          <p:cNvPr id="4" name="Tabla 3">
            <a:extLst>
              <a:ext uri="{FF2B5EF4-FFF2-40B4-BE49-F238E27FC236}">
                <a16:creationId xmlns:a16="http://schemas.microsoft.com/office/drawing/2014/main" id="{EFC272C9-C8DA-ABE1-BC34-FF9F9BF7CEE5}"/>
              </a:ext>
            </a:extLst>
          </p:cNvPr>
          <p:cNvGraphicFramePr>
            <a:graphicFrameLocks noGrp="1"/>
          </p:cNvGraphicFramePr>
          <p:nvPr>
            <p:extLst>
              <p:ext uri="{D42A27DB-BD31-4B8C-83A1-F6EECF244321}">
                <p14:modId xmlns:p14="http://schemas.microsoft.com/office/powerpoint/2010/main" val="4215907983"/>
              </p:ext>
            </p:extLst>
          </p:nvPr>
        </p:nvGraphicFramePr>
        <p:xfrm>
          <a:off x="1382713" y="4806027"/>
          <a:ext cx="17338674" cy="2804160"/>
        </p:xfrm>
        <a:graphic>
          <a:graphicData uri="http://schemas.openxmlformats.org/drawingml/2006/table">
            <a:tbl>
              <a:tblPr firstRow="1" firstCol="1">
                <a:tableStyleId>{793D81CF-94F2-401A-BA57-92F5A7B2D0C5}</a:tableStyleId>
              </a:tblPr>
              <a:tblGrid>
                <a:gridCol w="5779558">
                  <a:extLst>
                    <a:ext uri="{9D8B030D-6E8A-4147-A177-3AD203B41FA5}">
                      <a16:colId xmlns:a16="http://schemas.microsoft.com/office/drawing/2014/main" val="3186407952"/>
                    </a:ext>
                  </a:extLst>
                </a:gridCol>
                <a:gridCol w="5779558">
                  <a:extLst>
                    <a:ext uri="{9D8B030D-6E8A-4147-A177-3AD203B41FA5}">
                      <a16:colId xmlns:a16="http://schemas.microsoft.com/office/drawing/2014/main" val="3643198660"/>
                    </a:ext>
                  </a:extLst>
                </a:gridCol>
                <a:gridCol w="5779558">
                  <a:extLst>
                    <a:ext uri="{9D8B030D-6E8A-4147-A177-3AD203B41FA5}">
                      <a16:colId xmlns:a16="http://schemas.microsoft.com/office/drawing/2014/main" val="1045073438"/>
                    </a:ext>
                  </a:extLst>
                </a:gridCol>
              </a:tblGrid>
              <a:tr h="0">
                <a:tc>
                  <a:txBody>
                    <a:bodyPr/>
                    <a:lstStyle/>
                    <a:p>
                      <a:pPr>
                        <a:buNone/>
                      </a:pPr>
                      <a:r>
                        <a:rPr lang="es-CL" sz="3200" dirty="0"/>
                        <a:t>Función</a:t>
                      </a:r>
                      <a:endParaRPr lang="es-CL" sz="3200" dirty="0">
                        <a:latin typeface="Atkinson Hyperlegible"/>
                      </a:endParaRPr>
                    </a:p>
                  </a:txBody>
                  <a:tcPr anchor="ctr"/>
                </a:tc>
                <a:tc>
                  <a:txBody>
                    <a:bodyPr/>
                    <a:lstStyle/>
                    <a:p>
                      <a:pPr>
                        <a:buNone/>
                      </a:pPr>
                      <a:r>
                        <a:rPr lang="es-CL" sz="3200"/>
                        <a:t>Significado</a:t>
                      </a:r>
                      <a:endParaRPr lang="es-CL" sz="3200">
                        <a:latin typeface="Atkinson Hyperlegible"/>
                      </a:endParaRPr>
                    </a:p>
                  </a:txBody>
                  <a:tcPr anchor="ctr"/>
                </a:tc>
                <a:tc>
                  <a:txBody>
                    <a:bodyPr/>
                    <a:lstStyle/>
                    <a:p>
                      <a:pPr>
                        <a:buNone/>
                      </a:pPr>
                      <a:r>
                        <a:rPr lang="es-CL" sz="3200"/>
                        <a:t>Qué corrige</a:t>
                      </a:r>
                      <a:endParaRPr lang="es-CL" sz="3200">
                        <a:latin typeface="Atkinson Hyperlegible"/>
                      </a:endParaRPr>
                    </a:p>
                  </a:txBody>
                  <a:tcPr anchor="ctr"/>
                </a:tc>
                <a:extLst>
                  <a:ext uri="{0D108BD9-81ED-4DB2-BD59-A6C34878D82A}">
                    <a16:rowId xmlns:a16="http://schemas.microsoft.com/office/drawing/2014/main" val="395789890"/>
                  </a:ext>
                </a:extLst>
              </a:tr>
              <a:tr h="0">
                <a:tc>
                  <a:txBody>
                    <a:bodyPr/>
                    <a:lstStyle/>
                    <a:p>
                      <a:pPr>
                        <a:buNone/>
                      </a:pPr>
                      <a:r>
                        <a:rPr lang="es-CL" sz="3200" b="1" dirty="0" err="1"/>
                        <a:t>1R</a:t>
                      </a:r>
                      <a:r>
                        <a:rPr lang="es-CL" sz="3200" b="1" dirty="0"/>
                        <a:t> — </a:t>
                      </a:r>
                      <a:r>
                        <a:rPr lang="es-CL" sz="3200" b="1" dirty="0" err="1"/>
                        <a:t>Reamplification</a:t>
                      </a:r>
                      <a:endParaRPr lang="es-CL" sz="3200" dirty="0">
                        <a:latin typeface="Atkinson Hyperlegible"/>
                      </a:endParaRPr>
                    </a:p>
                  </a:txBody>
                  <a:tcPr anchor="ctr"/>
                </a:tc>
                <a:tc>
                  <a:txBody>
                    <a:bodyPr/>
                    <a:lstStyle/>
                    <a:p>
                      <a:pPr>
                        <a:buNone/>
                      </a:pPr>
                      <a:r>
                        <a:rPr lang="es-CL" sz="3200"/>
                        <a:t>Reamplificación</a:t>
                      </a:r>
                      <a:endParaRPr lang="es-CL" sz="3200">
                        <a:latin typeface="Atkinson Hyperlegible"/>
                      </a:endParaRPr>
                    </a:p>
                  </a:txBody>
                  <a:tcPr anchor="ctr"/>
                </a:tc>
                <a:tc>
                  <a:txBody>
                    <a:bodyPr/>
                    <a:lstStyle/>
                    <a:p>
                      <a:pPr>
                        <a:buNone/>
                      </a:pPr>
                      <a:r>
                        <a:rPr lang="es-CL" sz="3200"/>
                        <a:t>Recupera nivel de potencia</a:t>
                      </a:r>
                      <a:endParaRPr lang="es-CL" sz="3200">
                        <a:latin typeface="Atkinson Hyperlegible"/>
                      </a:endParaRPr>
                    </a:p>
                  </a:txBody>
                  <a:tcPr anchor="ctr"/>
                </a:tc>
                <a:extLst>
                  <a:ext uri="{0D108BD9-81ED-4DB2-BD59-A6C34878D82A}">
                    <a16:rowId xmlns:a16="http://schemas.microsoft.com/office/drawing/2014/main" val="260096486"/>
                  </a:ext>
                </a:extLst>
              </a:tr>
              <a:tr h="0">
                <a:tc>
                  <a:txBody>
                    <a:bodyPr/>
                    <a:lstStyle/>
                    <a:p>
                      <a:pPr>
                        <a:buNone/>
                      </a:pPr>
                      <a:r>
                        <a:rPr lang="es-CL" sz="3200" b="1"/>
                        <a:t>2R — Reshaping</a:t>
                      </a:r>
                      <a:endParaRPr lang="es-CL" sz="3200">
                        <a:latin typeface="Atkinson Hyperlegible"/>
                      </a:endParaRPr>
                    </a:p>
                  </a:txBody>
                  <a:tcPr anchor="ctr"/>
                </a:tc>
                <a:tc>
                  <a:txBody>
                    <a:bodyPr/>
                    <a:lstStyle/>
                    <a:p>
                      <a:pPr>
                        <a:buNone/>
                      </a:pPr>
                      <a:r>
                        <a:rPr lang="es-CL" sz="3200"/>
                        <a:t>Reformado de señal</a:t>
                      </a:r>
                      <a:endParaRPr lang="es-CL" sz="3200">
                        <a:latin typeface="Atkinson Hyperlegible"/>
                      </a:endParaRPr>
                    </a:p>
                  </a:txBody>
                  <a:tcPr anchor="ctr"/>
                </a:tc>
                <a:tc>
                  <a:txBody>
                    <a:bodyPr/>
                    <a:lstStyle/>
                    <a:p>
                      <a:pPr>
                        <a:buNone/>
                      </a:pPr>
                      <a:r>
                        <a:rPr lang="es-CL" sz="3200"/>
                        <a:t>Recupera la forma del pulso</a:t>
                      </a:r>
                      <a:endParaRPr lang="es-CL" sz="3200">
                        <a:latin typeface="Atkinson Hyperlegible"/>
                      </a:endParaRPr>
                    </a:p>
                  </a:txBody>
                  <a:tcPr anchor="ctr"/>
                </a:tc>
                <a:extLst>
                  <a:ext uri="{0D108BD9-81ED-4DB2-BD59-A6C34878D82A}">
                    <a16:rowId xmlns:a16="http://schemas.microsoft.com/office/drawing/2014/main" val="1132089663"/>
                  </a:ext>
                </a:extLst>
              </a:tr>
              <a:tr h="0">
                <a:tc>
                  <a:txBody>
                    <a:bodyPr/>
                    <a:lstStyle/>
                    <a:p>
                      <a:pPr>
                        <a:buNone/>
                      </a:pPr>
                      <a:r>
                        <a:rPr lang="es-CL" sz="3200" b="1"/>
                        <a:t>3R — Retiming</a:t>
                      </a:r>
                      <a:endParaRPr lang="es-CL" sz="3200">
                        <a:latin typeface="Atkinson Hyperlegible"/>
                      </a:endParaRPr>
                    </a:p>
                  </a:txBody>
                  <a:tcPr anchor="ctr"/>
                </a:tc>
                <a:tc>
                  <a:txBody>
                    <a:bodyPr/>
                    <a:lstStyle/>
                    <a:p>
                      <a:pPr>
                        <a:buNone/>
                      </a:pPr>
                      <a:r>
                        <a:rPr lang="es-CL" sz="3200" dirty="0"/>
                        <a:t>Resincronización</a:t>
                      </a:r>
                      <a:endParaRPr lang="es-CL" sz="3200" dirty="0">
                        <a:latin typeface="Atkinson Hyperlegible"/>
                      </a:endParaRPr>
                    </a:p>
                  </a:txBody>
                  <a:tcPr anchor="ctr"/>
                </a:tc>
                <a:tc>
                  <a:txBody>
                    <a:bodyPr/>
                    <a:lstStyle/>
                    <a:p>
                      <a:pPr>
                        <a:buNone/>
                      </a:pPr>
                      <a:r>
                        <a:rPr lang="es-ES" sz="3200" dirty="0"/>
                        <a:t>Corrige el tiempo de los bits/pulsos</a:t>
                      </a:r>
                      <a:endParaRPr lang="es-ES" sz="3200" dirty="0">
                        <a:latin typeface="Atkinson Hyperlegible"/>
                      </a:endParaRPr>
                    </a:p>
                  </a:txBody>
                  <a:tcPr anchor="ctr"/>
                </a:tc>
                <a:extLst>
                  <a:ext uri="{0D108BD9-81ED-4DB2-BD59-A6C34878D82A}">
                    <a16:rowId xmlns:a16="http://schemas.microsoft.com/office/drawing/2014/main" val="1950018741"/>
                  </a:ext>
                </a:extLst>
              </a:tr>
            </a:tbl>
          </a:graphicData>
        </a:graphic>
      </p:graphicFrame>
    </p:spTree>
    <p:extLst>
      <p:ext uri="{BB962C8B-B14F-4D97-AF65-F5344CB8AC3E}">
        <p14:creationId xmlns:p14="http://schemas.microsoft.com/office/powerpoint/2010/main" val="339887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AD8ABC1-3BFD-872B-1102-EF8443A0624F}"/>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2C036B82-9D65-5151-814E-60106A6F8AE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0375E342-7772-CB97-0F8E-4B88C5A0A1ED}"/>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6237B2C-D4A3-2EFE-F04B-A971624B8DE7}"/>
              </a:ext>
            </a:extLst>
          </p:cNvPr>
          <p:cNvSpPr txBox="1"/>
          <p:nvPr/>
        </p:nvSpPr>
        <p:spPr>
          <a:xfrm>
            <a:off x="1382156" y="940146"/>
            <a:ext cx="17055745" cy="707886"/>
          </a:xfrm>
          <a:prstGeom prst="rect">
            <a:avLst/>
          </a:prstGeom>
          <a:noFill/>
        </p:spPr>
        <p:txBody>
          <a:bodyPr wrap="square">
            <a:spAutoFit/>
          </a:bodyPr>
          <a:lstStyle/>
          <a:p>
            <a:r>
              <a:rPr lang="es-ES" sz="4000" dirty="0"/>
              <a:t>Protección en redes ópticas</a:t>
            </a:r>
            <a:endParaRPr lang="es-CL" sz="4000" noProof="0" dirty="0">
              <a:latin typeface="Atkinson Hyperlegible"/>
            </a:endParaRPr>
          </a:p>
        </p:txBody>
      </p:sp>
      <p:sp>
        <p:nvSpPr>
          <p:cNvPr id="5" name="5 Rectángulo">
            <a:extLst>
              <a:ext uri="{FF2B5EF4-FFF2-40B4-BE49-F238E27FC236}">
                <a16:creationId xmlns:a16="http://schemas.microsoft.com/office/drawing/2014/main" id="{E525E423-7B0E-39D2-3BE5-8A88FB1A023D}"/>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r>
              <a:rPr lang="es-ES" sz="3200" dirty="0">
                <a:latin typeface="Atkinson Hyperlegible"/>
              </a:rPr>
              <a:t>La </a:t>
            </a:r>
            <a:r>
              <a:rPr lang="es-ES" sz="3200" b="1" dirty="0">
                <a:latin typeface="Atkinson Hyperlegible"/>
              </a:rPr>
              <a:t>protección</a:t>
            </a:r>
            <a:r>
              <a:rPr lang="es-ES" sz="3200" dirty="0">
                <a:latin typeface="Atkinson Hyperlegible"/>
              </a:rPr>
              <a:t> permite mantener la continuidad del servicio cuando ocurre una falla en un enlace, nodo o componente de la red óptica.</a:t>
            </a:r>
          </a:p>
        </p:txBody>
      </p:sp>
      <p:sp>
        <p:nvSpPr>
          <p:cNvPr id="6" name="5 Rectángulo">
            <a:extLst>
              <a:ext uri="{FF2B5EF4-FFF2-40B4-BE49-F238E27FC236}">
                <a16:creationId xmlns:a16="http://schemas.microsoft.com/office/drawing/2014/main" id="{F7F00A77-B32C-9C02-5754-7577F83CF032}"/>
              </a:ext>
            </a:extLst>
          </p:cNvPr>
          <p:cNvSpPr/>
          <p:nvPr/>
        </p:nvSpPr>
        <p:spPr>
          <a:xfrm>
            <a:off x="1382156" y="2959734"/>
            <a:ext cx="17381110" cy="3046988"/>
          </a:xfrm>
          <a:prstGeom prst="rect">
            <a:avLst/>
          </a:prstGeom>
          <a:noFill/>
          <a:effectLst/>
        </p:spPr>
        <p:txBody>
          <a:bodyPr wrap="square" lIns="91440" tIns="45720" rIns="91440" bIns="45720" anchor="t">
            <a:spAutoFit/>
          </a:bodyPr>
          <a:lstStyle/>
          <a:p>
            <a:r>
              <a:rPr lang="es-ES" sz="3200" b="1" dirty="0">
                <a:latin typeface="Atkinson Hyperlegible"/>
              </a:rPr>
              <a:t>¿Qué busca la protección?</a:t>
            </a:r>
          </a:p>
          <a:p>
            <a:pPr marL="457200" indent="-457200">
              <a:buFont typeface="Arial" panose="020B0604020202020204" pitchFamily="34" charset="0"/>
              <a:buChar char="•"/>
            </a:pPr>
            <a:r>
              <a:rPr lang="es-ES" sz="3200" dirty="0">
                <a:latin typeface="Atkinson Hyperlegible"/>
              </a:rPr>
              <a:t>Reducir el tiempo de interrupción del servicio. </a:t>
            </a:r>
          </a:p>
          <a:p>
            <a:pPr marL="457200" indent="-457200">
              <a:buFont typeface="Arial" panose="020B0604020202020204" pitchFamily="34" charset="0"/>
              <a:buChar char="•"/>
            </a:pPr>
            <a:r>
              <a:rPr lang="es-ES" sz="3200" dirty="0">
                <a:latin typeface="Atkinson Hyperlegible"/>
              </a:rPr>
              <a:t>Tener una </a:t>
            </a:r>
            <a:r>
              <a:rPr lang="es-ES" sz="3200" b="1" dirty="0">
                <a:latin typeface="Atkinson Hyperlegible"/>
              </a:rPr>
              <a:t>ruta alternativa</a:t>
            </a:r>
            <a:r>
              <a:rPr lang="es-ES" sz="3200" dirty="0">
                <a:latin typeface="Atkinson Hyperlegible"/>
              </a:rPr>
              <a:t> disponible. </a:t>
            </a:r>
          </a:p>
          <a:p>
            <a:pPr marL="457200" indent="-457200">
              <a:buFont typeface="Arial" panose="020B0604020202020204" pitchFamily="34" charset="0"/>
              <a:buChar char="•"/>
            </a:pPr>
            <a:r>
              <a:rPr lang="es-ES" sz="3200" dirty="0">
                <a:latin typeface="Atkinson Hyperlegible"/>
              </a:rPr>
              <a:t>Aumentar la </a:t>
            </a:r>
            <a:r>
              <a:rPr lang="es-ES" sz="3200" b="1" dirty="0">
                <a:latin typeface="Atkinson Hyperlegible"/>
              </a:rPr>
              <a:t>resiliencia</a:t>
            </a:r>
            <a:r>
              <a:rPr lang="es-ES" sz="3200" dirty="0">
                <a:latin typeface="Atkinson Hyperlegible"/>
              </a:rPr>
              <a:t> de la red. </a:t>
            </a:r>
          </a:p>
          <a:p>
            <a:pPr marL="457200" indent="-457200">
              <a:buFont typeface="Arial" panose="020B0604020202020204" pitchFamily="34" charset="0"/>
              <a:buChar char="•"/>
            </a:pPr>
            <a:r>
              <a:rPr lang="es-ES" sz="3200" dirty="0">
                <a:latin typeface="Atkinson Hyperlegible"/>
              </a:rPr>
              <a:t>Mantener servicios críticos operativos. </a:t>
            </a:r>
          </a:p>
          <a:p>
            <a:pPr marL="457200" indent="-457200">
              <a:buFont typeface="Arial" panose="020B0604020202020204" pitchFamily="34" charset="0"/>
              <a:buChar char="•"/>
            </a:pPr>
            <a:r>
              <a:rPr lang="es-ES" sz="3200" dirty="0">
                <a:latin typeface="Atkinson Hyperlegible"/>
              </a:rPr>
              <a:t>Evitar que una falla física afecte completamente el transporte</a:t>
            </a:r>
            <a:r>
              <a:rPr lang="es-ES" sz="3200" dirty="0"/>
              <a:t>.</a:t>
            </a:r>
          </a:p>
        </p:txBody>
      </p:sp>
      <p:graphicFrame>
        <p:nvGraphicFramePr>
          <p:cNvPr id="3" name="Tabla 2">
            <a:extLst>
              <a:ext uri="{FF2B5EF4-FFF2-40B4-BE49-F238E27FC236}">
                <a16:creationId xmlns:a16="http://schemas.microsoft.com/office/drawing/2014/main" id="{D88156CB-A7DF-41D7-C0A1-A71C3700EB69}"/>
              </a:ext>
            </a:extLst>
          </p:cNvPr>
          <p:cNvGraphicFramePr>
            <a:graphicFrameLocks noGrp="1"/>
          </p:cNvGraphicFramePr>
          <p:nvPr>
            <p:extLst>
              <p:ext uri="{D42A27DB-BD31-4B8C-83A1-F6EECF244321}">
                <p14:modId xmlns:p14="http://schemas.microsoft.com/office/powerpoint/2010/main" val="3335525100"/>
              </p:ext>
            </p:extLst>
          </p:nvPr>
        </p:nvGraphicFramePr>
        <p:xfrm>
          <a:off x="1382156" y="6463539"/>
          <a:ext cx="18437913" cy="3017520"/>
        </p:xfrm>
        <a:graphic>
          <a:graphicData uri="http://schemas.openxmlformats.org/drawingml/2006/table">
            <a:tbl>
              <a:tblPr firstRow="1" firstCol="1">
                <a:tableStyleId>{073A0DAA-6AF3-43AB-8588-CEC1D06C72B9}</a:tableStyleId>
              </a:tblPr>
              <a:tblGrid>
                <a:gridCol w="2673644">
                  <a:extLst>
                    <a:ext uri="{9D8B030D-6E8A-4147-A177-3AD203B41FA5}">
                      <a16:colId xmlns:a16="http://schemas.microsoft.com/office/drawing/2014/main" val="3231407169"/>
                    </a:ext>
                  </a:extLst>
                </a:gridCol>
                <a:gridCol w="9618298">
                  <a:extLst>
                    <a:ext uri="{9D8B030D-6E8A-4147-A177-3AD203B41FA5}">
                      <a16:colId xmlns:a16="http://schemas.microsoft.com/office/drawing/2014/main" val="1142022710"/>
                    </a:ext>
                  </a:extLst>
                </a:gridCol>
                <a:gridCol w="6145971">
                  <a:extLst>
                    <a:ext uri="{9D8B030D-6E8A-4147-A177-3AD203B41FA5}">
                      <a16:colId xmlns:a16="http://schemas.microsoft.com/office/drawing/2014/main" val="1406138279"/>
                    </a:ext>
                  </a:extLst>
                </a:gridCol>
              </a:tblGrid>
              <a:tr h="0">
                <a:tc>
                  <a:txBody>
                    <a:bodyPr/>
                    <a:lstStyle/>
                    <a:p>
                      <a:pPr>
                        <a:buNone/>
                      </a:pPr>
                      <a:r>
                        <a:rPr lang="es-CL" sz="2800"/>
                        <a:t>Tipo</a:t>
                      </a:r>
                      <a:endParaRPr lang="es-CL" sz="2800">
                        <a:latin typeface="Atkinson Hyperlegible"/>
                      </a:endParaRPr>
                    </a:p>
                  </a:txBody>
                  <a:tcPr anchor="ctr"/>
                </a:tc>
                <a:tc>
                  <a:txBody>
                    <a:bodyPr/>
                    <a:lstStyle/>
                    <a:p>
                      <a:pPr>
                        <a:buNone/>
                      </a:pPr>
                      <a:r>
                        <a:rPr lang="es-CL" sz="2800"/>
                        <a:t>Funcionamiento</a:t>
                      </a:r>
                      <a:endParaRPr lang="es-CL" sz="2800">
                        <a:latin typeface="Atkinson Hyperlegible"/>
                      </a:endParaRPr>
                    </a:p>
                  </a:txBody>
                  <a:tcPr anchor="ctr"/>
                </a:tc>
                <a:tc>
                  <a:txBody>
                    <a:bodyPr/>
                    <a:lstStyle/>
                    <a:p>
                      <a:pPr>
                        <a:buNone/>
                      </a:pPr>
                      <a:r>
                        <a:rPr lang="es-CL" sz="2800"/>
                        <a:t>Idea principal</a:t>
                      </a:r>
                      <a:endParaRPr lang="es-CL" sz="2800">
                        <a:latin typeface="Atkinson Hyperlegible"/>
                      </a:endParaRPr>
                    </a:p>
                  </a:txBody>
                  <a:tcPr anchor="ctr"/>
                </a:tc>
                <a:extLst>
                  <a:ext uri="{0D108BD9-81ED-4DB2-BD59-A6C34878D82A}">
                    <a16:rowId xmlns:a16="http://schemas.microsoft.com/office/drawing/2014/main" val="2295139225"/>
                  </a:ext>
                </a:extLst>
              </a:tr>
              <a:tr h="0">
                <a:tc>
                  <a:txBody>
                    <a:bodyPr/>
                    <a:lstStyle/>
                    <a:p>
                      <a:pPr>
                        <a:buNone/>
                      </a:pPr>
                      <a:r>
                        <a:rPr lang="es-CL" sz="2800" b="1"/>
                        <a:t>1+1</a:t>
                      </a:r>
                      <a:endParaRPr lang="es-CL" sz="2800">
                        <a:latin typeface="Atkinson Hyperlegible"/>
                      </a:endParaRPr>
                    </a:p>
                  </a:txBody>
                  <a:tcPr anchor="ctr"/>
                </a:tc>
                <a:tc>
                  <a:txBody>
                    <a:bodyPr/>
                    <a:lstStyle/>
                    <a:p>
                      <a:pPr>
                        <a:buNone/>
                      </a:pPr>
                      <a:r>
                        <a:rPr lang="es-ES" sz="2800"/>
                        <a:t>El tráfico se envía por ruta principal y ruta de protección simultáneamente</a:t>
                      </a:r>
                      <a:endParaRPr lang="es-ES" sz="2800">
                        <a:latin typeface="Atkinson Hyperlegible"/>
                      </a:endParaRPr>
                    </a:p>
                  </a:txBody>
                  <a:tcPr anchor="ctr"/>
                </a:tc>
                <a:tc>
                  <a:txBody>
                    <a:bodyPr/>
                    <a:lstStyle/>
                    <a:p>
                      <a:pPr>
                        <a:buNone/>
                      </a:pPr>
                      <a:r>
                        <a:rPr lang="es-CL" sz="2800"/>
                        <a:t>Alta disponibilidad</a:t>
                      </a:r>
                      <a:endParaRPr lang="es-CL" sz="2800">
                        <a:latin typeface="Atkinson Hyperlegible"/>
                      </a:endParaRPr>
                    </a:p>
                  </a:txBody>
                  <a:tcPr anchor="ctr"/>
                </a:tc>
                <a:extLst>
                  <a:ext uri="{0D108BD9-81ED-4DB2-BD59-A6C34878D82A}">
                    <a16:rowId xmlns:a16="http://schemas.microsoft.com/office/drawing/2014/main" val="3863898069"/>
                  </a:ext>
                </a:extLst>
              </a:tr>
              <a:tr h="0">
                <a:tc>
                  <a:txBody>
                    <a:bodyPr/>
                    <a:lstStyle/>
                    <a:p>
                      <a:pPr>
                        <a:buNone/>
                      </a:pPr>
                      <a:r>
                        <a:rPr lang="es-CL" sz="2800" b="1"/>
                        <a:t>1:1</a:t>
                      </a:r>
                      <a:endParaRPr lang="es-CL" sz="2800">
                        <a:latin typeface="Atkinson Hyperlegible"/>
                      </a:endParaRPr>
                    </a:p>
                  </a:txBody>
                  <a:tcPr anchor="ctr"/>
                </a:tc>
                <a:tc>
                  <a:txBody>
                    <a:bodyPr/>
                    <a:lstStyle/>
                    <a:p>
                      <a:pPr>
                        <a:buNone/>
                      </a:pPr>
                      <a:r>
                        <a:rPr lang="es-ES" sz="2800"/>
                        <a:t>Existe una ruta de respaldo, pero se activa solo ante falla</a:t>
                      </a:r>
                      <a:endParaRPr lang="es-ES" sz="2800">
                        <a:latin typeface="Atkinson Hyperlegible"/>
                      </a:endParaRPr>
                    </a:p>
                  </a:txBody>
                  <a:tcPr anchor="ctr"/>
                </a:tc>
                <a:tc>
                  <a:txBody>
                    <a:bodyPr/>
                    <a:lstStyle/>
                    <a:p>
                      <a:pPr>
                        <a:buNone/>
                      </a:pPr>
                      <a:r>
                        <a:rPr lang="es-CL" sz="2800"/>
                        <a:t>Uso eficiente de recursos</a:t>
                      </a:r>
                      <a:endParaRPr lang="es-CL" sz="2800">
                        <a:latin typeface="Atkinson Hyperlegible"/>
                      </a:endParaRPr>
                    </a:p>
                  </a:txBody>
                  <a:tcPr anchor="ctr"/>
                </a:tc>
                <a:extLst>
                  <a:ext uri="{0D108BD9-81ED-4DB2-BD59-A6C34878D82A}">
                    <a16:rowId xmlns:a16="http://schemas.microsoft.com/office/drawing/2014/main" val="707902337"/>
                  </a:ext>
                </a:extLst>
              </a:tr>
              <a:tr h="0">
                <a:tc>
                  <a:txBody>
                    <a:bodyPr/>
                    <a:lstStyle/>
                    <a:p>
                      <a:pPr>
                        <a:buNone/>
                      </a:pPr>
                      <a:r>
                        <a:rPr lang="es-CL" sz="2800" b="1"/>
                        <a:t>Anillo protegido</a:t>
                      </a:r>
                      <a:endParaRPr lang="es-CL" sz="2800">
                        <a:latin typeface="Atkinson Hyperlegible"/>
                      </a:endParaRPr>
                    </a:p>
                  </a:txBody>
                  <a:tcPr anchor="ctr"/>
                </a:tc>
                <a:tc>
                  <a:txBody>
                    <a:bodyPr/>
                    <a:lstStyle/>
                    <a:p>
                      <a:pPr>
                        <a:buNone/>
                      </a:pPr>
                      <a:r>
                        <a:rPr lang="es-CL" sz="2800" dirty="0"/>
                        <a:t>El tráfico puede circular por sentido alternativo</a:t>
                      </a:r>
                      <a:endParaRPr lang="es-CL" sz="2800" dirty="0">
                        <a:latin typeface="Atkinson Hyperlegible"/>
                      </a:endParaRPr>
                    </a:p>
                  </a:txBody>
                  <a:tcPr anchor="ctr"/>
                </a:tc>
                <a:tc>
                  <a:txBody>
                    <a:bodyPr/>
                    <a:lstStyle/>
                    <a:p>
                      <a:pPr>
                        <a:buNone/>
                      </a:pPr>
                      <a:r>
                        <a:rPr lang="es-CL" sz="2800"/>
                        <a:t>Continuidad ante corte</a:t>
                      </a:r>
                      <a:endParaRPr lang="es-CL" sz="2800">
                        <a:latin typeface="Atkinson Hyperlegible"/>
                      </a:endParaRPr>
                    </a:p>
                  </a:txBody>
                  <a:tcPr anchor="ctr"/>
                </a:tc>
                <a:extLst>
                  <a:ext uri="{0D108BD9-81ED-4DB2-BD59-A6C34878D82A}">
                    <a16:rowId xmlns:a16="http://schemas.microsoft.com/office/drawing/2014/main" val="2319449312"/>
                  </a:ext>
                </a:extLst>
              </a:tr>
              <a:tr h="0">
                <a:tc>
                  <a:txBody>
                    <a:bodyPr/>
                    <a:lstStyle/>
                    <a:p>
                      <a:pPr>
                        <a:buNone/>
                      </a:pPr>
                      <a:r>
                        <a:rPr lang="es-CL" sz="2800" b="1"/>
                        <a:t>Ruta alternativa</a:t>
                      </a:r>
                      <a:endParaRPr lang="es-CL" sz="2800">
                        <a:latin typeface="Atkinson Hyperlegible"/>
                      </a:endParaRPr>
                    </a:p>
                  </a:txBody>
                  <a:tcPr anchor="ctr"/>
                </a:tc>
                <a:tc>
                  <a:txBody>
                    <a:bodyPr/>
                    <a:lstStyle/>
                    <a:p>
                      <a:pPr>
                        <a:buNone/>
                      </a:pPr>
                      <a:r>
                        <a:rPr lang="es-ES" sz="2800" dirty="0"/>
                        <a:t>Se cambia el camino del servicio ante falla</a:t>
                      </a:r>
                      <a:endParaRPr lang="es-ES" sz="2800" dirty="0">
                        <a:latin typeface="Atkinson Hyperlegible"/>
                      </a:endParaRPr>
                    </a:p>
                  </a:txBody>
                  <a:tcPr anchor="ctr"/>
                </a:tc>
                <a:tc>
                  <a:txBody>
                    <a:bodyPr/>
                    <a:lstStyle/>
                    <a:p>
                      <a:pPr>
                        <a:buNone/>
                      </a:pPr>
                      <a:r>
                        <a:rPr lang="es-CL" sz="2800" dirty="0"/>
                        <a:t>Flexibilidad operacional</a:t>
                      </a:r>
                      <a:endParaRPr lang="es-CL" sz="2800" dirty="0">
                        <a:latin typeface="Atkinson Hyperlegible"/>
                      </a:endParaRPr>
                    </a:p>
                  </a:txBody>
                  <a:tcPr anchor="ctr"/>
                </a:tc>
                <a:extLst>
                  <a:ext uri="{0D108BD9-81ED-4DB2-BD59-A6C34878D82A}">
                    <a16:rowId xmlns:a16="http://schemas.microsoft.com/office/drawing/2014/main" val="3086390280"/>
                  </a:ext>
                </a:extLst>
              </a:tr>
            </a:tbl>
          </a:graphicData>
        </a:graphic>
      </p:graphicFrame>
    </p:spTree>
    <p:extLst>
      <p:ext uri="{BB962C8B-B14F-4D97-AF65-F5344CB8AC3E}">
        <p14:creationId xmlns:p14="http://schemas.microsoft.com/office/powerpoint/2010/main" val="1515930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904F7D5-AC92-BA3C-1608-048669641F0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EFCE2C22-DE77-D4A6-1C56-7A4FC7EC447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5DC0F678-161B-E117-286D-8A5CEDE72099}"/>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843E3C33-40D6-85A0-D992-DCB2634609A0}"/>
              </a:ext>
            </a:extLst>
          </p:cNvPr>
          <p:cNvSpPr txBox="1"/>
          <p:nvPr/>
        </p:nvSpPr>
        <p:spPr>
          <a:xfrm>
            <a:off x="1382156" y="940146"/>
            <a:ext cx="17055745" cy="707886"/>
          </a:xfrm>
          <a:prstGeom prst="rect">
            <a:avLst/>
          </a:prstGeom>
          <a:noFill/>
        </p:spPr>
        <p:txBody>
          <a:bodyPr wrap="square">
            <a:spAutoFit/>
          </a:bodyPr>
          <a:lstStyle/>
          <a:p>
            <a:r>
              <a:rPr lang="es-ES" sz="4000" dirty="0"/>
              <a:t>Rutas de respaldo y conmutación ante falla</a:t>
            </a:r>
            <a:endParaRPr lang="es-CL" sz="4000" noProof="0" dirty="0">
              <a:latin typeface="Atkinson Hyperlegible"/>
            </a:endParaRPr>
          </a:p>
        </p:txBody>
      </p:sp>
      <p:sp>
        <p:nvSpPr>
          <p:cNvPr id="5" name="5 Rectángulo">
            <a:extLst>
              <a:ext uri="{FF2B5EF4-FFF2-40B4-BE49-F238E27FC236}">
                <a16:creationId xmlns:a16="http://schemas.microsoft.com/office/drawing/2014/main" id="{4D596008-CAD7-DDF6-B6B4-53121E23E86D}"/>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r>
              <a:rPr lang="es-ES" sz="3200" dirty="0">
                <a:latin typeface="Atkinson Hyperlegible"/>
              </a:rPr>
              <a:t>Cuando ocurre una falla en una red óptica, el tráfico debe ser redirigido hacia una </a:t>
            </a:r>
            <a:r>
              <a:rPr lang="es-ES" sz="3200" b="1" dirty="0">
                <a:latin typeface="Atkinson Hyperlegible"/>
              </a:rPr>
              <a:t>ruta alternativa</a:t>
            </a:r>
            <a:r>
              <a:rPr lang="es-ES" sz="3200" dirty="0">
                <a:latin typeface="Atkinson Hyperlegible"/>
              </a:rPr>
              <a:t> para mantener la continuidad del servicio.</a:t>
            </a:r>
          </a:p>
        </p:txBody>
      </p:sp>
      <p:sp>
        <p:nvSpPr>
          <p:cNvPr id="6" name="5 Rectángulo">
            <a:extLst>
              <a:ext uri="{FF2B5EF4-FFF2-40B4-BE49-F238E27FC236}">
                <a16:creationId xmlns:a16="http://schemas.microsoft.com/office/drawing/2014/main" id="{5A077754-9C3B-F965-B146-1E07B4EAC111}"/>
              </a:ext>
            </a:extLst>
          </p:cNvPr>
          <p:cNvSpPr/>
          <p:nvPr/>
        </p:nvSpPr>
        <p:spPr>
          <a:xfrm>
            <a:off x="1382156" y="2959734"/>
            <a:ext cx="17381110" cy="3046988"/>
          </a:xfrm>
          <a:prstGeom prst="rect">
            <a:avLst/>
          </a:prstGeom>
          <a:noFill/>
          <a:effectLst/>
        </p:spPr>
        <p:txBody>
          <a:bodyPr wrap="square" lIns="91440" tIns="45720" rIns="91440" bIns="45720" anchor="t">
            <a:spAutoFit/>
          </a:bodyPr>
          <a:lstStyle/>
          <a:p>
            <a:r>
              <a:rPr lang="es-ES" sz="3200" b="1" dirty="0">
                <a:latin typeface="Atkinson Hyperlegible"/>
              </a:rPr>
              <a:t>Funcionamiento general</a:t>
            </a:r>
          </a:p>
          <a:p>
            <a:pPr marL="514350" indent="-514350">
              <a:buFont typeface="+mj-lt"/>
              <a:buAutoNum type="arabicPeriod"/>
            </a:pPr>
            <a:r>
              <a:rPr lang="es-ES" sz="3200" dirty="0">
                <a:latin typeface="Atkinson Hyperlegible"/>
              </a:rPr>
              <a:t>La red opera usando una </a:t>
            </a:r>
            <a:r>
              <a:rPr lang="es-ES" sz="3200" b="1" dirty="0">
                <a:latin typeface="Atkinson Hyperlegible"/>
              </a:rPr>
              <a:t>ruta principal</a:t>
            </a:r>
            <a:r>
              <a:rPr lang="es-ES" sz="3200" dirty="0">
                <a:latin typeface="Atkinson Hyperlegible"/>
              </a:rPr>
              <a:t>. </a:t>
            </a:r>
          </a:p>
          <a:p>
            <a:pPr marL="514350" indent="-514350">
              <a:buFont typeface="+mj-lt"/>
              <a:buAutoNum type="arabicPeriod"/>
            </a:pPr>
            <a:r>
              <a:rPr lang="es-ES" sz="3200" dirty="0">
                <a:latin typeface="Atkinson Hyperlegible"/>
              </a:rPr>
              <a:t>Se detecta una falla en un enlace, nodo o equipo. </a:t>
            </a:r>
          </a:p>
          <a:p>
            <a:pPr marL="514350" indent="-514350">
              <a:buFont typeface="+mj-lt"/>
              <a:buAutoNum type="arabicPeriod"/>
            </a:pPr>
            <a:r>
              <a:rPr lang="es-ES" sz="3200" dirty="0">
                <a:latin typeface="Atkinson Hyperlegible"/>
              </a:rPr>
              <a:t>Se activa una </a:t>
            </a:r>
            <a:r>
              <a:rPr lang="es-ES" sz="3200" b="1" dirty="0">
                <a:latin typeface="Atkinson Hyperlegible"/>
              </a:rPr>
              <a:t>ruta de respaldo</a:t>
            </a:r>
            <a:r>
              <a:rPr lang="es-ES" sz="3200" dirty="0">
                <a:latin typeface="Atkinson Hyperlegible"/>
              </a:rPr>
              <a:t> o protección. </a:t>
            </a:r>
          </a:p>
          <a:p>
            <a:pPr marL="514350" indent="-514350">
              <a:buFont typeface="+mj-lt"/>
              <a:buAutoNum type="arabicPeriod"/>
            </a:pPr>
            <a:r>
              <a:rPr lang="es-ES" sz="3200" dirty="0">
                <a:latin typeface="Atkinson Hyperlegible"/>
              </a:rPr>
              <a:t>El servicio continúa por un camino alternativo. </a:t>
            </a:r>
          </a:p>
          <a:p>
            <a:pPr marL="514350" indent="-514350">
              <a:buFont typeface="+mj-lt"/>
              <a:buAutoNum type="arabicPeriod"/>
            </a:pPr>
            <a:r>
              <a:rPr lang="es-ES" sz="3200" dirty="0">
                <a:latin typeface="Atkinson Hyperlegible"/>
              </a:rPr>
              <a:t>El sistema puede volver a la ruta principal cuando la falla se resuelve.</a:t>
            </a:r>
          </a:p>
        </p:txBody>
      </p:sp>
      <p:graphicFrame>
        <p:nvGraphicFramePr>
          <p:cNvPr id="2" name="Tabla 1">
            <a:extLst>
              <a:ext uri="{FF2B5EF4-FFF2-40B4-BE49-F238E27FC236}">
                <a16:creationId xmlns:a16="http://schemas.microsoft.com/office/drawing/2014/main" id="{AA501EEB-93F0-DBD0-A584-CAF5642AD29A}"/>
              </a:ext>
            </a:extLst>
          </p:cNvPr>
          <p:cNvGraphicFramePr>
            <a:graphicFrameLocks noGrp="1"/>
          </p:cNvGraphicFramePr>
          <p:nvPr>
            <p:extLst>
              <p:ext uri="{D42A27DB-BD31-4B8C-83A1-F6EECF244321}">
                <p14:modId xmlns:p14="http://schemas.microsoft.com/office/powerpoint/2010/main" val="3769443040"/>
              </p:ext>
            </p:extLst>
          </p:nvPr>
        </p:nvGraphicFramePr>
        <p:xfrm>
          <a:off x="1382156" y="6060947"/>
          <a:ext cx="17338674" cy="3291840"/>
        </p:xfrm>
        <a:graphic>
          <a:graphicData uri="http://schemas.openxmlformats.org/drawingml/2006/table">
            <a:tbl>
              <a:tblPr firstRow="1" firstCol="1">
                <a:tableStyleId>{793D81CF-94F2-401A-BA57-92F5A7B2D0C5}</a:tableStyleId>
              </a:tblPr>
              <a:tblGrid>
                <a:gridCol w="8669337">
                  <a:extLst>
                    <a:ext uri="{9D8B030D-6E8A-4147-A177-3AD203B41FA5}">
                      <a16:colId xmlns:a16="http://schemas.microsoft.com/office/drawing/2014/main" val="1092843249"/>
                    </a:ext>
                  </a:extLst>
                </a:gridCol>
                <a:gridCol w="8669337">
                  <a:extLst>
                    <a:ext uri="{9D8B030D-6E8A-4147-A177-3AD203B41FA5}">
                      <a16:colId xmlns:a16="http://schemas.microsoft.com/office/drawing/2014/main" val="2100592971"/>
                    </a:ext>
                  </a:extLst>
                </a:gridCol>
              </a:tblGrid>
              <a:tr h="543751">
                <a:tc>
                  <a:txBody>
                    <a:bodyPr/>
                    <a:lstStyle/>
                    <a:p>
                      <a:pPr>
                        <a:buNone/>
                      </a:pPr>
                      <a:r>
                        <a:rPr lang="es-CL" sz="3000">
                          <a:latin typeface="Atkinson Hyperlegible"/>
                        </a:rPr>
                        <a:t>Elemento</a:t>
                      </a:r>
                    </a:p>
                  </a:txBody>
                  <a:tcPr anchor="ctr"/>
                </a:tc>
                <a:tc>
                  <a:txBody>
                    <a:bodyPr/>
                    <a:lstStyle/>
                    <a:p>
                      <a:pPr>
                        <a:buNone/>
                      </a:pPr>
                      <a:r>
                        <a:rPr lang="es-CL" sz="3000">
                          <a:latin typeface="Atkinson Hyperlegible"/>
                        </a:rPr>
                        <a:t>Función</a:t>
                      </a:r>
                    </a:p>
                  </a:txBody>
                  <a:tcPr anchor="ctr"/>
                </a:tc>
                <a:extLst>
                  <a:ext uri="{0D108BD9-81ED-4DB2-BD59-A6C34878D82A}">
                    <a16:rowId xmlns:a16="http://schemas.microsoft.com/office/drawing/2014/main" val="42003056"/>
                  </a:ext>
                </a:extLst>
              </a:tr>
              <a:tr h="543751">
                <a:tc>
                  <a:txBody>
                    <a:bodyPr/>
                    <a:lstStyle/>
                    <a:p>
                      <a:pPr>
                        <a:buNone/>
                      </a:pPr>
                      <a:r>
                        <a:rPr lang="es-CL" sz="3000" b="1">
                          <a:latin typeface="Atkinson Hyperlegible"/>
                        </a:rPr>
                        <a:t>Ruta principal</a:t>
                      </a:r>
                      <a:endParaRPr lang="es-CL" sz="3000">
                        <a:latin typeface="Atkinson Hyperlegible"/>
                      </a:endParaRPr>
                    </a:p>
                  </a:txBody>
                  <a:tcPr anchor="ctr"/>
                </a:tc>
                <a:tc>
                  <a:txBody>
                    <a:bodyPr/>
                    <a:lstStyle/>
                    <a:p>
                      <a:pPr>
                        <a:buNone/>
                      </a:pPr>
                      <a:r>
                        <a:rPr lang="es-CL" sz="3000">
                          <a:latin typeface="Atkinson Hyperlegible"/>
                        </a:rPr>
                        <a:t>Camino normal del servicio</a:t>
                      </a:r>
                    </a:p>
                  </a:txBody>
                  <a:tcPr anchor="ctr"/>
                </a:tc>
                <a:extLst>
                  <a:ext uri="{0D108BD9-81ED-4DB2-BD59-A6C34878D82A}">
                    <a16:rowId xmlns:a16="http://schemas.microsoft.com/office/drawing/2014/main" val="2791058620"/>
                  </a:ext>
                </a:extLst>
              </a:tr>
              <a:tr h="543751">
                <a:tc>
                  <a:txBody>
                    <a:bodyPr/>
                    <a:lstStyle/>
                    <a:p>
                      <a:pPr>
                        <a:buNone/>
                      </a:pPr>
                      <a:r>
                        <a:rPr lang="es-CL" sz="3000" b="1" dirty="0">
                          <a:latin typeface="Atkinson Hyperlegible"/>
                        </a:rPr>
                        <a:t>Ruta de respaldo</a:t>
                      </a:r>
                      <a:endParaRPr lang="es-CL" sz="3000" dirty="0">
                        <a:latin typeface="Atkinson Hyperlegible"/>
                      </a:endParaRPr>
                    </a:p>
                  </a:txBody>
                  <a:tcPr anchor="ctr"/>
                </a:tc>
                <a:tc>
                  <a:txBody>
                    <a:bodyPr/>
                    <a:lstStyle/>
                    <a:p>
                      <a:pPr>
                        <a:buNone/>
                      </a:pPr>
                      <a:r>
                        <a:rPr lang="es-CL" sz="3000" dirty="0">
                          <a:latin typeface="Atkinson Hyperlegible"/>
                        </a:rPr>
                        <a:t>Camino alternativo ante falla</a:t>
                      </a:r>
                    </a:p>
                  </a:txBody>
                  <a:tcPr anchor="ctr"/>
                </a:tc>
                <a:extLst>
                  <a:ext uri="{0D108BD9-81ED-4DB2-BD59-A6C34878D82A}">
                    <a16:rowId xmlns:a16="http://schemas.microsoft.com/office/drawing/2014/main" val="3051448326"/>
                  </a:ext>
                </a:extLst>
              </a:tr>
              <a:tr h="543751">
                <a:tc>
                  <a:txBody>
                    <a:bodyPr/>
                    <a:lstStyle/>
                    <a:p>
                      <a:pPr>
                        <a:buNone/>
                      </a:pPr>
                      <a:r>
                        <a:rPr lang="es-CL" sz="3000" b="1">
                          <a:latin typeface="Atkinson Hyperlegible"/>
                        </a:rPr>
                        <a:t>Conmutación</a:t>
                      </a:r>
                      <a:endParaRPr lang="es-CL" sz="3000">
                        <a:latin typeface="Atkinson Hyperlegible"/>
                      </a:endParaRPr>
                    </a:p>
                  </a:txBody>
                  <a:tcPr anchor="ctr"/>
                </a:tc>
                <a:tc>
                  <a:txBody>
                    <a:bodyPr/>
                    <a:lstStyle/>
                    <a:p>
                      <a:pPr>
                        <a:buNone/>
                      </a:pPr>
                      <a:r>
                        <a:rPr lang="es-CL" sz="3000">
                          <a:latin typeface="Atkinson Hyperlegible"/>
                        </a:rPr>
                        <a:t>Cambio del tráfico hacia la ruta alternativa</a:t>
                      </a:r>
                    </a:p>
                  </a:txBody>
                  <a:tcPr anchor="ctr"/>
                </a:tc>
                <a:extLst>
                  <a:ext uri="{0D108BD9-81ED-4DB2-BD59-A6C34878D82A}">
                    <a16:rowId xmlns:a16="http://schemas.microsoft.com/office/drawing/2014/main" val="155750132"/>
                  </a:ext>
                </a:extLst>
              </a:tr>
              <a:tr h="543751">
                <a:tc>
                  <a:txBody>
                    <a:bodyPr/>
                    <a:lstStyle/>
                    <a:p>
                      <a:pPr>
                        <a:buNone/>
                      </a:pPr>
                      <a:r>
                        <a:rPr lang="es-CL" sz="3000" b="1">
                          <a:latin typeface="Atkinson Hyperlegible"/>
                        </a:rPr>
                        <a:t>Protección</a:t>
                      </a:r>
                      <a:endParaRPr lang="es-CL" sz="3000">
                        <a:latin typeface="Atkinson Hyperlegible"/>
                      </a:endParaRPr>
                    </a:p>
                  </a:txBody>
                  <a:tcPr anchor="ctr"/>
                </a:tc>
                <a:tc>
                  <a:txBody>
                    <a:bodyPr/>
                    <a:lstStyle/>
                    <a:p>
                      <a:pPr>
                        <a:buNone/>
                      </a:pPr>
                      <a:r>
                        <a:rPr lang="es-CL" sz="3000">
                          <a:latin typeface="Atkinson Hyperlegible"/>
                        </a:rPr>
                        <a:t>Mecanismo que permite continuidad</a:t>
                      </a:r>
                    </a:p>
                  </a:txBody>
                  <a:tcPr anchor="ctr"/>
                </a:tc>
                <a:extLst>
                  <a:ext uri="{0D108BD9-81ED-4DB2-BD59-A6C34878D82A}">
                    <a16:rowId xmlns:a16="http://schemas.microsoft.com/office/drawing/2014/main" val="4147329271"/>
                  </a:ext>
                </a:extLst>
              </a:tr>
              <a:tr h="543751">
                <a:tc>
                  <a:txBody>
                    <a:bodyPr/>
                    <a:lstStyle/>
                    <a:p>
                      <a:pPr>
                        <a:buNone/>
                      </a:pPr>
                      <a:r>
                        <a:rPr lang="es-CL" sz="3000" b="1">
                          <a:latin typeface="Atkinson Hyperlegible"/>
                        </a:rPr>
                        <a:t>Restauración</a:t>
                      </a:r>
                      <a:endParaRPr lang="es-CL" sz="3000">
                        <a:latin typeface="Atkinson Hyperlegible"/>
                      </a:endParaRPr>
                    </a:p>
                  </a:txBody>
                  <a:tcPr anchor="ctr"/>
                </a:tc>
                <a:tc>
                  <a:txBody>
                    <a:bodyPr/>
                    <a:lstStyle/>
                    <a:p>
                      <a:pPr>
                        <a:buNone/>
                      </a:pPr>
                      <a:r>
                        <a:rPr lang="es-CL" sz="3000" dirty="0">
                          <a:latin typeface="Atkinson Hyperlegible"/>
                        </a:rPr>
                        <a:t>Proceso de recuperar o recalcular ruta</a:t>
                      </a:r>
                    </a:p>
                  </a:txBody>
                  <a:tcPr anchor="ctr"/>
                </a:tc>
                <a:extLst>
                  <a:ext uri="{0D108BD9-81ED-4DB2-BD59-A6C34878D82A}">
                    <a16:rowId xmlns:a16="http://schemas.microsoft.com/office/drawing/2014/main" val="3837355616"/>
                  </a:ext>
                </a:extLst>
              </a:tr>
            </a:tbl>
          </a:graphicData>
        </a:graphic>
      </p:graphicFrame>
    </p:spTree>
    <p:extLst>
      <p:ext uri="{BB962C8B-B14F-4D97-AF65-F5344CB8AC3E}">
        <p14:creationId xmlns:p14="http://schemas.microsoft.com/office/powerpoint/2010/main" val="31076771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0B9CE03-5475-5936-5F42-CC2F7EBE3A4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E46AC96-9F46-5774-9648-0ED71692980F}"/>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433EC00-3A9E-472A-AC03-55C05E5BF17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5A58CAA5-FB82-B577-77AC-0F453022AF88}"/>
              </a:ext>
            </a:extLst>
          </p:cNvPr>
          <p:cNvSpPr txBox="1"/>
          <p:nvPr/>
        </p:nvSpPr>
        <p:spPr>
          <a:xfrm>
            <a:off x="1382156" y="940146"/>
            <a:ext cx="17055745" cy="707886"/>
          </a:xfrm>
          <a:prstGeom prst="rect">
            <a:avLst/>
          </a:prstGeom>
          <a:noFill/>
        </p:spPr>
        <p:txBody>
          <a:bodyPr wrap="square">
            <a:spAutoFit/>
          </a:bodyPr>
          <a:lstStyle/>
          <a:p>
            <a:r>
              <a:rPr lang="es-ES" sz="4000" dirty="0"/>
              <a:t>Ruteo dinámico en redes de fibra óptica</a:t>
            </a:r>
            <a:endParaRPr lang="es-CL" sz="4000" noProof="0" dirty="0">
              <a:latin typeface="Atkinson Hyperlegible"/>
            </a:endParaRPr>
          </a:p>
        </p:txBody>
      </p:sp>
      <p:sp>
        <p:nvSpPr>
          <p:cNvPr id="5" name="5 Rectángulo">
            <a:extLst>
              <a:ext uri="{FF2B5EF4-FFF2-40B4-BE49-F238E27FC236}">
                <a16:creationId xmlns:a16="http://schemas.microsoft.com/office/drawing/2014/main" id="{68E3F1B2-7FE5-0143-D013-E64DC86CE6E0}"/>
              </a:ext>
            </a:extLst>
          </p:cNvPr>
          <p:cNvSpPr/>
          <p:nvPr/>
        </p:nvSpPr>
        <p:spPr>
          <a:xfrm>
            <a:off x="1221683" y="1828291"/>
            <a:ext cx="18598386" cy="1077218"/>
          </a:xfrm>
          <a:prstGeom prst="rect">
            <a:avLst/>
          </a:prstGeom>
          <a:noFill/>
          <a:effectLst/>
        </p:spPr>
        <p:txBody>
          <a:bodyPr wrap="square" lIns="91440" tIns="45720" rIns="91440" bIns="45720" anchor="t">
            <a:spAutoFit/>
          </a:bodyPr>
          <a:lstStyle/>
          <a:p>
            <a:r>
              <a:rPr lang="es-ES" sz="3200" dirty="0">
                <a:latin typeface="Atkinson Hyperlegible"/>
              </a:rPr>
              <a:t>El </a:t>
            </a:r>
            <a:r>
              <a:rPr lang="es-ES" sz="3200" b="1" dirty="0">
                <a:latin typeface="Atkinson Hyperlegible"/>
              </a:rPr>
              <a:t>ruteo dinámico</a:t>
            </a:r>
            <a:r>
              <a:rPr lang="es-ES" sz="3200" dirty="0">
                <a:latin typeface="Atkinson Hyperlegible"/>
              </a:rPr>
              <a:t> permite que una red óptica ajuste o recalcule rutas de transporte cuando cambian las condiciones de la red.</a:t>
            </a:r>
          </a:p>
        </p:txBody>
      </p:sp>
      <p:sp>
        <p:nvSpPr>
          <p:cNvPr id="6" name="5 Rectángulo">
            <a:extLst>
              <a:ext uri="{FF2B5EF4-FFF2-40B4-BE49-F238E27FC236}">
                <a16:creationId xmlns:a16="http://schemas.microsoft.com/office/drawing/2014/main" id="{4389457F-B34C-ABA8-9856-B78EF4901238}"/>
              </a:ext>
            </a:extLst>
          </p:cNvPr>
          <p:cNvSpPr/>
          <p:nvPr/>
        </p:nvSpPr>
        <p:spPr>
          <a:xfrm>
            <a:off x="1382156" y="2959734"/>
            <a:ext cx="17381110" cy="3539430"/>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latin typeface="Atkinson Hyperlegible"/>
              </a:rPr>
              <a:t>¿Cuándo se necesita?</a:t>
            </a:r>
          </a:p>
          <a:p>
            <a:pPr marL="457200" indent="-457200">
              <a:buFont typeface="Arial" panose="020B0604020202020204" pitchFamily="34" charset="0"/>
              <a:buChar char="•"/>
            </a:pPr>
            <a:r>
              <a:rPr lang="es-ES" sz="3200" dirty="0">
                <a:latin typeface="Atkinson Hyperlegible"/>
              </a:rPr>
              <a:t>Falla de un enlace de fibra. </a:t>
            </a:r>
          </a:p>
          <a:p>
            <a:pPr marL="457200" indent="-457200">
              <a:buFont typeface="Arial" panose="020B0604020202020204" pitchFamily="34" charset="0"/>
              <a:buChar char="•"/>
            </a:pPr>
            <a:r>
              <a:rPr lang="es-ES" sz="3200" dirty="0">
                <a:latin typeface="Atkinson Hyperlegible"/>
              </a:rPr>
              <a:t>Falla de un nodo óptico. </a:t>
            </a:r>
          </a:p>
          <a:p>
            <a:pPr marL="457200" indent="-457200">
              <a:buFont typeface="Arial" panose="020B0604020202020204" pitchFamily="34" charset="0"/>
              <a:buChar char="•"/>
            </a:pPr>
            <a:r>
              <a:rPr lang="es-ES" sz="3200" dirty="0">
                <a:latin typeface="Atkinson Hyperlegible"/>
              </a:rPr>
              <a:t>Saturación o falta de capacidad en una ruta. </a:t>
            </a:r>
          </a:p>
          <a:p>
            <a:pPr marL="457200" indent="-457200">
              <a:buFont typeface="Arial" panose="020B0604020202020204" pitchFamily="34" charset="0"/>
              <a:buChar char="•"/>
            </a:pPr>
            <a:r>
              <a:rPr lang="es-ES" sz="3200" dirty="0">
                <a:latin typeface="Atkinson Hyperlegible"/>
              </a:rPr>
              <a:t>Mantenimiento programado. </a:t>
            </a:r>
          </a:p>
          <a:p>
            <a:pPr marL="457200" indent="-457200">
              <a:buFont typeface="Arial" panose="020B0604020202020204" pitchFamily="34" charset="0"/>
              <a:buChar char="•"/>
            </a:pPr>
            <a:r>
              <a:rPr lang="es-ES" sz="3200" dirty="0">
                <a:latin typeface="Atkinson Hyperlegible"/>
              </a:rPr>
              <a:t>Degradación del enlace óptico. </a:t>
            </a:r>
          </a:p>
          <a:p>
            <a:pPr marL="457200" indent="-457200">
              <a:buFont typeface="Arial" panose="020B0604020202020204" pitchFamily="34" charset="0"/>
              <a:buChar char="•"/>
            </a:pPr>
            <a:r>
              <a:rPr lang="es-ES" sz="3200" dirty="0">
                <a:latin typeface="Atkinson Hyperlegible"/>
              </a:rPr>
              <a:t>Necesidad de optimizar recursos disponibles. </a:t>
            </a:r>
          </a:p>
        </p:txBody>
      </p:sp>
      <p:sp>
        <p:nvSpPr>
          <p:cNvPr id="3" name="5 Rectángulo">
            <a:extLst>
              <a:ext uri="{FF2B5EF4-FFF2-40B4-BE49-F238E27FC236}">
                <a16:creationId xmlns:a16="http://schemas.microsoft.com/office/drawing/2014/main" id="{FF4E7756-CC38-E874-087D-C40C60648388}"/>
              </a:ext>
            </a:extLst>
          </p:cNvPr>
          <p:cNvSpPr/>
          <p:nvPr/>
        </p:nvSpPr>
        <p:spPr>
          <a:xfrm>
            <a:off x="1382156" y="6658320"/>
            <a:ext cx="17381110" cy="3046988"/>
          </a:xfrm>
          <a:prstGeom prst="rect">
            <a:avLst/>
          </a:prstGeom>
          <a:solidFill>
            <a:schemeClr val="accent6">
              <a:lumMod val="40000"/>
              <a:lumOff val="60000"/>
            </a:schemeClr>
          </a:solidFill>
          <a:effectLst/>
        </p:spPr>
        <p:txBody>
          <a:bodyPr wrap="square" lIns="91440" tIns="45720" rIns="91440" bIns="45720" anchor="t">
            <a:spAutoFit/>
          </a:bodyPr>
          <a:lstStyle/>
          <a:p>
            <a:r>
              <a:rPr lang="es-ES" sz="3200" b="1" dirty="0">
                <a:latin typeface="Atkinson Hyperlegible"/>
              </a:rPr>
              <a:t>Funcionamiento general</a:t>
            </a:r>
          </a:p>
          <a:p>
            <a:pPr marL="514350" indent="-514350">
              <a:buFont typeface="+mj-lt"/>
              <a:buAutoNum type="arabicPeriod"/>
            </a:pPr>
            <a:r>
              <a:rPr lang="es-ES" sz="3200" dirty="0">
                <a:latin typeface="Atkinson Hyperlegible"/>
              </a:rPr>
              <a:t>La red detecta una condición anormal o cambio de estado. </a:t>
            </a:r>
          </a:p>
          <a:p>
            <a:pPr marL="514350" indent="-514350">
              <a:buFont typeface="+mj-lt"/>
              <a:buAutoNum type="arabicPeriod"/>
            </a:pPr>
            <a:r>
              <a:rPr lang="es-ES" sz="3200" dirty="0">
                <a:latin typeface="Atkinson Hyperlegible"/>
              </a:rPr>
              <a:t>Se evalúan rutas alternativas disponibles. </a:t>
            </a:r>
          </a:p>
          <a:p>
            <a:pPr marL="514350" indent="-514350">
              <a:buFont typeface="+mj-lt"/>
              <a:buAutoNum type="arabicPeriod"/>
            </a:pPr>
            <a:r>
              <a:rPr lang="es-ES" sz="3200" dirty="0">
                <a:latin typeface="Atkinson Hyperlegible"/>
              </a:rPr>
              <a:t>Se selecciona un nuevo camino según criterios técnicos. </a:t>
            </a:r>
          </a:p>
          <a:p>
            <a:pPr marL="514350" indent="-514350">
              <a:buFont typeface="+mj-lt"/>
              <a:buAutoNum type="arabicPeriod"/>
            </a:pPr>
            <a:r>
              <a:rPr lang="es-ES" sz="3200" dirty="0">
                <a:latin typeface="Atkinson Hyperlegible"/>
              </a:rPr>
              <a:t>El servicio se conmuta o restablece por la nueva ruta. </a:t>
            </a:r>
          </a:p>
          <a:p>
            <a:pPr marL="514350" indent="-514350">
              <a:buFont typeface="+mj-lt"/>
              <a:buAutoNum type="arabicPeriod"/>
            </a:pPr>
            <a:r>
              <a:rPr lang="es-ES" sz="3200" dirty="0">
                <a:latin typeface="Atkinson Hyperlegible"/>
              </a:rPr>
              <a:t>La red mantiene continuidad o minimiza el tiempo de interrupción.</a:t>
            </a:r>
          </a:p>
        </p:txBody>
      </p:sp>
    </p:spTree>
    <p:extLst>
      <p:ext uri="{BB962C8B-B14F-4D97-AF65-F5344CB8AC3E}">
        <p14:creationId xmlns:p14="http://schemas.microsoft.com/office/powerpoint/2010/main" val="1242778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CCFD2BF-6EEE-124C-2630-F7305353B65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34B957E4-0A58-3C07-4EBE-4C453875E121}"/>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CF3DE4BE-C61C-9B5D-CA6E-768E824D1297}"/>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SISTEMAS DE TRANSMISIÓN GUIADOS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EF6886D-7749-6E2F-45E4-E6ED7E23F0D5}"/>
              </a:ext>
            </a:extLst>
          </p:cNvPr>
          <p:cNvSpPr txBox="1"/>
          <p:nvPr/>
        </p:nvSpPr>
        <p:spPr>
          <a:xfrm>
            <a:off x="1382156" y="940146"/>
            <a:ext cx="17055745" cy="707886"/>
          </a:xfrm>
          <a:prstGeom prst="rect">
            <a:avLst/>
          </a:prstGeom>
          <a:noFill/>
        </p:spPr>
        <p:txBody>
          <a:bodyPr wrap="square">
            <a:spAutoFit/>
          </a:bodyPr>
          <a:lstStyle/>
          <a:p>
            <a:r>
              <a:rPr lang="es-ES" sz="4000" dirty="0"/>
              <a:t>Ruteo dinámico en redes de fibra óptica</a:t>
            </a:r>
            <a:endParaRPr lang="es-CL" sz="4000" noProof="0" dirty="0">
              <a:latin typeface="Atkinson Hyperlegible"/>
            </a:endParaRPr>
          </a:p>
        </p:txBody>
      </p:sp>
      <p:sp>
        <p:nvSpPr>
          <p:cNvPr id="6" name="5 Rectángulo">
            <a:extLst>
              <a:ext uri="{FF2B5EF4-FFF2-40B4-BE49-F238E27FC236}">
                <a16:creationId xmlns:a16="http://schemas.microsoft.com/office/drawing/2014/main" id="{A0B948A4-818E-0B83-192F-EA8705D76ADF}"/>
              </a:ext>
            </a:extLst>
          </p:cNvPr>
          <p:cNvSpPr/>
          <p:nvPr/>
        </p:nvSpPr>
        <p:spPr>
          <a:xfrm>
            <a:off x="1487087" y="1970556"/>
            <a:ext cx="17381110" cy="3539430"/>
          </a:xfrm>
          <a:prstGeom prst="rect">
            <a:avLst/>
          </a:prstGeom>
          <a:solidFill>
            <a:schemeClr val="accent3">
              <a:lumMod val="60000"/>
              <a:lumOff val="40000"/>
            </a:schemeClr>
          </a:solidFill>
          <a:effectLst/>
        </p:spPr>
        <p:txBody>
          <a:bodyPr wrap="square" lIns="91440" tIns="45720" rIns="91440" bIns="45720" anchor="t">
            <a:spAutoFit/>
          </a:bodyPr>
          <a:lstStyle/>
          <a:p>
            <a:r>
              <a:rPr lang="es-ES" sz="3200" b="1" dirty="0"/>
              <a:t>Criterios de ruteo dinámico</a:t>
            </a:r>
          </a:p>
          <a:p>
            <a:pPr marL="457200" indent="-457200">
              <a:buFont typeface="Arial" panose="020B0604020202020204" pitchFamily="34" charset="0"/>
              <a:buChar char="•"/>
            </a:pPr>
            <a:r>
              <a:rPr lang="es-ES" sz="3200" dirty="0">
                <a:latin typeface="Atkinson Hyperlegible"/>
              </a:rPr>
              <a:t>Disponibilidad del enlace. </a:t>
            </a:r>
          </a:p>
          <a:p>
            <a:pPr marL="457200" indent="-457200">
              <a:buFont typeface="Arial" panose="020B0604020202020204" pitchFamily="34" charset="0"/>
              <a:buChar char="•"/>
            </a:pPr>
            <a:r>
              <a:rPr lang="es-ES" sz="3200" dirty="0">
                <a:latin typeface="Atkinson Hyperlegible"/>
              </a:rPr>
              <a:t>Capacidad libre. </a:t>
            </a:r>
          </a:p>
          <a:p>
            <a:pPr marL="457200" indent="-457200">
              <a:buFont typeface="Arial" panose="020B0604020202020204" pitchFamily="34" charset="0"/>
              <a:buChar char="•"/>
            </a:pPr>
            <a:r>
              <a:rPr lang="es-ES" sz="3200" dirty="0">
                <a:latin typeface="Atkinson Hyperlegible"/>
              </a:rPr>
              <a:t>Atenuación / calidad óptica. </a:t>
            </a:r>
          </a:p>
          <a:p>
            <a:pPr marL="457200" indent="-457200">
              <a:buFont typeface="Arial" panose="020B0604020202020204" pitchFamily="34" charset="0"/>
              <a:buChar char="•"/>
            </a:pPr>
            <a:r>
              <a:rPr lang="es-ES" sz="3200" dirty="0">
                <a:latin typeface="Atkinson Hyperlegible"/>
              </a:rPr>
              <a:t>Cantidad de saltos. </a:t>
            </a:r>
          </a:p>
          <a:p>
            <a:pPr marL="457200" indent="-457200">
              <a:buFont typeface="Arial" panose="020B0604020202020204" pitchFamily="34" charset="0"/>
              <a:buChar char="•"/>
            </a:pPr>
            <a:r>
              <a:rPr lang="es-ES" sz="3200" dirty="0">
                <a:latin typeface="Atkinson Hyperlegible"/>
              </a:rPr>
              <a:t>Prioridad del servicio. </a:t>
            </a:r>
          </a:p>
          <a:p>
            <a:pPr marL="457200" indent="-457200">
              <a:buFont typeface="Arial" panose="020B0604020202020204" pitchFamily="34" charset="0"/>
              <a:buChar char="•"/>
            </a:pPr>
            <a:r>
              <a:rPr lang="es-ES" sz="3200" dirty="0">
                <a:latin typeface="Atkinson Hyperlegible"/>
              </a:rPr>
              <a:t>Existencia de longitud de onda disponible, si hay WDM.</a:t>
            </a:r>
          </a:p>
        </p:txBody>
      </p:sp>
    </p:spTree>
    <p:extLst>
      <p:ext uri="{BB962C8B-B14F-4D97-AF65-F5344CB8AC3E}">
        <p14:creationId xmlns:p14="http://schemas.microsoft.com/office/powerpoint/2010/main" val="2871622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02B9-EA61-B724-86FF-88F84748DCF5}"/>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0FCF618F-7E6E-94DB-387A-84F2016E3B29}"/>
              </a:ext>
            </a:extLst>
          </p:cNvPr>
          <p:cNvSpPr>
            <a:spLocks noGrp="1"/>
          </p:cNvSpPr>
          <p:nvPr>
            <p:ph type="title"/>
          </p:nvPr>
        </p:nvSpPr>
        <p:spPr/>
        <p:txBody>
          <a:bodyPr/>
          <a:lstStyle/>
          <a:p>
            <a:endParaRPr lang="es-CL" noProof="0" dirty="0"/>
          </a:p>
        </p:txBody>
      </p:sp>
      <p:pic>
        <p:nvPicPr>
          <p:cNvPr id="2050" name="Picture 2" descr="C:\Users\FHidalgoP\Downloads\Diapositiva1_portada3 (1).jpg">
            <a:extLst>
              <a:ext uri="{FF2B5EF4-FFF2-40B4-BE49-F238E27FC236}">
                <a16:creationId xmlns:a16="http://schemas.microsoft.com/office/drawing/2014/main" id="{A7C27BC0-C5F5-677A-C0FD-C80D0C296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162"/>
            <a:ext cx="20112192" cy="11309350"/>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173BAEAB-F5DF-6E9F-E933-68060E9B7E0F}"/>
              </a:ext>
            </a:extLst>
          </p:cNvPr>
          <p:cNvSpPr txBox="1"/>
          <p:nvPr/>
        </p:nvSpPr>
        <p:spPr>
          <a:xfrm>
            <a:off x="831850" y="8161793"/>
            <a:ext cx="18564837" cy="2223813"/>
          </a:xfrm>
          <a:prstGeom prst="rect">
            <a:avLst/>
          </a:prstGeom>
          <a:noFill/>
          <a:effectLst>
            <a:outerShdw blurRad="50800" dist="38100" dir="5400000" algn="t" rotWithShape="0">
              <a:prstClr val="black">
                <a:alpha val="40000"/>
              </a:prstClr>
            </a:outerShdw>
          </a:effectLst>
        </p:spPr>
        <p:txBody>
          <a:bodyPr vert="horz" wrap="square" lIns="0" tIns="349884" rIns="0" bIns="0" rtlCol="0">
            <a:spAutoFit/>
          </a:bodyPr>
          <a:lstStyle/>
          <a:p>
            <a:pPr>
              <a:lnSpc>
                <a:spcPct val="150000"/>
              </a:lnSpc>
            </a:pPr>
            <a:r>
              <a:rPr lang="es-CL" sz="6000" b="1" kern="100"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SISTEMAS DE TRANSMISIÓN</a:t>
            </a:r>
          </a:p>
          <a:p>
            <a:pPr>
              <a:lnSpc>
                <a:spcPct val="150000"/>
              </a:lnSpc>
            </a:pPr>
            <a:r>
              <a:rPr lang="es-CL" sz="2400" b="1" kern="100" noProof="0" dirty="0">
                <a:solidFill>
                  <a:schemeClr val="bg1"/>
                </a:solidFill>
                <a:latin typeface="Arial" panose="020B0604020202020204" pitchFamily="34" charset="0"/>
                <a:ea typeface="Roboto" panose="02000000000000000000" pitchFamily="2" charset="0"/>
                <a:cs typeface="Arial" panose="020B0604020202020204" pitchFamily="34" charset="0"/>
              </a:rPr>
              <a:t>CAP. JACOB BARQUI PÉREZ</a:t>
            </a:r>
          </a:p>
        </p:txBody>
      </p:sp>
      <p:sp>
        <p:nvSpPr>
          <p:cNvPr id="6" name="CuadroTexto 1">
            <a:extLst>
              <a:ext uri="{FF2B5EF4-FFF2-40B4-BE49-F238E27FC236}">
                <a16:creationId xmlns:a16="http://schemas.microsoft.com/office/drawing/2014/main" id="{2BD7AF8A-199B-B386-2989-3AFBFF724404}"/>
              </a:ext>
            </a:extLst>
          </p:cNvPr>
          <p:cNvSpPr txBox="1"/>
          <p:nvPr/>
        </p:nvSpPr>
        <p:spPr>
          <a:xfrm>
            <a:off x="17637126" y="1937258"/>
            <a:ext cx="2051049" cy="400110"/>
          </a:xfrm>
          <a:prstGeom prst="rect">
            <a:avLst/>
          </a:prstGeom>
          <a:noFill/>
        </p:spPr>
        <p:txBody>
          <a:bodyPr wrap="square" rtlCol="0">
            <a:spAutoFit/>
          </a:bodyPr>
          <a:lstStyle/>
          <a:p>
            <a:pPr algn="ctr"/>
            <a:r>
              <a:rPr lang="es-CL" sz="2000" noProof="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s-CL" sz="2000" b="1"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MAY</a:t>
            </a:r>
            <a:r>
              <a:rPr lang="es-CL" sz="2000" b="1"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 2026</a:t>
            </a:r>
          </a:p>
        </p:txBody>
      </p:sp>
      <p:pic>
        <p:nvPicPr>
          <p:cNvPr id="7" name="Imagen 4">
            <a:extLst>
              <a:ext uri="{FF2B5EF4-FFF2-40B4-BE49-F238E27FC236}">
                <a16:creationId xmlns:a16="http://schemas.microsoft.com/office/drawing/2014/main" id="{DC807EC9-9D52-7C43-CC8D-85FA067549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8615" y="168276"/>
            <a:ext cx="1468072" cy="1600200"/>
          </a:xfrm>
          <a:prstGeom prst="rect">
            <a:avLst/>
          </a:prstGeom>
        </p:spPr>
      </p:pic>
      <p:pic>
        <p:nvPicPr>
          <p:cNvPr id="13" name="Imagen 12" descr="Logotipo&#10;&#10;El contenido generado por IA puede ser incorrecto.">
            <a:extLst>
              <a:ext uri="{FF2B5EF4-FFF2-40B4-BE49-F238E27FC236}">
                <a16:creationId xmlns:a16="http://schemas.microsoft.com/office/drawing/2014/main" id="{B24191BE-31B1-4B8B-8F0D-9EE4E03EDE3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5657" y="-366510"/>
            <a:ext cx="1632386" cy="1937258"/>
          </a:xfrm>
          <a:prstGeom prst="rect">
            <a:avLst/>
          </a:prstGeom>
        </p:spPr>
      </p:pic>
    </p:spTree>
    <p:extLst>
      <p:ext uri="{BB962C8B-B14F-4D97-AF65-F5344CB8AC3E}">
        <p14:creationId xmlns:p14="http://schemas.microsoft.com/office/powerpoint/2010/main" val="10456724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3760</TotalTime>
  <Words>4030</Words>
  <Application>Microsoft Office PowerPoint</Application>
  <PresentationFormat>Personalizado</PresentationFormat>
  <Paragraphs>477</Paragraphs>
  <Slides>30</Slides>
  <Notes>24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Atkinson Hyperlegible</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afgd3l2</cp:lastModifiedBy>
  <cp:revision>443</cp:revision>
  <dcterms:modified xsi:type="dcterms:W3CDTF">2026-05-05T07:04:50Z</dcterms:modified>
</cp:coreProperties>
</file>