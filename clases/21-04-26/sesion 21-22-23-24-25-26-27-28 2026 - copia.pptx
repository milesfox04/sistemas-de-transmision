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1718" r:id="rId2"/>
    <p:sldId id="257" r:id="rId3"/>
    <p:sldId id="1708" r:id="rId4"/>
    <p:sldId id="1725" r:id="rId5"/>
    <p:sldId id="1720" r:id="rId6"/>
    <p:sldId id="1721" r:id="rId7"/>
    <p:sldId id="1731" r:id="rId8"/>
    <p:sldId id="1808" r:id="rId9"/>
    <p:sldId id="1776" r:id="rId10"/>
    <p:sldId id="1809" r:id="rId11"/>
    <p:sldId id="1810" r:id="rId12"/>
    <p:sldId id="1811" r:id="rId13"/>
    <p:sldId id="1812" r:id="rId14"/>
    <p:sldId id="1784" r:id="rId15"/>
    <p:sldId id="1813" r:id="rId16"/>
    <p:sldId id="1814" r:id="rId17"/>
    <p:sldId id="1815" r:id="rId18"/>
    <p:sldId id="1816" r:id="rId19"/>
    <p:sldId id="1729" r:id="rId20"/>
  </p:sldIdLst>
  <p:sldSz cx="20104100" cy="11309350"/>
  <p:notesSz cx="9296400" cy="7010400"/>
  <p:defaultTextStyle>
    <a:defPPr lvl="0">
      <a:defRPr lang="es-CL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9897051-24AE-98AE-7D1D-12996A0AA340}" name="afgd3l2" initials="a" userId="S::afgd3l2@verykvm.com::a234dbd5-222b-47e7-a1d4-2c032f33b77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73" autoAdjust="0"/>
  </p:normalViewPr>
  <p:slideViewPr>
    <p:cSldViewPr snapToGrid="0">
      <p:cViewPr varScale="1">
        <p:scale>
          <a:sx n="64" d="100"/>
          <a:sy n="64" d="100"/>
        </p:scale>
        <p:origin x="774" y="10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-213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636" cy="351308"/>
          </a:xfrm>
          <a:prstGeom prst="rect">
            <a:avLst/>
          </a:prstGeom>
        </p:spPr>
        <p:txBody>
          <a:bodyPr vert="horz" lIns="47092" tIns="23546" rIns="47092" bIns="23546" rtlCol="0"/>
          <a:lstStyle>
            <a:lvl1pPr algn="l">
              <a:defRPr sz="6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265562" y="0"/>
            <a:ext cx="4028636" cy="351308"/>
          </a:xfrm>
          <a:prstGeom prst="rect">
            <a:avLst/>
          </a:prstGeom>
        </p:spPr>
        <p:txBody>
          <a:bodyPr vert="horz" lIns="47092" tIns="23546" rIns="47092" bIns="23546" rtlCol="0"/>
          <a:lstStyle>
            <a:lvl1pPr algn="r">
              <a:defRPr sz="600"/>
            </a:lvl1pPr>
          </a:lstStyle>
          <a:p>
            <a:fld id="{BA6E888F-4D11-6642-A67A-175E177747A6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47092" tIns="23546" rIns="47092" bIns="23546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29348" y="3373337"/>
            <a:ext cx="7437707" cy="2761255"/>
          </a:xfrm>
          <a:prstGeom prst="rect">
            <a:avLst/>
          </a:prstGeom>
        </p:spPr>
        <p:txBody>
          <a:bodyPr vert="horz" lIns="47092" tIns="23546" rIns="47092" bIns="23546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659094"/>
            <a:ext cx="4028636" cy="351307"/>
          </a:xfrm>
          <a:prstGeom prst="rect">
            <a:avLst/>
          </a:prstGeom>
        </p:spPr>
        <p:txBody>
          <a:bodyPr vert="horz" lIns="47092" tIns="23546" rIns="47092" bIns="23546" rtlCol="0" anchor="b"/>
          <a:lstStyle>
            <a:lvl1pPr algn="l">
              <a:defRPr sz="6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265562" y="6659094"/>
            <a:ext cx="4028636" cy="351307"/>
          </a:xfrm>
          <a:prstGeom prst="rect">
            <a:avLst/>
          </a:prstGeom>
        </p:spPr>
        <p:txBody>
          <a:bodyPr vert="horz" lIns="47092" tIns="23546" rIns="47092" bIns="23546" rtlCol="0" anchor="b"/>
          <a:lstStyle>
            <a:lvl1pPr algn="r">
              <a:defRPr sz="600"/>
            </a:lvl1pPr>
          </a:lstStyle>
          <a:p>
            <a:fld id="{235CC6FD-75C5-034E-BC56-691A10C416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0829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5652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microondas casi siempre trabajamos punto a punto con antenas direccionales. La clave es la línea de vista y la planificación del trayecto: la energía va en un haz estrecho, por eso la alineación importa. En el próximo paso veremos cómo se cuantifican pérdidas y ganancias con un link </a:t>
            </a:r>
            <a:r>
              <a:rPr lang="es-ES" dirty="0" err="1"/>
              <a:t>budget</a:t>
            </a:r>
            <a:r>
              <a:rPr lang="es-ES" dirty="0"/>
              <a:t> en dB.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51528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D9686-4327-0E9C-8D0F-64456337D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51ACE0E-5D2D-9251-3A26-D80EAB6C6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685C762-BB15-1DD8-F6C0-7B0CB4987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C2387C-670F-E48A-2C64-51B8C2FD7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8281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CEC31-FD7C-C136-9537-5FC5E5E8F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7CBB053-2B00-E2EA-A1CA-7C22B3DC9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882D58E-BD78-F2CC-2813-D86917BE6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398D9A-B3FE-1FF8-1519-73D84BDB1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43687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DCEBA-215C-7FAA-5F1E-78DDD8012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F4012-045E-2FBD-9DA8-BD451B073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notas 2">
                <a:extLst>
                  <a:ext uri="{FF2B5EF4-FFF2-40B4-BE49-F238E27FC236}">
                    <a16:creationId xmlns:a16="http://schemas.microsoft.com/office/drawing/2014/main" id="{E694A3CA-8DED-542C-0E69-C9D5F91E729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CL" dirty="0"/>
                  <a:t>“Esto es el corazón del cálculo de enlace: una contabilidad en dB. Partimos con potencia transmitida, sumamos ganancias de antenas y restamos pérdidas de cables y del trayecto. Lo único que cambia entre escenarios es cuánto vale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𝑝𝑎𝑡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h</m:t>
                        </m:r>
                      </m:sub>
                    </m:sSub>
                  </m:oMath>
                </a14:m>
                <a:r>
                  <a:rPr lang="es-CL" dirty="0"/>
                  <a:t>y qué pérdidas adicionales hay. Ahora pasamos a calcular la pérdida base del trayecto con </a:t>
                </a:r>
                <a:r>
                  <a:rPr lang="es-CL" dirty="0" err="1"/>
                  <a:t>P.525</a:t>
                </a:r>
                <a:r>
                  <a:rPr lang="es-CL" dirty="0"/>
                  <a:t>.”</a:t>
                </a:r>
              </a:p>
            </p:txBody>
          </p:sp>
        </mc:Choice>
        <mc:Fallback>
          <p:sp>
            <p:nvSpPr>
              <p:cNvPr id="3" name="Marcador de notas 2">
                <a:extLst>
                  <a:ext uri="{FF2B5EF4-FFF2-40B4-BE49-F238E27FC236}">
                    <a16:creationId xmlns:a16="http://schemas.microsoft.com/office/drawing/2014/main" id="{E694A3CA-8DED-542C-0E69-C9D5F91E729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CL" dirty="0"/>
                  <a:t>“Esto es el corazón del cálculo de enlace: una contabilidad en dB. Partimos con potencia transmitida, sumamos ganancias de antenas y restamos pérdidas de cables y del trayecto. Lo único que cambia entre escenarios es cuánto vale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𝐿_𝑝𝑎𝑡ℎ</a:t>
                </a:r>
                <a:r>
                  <a:rPr lang="es-CL" dirty="0"/>
                  <a:t>y qué pérdidas adicionales hay. Ahora pasamos a calcular la pérdida base del trayecto con </a:t>
                </a:r>
                <a:r>
                  <a:rPr lang="es-CL" dirty="0" err="1"/>
                  <a:t>P.525</a:t>
                </a:r>
                <a:r>
                  <a:rPr lang="es-CL" dirty="0"/>
                  <a:t>.”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B477D1-ED10-2233-E09A-3000E743B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02137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A7F0E-4090-7314-92DB-11C1C0B39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D24027C-2C17-7347-AACE-D2652023E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E5E8834-16DA-1F04-E899-18B8F643C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84617D-BA3B-99CB-4C17-FA408624F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06739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D1046-CBFC-19F7-BF79-094D4DA37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153FB94-650B-8797-6219-4C58E1D8C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FF3C04E-1790-3104-4DBC-C682654BF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936CAD-40A2-B047-830A-481EB6376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0440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BE4BB-9095-856F-F468-DC4B93CC0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71C4D11-81D5-650D-2BBB-DF2EDB066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0DEBCF4-7EE7-BB40-A604-BFDE52D87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AAB684-A274-439C-54C1-A6E2F7E38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931722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7F664-7B06-C9D8-A6E3-ECFB17987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EF5390D-5881-EDF5-4F28-90ABD34A2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ACDFA1-65F4-B268-A3CC-29652B92F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756F0F-E682-2512-EE34-8937F69D7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0250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6266B-346E-7AFF-1F4B-8D6917CF8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2E32386-C3C4-715B-A070-06B2EA2B6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B7C22B2-FE8C-5256-05FA-223FE36E8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6431C5-91B9-012C-DCE1-BA057C557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6794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10B8E-D273-6B9A-EF0E-57C128EBE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CB08C95-647B-1179-72FC-68A9A226D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CFF474C-8A57-76BC-1630-0725D990C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024097-E5D8-E4BF-4264-41F3FA67E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58062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BA5EE-0385-CB20-B115-D5DD748A0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D1BC56-2F9F-1EFB-8A1A-1E495F093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notas 2">
                <a:extLst>
                  <a:ext uri="{FF2B5EF4-FFF2-40B4-BE49-F238E27FC236}">
                    <a16:creationId xmlns:a16="http://schemas.microsoft.com/office/drawing/2014/main" id="{0287F1D0-69CB-16DF-2DDC-D770016DC8F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CL" dirty="0"/>
                  <a:t>Convertimos </a:t>
                </a:r>
                <a14:m>
                  <m:oMath xmlns:m="http://schemas.openxmlformats.org/officeDocument/2006/math">
                    <m:r>
                      <a:rPr lang="es-CL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𝑓</m:t>
                    </m:r>
                  </m:oMath>
                </a14:m>
                <a:r>
                  <a:rPr lang="es-CL" dirty="0"/>
                  <a:t>a MHz (6000 MHz) y tomamos </a:t>
                </a:r>
                <a14:m>
                  <m:oMath xmlns:m="http://schemas.openxmlformats.org/officeDocument/2006/math">
                    <m:r>
                      <a:rPr lang="es-CL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𝑑</m:t>
                    </m:r>
                  </m:oMath>
                </a14:m>
                <a:r>
                  <a:rPr lang="es-CL" dirty="0"/>
                  <a:t>en km (10 km). Calculamos </a:t>
                </a:r>
                <a:r>
                  <a:rPr lang="es-CL" dirty="0" err="1"/>
                  <a:t>FSPL</a:t>
                </a:r>
                <a:r>
                  <a:rPr lang="es-CL" dirty="0"/>
                  <a:t> con </a:t>
                </a:r>
                <a:r>
                  <a:rPr lang="es-CL" dirty="0" err="1"/>
                  <a:t>P.525</a:t>
                </a:r>
                <a:r>
                  <a:rPr lang="es-CL" dirty="0"/>
                  <a:t> (sale ≈ 128 dB). Aplicamos link </a:t>
                </a:r>
                <a:r>
                  <a:rPr lang="es-CL" dirty="0" err="1"/>
                  <a:t>budget</a:t>
                </a:r>
                <a:r>
                  <a:rPr lang="es-CL" dirty="0"/>
                  <a:t> sumando ganancias y restando pérdidas. Comparamos con sensibilidad: margen 13 dB → </a:t>
                </a:r>
                <a:r>
                  <a:rPr lang="es-CL" b="1" dirty="0"/>
                  <a:t>enlace cumple</a:t>
                </a:r>
                <a:r>
                  <a:rPr lang="es-CL" dirty="0"/>
                  <a:t>.</a:t>
                </a:r>
              </a:p>
            </p:txBody>
          </p:sp>
        </mc:Choice>
        <mc:Fallback>
          <p:sp>
            <p:nvSpPr>
              <p:cNvPr id="3" name="Marcador de notas 2">
                <a:extLst>
                  <a:ext uri="{FF2B5EF4-FFF2-40B4-BE49-F238E27FC236}">
                    <a16:creationId xmlns:a16="http://schemas.microsoft.com/office/drawing/2014/main" id="{0287F1D0-69CB-16DF-2DDC-D770016DC8F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CL" dirty="0"/>
                  <a:t>Convertimos </a:t>
                </a:r>
                <a:r>
                  <a:rPr lang="es-CL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𝑓</a:t>
                </a:r>
                <a:r>
                  <a:rPr lang="es-CL" dirty="0"/>
                  <a:t>a MHz (6000 MHz) y tomamos </a:t>
                </a:r>
                <a:r>
                  <a:rPr lang="es-CL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𝑑</a:t>
                </a:r>
                <a:r>
                  <a:rPr lang="es-CL" dirty="0"/>
                  <a:t>en km (10 km). Calculamos </a:t>
                </a:r>
                <a:r>
                  <a:rPr lang="es-CL" dirty="0" err="1"/>
                  <a:t>FSPL</a:t>
                </a:r>
                <a:r>
                  <a:rPr lang="es-CL" dirty="0"/>
                  <a:t> con </a:t>
                </a:r>
                <a:r>
                  <a:rPr lang="es-CL" dirty="0" err="1"/>
                  <a:t>P.525</a:t>
                </a:r>
                <a:r>
                  <a:rPr lang="es-CL" dirty="0"/>
                  <a:t> (sale ≈ 128 dB). Aplicamos link </a:t>
                </a:r>
                <a:r>
                  <a:rPr lang="es-CL" dirty="0" err="1"/>
                  <a:t>budget</a:t>
                </a:r>
                <a:r>
                  <a:rPr lang="es-CL" dirty="0"/>
                  <a:t> sumando ganancias y restando pérdidas. Comparamos con sensibilidad: margen 13 dB → </a:t>
                </a:r>
                <a:r>
                  <a:rPr lang="es-CL" b="1" dirty="0"/>
                  <a:t>enlace cumple</a:t>
                </a:r>
                <a:r>
                  <a:rPr lang="es-CL" dirty="0"/>
                  <a:t>.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978F4C-012E-AF58-D990-9AEE3CE80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518933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F731B-31EA-E341-F30D-210AAD01A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198969A-49F9-08C8-751F-DE4775762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05287-7A62-7107-735E-8603B7B3A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41BDA6-448D-440A-1B4D-66A801B3A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35877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A4DCFF-58D8-97D2-51D3-6268BB696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0860"/>
            <a:ext cx="15078075" cy="3937329"/>
          </a:xfrm>
        </p:spPr>
        <p:txBody>
          <a:bodyPr anchor="b"/>
          <a:lstStyle>
            <a:lvl1pPr algn="ctr">
              <a:defRPr sz="9894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B0821F-352C-1076-2ECE-CDE7AF308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028"/>
            <a:ext cx="15078075" cy="2730474"/>
          </a:xfrm>
        </p:spPr>
        <p:txBody>
          <a:bodyPr/>
          <a:lstStyle>
            <a:lvl1pPr marL="0" indent="0" algn="ctr">
              <a:buNone/>
              <a:defRPr sz="3958"/>
            </a:lvl1pPr>
            <a:lvl2pPr marL="753923" indent="0" algn="ctr">
              <a:buNone/>
              <a:defRPr sz="329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FF513E-E201-4345-522F-05D5BDC9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371351-BD5F-0CBD-6276-4BE74B70A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B4A449-F555-EC65-0F1B-0ABB7AA84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2483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535A15-CC56-D4D0-6469-74F8CA91D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61CDD0-AEA2-E1E1-8449-BEFC90594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313E17-511C-62B9-D495-4FA06434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45FD42-27BC-120C-3AF3-D3D355B05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ED70BB-D70F-5C80-BEC5-C6A31C94A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42600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923E4-E3C8-5760-2CD0-CDF9BFCBF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86" y="2819485"/>
            <a:ext cx="17339786" cy="4704375"/>
          </a:xfrm>
        </p:spPr>
        <p:txBody>
          <a:bodyPr anchor="b"/>
          <a:lstStyle>
            <a:lvl1pPr>
              <a:defRPr sz="9894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085F8F-91AC-DEDF-BDC7-BE1F89C4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86" y="7568366"/>
            <a:ext cx="17339786" cy="2473919"/>
          </a:xfrm>
        </p:spPr>
        <p:txBody>
          <a:bodyPr/>
          <a:lstStyle>
            <a:lvl1pPr marL="0" indent="0">
              <a:buNone/>
              <a:defRPr sz="3958">
                <a:solidFill>
                  <a:schemeClr val="tx1">
                    <a:tint val="75000"/>
                  </a:schemeClr>
                </a:solidFill>
              </a:defRPr>
            </a:lvl1pPr>
            <a:lvl2pPr marL="753923" indent="0">
              <a:buNone/>
              <a:defRPr sz="329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BA4FA8-08B8-0E66-F01F-B235F110B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ACA919-6BF3-42BD-DBC7-09A7CBD6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715315-E27F-B452-CA46-776C4AE89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4136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8B64B-EBCD-6853-58B8-B2CA0C7D4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DF2E63-4791-D0B1-D362-7EB60DD0D0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157" y="3010591"/>
            <a:ext cx="8544243" cy="717567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18DFB6-1BE9-C5A5-B8E5-C1BF4C301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77700" y="3010591"/>
            <a:ext cx="8544243" cy="717567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BC9F7E-0C80-2B3B-50ED-2EA3038F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B1FDDF-62D9-10D0-3A15-E051505E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30564F-FADB-7B9D-90E1-AF826F8D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647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89F778-08A9-A6B8-5C93-C5AAB8EA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776" y="602119"/>
            <a:ext cx="17339786" cy="218595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B1367A-B26A-422F-D2BD-318663242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776" y="2772362"/>
            <a:ext cx="8504976" cy="1358692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0EB983-DE50-2793-94B1-6282B8FB5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776" y="4131054"/>
            <a:ext cx="8504976" cy="607615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8D20D19-F20A-717C-BA4D-6B5661EBE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701" y="2772362"/>
            <a:ext cx="8546861" cy="1358692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2562768-89FD-AA2F-EB7A-2C15C13625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701" y="4131054"/>
            <a:ext cx="8546861" cy="607615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2A6A63F-08A7-06F9-6F36-72AC2E1E9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35A53C4-A8EF-EB7C-EA3A-6C78EC4B0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910B013-DDC7-D0B3-F289-335856F7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03713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7347E-68C2-47E3-D5CA-088E9958A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2526359-41CF-4EFB-0CDE-88ABEEC21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B796C5-5685-6789-4FBC-3CF567A02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E7E3A9-9B64-71CD-9D73-9DC2A402D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5190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686668C-654D-7680-D2F1-5951A5BA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4641BD1-643A-0141-998D-BA2EF4BCA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63F749-E945-0A95-968F-044A4AC3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7708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DA742-F495-D4AC-270C-DA9999511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776" y="753957"/>
            <a:ext cx="6484095" cy="2638848"/>
          </a:xfrm>
        </p:spPr>
        <p:txBody>
          <a:bodyPr anchor="b"/>
          <a:lstStyle>
            <a:lvl1pPr>
              <a:defRPr sz="5277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77B855-60C9-AC83-44EF-14F710C39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6861" y="1628338"/>
            <a:ext cx="10177701" cy="8036969"/>
          </a:xfrm>
        </p:spPr>
        <p:txBody>
          <a:bodyPr/>
          <a:lstStyle>
            <a:lvl1pPr>
              <a:defRPr sz="5277"/>
            </a:lvl1pPr>
            <a:lvl2pPr>
              <a:defRPr sz="4617"/>
            </a:lvl2pPr>
            <a:lvl3pPr>
              <a:defRPr sz="3958"/>
            </a:lvl3pPr>
            <a:lvl4pPr>
              <a:defRPr sz="3298"/>
            </a:lvl4pPr>
            <a:lvl5pPr>
              <a:defRPr sz="3298"/>
            </a:lvl5pPr>
            <a:lvl6pPr>
              <a:defRPr sz="3298"/>
            </a:lvl6pPr>
            <a:lvl7pPr>
              <a:defRPr sz="3298"/>
            </a:lvl7pPr>
            <a:lvl8pPr>
              <a:defRPr sz="3298"/>
            </a:lvl8pPr>
            <a:lvl9pPr>
              <a:defRPr sz="3298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23DF89-AB5E-D209-90B6-FBB140BD1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4776" y="3392805"/>
            <a:ext cx="6484095" cy="6285591"/>
          </a:xfr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27FB68-BAF2-FAFC-20C5-50840A80B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E96347-07C2-617F-DA6B-645148352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B3FF74-E26C-3624-C160-FD84EBF2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0625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E3DB23-2B68-8BE6-5BE8-74FB8AC8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776" y="753957"/>
            <a:ext cx="6484095" cy="2638848"/>
          </a:xfrm>
        </p:spPr>
        <p:txBody>
          <a:bodyPr anchor="b"/>
          <a:lstStyle>
            <a:lvl1pPr>
              <a:defRPr sz="5277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212C754-B8E4-3914-A69F-E1B36DCF67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546861" y="1628338"/>
            <a:ext cx="10177701" cy="8036969"/>
          </a:xfrm>
        </p:spPr>
        <p:txBody>
          <a:bodyPr/>
          <a:lstStyle>
            <a:lvl1pPr marL="0" indent="0">
              <a:buNone/>
              <a:defRPr sz="5277"/>
            </a:lvl1pPr>
            <a:lvl2pPr marL="753923" indent="0">
              <a:buNone/>
              <a:defRPr sz="4617"/>
            </a:lvl2pPr>
            <a:lvl3pPr marL="1507846" indent="0">
              <a:buNone/>
              <a:defRPr sz="3958"/>
            </a:lvl3pPr>
            <a:lvl4pPr marL="2261768" indent="0">
              <a:buNone/>
              <a:defRPr sz="3298"/>
            </a:lvl4pPr>
            <a:lvl5pPr marL="3015691" indent="0">
              <a:buNone/>
              <a:defRPr sz="3298"/>
            </a:lvl5pPr>
            <a:lvl6pPr marL="3769614" indent="0">
              <a:buNone/>
              <a:defRPr sz="3298"/>
            </a:lvl6pPr>
            <a:lvl7pPr marL="4523537" indent="0">
              <a:buNone/>
              <a:defRPr sz="3298"/>
            </a:lvl7pPr>
            <a:lvl8pPr marL="5277460" indent="0">
              <a:buNone/>
              <a:defRPr sz="3298"/>
            </a:lvl8pPr>
            <a:lvl9pPr marL="6031382" indent="0">
              <a:buNone/>
              <a:defRPr sz="3298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A8F03C-2BE0-3A95-F000-ACD6AD1C7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4776" y="3392805"/>
            <a:ext cx="6484095" cy="6285591"/>
          </a:xfr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51A9BF-B911-5C93-22DE-19FD68991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DF1256-7E86-58E3-6661-FA1D67375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1259D9-D8FC-1B56-BFFA-37357293A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4611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06267-7792-D819-1250-3B80F216C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545AC6-7292-773C-7509-D7E1D0B69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C3A385-780F-B272-80CB-E3EE27208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E7FDF5-4CCA-2A20-13BC-D406ED96A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F13AE1-0243-5662-3E9D-89565B76E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9105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2016D2-D6B9-D0D7-A956-FC3D8BE03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4386996" y="602118"/>
            <a:ext cx="4334947" cy="9584151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4FC73-6922-E6BE-8B37-9A3D83C84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82157" y="602118"/>
            <a:ext cx="12753538" cy="9584151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029604-4D94-FF99-EACD-68549E652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B03D43-86E0-0338-2B20-C4B28C45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02D1C4-EEBA-36AC-255B-B421F28F6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5433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23E6B1A-7AB0-C547-8394-097517D6C818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0821498"/>
            <a:ext cx="19059478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245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F454EFA-1F7B-877B-469B-2D764857A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157" y="602119"/>
            <a:ext cx="17339786" cy="2185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7C16E2-A185-FEA6-7411-8103675A8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157" y="3010591"/>
            <a:ext cx="17339786" cy="7175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021F49-C348-4F08-D8CA-E6E1125C7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82157" y="10482093"/>
            <a:ext cx="4523423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1E2BA2-5BAF-A870-FA74-B2B0C7643B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6E0C4E-A769-0FA6-B059-676054203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826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72" r:id="rId1"/>
    <p:sldLayoutId id="2147485173" r:id="rId2"/>
    <p:sldLayoutId id="2147485174" r:id="rId3"/>
    <p:sldLayoutId id="2147485175" r:id="rId4"/>
    <p:sldLayoutId id="2147485176" r:id="rId5"/>
    <p:sldLayoutId id="2147485177" r:id="rId6"/>
    <p:sldLayoutId id="2147485178" r:id="rId7"/>
    <p:sldLayoutId id="2147485179" r:id="rId8"/>
    <p:sldLayoutId id="2147485180" r:id="rId9"/>
    <p:sldLayoutId id="2147485181" r:id="rId10"/>
    <p:sldLayoutId id="2147485182" r:id="rId11"/>
    <p:sldLayoutId id="2147485183" r:id="rId12"/>
  </p:sldLayoutIdLst>
  <p:txStyles>
    <p:titleStyle>
      <a:lvl1pPr algn="l" defTabSz="1507846" rtl="0" eaLnBrk="1" latinLnBrk="0" hangingPunct="1">
        <a:lnSpc>
          <a:spcPct val="90000"/>
        </a:lnSpc>
        <a:spcBef>
          <a:spcPct val="0"/>
        </a:spcBef>
        <a:buNone/>
        <a:defRPr sz="72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6961" indent="-376961" algn="l" defTabSz="1507846" rtl="0" eaLnBrk="1" latinLnBrk="0" hangingPunct="1">
        <a:lnSpc>
          <a:spcPct val="90000"/>
        </a:lnSpc>
        <a:spcBef>
          <a:spcPts val="1649"/>
        </a:spcBef>
        <a:buFont typeface="Arial" panose="020B0604020202020204" pitchFamily="34" charset="0"/>
        <a:buChar char="•"/>
        <a:defRPr sz="4617" kern="1200">
          <a:solidFill>
            <a:schemeClr val="tx1"/>
          </a:solidFill>
          <a:latin typeface="+mn-lt"/>
          <a:ea typeface="+mn-ea"/>
          <a:cs typeface="+mn-cs"/>
        </a:defRPr>
      </a:lvl1pPr>
      <a:lvl2pPr marL="113088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958" kern="1200">
          <a:solidFill>
            <a:schemeClr val="tx1"/>
          </a:solidFill>
          <a:latin typeface="+mn-lt"/>
          <a:ea typeface="+mn-ea"/>
          <a:cs typeface="+mn-cs"/>
        </a:defRPr>
      </a:lvl2pPr>
      <a:lvl3pPr marL="1884807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298" kern="1200">
          <a:solidFill>
            <a:schemeClr val="tx1"/>
          </a:solidFill>
          <a:latin typeface="+mn-lt"/>
          <a:ea typeface="+mn-ea"/>
          <a:cs typeface="+mn-cs"/>
        </a:defRPr>
      </a:lvl3pPr>
      <a:lvl4pPr marL="2638730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392653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4146575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900498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654421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40834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61EB7-9429-938F-2206-0C0DF1A1F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647993BD-1026-BE53-F0BF-6C1E19F3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noProof="0" dirty="0"/>
          </a:p>
        </p:txBody>
      </p:sp>
      <p:pic>
        <p:nvPicPr>
          <p:cNvPr id="2050" name="Picture 2" descr="C:\Users\FHidalgoP\Downloads\Diapositiva1_portada3 (1).jpg">
            <a:extLst>
              <a:ext uri="{FF2B5EF4-FFF2-40B4-BE49-F238E27FC236}">
                <a16:creationId xmlns:a16="http://schemas.microsoft.com/office/drawing/2014/main" id="{E2C98402-7C99-52F0-8BAE-9D1EECF05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74162"/>
            <a:ext cx="20112192" cy="1130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F0EEF1A1-EED1-4A80-05D6-1A782B76E8A3}"/>
              </a:ext>
            </a:extLst>
          </p:cNvPr>
          <p:cNvSpPr txBox="1"/>
          <p:nvPr/>
        </p:nvSpPr>
        <p:spPr>
          <a:xfrm>
            <a:off x="831850" y="8161793"/>
            <a:ext cx="18564837" cy="222381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0" tIns="349884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6000" b="1" kern="100" noProof="0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SISTEMAS DE TRANSMISIÓN</a:t>
            </a:r>
          </a:p>
          <a:p>
            <a:pPr>
              <a:lnSpc>
                <a:spcPct val="150000"/>
              </a:lnSpc>
            </a:pPr>
            <a:r>
              <a:rPr lang="es-CL" sz="2400" b="1" kern="100" noProof="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CAP. JACOB BARQUI PÉREZ</a:t>
            </a:r>
          </a:p>
        </p:txBody>
      </p:sp>
      <p:sp>
        <p:nvSpPr>
          <p:cNvPr id="6" name="CuadroTexto 1">
            <a:extLst>
              <a:ext uri="{FF2B5EF4-FFF2-40B4-BE49-F238E27FC236}">
                <a16:creationId xmlns:a16="http://schemas.microsoft.com/office/drawing/2014/main" id="{04A64BD5-A679-1220-6BE4-18316EBEAFEE}"/>
              </a:ext>
            </a:extLst>
          </p:cNvPr>
          <p:cNvSpPr txBox="1"/>
          <p:nvPr/>
        </p:nvSpPr>
        <p:spPr>
          <a:xfrm>
            <a:off x="17637126" y="1937258"/>
            <a:ext cx="2051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noProof="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s-CL" sz="2000" b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ABR</a:t>
            </a:r>
            <a:r>
              <a:rPr lang="es-CL" sz="2000" b="1" noProof="0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, 2026</a:t>
            </a:r>
          </a:p>
        </p:txBody>
      </p:sp>
      <p:pic>
        <p:nvPicPr>
          <p:cNvPr id="7" name="Imagen 4">
            <a:extLst>
              <a:ext uri="{FF2B5EF4-FFF2-40B4-BE49-F238E27FC236}">
                <a16:creationId xmlns:a16="http://schemas.microsoft.com/office/drawing/2014/main" id="{75267336-5C6F-233B-B307-ACCAAEB663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8615" y="168276"/>
            <a:ext cx="1468072" cy="1600200"/>
          </a:xfrm>
          <a:prstGeom prst="rect">
            <a:avLst/>
          </a:prstGeom>
        </p:spPr>
      </p:pic>
      <p:pic>
        <p:nvPicPr>
          <p:cNvPr id="13" name="Imagen 12" descr="Logotipo&#10;&#10;El contenido generado por IA puede ser incorrecto.">
            <a:extLst>
              <a:ext uri="{FF2B5EF4-FFF2-40B4-BE49-F238E27FC236}">
                <a16:creationId xmlns:a16="http://schemas.microsoft.com/office/drawing/2014/main" id="{C9712216-5E15-034A-5027-79B61F1C67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57" y="-366510"/>
            <a:ext cx="1632386" cy="193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61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7181627E-945E-922A-A8C8-DEDA2C7AC933}"/>
              </a:ext>
            </a:extLst>
          </p:cNvPr>
          <p:cNvSpPr txBox="1">
            <a:spLocks/>
          </p:cNvSpPr>
          <p:nvPr/>
        </p:nvSpPr>
        <p:spPr>
          <a:xfrm>
            <a:off x="8375650" y="1507362"/>
            <a:ext cx="10591799" cy="8013237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rmAutofit lnSpcReduction="10000"/>
          </a:bodyPr>
          <a:lstStyle>
            <a:lvl1pPr marL="376961" indent="-376961" algn="l" defTabSz="1507846" rtl="0" eaLnBrk="1" latinLnBrk="0" hangingPunct="1">
              <a:lnSpc>
                <a:spcPct val="90000"/>
              </a:lnSpc>
              <a:spcBef>
                <a:spcPts val="1649"/>
              </a:spcBef>
              <a:buFont typeface="Arial" panose="020B0604020202020204" pitchFamily="34" charset="0"/>
              <a:buChar char="•"/>
              <a:defRPr sz="46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3088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39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s-CL" sz="3200" b="1" noProof="0" dirty="0">
                <a:latin typeface="Atkinson Hyperlegible" pitchFamily="2" charset="77"/>
              </a:rPr>
              <a:t>OBJETIVO DE LA UNIDAD DE APRENDIZAJE.</a:t>
            </a:r>
            <a:endParaRPr lang="es-CL" sz="3200" noProof="0" dirty="0">
              <a:latin typeface="Atkinson Hyperlegible" pitchFamily="2" charset="77"/>
            </a:endParaRPr>
          </a:p>
          <a:p>
            <a:pPr marL="514350" indent="-514350">
              <a:buFont typeface="+mj-lt"/>
              <a:buAutoNum type="arabicPeriod"/>
            </a:pPr>
            <a:r>
              <a:rPr lang="es-CL" sz="3200" b="1" noProof="0" dirty="0">
                <a:latin typeface="Atkinson Hyperlegible" pitchFamily="2" charset="77"/>
              </a:rPr>
              <a:t>MICROONDAS.</a:t>
            </a:r>
            <a:endParaRPr lang="es-CL" sz="3200" noProof="0" dirty="0">
              <a:latin typeface="Atkinson Hyperlegible" pitchFamily="2" charset="77"/>
            </a:endParaRPr>
          </a:p>
          <a:p>
            <a:pPr marL="514350" indent="-514350">
              <a:buFont typeface="+mj-lt"/>
              <a:buAutoNum type="arabicPeriod"/>
            </a:pPr>
            <a:r>
              <a:rPr lang="es-CL" sz="3200" b="1" noProof="0" dirty="0">
                <a:latin typeface="Atkinson Hyperlegible" pitchFamily="2" charset="77"/>
              </a:rPr>
              <a:t>PRINCIPIOS DE FUNCIONAMIENTO.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3200" b="1" noProof="0" dirty="0">
                <a:latin typeface="Atkinson Hyperlegible" pitchFamily="2" charset="77"/>
              </a:rPr>
              <a:t>CÁLCULO DE ENLACE. 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3200" b="1" noProof="0" dirty="0">
                <a:latin typeface="Atkinson Hyperlegible" pitchFamily="2" charset="77"/>
              </a:rPr>
              <a:t>GANANCIAS Y ATENUACIONES.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3200" b="1" noProof="0" dirty="0">
                <a:latin typeface="Atkinson Hyperlegible" pitchFamily="2" charset="77"/>
              </a:rPr>
              <a:t>ZONA DE FRESNEL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3200" b="1" noProof="0" dirty="0">
                <a:latin typeface="Atkinson Hyperlegible" pitchFamily="2" charset="77"/>
              </a:rPr>
              <a:t>APLICACIONES DE REDES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3200" b="1" noProof="0" dirty="0">
                <a:latin typeface="Atkinson Hyperlegible" pitchFamily="2" charset="77"/>
              </a:rPr>
              <a:t>COMUNICACIONES SATELITALES. ÓRBITAS Y PROPAGACIÓN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3200" b="1" noProof="0" dirty="0">
                <a:latin typeface="Atkinson Hyperlegible" pitchFamily="2" charset="77"/>
              </a:rPr>
              <a:t>CÁLCULOS DE ENLACES SATELITALES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3200" b="1" noProof="0" dirty="0">
                <a:latin typeface="Atkinson Hyperlegible" pitchFamily="2" charset="77"/>
              </a:rPr>
              <a:t>ENLACES DE SUBIDA, DE BAJADA Y PÉRDIDAS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3200" b="1" noProof="0" dirty="0">
                <a:latin typeface="Atkinson Hyperlegible" pitchFamily="2" charset="77"/>
              </a:rPr>
              <a:t>SISTEMAS DE RADAR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3200" b="1" noProof="0" dirty="0">
                <a:latin typeface="Atkinson Hyperlegible" pitchFamily="2" charset="77"/>
              </a:rPr>
              <a:t>TIPOS DE RADARES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3200" b="1" noProof="0" dirty="0">
                <a:latin typeface="Atkinson Hyperlegible" pitchFamily="2" charset="77"/>
              </a:rPr>
              <a:t>ARQUITECTURAS Y MEDIDAS BÁSICAS</a:t>
            </a:r>
          </a:p>
          <a:p>
            <a:pPr marL="514350" indent="-514350">
              <a:buFont typeface="+mj-lt"/>
              <a:buAutoNum type="arabicPeriod"/>
            </a:pPr>
            <a:endParaRPr lang="es-CL" sz="3200" b="1" noProof="0" dirty="0">
              <a:latin typeface="Atkinson Hyperlegible" pitchFamily="2" charset="77"/>
            </a:endParaRPr>
          </a:p>
          <a:p>
            <a:pPr marL="514350" indent="-514350">
              <a:buFont typeface="+mj-lt"/>
              <a:buAutoNum type="arabicPeriod"/>
            </a:pPr>
            <a:endParaRPr lang="es-CL" sz="3200" b="1" noProof="0" dirty="0">
              <a:latin typeface="Atkinson Hyperlegible" pitchFamily="2" charset="77"/>
            </a:endParaRPr>
          </a:p>
          <a:p>
            <a:pPr marL="514350" indent="-514350">
              <a:buFont typeface="+mj-lt"/>
              <a:buAutoNum type="arabicPeriod"/>
            </a:pPr>
            <a:endParaRPr lang="es-CL" sz="3200" b="1" noProof="0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CL" sz="3200" b="1" noProof="0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CL" sz="3200" b="1" noProof="0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CL" sz="3200" b="1" noProof="0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CL" sz="3200" b="1" noProof="0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CL" sz="3200" b="1" noProof="0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CL" sz="2400" noProof="0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CL" sz="2400" noProof="0" dirty="0"/>
          </a:p>
          <a:p>
            <a:pPr marL="0" indent="0">
              <a:buNone/>
            </a:pPr>
            <a:endParaRPr lang="es-CL" sz="2400" noProof="0" dirty="0"/>
          </a:p>
          <a:p>
            <a:pPr marL="0" indent="0">
              <a:buNone/>
            </a:pPr>
            <a:endParaRPr lang="es-CL" sz="24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es-CL" sz="3200" noProof="0" dirty="0"/>
          </a:p>
          <a:p>
            <a:endParaRPr lang="es-CL" sz="3200" noProof="0"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CF8EB62E-9478-2731-9162-83AA65AA10D2}"/>
              </a:ext>
            </a:extLst>
          </p:cNvPr>
          <p:cNvSpPr txBox="1"/>
          <p:nvPr/>
        </p:nvSpPr>
        <p:spPr>
          <a:xfrm>
            <a:off x="8375650" y="24840"/>
            <a:ext cx="8610595" cy="1482522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5400" b="1" kern="100" noProof="0" dirty="0">
                <a:latin typeface="Atkinson Hyperlegible" pitchFamily="2" charset="77"/>
                <a:ea typeface="Calibri" panose="020F0502020204030204" pitchFamily="34" charset="0"/>
                <a:cs typeface="Gotham" pitchFamily="2" charset="0"/>
              </a:rPr>
              <a:t>TEMARIO</a:t>
            </a:r>
            <a:endParaRPr lang="es-CL" sz="54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80913B85-DB62-6753-27C9-B93610CCB519}"/>
              </a:ext>
            </a:extLst>
          </p:cNvPr>
          <p:cNvCxnSpPr>
            <a:cxnSpLocks/>
          </p:cNvCxnSpPr>
          <p:nvPr/>
        </p:nvCxnSpPr>
        <p:spPr>
          <a:xfrm>
            <a:off x="80708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2" descr="C:\Users\FHidalgoP\Downloads\WhatsApp Image 2025-03-12 at 14.35.36.jpe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48" r="43683" b="714"/>
          <a:stretch/>
        </p:blipFill>
        <p:spPr bwMode="auto">
          <a:xfrm>
            <a:off x="0" y="0"/>
            <a:ext cx="7308850" cy="10489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601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6BDD0DA-35A7-19FD-C84B-195C6F463A82}"/>
              </a:ext>
            </a:extLst>
          </p:cNvPr>
          <p:cNvSpPr txBox="1"/>
          <p:nvPr/>
        </p:nvSpPr>
        <p:spPr>
          <a:xfrm>
            <a:off x="7766631" y="6036368"/>
            <a:ext cx="4523423" cy="4060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s-CL" sz="1649" noProof="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94B6FE4-EB02-E344-53F4-F643E93825FE}"/>
              </a:ext>
            </a:extLst>
          </p:cNvPr>
          <p:cNvSpPr txBox="1"/>
          <p:nvPr/>
        </p:nvSpPr>
        <p:spPr>
          <a:xfrm>
            <a:off x="2598359" y="1294836"/>
            <a:ext cx="16638039" cy="6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CL" sz="2968" b="1" noProof="0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0D695D3-82B4-0843-C646-1FDE68CDAE13}"/>
              </a:ext>
            </a:extLst>
          </p:cNvPr>
          <p:cNvSpPr txBox="1"/>
          <p:nvPr/>
        </p:nvSpPr>
        <p:spPr>
          <a:xfrm>
            <a:off x="1382157" y="-44605"/>
            <a:ext cx="12604775" cy="2179315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5400" b="1" noProof="0" dirty="0">
                <a:latin typeface="Atkinson Hyperlegible" pitchFamily="2" charset="77"/>
              </a:rPr>
              <a:t>OBJETIVO DE LA UNIDAD DE APRENDIZAJE </a:t>
            </a:r>
            <a:r>
              <a:rPr lang="es-CL" sz="2800" b="1" kern="100" noProof="0" dirty="0">
                <a:latin typeface="Atkinson Hyperlegible" pitchFamily="2" charset="77"/>
                <a:ea typeface="Calibri" panose="020F0502020204030204" pitchFamily="34" charset="0"/>
              </a:rPr>
              <a:t>OBJETIVO PRINCIPAL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8" name="5 Rectángulo">
            <a:extLst>
              <a:ext uri="{FF2B5EF4-FFF2-40B4-BE49-F238E27FC236}">
                <a16:creationId xmlns:a16="http://schemas.microsoft.com/office/drawing/2014/main" id="{AC5A5358-5A9B-B423-3443-E2F3ABECD712}"/>
              </a:ext>
            </a:extLst>
          </p:cNvPr>
          <p:cNvSpPr/>
          <p:nvPr/>
        </p:nvSpPr>
        <p:spPr>
          <a:xfrm>
            <a:off x="846666" y="3316256"/>
            <a:ext cx="7653867" cy="29091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s-CL" sz="3200" b="1" noProof="0" dirty="0">
                <a:effectLst/>
                <a:latin typeface="Atkinson Hyperlegible"/>
                <a:ea typeface="Times New Roman" panose="02020603050405020304" pitchFamily="18" charset="0"/>
              </a:rPr>
              <a:t>Aplicar conocimientos en los distintos medios de transmisión físicos y guiados de </a:t>
            </a:r>
          </a:p>
          <a:p>
            <a:pPr algn="just">
              <a:lnSpc>
                <a:spcPct val="200000"/>
              </a:lnSpc>
              <a:defRPr/>
            </a:pPr>
            <a:r>
              <a:rPr lang="es-CL" sz="3200" b="1" noProof="0" dirty="0">
                <a:effectLst/>
                <a:latin typeface="Atkinson Hyperlegible"/>
                <a:ea typeface="Times New Roman" panose="02020603050405020304" pitchFamily="18" charset="0"/>
              </a:rPr>
              <a:t>redes de transmisión.</a:t>
            </a:r>
            <a:endParaRPr lang="es-CL" sz="3200" b="1" noProof="0" dirty="0">
              <a:latin typeface="Atkinson Hyperlegible"/>
              <a:cs typeface="Times New Roman" pitchFamily="18" charset="0"/>
            </a:endParaRPr>
          </a:p>
        </p:txBody>
      </p:sp>
      <p:pic>
        <p:nvPicPr>
          <p:cNvPr id="2054" name="Picture 6" descr="Cómo funciona un conector de fibra óptica - Exposición - Focc Technology  Co., Ltd">
            <a:extLst>
              <a:ext uri="{FF2B5EF4-FFF2-40B4-BE49-F238E27FC236}">
                <a16:creationId xmlns:a16="http://schemas.microsoft.com/office/drawing/2014/main" id="{0E0CC03A-4C48-3252-B353-458D3BE4D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8969" y="2997364"/>
            <a:ext cx="4074634" cy="50341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Qué Topologías de Red Existen">
            <a:extLst>
              <a:ext uri="{FF2B5EF4-FFF2-40B4-BE49-F238E27FC236}">
                <a16:creationId xmlns:a16="http://schemas.microsoft.com/office/drawing/2014/main" id="{8F3833C3-0150-146D-7061-E3C390290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198" y="3049332"/>
            <a:ext cx="6062274" cy="68200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Redes por Medios No Guiados – Herramientas Tecnológicas">
            <a:extLst>
              <a:ext uri="{FF2B5EF4-FFF2-40B4-BE49-F238E27FC236}">
                <a16:creationId xmlns:a16="http://schemas.microsoft.com/office/drawing/2014/main" id="{6B114107-2BA0-8A26-35AF-3B03D6362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54" y="7416455"/>
            <a:ext cx="6055369" cy="30276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ipos-de-cable-red-">
            <a:extLst>
              <a:ext uri="{FF2B5EF4-FFF2-40B4-BE49-F238E27FC236}">
                <a16:creationId xmlns:a16="http://schemas.microsoft.com/office/drawing/2014/main" id="{0DADB60D-8609-A6A6-C7D1-9EF835B28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014" y="7383944"/>
            <a:ext cx="3956946" cy="22309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8034206-837D-C333-5695-2E829BF0D9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6932" y="2912254"/>
            <a:ext cx="11010014" cy="75190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372634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E8161-E743-BE49-064B-CB7D07D71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1DF841-C4F9-3803-3EC3-7ADDE2C2B736}"/>
              </a:ext>
            </a:extLst>
          </p:cNvPr>
          <p:cNvSpPr txBox="1"/>
          <p:nvPr/>
        </p:nvSpPr>
        <p:spPr>
          <a:xfrm>
            <a:off x="2598359" y="1294836"/>
            <a:ext cx="16638039" cy="6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CL" sz="2968" b="1" noProof="0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7A41CF5-6C7A-894F-1885-A65049BB8B4B}"/>
              </a:ext>
            </a:extLst>
          </p:cNvPr>
          <p:cNvSpPr txBox="1"/>
          <p:nvPr/>
        </p:nvSpPr>
        <p:spPr>
          <a:xfrm>
            <a:off x="1382157" y="-44605"/>
            <a:ext cx="12604775" cy="2179315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5400" b="1" noProof="0" dirty="0">
                <a:latin typeface="Atkinson Hyperlegible" pitchFamily="2" charset="77"/>
              </a:rPr>
              <a:t>OBJETIVO DE LA UNIDAD DE APRENDIZAJE </a:t>
            </a:r>
            <a:r>
              <a:rPr lang="es-CL" sz="2800" b="1" kern="100" noProof="0" dirty="0">
                <a:latin typeface="Atkinson Hyperlegible" pitchFamily="2" charset="77"/>
                <a:ea typeface="Calibri" panose="020F0502020204030204" pitchFamily="34" charset="0"/>
              </a:rPr>
              <a:t>TAREA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8" name="5 Rectángulo">
            <a:extLst>
              <a:ext uri="{FF2B5EF4-FFF2-40B4-BE49-F238E27FC236}">
                <a16:creationId xmlns:a16="http://schemas.microsoft.com/office/drawing/2014/main" id="{BB1A79F7-0E03-99C9-7F6F-A149134A742D}"/>
              </a:ext>
            </a:extLst>
          </p:cNvPr>
          <p:cNvSpPr/>
          <p:nvPr/>
        </p:nvSpPr>
        <p:spPr>
          <a:xfrm>
            <a:off x="846666" y="3316256"/>
            <a:ext cx="7653867" cy="29091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s-CL" sz="3200" b="1" noProof="0" dirty="0">
                <a:latin typeface="Atkinson Hyperlegible"/>
              </a:rPr>
              <a:t>Analizar sistemas transmisión desde los fundamentos que sustentan las tecnologías de la aplicación militar. </a:t>
            </a:r>
            <a:endParaRPr lang="es-CL" sz="3200" b="1" noProof="0" dirty="0">
              <a:latin typeface="Atkinson Hyperlegible"/>
              <a:cs typeface="Times New Roman" pitchFamily="18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10472D1-4E4B-226B-3FB0-F6851B1F8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9614" y="3243258"/>
            <a:ext cx="8748150" cy="71909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6411829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651B1-2380-EAA3-522C-C9153F803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00A7AD0-808B-F2F0-1A64-D80879603938}"/>
              </a:ext>
            </a:extLst>
          </p:cNvPr>
          <p:cNvSpPr txBox="1"/>
          <p:nvPr/>
        </p:nvSpPr>
        <p:spPr>
          <a:xfrm>
            <a:off x="2598359" y="1294836"/>
            <a:ext cx="16638039" cy="6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CL" sz="2968" b="1" noProof="0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FDF1386-B050-7714-150D-67856E0AD2D5}"/>
              </a:ext>
            </a:extLst>
          </p:cNvPr>
          <p:cNvSpPr txBox="1"/>
          <p:nvPr/>
        </p:nvSpPr>
        <p:spPr>
          <a:xfrm>
            <a:off x="1382157" y="-44605"/>
            <a:ext cx="12604775" cy="2179315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5400" b="1" noProof="0" dirty="0">
                <a:latin typeface="Atkinson Hyperlegible" pitchFamily="2" charset="77"/>
              </a:rPr>
              <a:t>OBJETIVO DE LA UNIDAD DE APRENDIZAJE </a:t>
            </a:r>
            <a:r>
              <a:rPr lang="es-CL" sz="2800" b="1" kern="100" noProof="0" dirty="0">
                <a:latin typeface="Atkinson Hyperlegible" pitchFamily="2" charset="77"/>
                <a:ea typeface="Calibri" panose="020F0502020204030204" pitchFamily="34" charset="0"/>
              </a:rPr>
              <a:t>OBJETIVO PRINCIPAL DE LA CLASE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6" name="5 Rectángulo">
            <a:extLst>
              <a:ext uri="{FF2B5EF4-FFF2-40B4-BE49-F238E27FC236}">
                <a16:creationId xmlns:a16="http://schemas.microsoft.com/office/drawing/2014/main" id="{B0F417D9-033E-D5F5-9726-8037B9002420}"/>
              </a:ext>
            </a:extLst>
          </p:cNvPr>
          <p:cNvSpPr/>
          <p:nvPr/>
        </p:nvSpPr>
        <p:spPr>
          <a:xfrm>
            <a:off x="1696951" y="3474151"/>
            <a:ext cx="17775273" cy="6832640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742950" indent="-742950" algn="just">
              <a:lnSpc>
                <a:spcPct val="150000"/>
              </a:lnSpc>
              <a:buAutoNum type="arabicPeriod" startAt="2"/>
              <a:defRPr/>
            </a:pPr>
            <a:r>
              <a:rPr lang="es-CL" sz="3600" b="1" noProof="0" dirty="0">
                <a:effectLst/>
                <a:latin typeface="Atkinson Hyperlegible"/>
                <a:ea typeface="Times New Roman" panose="02020603050405020304" pitchFamily="18" charset="0"/>
              </a:rPr>
              <a:t>Sistemas de transmisión no guiados (RF)</a:t>
            </a:r>
          </a:p>
          <a:p>
            <a:pPr lvl="0"/>
            <a:r>
              <a:rPr lang="es-CL" sz="2400" noProof="0" dirty="0">
                <a:latin typeface="Atkinson Hyperlegible"/>
              </a:rPr>
              <a:t>2.6. Microondas</a:t>
            </a:r>
          </a:p>
          <a:p>
            <a:pPr lvl="0"/>
            <a:r>
              <a:rPr lang="es-CL" sz="2400" noProof="0" dirty="0">
                <a:latin typeface="Atkinson Hyperlegible"/>
              </a:rPr>
              <a:t>2.6.1. Principios de funcionamiento</a:t>
            </a:r>
          </a:p>
          <a:p>
            <a:pPr lvl="0"/>
            <a:r>
              <a:rPr lang="es-CL" sz="2400" noProof="0" dirty="0">
                <a:latin typeface="Atkinson Hyperlegible"/>
              </a:rPr>
              <a:t>2.6.2. Cálculo de enlace</a:t>
            </a:r>
          </a:p>
          <a:p>
            <a:pPr lvl="0"/>
            <a:r>
              <a:rPr lang="es-CL" sz="2400" noProof="0" dirty="0">
                <a:latin typeface="Atkinson Hyperlegible"/>
              </a:rPr>
              <a:t>2.6.3. Ganancias y atenuaciones</a:t>
            </a:r>
          </a:p>
          <a:p>
            <a:pPr lvl="0"/>
            <a:r>
              <a:rPr lang="es-CL" sz="2400" noProof="0" dirty="0">
                <a:latin typeface="Atkinson Hyperlegible"/>
              </a:rPr>
              <a:t>2.6.4. Zona de Fresnel</a:t>
            </a:r>
          </a:p>
          <a:p>
            <a:r>
              <a:rPr lang="es-CL" sz="2400" noProof="0" dirty="0">
                <a:latin typeface="Atkinson Hyperlegible"/>
              </a:rPr>
              <a:t>2.6.5. Aplicaciones de redes</a:t>
            </a:r>
          </a:p>
          <a:p>
            <a:r>
              <a:rPr lang="es-CL" sz="2400" noProof="0" dirty="0">
                <a:latin typeface="Atkinson Hyperlegible"/>
              </a:rPr>
              <a:t>2.7. Comunicaciones satelitales. Órbitas y propagación</a:t>
            </a:r>
          </a:p>
          <a:p>
            <a:pPr lvl="0"/>
            <a:r>
              <a:rPr lang="es-CL" sz="2400" noProof="0" dirty="0">
                <a:latin typeface="Atkinson Hyperlegible"/>
              </a:rPr>
              <a:t>2.8. Cálculos de enlaces satelitales</a:t>
            </a:r>
          </a:p>
          <a:p>
            <a:pPr lvl="0"/>
            <a:r>
              <a:rPr lang="es-CL" sz="2400" noProof="0" dirty="0">
                <a:latin typeface="Atkinson Hyperlegible"/>
              </a:rPr>
              <a:t>2.9. Enlaces de subida, de bajada y pérdidas</a:t>
            </a:r>
            <a:br>
              <a:rPr lang="es-CL" sz="2400" noProof="0" dirty="0">
                <a:latin typeface="Atkinson Hyperlegible"/>
              </a:rPr>
            </a:br>
            <a:r>
              <a:rPr lang="es-CL" sz="2400" noProof="0" dirty="0">
                <a:latin typeface="Atkinson Hyperlegible"/>
              </a:rPr>
              <a:t>2.10. Sistemas de Radar</a:t>
            </a:r>
          </a:p>
          <a:p>
            <a:pPr lvl="0"/>
            <a:r>
              <a:rPr lang="es-CL" sz="2400" noProof="0" dirty="0">
                <a:latin typeface="Atkinson Hyperlegible"/>
              </a:rPr>
              <a:t>2.11. Tipos de radares</a:t>
            </a:r>
          </a:p>
          <a:p>
            <a:pPr lvl="0"/>
            <a:r>
              <a:rPr lang="es-CL" sz="2400" noProof="0" dirty="0">
                <a:latin typeface="Atkinson Hyperlegible"/>
              </a:rPr>
              <a:t>2.11.1. Arquitecturas y medidas básicas</a:t>
            </a:r>
            <a:br>
              <a:rPr lang="es-CL" sz="2400" noProof="0" dirty="0">
                <a:latin typeface="Atkinson Hyperlegible"/>
              </a:rPr>
            </a:br>
            <a:r>
              <a:rPr lang="es-CL" sz="2400" noProof="0" dirty="0">
                <a:latin typeface="Atkinson Hyperlegible"/>
              </a:rPr>
              <a:t>2.12. Propagación de ondas de radares</a:t>
            </a:r>
          </a:p>
          <a:p>
            <a:pPr lvl="0"/>
            <a:r>
              <a:rPr lang="es-CL" sz="2400" noProof="0" dirty="0">
                <a:latin typeface="Atkinson Hyperlegible"/>
              </a:rPr>
              <a:t>2.10.1 Ecuaciones de recepción</a:t>
            </a:r>
          </a:p>
          <a:p>
            <a:pPr lvl="0"/>
            <a:r>
              <a:rPr lang="es-CL" sz="2400" noProof="0" dirty="0">
                <a:latin typeface="Atkinson Hyperlegible"/>
              </a:rPr>
              <a:t>2.10.2 Efectos </a:t>
            </a:r>
            <a:r>
              <a:rPr lang="es-CL" sz="2400" noProof="0" dirty="0" err="1">
                <a:latin typeface="Atkinson Hyperlegible"/>
              </a:rPr>
              <a:t>multipath</a:t>
            </a:r>
            <a:r>
              <a:rPr lang="es-CL" sz="2400" noProof="0" dirty="0">
                <a:latin typeface="Atkinson Hyperlegible"/>
              </a:rPr>
              <a:t> y ruido</a:t>
            </a:r>
          </a:p>
          <a:p>
            <a:r>
              <a:rPr lang="es-CL" sz="2400" noProof="0" dirty="0">
                <a:latin typeface="Atkinson Hyperlegible"/>
              </a:rPr>
              <a:t>2.13. Radares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FE4BD31-0C5E-EFE9-1AA1-3F00F2CADD93}"/>
              </a:ext>
            </a:extLst>
          </p:cNvPr>
          <p:cNvSpPr txBox="1"/>
          <p:nvPr/>
        </p:nvSpPr>
        <p:spPr>
          <a:xfrm>
            <a:off x="8917065" y="2889315"/>
            <a:ext cx="31136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b="1" kern="100" noProof="0" dirty="0">
                <a:latin typeface="Atkinson Hyperlegible" pitchFamily="2" charset="77"/>
                <a:ea typeface="Calibri" panose="020F0502020204030204" pitchFamily="34" charset="0"/>
              </a:rPr>
              <a:t>CONTENIDOS</a:t>
            </a:r>
            <a:endParaRPr lang="es-CL" sz="4000" noProof="0" dirty="0"/>
          </a:p>
        </p:txBody>
      </p:sp>
      <p:sp>
        <p:nvSpPr>
          <p:cNvPr id="14" name="Marcador de número de diapositiva 1">
            <a:extLst>
              <a:ext uri="{FF2B5EF4-FFF2-40B4-BE49-F238E27FC236}">
                <a16:creationId xmlns:a16="http://schemas.microsoft.com/office/drawing/2014/main" id="{52EEEA47-11D0-9A27-8331-6389403D15CF}"/>
              </a:ext>
            </a:extLst>
          </p:cNvPr>
          <p:cNvSpPr txBox="1">
            <a:spLocks/>
          </p:cNvSpPr>
          <p:nvPr/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/>
          <a:lstStyle>
            <a:defPPr lvl="0">
              <a:defRPr lang="es-CL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s-CL" noProof="0" smtClean="0"/>
              <a:pPr/>
              <a:t>5</a:t>
            </a:fld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523277005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E8D25-85D9-E04C-486C-47D90C11F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A0F57B8-3A8B-5EB4-1FE2-C04A71699F61}"/>
              </a:ext>
            </a:extLst>
          </p:cNvPr>
          <p:cNvSpPr txBox="1"/>
          <p:nvPr/>
        </p:nvSpPr>
        <p:spPr>
          <a:xfrm>
            <a:off x="2598359" y="1294836"/>
            <a:ext cx="16638039" cy="6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CL" sz="2968" b="1" noProof="0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9290603-0D84-307D-6C66-78F87FE24653}"/>
              </a:ext>
            </a:extLst>
          </p:cNvPr>
          <p:cNvSpPr txBox="1"/>
          <p:nvPr/>
        </p:nvSpPr>
        <p:spPr>
          <a:xfrm>
            <a:off x="1382157" y="-44605"/>
            <a:ext cx="12604775" cy="2179315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5400" b="1" noProof="0" dirty="0">
                <a:latin typeface="Atkinson Hyperlegible" pitchFamily="2" charset="77"/>
              </a:rPr>
              <a:t>OBJETIVO DE LA UNIDAD DE APRENDIZAJE </a:t>
            </a:r>
            <a:r>
              <a:rPr lang="es-CL" sz="2800" b="1" kern="100" noProof="0" dirty="0">
                <a:latin typeface="Atkinson Hyperlegible" pitchFamily="2" charset="77"/>
                <a:ea typeface="Calibri" panose="020F0502020204030204" pitchFamily="34" charset="0"/>
              </a:rPr>
              <a:t>OBJETIVO PRINCIPAL DE LA CLASE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14" name="Marcador de número de diapositiva 1">
            <a:extLst>
              <a:ext uri="{FF2B5EF4-FFF2-40B4-BE49-F238E27FC236}">
                <a16:creationId xmlns:a16="http://schemas.microsoft.com/office/drawing/2014/main" id="{D2CF2888-6C70-521D-1E85-724AFFDC56A4}"/>
              </a:ext>
            </a:extLst>
          </p:cNvPr>
          <p:cNvSpPr txBox="1">
            <a:spLocks/>
          </p:cNvSpPr>
          <p:nvPr/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/>
          <a:lstStyle>
            <a:defPPr lvl="0">
              <a:defRPr lang="es-CL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s-CL" noProof="0" smtClean="0"/>
              <a:pPr/>
              <a:t>6</a:t>
            </a:fld>
            <a:endParaRPr lang="es-CL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BF20D85-CAB9-8520-3FEA-7DACC72DF43F}"/>
              </a:ext>
            </a:extLst>
          </p:cNvPr>
          <p:cNvSpPr txBox="1"/>
          <p:nvPr/>
        </p:nvSpPr>
        <p:spPr>
          <a:xfrm>
            <a:off x="6938363" y="2889315"/>
            <a:ext cx="66295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b="1" kern="100" noProof="0" dirty="0">
                <a:latin typeface="Atkinson Hyperlegible" pitchFamily="2" charset="77"/>
                <a:ea typeface="Calibri" panose="020F0502020204030204" pitchFamily="34" charset="0"/>
              </a:rPr>
              <a:t>INDICADORES DE DESEMPEÑO</a:t>
            </a:r>
            <a:endParaRPr lang="es-CL" sz="4000" noProof="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666A7B3-1BC9-38CE-CE52-7326808F0116}"/>
              </a:ext>
            </a:extLst>
          </p:cNvPr>
          <p:cNvSpPr txBox="1"/>
          <p:nvPr/>
        </p:nvSpPr>
        <p:spPr>
          <a:xfrm>
            <a:off x="6938363" y="5855450"/>
            <a:ext cx="55334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b="1" kern="100" noProof="0" dirty="0">
                <a:latin typeface="Atkinson Hyperlegible" pitchFamily="2" charset="77"/>
                <a:ea typeface="Calibri" panose="020F0502020204030204" pitchFamily="34" charset="0"/>
              </a:rPr>
              <a:t>APRENDIZAJE ESPERADO</a:t>
            </a:r>
            <a:endParaRPr lang="es-CL" sz="4000" noProof="0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31C0C65-5FB0-FC55-34FB-3885FAD55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904950"/>
              </p:ext>
            </p:extLst>
          </p:nvPr>
        </p:nvGraphicFramePr>
        <p:xfrm>
          <a:off x="1528996" y="4046211"/>
          <a:ext cx="17478531" cy="1699833"/>
        </p:xfrm>
        <a:graphic>
          <a:graphicData uri="http://schemas.openxmlformats.org/drawingml/2006/table">
            <a:tbl>
              <a:tblPr/>
              <a:tblGrid>
                <a:gridCol w="17478531">
                  <a:extLst>
                    <a:ext uri="{9D8B030D-6E8A-4147-A177-3AD203B41FA5}">
                      <a16:colId xmlns:a16="http://schemas.microsoft.com/office/drawing/2014/main" val="38738562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CL" noProof="0" dirty="0">
                          <a:effectLst/>
                        </a:rPr>
                        <a:t>2. Analiza los medios de transmisión no guiados.</a:t>
                      </a:r>
                    </a:p>
                  </a:txBody>
                  <a:tcPr marL="57150" marR="57150" marT="57150" marB="571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26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CL" sz="2968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2.5. Calcula el enlacé satelital</a:t>
                      </a:r>
                      <a:endParaRPr lang="es-CL" noProof="0" dirty="0">
                        <a:effectLst/>
                      </a:endParaRPr>
                    </a:p>
                  </a:txBody>
                  <a:tcPr marL="57150" marR="57150" marT="57150" marB="571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702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CL" sz="2968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2.6. Analiza un sistema de radas y su clasificación.</a:t>
                      </a:r>
                      <a:endParaRPr lang="es-CL" noProof="0" dirty="0">
                        <a:effectLst/>
                      </a:endParaRPr>
                    </a:p>
                  </a:txBody>
                  <a:tcPr marL="57150" marR="57150" marT="57150" marB="571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074528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D158B62-663F-28D1-254B-3225035F5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468186"/>
              </p:ext>
            </p:extLst>
          </p:nvPr>
        </p:nvGraphicFramePr>
        <p:xfrm>
          <a:off x="1528996" y="6672742"/>
          <a:ext cx="17478531" cy="1699833"/>
        </p:xfrm>
        <a:graphic>
          <a:graphicData uri="http://schemas.openxmlformats.org/drawingml/2006/table">
            <a:tbl>
              <a:tblPr/>
              <a:tblGrid>
                <a:gridCol w="17478531">
                  <a:extLst>
                    <a:ext uri="{9D8B030D-6E8A-4147-A177-3AD203B41FA5}">
                      <a16:colId xmlns:a16="http://schemas.microsoft.com/office/drawing/2014/main" val="38738562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CL" noProof="0" dirty="0">
                          <a:effectLst/>
                        </a:rPr>
                        <a:t>2. Analizar los medios de transmisión no guiados.</a:t>
                      </a:r>
                    </a:p>
                  </a:txBody>
                  <a:tcPr marL="57150" marR="57150" marT="57150" marB="571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26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CL" sz="2968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2.5. Calcular un enlacé satelital.</a:t>
                      </a:r>
                      <a:endParaRPr lang="es-CL" noProof="0" dirty="0">
                        <a:effectLst/>
                      </a:endParaRPr>
                    </a:p>
                  </a:txBody>
                  <a:tcPr marL="57150" marR="57150" marT="57150" marB="571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702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CL" sz="2968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2.6. Analizar un sistema de radas y su clasificación.</a:t>
                      </a:r>
                      <a:endParaRPr lang="es-CL" noProof="0" dirty="0">
                        <a:effectLst/>
                      </a:endParaRPr>
                    </a:p>
                  </a:txBody>
                  <a:tcPr marL="57150" marR="57150" marT="57150" marB="571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074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0426612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AFA625-675A-3752-8687-5B00EC0BD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1346A36-E85D-36ED-FA65-06AB66E9A8A6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C4AA5EC9-FA50-57B3-C64D-F0D40C3354D8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MICROONDAS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8DF272-D90E-A822-23E5-45828A92DB84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noProof="0" dirty="0">
                <a:latin typeface="Atkinson Hyperlegible"/>
              </a:rPr>
              <a:t>Microondas: principios de funcionamiento (enlace punto a punto)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3100B0A-8AF6-6FA0-4915-914EA4FFB58E}"/>
              </a:ext>
            </a:extLst>
          </p:cNvPr>
          <p:cNvSpPr txBox="1"/>
          <p:nvPr/>
        </p:nvSpPr>
        <p:spPr>
          <a:xfrm>
            <a:off x="0" y="8856153"/>
            <a:ext cx="88495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b="1" noProof="0" dirty="0" err="1">
                <a:latin typeface="Atkinson Hyperlegible"/>
              </a:rPr>
              <a:t>ITU</a:t>
            </a:r>
            <a:r>
              <a:rPr lang="es-CL" sz="2400" b="1" noProof="0" dirty="0">
                <a:latin typeface="Atkinson Hyperlegible"/>
              </a:rPr>
              <a:t>-R </a:t>
            </a:r>
            <a:r>
              <a:rPr lang="es-CL" sz="2400" b="1" noProof="0" dirty="0" err="1">
                <a:latin typeface="Atkinson Hyperlegible"/>
              </a:rPr>
              <a:t>P.530</a:t>
            </a:r>
            <a:r>
              <a:rPr lang="es-CL" sz="2400" b="1" noProof="0" dirty="0">
                <a:latin typeface="Atkinson Hyperlegible"/>
              </a:rPr>
              <a:t> </a:t>
            </a:r>
            <a:r>
              <a:rPr lang="es-CL" sz="2400" noProof="0" dirty="0">
                <a:latin typeface="Atkinson Hyperlegible"/>
              </a:rPr>
              <a:t>— diseño y predicción para enlaces terrestres en línea de vista (LOS).</a:t>
            </a:r>
          </a:p>
          <a:p>
            <a:r>
              <a:rPr lang="es-CL" sz="2400" b="1" noProof="0" dirty="0" err="1">
                <a:latin typeface="Atkinson Hyperlegible"/>
              </a:rPr>
              <a:t>ITU</a:t>
            </a:r>
            <a:r>
              <a:rPr lang="es-CL" sz="2400" b="1" noProof="0" dirty="0">
                <a:latin typeface="Atkinson Hyperlegible"/>
              </a:rPr>
              <a:t>-R </a:t>
            </a:r>
            <a:r>
              <a:rPr lang="es-CL" sz="2400" b="1" noProof="0" dirty="0" err="1">
                <a:latin typeface="Atkinson Hyperlegible"/>
              </a:rPr>
              <a:t>P.525</a:t>
            </a:r>
            <a:r>
              <a:rPr lang="es-CL" sz="2400" b="1" noProof="0" dirty="0">
                <a:latin typeface="Atkinson Hyperlegible"/>
              </a:rPr>
              <a:t> </a:t>
            </a:r>
            <a:r>
              <a:rPr lang="es-CL" sz="2400" noProof="0" dirty="0">
                <a:latin typeface="Atkinson Hyperlegible"/>
              </a:rPr>
              <a:t>— pérdida en espacio libre.</a:t>
            </a:r>
          </a:p>
        </p:txBody>
      </p:sp>
      <p:sp>
        <p:nvSpPr>
          <p:cNvPr id="17" name="5 Rectángulo">
            <a:extLst>
              <a:ext uri="{FF2B5EF4-FFF2-40B4-BE49-F238E27FC236}">
                <a16:creationId xmlns:a16="http://schemas.microsoft.com/office/drawing/2014/main" id="{5A23FDA8-493C-2F0B-C6FD-642D21A0342B}"/>
              </a:ext>
            </a:extLst>
          </p:cNvPr>
          <p:cNvSpPr/>
          <p:nvPr/>
        </p:nvSpPr>
        <p:spPr>
          <a:xfrm>
            <a:off x="1221683" y="1606607"/>
            <a:ext cx="18598386" cy="4031873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CL" sz="3200" noProof="0" dirty="0">
                <a:latin typeface="Atkinson Hyperlegible"/>
              </a:rPr>
              <a:t>Las </a:t>
            </a:r>
            <a:r>
              <a:rPr lang="es-CL" sz="3200" b="1" noProof="0" dirty="0">
                <a:latin typeface="Atkinson Hyperlegible"/>
              </a:rPr>
              <a:t>microondas</a:t>
            </a:r>
            <a:r>
              <a:rPr lang="es-CL" sz="3200" noProof="0" dirty="0">
                <a:latin typeface="Atkinson Hyperlegible"/>
              </a:rPr>
              <a:t> se usan típicamente en enlaces </a:t>
            </a:r>
            <a:r>
              <a:rPr lang="es-CL" sz="3200" b="1" noProof="0" dirty="0">
                <a:latin typeface="Atkinson Hyperlegible"/>
              </a:rPr>
              <a:t>punto a punto</a:t>
            </a:r>
            <a:r>
              <a:rPr lang="es-CL" sz="3200" noProof="0" dirty="0">
                <a:latin typeface="Atkinson Hyperlegible"/>
              </a:rPr>
              <a:t> con antenas </a:t>
            </a:r>
            <a:r>
              <a:rPr lang="es-CL" sz="3200" b="1" noProof="0" dirty="0">
                <a:latin typeface="Atkinson Hyperlegible"/>
              </a:rPr>
              <a:t>direccionales</a:t>
            </a:r>
            <a:r>
              <a:rPr lang="es-CL" sz="3200" noProof="0" dirty="0">
                <a:latin typeface="Atkinson Hyperlegible"/>
              </a:rPr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3200" noProof="0" dirty="0">
                <a:latin typeface="Atkinson Hyperlegible"/>
              </a:rPr>
              <a:t>Requieren normalmente </a:t>
            </a:r>
            <a:r>
              <a:rPr lang="es-CL" sz="3200" b="1" noProof="0" dirty="0">
                <a:latin typeface="Atkinson Hyperlegible"/>
              </a:rPr>
              <a:t>LOS (Line-</a:t>
            </a:r>
            <a:r>
              <a:rPr lang="es-CL" sz="3200" b="1" noProof="0" dirty="0" err="1">
                <a:latin typeface="Atkinson Hyperlegible"/>
              </a:rPr>
              <a:t>of</a:t>
            </a:r>
            <a:r>
              <a:rPr lang="es-CL" sz="3200" b="1" noProof="0" dirty="0">
                <a:latin typeface="Atkinson Hyperlegible"/>
              </a:rPr>
              <a:t>-</a:t>
            </a:r>
            <a:r>
              <a:rPr lang="es-CL" sz="3200" b="1" noProof="0" dirty="0" err="1">
                <a:latin typeface="Atkinson Hyperlegible"/>
              </a:rPr>
              <a:t>Sight</a:t>
            </a:r>
            <a:r>
              <a:rPr lang="es-CL" sz="3200" b="1" noProof="0" dirty="0">
                <a:latin typeface="Atkinson Hyperlegible"/>
              </a:rPr>
              <a:t> / Línea de vista)</a:t>
            </a:r>
            <a:r>
              <a:rPr lang="es-CL" sz="3200" noProof="0" dirty="0">
                <a:latin typeface="Atkinson Hyperlegible"/>
              </a:rPr>
              <a:t> entre extremos del enlace. 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3200" noProof="0" dirty="0">
                <a:latin typeface="Atkinson Hyperlegible"/>
              </a:rPr>
              <a:t>La energía se concentra en un </a:t>
            </a:r>
            <a:r>
              <a:rPr lang="es-CL" sz="3200" b="1" noProof="0" dirty="0">
                <a:latin typeface="Atkinson Hyperlegible"/>
              </a:rPr>
              <a:t>haz</a:t>
            </a:r>
            <a:r>
              <a:rPr lang="es-CL" sz="3200" noProof="0" dirty="0">
                <a:latin typeface="Atkinson Hyperlegible"/>
              </a:rPr>
              <a:t> (</a:t>
            </a:r>
            <a:r>
              <a:rPr lang="es-CL" sz="3200" noProof="0" dirty="0" err="1">
                <a:latin typeface="Atkinson Hyperlegible"/>
              </a:rPr>
              <a:t>beam</a:t>
            </a:r>
            <a:r>
              <a:rPr lang="es-CL" sz="3200" noProof="0" dirty="0">
                <a:latin typeface="Atkinson Hyperlegible"/>
              </a:rPr>
              <a:t>) → mejora eficiencia y reduce radiación fuera del eje. 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3200" noProof="0" dirty="0">
                <a:latin typeface="Atkinson Hyperlegible"/>
              </a:rPr>
              <a:t>El desempeño depende de: </a:t>
            </a:r>
            <a:r>
              <a:rPr lang="es-CL" sz="3200" b="1" noProof="0" dirty="0">
                <a:latin typeface="Atkinson Hyperlegible"/>
              </a:rPr>
              <a:t>distancia</a:t>
            </a:r>
            <a:r>
              <a:rPr lang="es-CL" sz="3200" noProof="0" dirty="0">
                <a:latin typeface="Atkinson Hyperlegible"/>
              </a:rPr>
              <a:t>, </a:t>
            </a:r>
            <a:r>
              <a:rPr lang="es-CL" sz="3200" b="1" noProof="0" dirty="0">
                <a:latin typeface="Atkinson Hyperlegible"/>
              </a:rPr>
              <a:t>alineación</a:t>
            </a:r>
            <a:r>
              <a:rPr lang="es-CL" sz="3200" noProof="0" dirty="0">
                <a:latin typeface="Atkinson Hyperlegible"/>
              </a:rPr>
              <a:t>, </a:t>
            </a:r>
            <a:r>
              <a:rPr lang="es-CL" sz="3200" b="1" noProof="0" dirty="0">
                <a:latin typeface="Atkinson Hyperlegible"/>
              </a:rPr>
              <a:t>obstáculos</a:t>
            </a:r>
            <a:r>
              <a:rPr lang="es-CL" sz="3200" noProof="0" dirty="0">
                <a:latin typeface="Atkinson Hyperlegible"/>
              </a:rPr>
              <a:t>, y condiciones del entorno. 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3200" noProof="0" dirty="0">
                <a:latin typeface="Atkinson Hyperlegible"/>
              </a:rPr>
              <a:t>En diseño real, no basta “ver” el otro extremo: se debe considerar el </a:t>
            </a:r>
            <a:r>
              <a:rPr lang="es-CL" sz="3200" b="1" noProof="0" dirty="0">
                <a:latin typeface="Atkinson Hyperlegible"/>
              </a:rPr>
              <a:t>trayecto</a:t>
            </a:r>
            <a:r>
              <a:rPr lang="es-CL" sz="3200" noProof="0" dirty="0">
                <a:latin typeface="Atkinson Hyperlegible"/>
              </a:rPr>
              <a:t> y despeje (</a:t>
            </a:r>
            <a:r>
              <a:rPr lang="es-CL" sz="3200" b="1" noProof="0" dirty="0">
                <a:latin typeface="Atkinson Hyperlegible"/>
              </a:rPr>
              <a:t>Fresnel</a:t>
            </a:r>
            <a:r>
              <a:rPr lang="es-CL" sz="3200" noProof="0" dirty="0">
                <a:latin typeface="Atkinson Hyperlegible"/>
              </a:rPr>
              <a:t>). 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3200" noProof="0" dirty="0">
                <a:latin typeface="Atkinson Hyperlegible"/>
              </a:rPr>
              <a:t>Uso típico: </a:t>
            </a:r>
            <a:r>
              <a:rPr lang="es-CL" sz="3200" b="1" noProof="0" dirty="0" err="1">
                <a:latin typeface="Atkinson Hyperlegible"/>
              </a:rPr>
              <a:t>backhaul</a:t>
            </a:r>
            <a:r>
              <a:rPr lang="es-CL" sz="3200" noProof="0" dirty="0">
                <a:latin typeface="Atkinson Hyperlegible"/>
              </a:rPr>
              <a:t>, </a:t>
            </a:r>
            <a:r>
              <a:rPr lang="es-CL" sz="3200" b="1" noProof="0" dirty="0">
                <a:latin typeface="Atkinson Hyperlegible"/>
              </a:rPr>
              <a:t>última milla</a:t>
            </a:r>
            <a:r>
              <a:rPr lang="es-CL" sz="3200" noProof="0" dirty="0">
                <a:latin typeface="Atkinson Hyperlegible"/>
              </a:rPr>
              <a:t>, enlaces entre sitios cuando no es posible cablear. </a:t>
            </a:r>
          </a:p>
          <a:p>
            <a:pPr algn="ctr"/>
            <a:br>
              <a:rPr lang="es-CL" sz="3200" noProof="0" dirty="0">
                <a:latin typeface="Atkinson Hyperlegible"/>
              </a:rPr>
            </a:br>
            <a:r>
              <a:rPr lang="es-CL" sz="3200" b="1" noProof="0" dirty="0">
                <a:latin typeface="Atkinson Hyperlegible"/>
              </a:rPr>
              <a:t>Microondas = enlace fijo + haz estrecho + planificación del trayecto (LOS).</a:t>
            </a:r>
            <a:endParaRPr lang="es-CL" sz="3200" noProof="0" dirty="0">
              <a:latin typeface="Atkinson Hyperlegible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B82C8F5-1CBC-BD39-7831-576C74047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956" y="5638479"/>
            <a:ext cx="5587026" cy="35804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Picture 2" descr="PRORED - Zonas de Fresnel en un radioenlace">
            <a:extLst>
              <a:ext uri="{FF2B5EF4-FFF2-40B4-BE49-F238E27FC236}">
                <a16:creationId xmlns:a16="http://schemas.microsoft.com/office/drawing/2014/main" id="{156D0BA3-0309-DCD8-7D4F-86D3FBF98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050" y="5896719"/>
            <a:ext cx="9392301" cy="4529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23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6A3529-5576-ACFD-3179-1648B9563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D632505-1AA3-F38C-7ECB-03AECC500B86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AEE8C353-6510-1FB8-FF5F-77B3418623A7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MICROONDAS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7605811-9B0E-32AB-818D-151384BF8518}"/>
              </a:ext>
            </a:extLst>
          </p:cNvPr>
          <p:cNvSpPr txBox="1"/>
          <p:nvPr/>
        </p:nvSpPr>
        <p:spPr>
          <a:xfrm>
            <a:off x="1221683" y="764560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noProof="0" dirty="0">
                <a:latin typeface="Atkinson Hyperlegible"/>
              </a:rPr>
              <a:t>Unidades logarítmicas en RF: dB, dBm y ganancia de antena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5 Rectángulo">
                <a:extLst>
                  <a:ext uri="{FF2B5EF4-FFF2-40B4-BE49-F238E27FC236}">
                    <a16:creationId xmlns:a16="http://schemas.microsoft.com/office/drawing/2014/main" id="{646FDD49-BE63-0072-2A47-E9D2D1EDA34E}"/>
                  </a:ext>
                </a:extLst>
              </p:cNvPr>
              <p:cNvSpPr/>
              <p:nvPr/>
            </p:nvSpPr>
            <p:spPr>
              <a:xfrm>
                <a:off x="1221683" y="1387475"/>
                <a:ext cx="18598386" cy="9157315"/>
              </a:xfrm>
              <a:prstGeom prst="rect">
                <a:avLst/>
              </a:prstGeom>
              <a:noFill/>
              <a:effectLst/>
            </p:spPr>
            <p:txBody>
              <a:bodyPr wrap="square" lIns="91440" tIns="45720" rIns="91440" bIns="45720" anchor="t">
                <a:spAutoFit/>
              </a:bodyPr>
              <a:lstStyle/>
              <a:p>
                <a:r>
                  <a:rPr lang="es-CL" b="1" noProof="0" dirty="0"/>
                  <a:t>1</a:t>
                </a:r>
                <a:r>
                  <a:rPr lang="es-CL" sz="2000" b="1" noProof="0" dirty="0">
                    <a:latin typeface="Atkinson Hyperlegible"/>
                  </a:rPr>
                  <a:t>) dB (decibel) — razón</a:t>
                </a:r>
              </a:p>
              <a:p>
                <a:r>
                  <a:rPr lang="es-CL" sz="2000" b="1" noProof="0" dirty="0">
                    <a:latin typeface="Atkinson Hyperlegible"/>
                  </a:rPr>
                  <a:t>dB = comparación</a:t>
                </a:r>
                <a:r>
                  <a:rPr lang="es-CL" sz="2000" noProof="0" dirty="0">
                    <a:latin typeface="Atkinson Hyperlegible"/>
                  </a:rPr>
                  <a:t> entre dos potencias: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L" sz="2000" b="0" noProof="0">
                          <a:latin typeface="Atkinson Hyperlegible"/>
                        </a:rPr>
                        <m:t>dB</m:t>
                      </m:r>
                      <m:r>
                        <a:rPr lang="es-CL" sz="2000" noProof="0"/>
                        <m:t>=</m:t>
                      </m:r>
                      <m:r>
                        <a:rPr lang="es-CL" sz="2000" noProof="0"/>
                        <m:t>10</m:t>
                      </m:r>
                      <m:sSub>
                        <m:sSubPr>
                          <m:ctrlPr>
                            <a:rPr lang="es-CL" sz="2000" i="1" noProof="0" smtClean="0"/>
                          </m:ctrlPr>
                        </m:sSubPr>
                        <m:e>
                          <m:func>
                            <m:funcPr>
                              <m:ctrlPr>
                                <a:rPr lang="es-CL" sz="2000" i="1" noProof="0" smtClean="0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CL" sz="2000" noProof="0"/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es-CL" sz="2000" noProof="0" smtClean="0"/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es-CL" sz="2000" i="1" noProof="0" smtClean="0"/>
                          </m:ctrlPr>
                        </m:dPr>
                        <m:e>
                          <m:f>
                            <m:fPr>
                              <m:ctrlPr>
                                <a:rPr lang="es-CL" sz="2000" i="1" noProof="0" smtClean="0"/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CL" sz="2000" i="1" noProof="0" smtClean="0"/>
                                  </m:ctrlPr>
                                </m:sSubPr>
                                <m:e>
                                  <m:r>
                                    <a:rPr lang="es-CL" sz="2000" i="1" noProof="0" smtClean="0"/>
                                    <m:t>𝑃</m:t>
                                  </m:r>
                                </m:e>
                                <m:sub>
                                  <m:r>
                                    <a:rPr lang="es-CL" sz="2000" noProof="0" smtClean="0"/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CL" sz="2000" i="1" noProof="0" smtClean="0"/>
                                  </m:ctrlPr>
                                </m:sSubPr>
                                <m:e>
                                  <m:r>
                                    <a:rPr lang="es-CL" sz="2000" i="1" noProof="0" smtClean="0"/>
                                    <m:t>𝑃</m:t>
                                  </m:r>
                                </m:e>
                                <m:sub>
                                  <m:r>
                                    <a:rPr lang="es-CL" sz="2000" noProof="0" smtClean="0"/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s-CL" sz="2000" b="0" noProof="0" dirty="0">
                  <a:latin typeface="Atkinson Hyperlegible"/>
                </a:endParaRPr>
              </a:p>
              <a:p>
                <a:r>
                  <a:rPr lang="es-CL" sz="2000" noProof="0" dirty="0">
                    <a:latin typeface="Atkinson Hyperlegible"/>
                  </a:rPr>
                  <a:t>Si hablamos de </a:t>
                </a:r>
                <a:r>
                  <a:rPr lang="es-CL" sz="2000" b="1" noProof="0" dirty="0">
                    <a:latin typeface="Atkinson Hyperlegible"/>
                  </a:rPr>
                  <a:t>tensión/campo</a:t>
                </a:r>
                <a:r>
                  <a:rPr lang="es-CL" sz="2000" noProof="0" dirty="0">
                    <a:latin typeface="Atkinson Hyperlegible"/>
                  </a:rPr>
                  <a:t> (misma impedancia):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L" sz="2000" b="0" noProof="0">
                          <a:latin typeface="Atkinson Hyperlegible"/>
                        </a:rPr>
                        <m:t>dB</m:t>
                      </m:r>
                      <m:r>
                        <a:rPr lang="es-CL" sz="2000" noProof="0"/>
                        <m:t>=</m:t>
                      </m:r>
                      <m:r>
                        <a:rPr lang="es-CL" sz="2000" noProof="0"/>
                        <m:t>20</m:t>
                      </m:r>
                      <m:sSub>
                        <m:sSubPr>
                          <m:ctrlPr>
                            <a:rPr lang="es-CL" sz="2000" i="1" noProof="0" smtClean="0"/>
                          </m:ctrlPr>
                        </m:sSubPr>
                        <m:e>
                          <m:func>
                            <m:funcPr>
                              <m:ctrlPr>
                                <a:rPr lang="es-CL" sz="2000" i="1" noProof="0" smtClean="0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CL" sz="2000" noProof="0"/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es-CL" sz="2000" noProof="0" smtClean="0"/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es-CL" sz="2000" i="1" noProof="0" smtClean="0"/>
                          </m:ctrlPr>
                        </m:dPr>
                        <m:e>
                          <m:f>
                            <m:fPr>
                              <m:ctrlPr>
                                <a:rPr lang="es-CL" sz="2000" i="1" noProof="0" smtClean="0"/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CL" sz="2000" i="1" noProof="0" smtClean="0"/>
                                  </m:ctrlPr>
                                </m:sSubPr>
                                <m:e>
                                  <m:r>
                                    <a:rPr lang="es-CL" sz="2000" i="1" noProof="0" smtClean="0"/>
                                    <m:t>𝑉</m:t>
                                  </m:r>
                                </m:e>
                                <m:sub>
                                  <m:r>
                                    <a:rPr lang="es-CL" sz="2000" noProof="0" smtClean="0"/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CL" sz="2000" i="1" noProof="0" smtClean="0"/>
                                  </m:ctrlPr>
                                </m:sSubPr>
                                <m:e>
                                  <m:r>
                                    <a:rPr lang="es-CL" sz="2000" i="1" noProof="0" smtClean="0"/>
                                    <m:t>𝑉</m:t>
                                  </m:r>
                                </m:e>
                                <m:sub>
                                  <m:r>
                                    <a:rPr lang="es-CL" sz="2000" noProof="0" smtClean="0"/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s-CL" sz="2000" b="0" noProof="0" dirty="0">
                  <a:latin typeface="Atkinson Hyperlegible"/>
                </a:endParaRPr>
              </a:p>
              <a:p>
                <a:endParaRPr lang="es-CL" sz="2000" b="1" noProof="0" dirty="0">
                  <a:latin typeface="Atkinson Hyperlegible"/>
                </a:endParaRPr>
              </a:p>
              <a:p>
                <a:r>
                  <a:rPr lang="es-CL" sz="2000" b="1" noProof="0" dirty="0">
                    <a:latin typeface="Atkinson Hyperlegible"/>
                  </a:rPr>
                  <a:t>2) dBm (potencia absoluta)</a:t>
                </a:r>
              </a:p>
              <a:p>
                <a:r>
                  <a:rPr lang="es-CL" sz="2000" b="1" noProof="0" dirty="0">
                    <a:latin typeface="Atkinson Hyperlegible"/>
                  </a:rPr>
                  <a:t>dBm = potencia referida a 1 </a:t>
                </a:r>
                <a:r>
                  <a:rPr lang="es-CL" sz="2000" b="1" noProof="0" dirty="0" err="1">
                    <a:latin typeface="Atkinson Hyperlegible"/>
                  </a:rPr>
                  <a:t>mW</a:t>
                </a:r>
                <a:r>
                  <a:rPr lang="es-CL" sz="2000" noProof="0" dirty="0">
                    <a:latin typeface="Atkinson Hyperlegible"/>
                  </a:rPr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2000" i="1" noProof="0"/>
                        <m:t>𝑃</m:t>
                      </m:r>
                      <m:d>
                        <m:dPr>
                          <m:ctrlPr>
                            <a:rPr lang="es-CL" sz="2000" i="1" noProof="0" smtClean="0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CL" sz="2000" i="1" noProof="0">
                              <a:latin typeface="Atkinson Hyperlegible"/>
                            </a:rPr>
                            <m:t>dBm</m:t>
                          </m:r>
                        </m:e>
                      </m:d>
                      <m:r>
                        <a:rPr lang="es-CL" sz="2000" noProof="0" smtClean="0"/>
                        <m:t>=</m:t>
                      </m:r>
                      <m:r>
                        <a:rPr lang="es-CL" sz="2000" noProof="0" smtClean="0"/>
                        <m:t>10</m:t>
                      </m:r>
                      <m:sSub>
                        <m:sSubPr>
                          <m:ctrlPr>
                            <a:rPr lang="es-CL" sz="2000" i="1" noProof="0" smtClean="0"/>
                          </m:ctrlPr>
                        </m:sSubPr>
                        <m:e>
                          <m:func>
                            <m:funcPr>
                              <m:ctrlPr>
                                <a:rPr lang="es-CL" sz="2000" i="1" noProof="0" smtClean="0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CL" sz="2000" noProof="0"/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es-CL" sz="2000" noProof="0" smtClean="0"/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es-CL" sz="2000" i="1" noProof="0" smtClean="0"/>
                          </m:ctrlPr>
                        </m:dPr>
                        <m:e>
                          <m:f>
                            <m:fPr>
                              <m:ctrlPr>
                                <a:rPr lang="es-CL" sz="2000" i="1" noProof="0" smtClean="0"/>
                              </m:ctrlPr>
                            </m:fPr>
                            <m:num>
                              <m:r>
                                <a:rPr lang="es-CL" sz="2000" i="1" noProof="0" smtClean="0"/>
                                <m:t>𝑃</m:t>
                              </m:r>
                              <m:d>
                                <m:dPr>
                                  <m:ctrlPr>
                                    <a:rPr lang="es-CL" sz="2000" i="1" noProof="0" smtClean="0"/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s-CL" sz="2000" i="1" noProof="0">
                                      <a:latin typeface="Atkinson Hyperlegible"/>
                                    </a:rPr>
                                    <m:t>mW</m:t>
                                  </m:r>
                                </m:e>
                              </m:d>
                            </m:num>
                            <m:den>
                              <m:r>
                                <a:rPr lang="es-CL" sz="2000" noProof="0" smtClean="0"/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s-CL" sz="2000" i="1" noProof="0" smtClean="0">
                                  <a:latin typeface="Atkinson Hyperlegible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CL" sz="2000" i="1" noProof="0">
                                  <a:latin typeface="Atkinson Hyperlegible"/>
                                </a:rPr>
                                <m:t>mW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CL" sz="2000" b="0" noProof="0" dirty="0">
                  <a:latin typeface="Atkinson Hyperlegible"/>
                </a:endParaRPr>
              </a:p>
              <a:p>
                <a:r>
                  <a:rPr lang="es-CL" sz="2000" noProof="0" dirty="0">
                    <a:latin typeface="Atkinson Hyperlegible"/>
                  </a:rPr>
                  <a:t>Equivalencias rápidas (muy útiles): </a:t>
                </a:r>
              </a:p>
              <a:p>
                <a:pPr lvl="1"/>
                <a:r>
                  <a:rPr lang="es-CL" sz="2000" b="1" noProof="0" dirty="0">
                    <a:latin typeface="Atkinson Hyperlegible"/>
                  </a:rPr>
                  <a:t>1 </a:t>
                </a:r>
                <a:r>
                  <a:rPr lang="es-CL" sz="2000" b="1" noProof="0" dirty="0" err="1">
                    <a:latin typeface="Atkinson Hyperlegible"/>
                  </a:rPr>
                  <a:t>mW</a:t>
                </a:r>
                <a:r>
                  <a:rPr lang="es-CL" sz="2000" b="1" noProof="0" dirty="0">
                    <a:latin typeface="Atkinson Hyperlegible"/>
                  </a:rPr>
                  <a:t> = 0 dBm</a:t>
                </a:r>
                <a:r>
                  <a:rPr lang="es-CL" sz="2000" noProof="0" dirty="0">
                    <a:latin typeface="Atkinson Hyperlegible"/>
                  </a:rPr>
                  <a:t> </a:t>
                </a:r>
              </a:p>
              <a:p>
                <a:pPr lvl="1"/>
                <a:r>
                  <a:rPr lang="es-CL" sz="2000" b="1" noProof="0" dirty="0">
                    <a:latin typeface="Atkinson Hyperlegible"/>
                  </a:rPr>
                  <a:t>10 </a:t>
                </a:r>
                <a:r>
                  <a:rPr lang="es-CL" sz="2000" b="1" noProof="0" dirty="0" err="1">
                    <a:latin typeface="Atkinson Hyperlegible"/>
                  </a:rPr>
                  <a:t>mW</a:t>
                </a:r>
                <a:r>
                  <a:rPr lang="es-CL" sz="2000" b="1" noProof="0" dirty="0">
                    <a:latin typeface="Atkinson Hyperlegible"/>
                  </a:rPr>
                  <a:t> = 10 dBm</a:t>
                </a:r>
                <a:r>
                  <a:rPr lang="es-CL" sz="2000" noProof="0" dirty="0">
                    <a:latin typeface="Atkinson Hyperlegible"/>
                  </a:rPr>
                  <a:t> </a:t>
                </a:r>
              </a:p>
              <a:p>
                <a:pPr lvl="1"/>
                <a:r>
                  <a:rPr lang="es-CL" sz="2000" b="1" noProof="0" dirty="0">
                    <a:latin typeface="Atkinson Hyperlegible"/>
                  </a:rPr>
                  <a:t>100 </a:t>
                </a:r>
                <a:r>
                  <a:rPr lang="es-CL" sz="2000" b="1" noProof="0" dirty="0" err="1">
                    <a:latin typeface="Atkinson Hyperlegible"/>
                  </a:rPr>
                  <a:t>mW</a:t>
                </a:r>
                <a:r>
                  <a:rPr lang="es-CL" sz="2000" b="1" noProof="0" dirty="0">
                    <a:latin typeface="Atkinson Hyperlegible"/>
                  </a:rPr>
                  <a:t> = 20 dBm</a:t>
                </a:r>
                <a:r>
                  <a:rPr lang="es-CL" sz="2000" noProof="0" dirty="0">
                    <a:latin typeface="Atkinson Hyperlegible"/>
                  </a:rPr>
                  <a:t> </a:t>
                </a:r>
              </a:p>
              <a:p>
                <a:pPr lvl="1"/>
                <a:r>
                  <a:rPr lang="es-CL" sz="2000" b="1" noProof="0" dirty="0">
                    <a:latin typeface="Atkinson Hyperlegible"/>
                  </a:rPr>
                  <a:t>1 W = 30 dBm</a:t>
                </a:r>
                <a:r>
                  <a:rPr lang="es-CL" sz="2000" noProof="0" dirty="0">
                    <a:latin typeface="Atkinson Hyperlegible"/>
                  </a:rPr>
                  <a:t> </a:t>
                </a:r>
              </a:p>
              <a:p>
                <a:pPr lvl="1"/>
                <a:endParaRPr lang="es-CL" sz="2000" noProof="0" dirty="0">
                  <a:latin typeface="Atkinson Hyperlegible"/>
                </a:endParaRPr>
              </a:p>
              <a:p>
                <a:r>
                  <a:rPr lang="es-CL" sz="2000" b="1" noProof="0" dirty="0">
                    <a:latin typeface="Atkinson Hyperlegible"/>
                  </a:rPr>
                  <a:t>3) Antenas: dBi (ganancia)</a:t>
                </a:r>
              </a:p>
              <a:p>
                <a:r>
                  <a:rPr lang="es-CL" sz="2000" b="1" noProof="0" dirty="0">
                    <a:latin typeface="Atkinson Hyperlegible"/>
                  </a:rPr>
                  <a:t>Ganancia de antena (dBi)</a:t>
                </a:r>
                <a:r>
                  <a:rPr lang="es-CL" sz="2000" noProof="0" dirty="0">
                    <a:latin typeface="Atkinson Hyperlegible"/>
                  </a:rPr>
                  <a:t>: cuánto concentra la antena respecto a una </a:t>
                </a:r>
                <a:r>
                  <a:rPr lang="es-CL" sz="2000" b="1" noProof="0" dirty="0">
                    <a:latin typeface="Atkinson Hyperlegible"/>
                  </a:rPr>
                  <a:t>isotrópica ideal</a:t>
                </a:r>
                <a:r>
                  <a:rPr lang="es-CL" sz="2000" noProof="0" dirty="0">
                    <a:latin typeface="Atkinson Hyperlegible"/>
                  </a:rPr>
                  <a:t>. </a:t>
                </a:r>
              </a:p>
              <a:p>
                <a:r>
                  <a:rPr lang="es-CL" sz="2000" noProof="0" dirty="0">
                    <a:latin typeface="Atkinson Hyperlegible"/>
                  </a:rPr>
                  <a:t>la antena </a:t>
                </a:r>
                <a:r>
                  <a:rPr lang="es-CL" sz="2000" b="1" noProof="0" dirty="0">
                    <a:latin typeface="Atkinson Hyperlegible"/>
                  </a:rPr>
                  <a:t>no crea potencia</a:t>
                </a:r>
                <a:r>
                  <a:rPr lang="es-CL" sz="2000" noProof="0" dirty="0">
                    <a:latin typeface="Atkinson Hyperlegible"/>
                  </a:rPr>
                  <a:t>: </a:t>
                </a:r>
                <a:r>
                  <a:rPr lang="es-CL" sz="2000" b="1" noProof="0" dirty="0">
                    <a:latin typeface="Atkinson Hyperlegible"/>
                  </a:rPr>
                  <a:t>redistribuye</a:t>
                </a:r>
                <a:r>
                  <a:rPr lang="es-CL" sz="2000" noProof="0" dirty="0">
                    <a:latin typeface="Atkinson Hyperlegible"/>
                  </a:rPr>
                  <a:t> energía (haz más estrecho → mayor ganancia). </a:t>
                </a:r>
              </a:p>
              <a:p>
                <a:endParaRPr lang="es-CL" sz="2000" noProof="0" dirty="0">
                  <a:latin typeface="Atkinson Hyperlegible"/>
                </a:endParaRPr>
              </a:p>
              <a:p>
                <a:r>
                  <a:rPr lang="es-CL" sz="2000" b="1" noProof="0" dirty="0">
                    <a:latin typeface="Atkinson Hyperlegible"/>
                  </a:rPr>
                  <a:t>4) base</a:t>
                </a:r>
              </a:p>
              <a:p>
                <a:r>
                  <a:rPr lang="es-CL" sz="2000" noProof="0" dirty="0">
                    <a:latin typeface="Atkinson Hyperlegible"/>
                  </a:rPr>
                  <a:t>En dB/dBm, </a:t>
                </a:r>
                <a:r>
                  <a:rPr lang="es-CL" sz="2000" b="1" noProof="0" dirty="0">
                    <a:latin typeface="Atkinson Hyperlegible"/>
                  </a:rPr>
                  <a:t>las multiplicaciones se transforman en sumas</a:t>
                </a:r>
                <a:r>
                  <a:rPr lang="es-CL" sz="2000" noProof="0" dirty="0">
                    <a:latin typeface="Atkinson Hyperlegible"/>
                  </a:rPr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2000" noProof="0"/>
                        <m:t>10</m:t>
                      </m:r>
                      <m:r>
                        <m:rPr>
                          <m:sty m:val="p"/>
                        </m:rPr>
                        <a:rPr lang="es-CL" sz="2000" noProof="0"/>
                        <m:t>log</m:t>
                      </m:r>
                      <m:r>
                        <a:rPr lang="es-CL" sz="2000" noProof="0"/>
                        <m:t>⁡</m:t>
                      </m:r>
                      <m:d>
                        <m:dPr>
                          <m:ctrlPr>
                            <a:rPr lang="es-CL" sz="2000" i="1" noProof="0" smtClean="0"/>
                          </m:ctrlPr>
                        </m:dPr>
                        <m:e>
                          <m:r>
                            <a:rPr lang="es-CL" sz="2000" i="1" noProof="0" smtClean="0"/>
                            <m:t>𝑎𝑏</m:t>
                          </m:r>
                        </m:e>
                      </m:d>
                      <m:r>
                        <a:rPr lang="es-CL" sz="2000" noProof="0" smtClean="0"/>
                        <m:t>=</m:t>
                      </m:r>
                      <m:r>
                        <a:rPr lang="es-CL" sz="2000" noProof="0" smtClean="0"/>
                        <m:t>10</m:t>
                      </m:r>
                      <m:r>
                        <m:rPr>
                          <m:sty m:val="p"/>
                        </m:rPr>
                        <a:rPr lang="es-CL" sz="2000" noProof="0"/>
                        <m:t>log</m:t>
                      </m:r>
                      <m:r>
                        <a:rPr lang="es-CL" sz="2000" noProof="0"/>
                        <m:t>⁡</m:t>
                      </m:r>
                      <m:d>
                        <m:dPr>
                          <m:ctrlPr>
                            <a:rPr lang="es-CL" sz="2000" i="1" noProof="0" smtClean="0"/>
                          </m:ctrlPr>
                        </m:dPr>
                        <m:e>
                          <m:r>
                            <a:rPr lang="es-CL" sz="2000" i="1" noProof="0" smtClean="0"/>
                            <m:t>𝑎</m:t>
                          </m:r>
                        </m:e>
                      </m:d>
                      <m:r>
                        <a:rPr lang="es-CL" sz="2000" noProof="0" smtClean="0"/>
                        <m:t>+</m:t>
                      </m:r>
                      <m:r>
                        <a:rPr lang="es-CL" sz="2000" noProof="0" smtClean="0"/>
                        <m:t>10</m:t>
                      </m:r>
                      <m:r>
                        <m:rPr>
                          <m:sty m:val="p"/>
                        </m:rPr>
                        <a:rPr lang="es-CL" sz="2000" noProof="0"/>
                        <m:t>log</m:t>
                      </m:r>
                      <m:r>
                        <a:rPr lang="es-CL" sz="2000" noProof="0"/>
                        <m:t>⁡</m:t>
                      </m:r>
                      <m:d>
                        <m:dPr>
                          <m:ctrlPr>
                            <a:rPr lang="es-CL" sz="2000" i="1" noProof="0" smtClean="0"/>
                          </m:ctrlPr>
                        </m:dPr>
                        <m:e>
                          <m:r>
                            <a:rPr lang="es-CL" sz="2000" i="1" noProof="0" smtClean="0"/>
                            <m:t>𝑏</m:t>
                          </m:r>
                        </m:e>
                      </m:d>
                    </m:oMath>
                  </m:oMathPara>
                </a14:m>
                <a:endParaRPr lang="es-CL" sz="2000" noProof="0" dirty="0">
                  <a:latin typeface="Atkinson Hyperlegible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2000" noProof="0" smtClean="0"/>
                        <m:t>10</m:t>
                      </m:r>
                      <m:func>
                        <m:funcPr>
                          <m:ctrlPr>
                            <a:rPr lang="es-CL" sz="2000" i="1" noProof="0" smtClean="0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L" sz="2000" noProof="0"/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s-CL" sz="2000" i="1" noProof="0" smtClean="0"/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CL" sz="2000" i="1" noProof="0" smtClean="0"/>
                                  </m:ctrlPr>
                                </m:fPr>
                                <m:num>
                                  <m:r>
                                    <a:rPr lang="es-CL" sz="2000" i="1" noProof="0" smtClean="0"/>
                                    <m:t>𝑎</m:t>
                                  </m:r>
                                </m:num>
                                <m:den>
                                  <m:r>
                                    <a:rPr lang="es-CL" sz="2000" i="1" noProof="0" smtClean="0"/>
                                    <m:t>𝑏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s-CL" sz="2000" noProof="0" smtClean="0"/>
                        <m:t>=</m:t>
                      </m:r>
                      <m:r>
                        <a:rPr lang="es-CL" sz="2000" noProof="0" smtClean="0"/>
                        <m:t>10</m:t>
                      </m:r>
                      <m:r>
                        <m:rPr>
                          <m:sty m:val="p"/>
                        </m:rPr>
                        <a:rPr lang="es-CL" sz="2000" noProof="0"/>
                        <m:t>log</m:t>
                      </m:r>
                      <m:r>
                        <a:rPr lang="es-CL" sz="2000" noProof="0"/>
                        <m:t>⁡</m:t>
                      </m:r>
                      <m:d>
                        <m:dPr>
                          <m:ctrlPr>
                            <a:rPr lang="es-CL" sz="2000" i="1" noProof="0" smtClean="0"/>
                          </m:ctrlPr>
                        </m:dPr>
                        <m:e>
                          <m:r>
                            <a:rPr lang="es-CL" sz="2000" i="1" noProof="0" smtClean="0"/>
                            <m:t>𝑎</m:t>
                          </m:r>
                        </m:e>
                      </m:d>
                      <m:r>
                        <a:rPr lang="es-CL" sz="2000" noProof="0" smtClean="0"/>
                        <m:t>−</m:t>
                      </m:r>
                      <m:r>
                        <a:rPr lang="es-CL" sz="2000" noProof="0" smtClean="0"/>
                        <m:t>10</m:t>
                      </m:r>
                      <m:r>
                        <m:rPr>
                          <m:sty m:val="p"/>
                        </m:rPr>
                        <a:rPr lang="es-CL" sz="2000" noProof="0"/>
                        <m:t>log</m:t>
                      </m:r>
                      <m:r>
                        <a:rPr lang="es-CL" sz="2000" noProof="0"/>
                        <m:t>⁡</m:t>
                      </m:r>
                      <m:d>
                        <m:dPr>
                          <m:ctrlPr>
                            <a:rPr lang="es-CL" sz="2000" i="1" noProof="0" smtClean="0"/>
                          </m:ctrlPr>
                        </m:dPr>
                        <m:e>
                          <m:r>
                            <a:rPr lang="es-CL" sz="2000" i="1" noProof="0" smtClean="0"/>
                            <m:t>𝑏</m:t>
                          </m:r>
                        </m:e>
                      </m:d>
                    </m:oMath>
                  </m:oMathPara>
                </a14:m>
                <a:endParaRPr lang="es-CL" sz="2000" noProof="0" dirty="0">
                  <a:latin typeface="Atkinson Hyperlegible"/>
                </a:endParaRPr>
              </a:p>
              <a:p>
                <a:r>
                  <a:rPr lang="es-CL" sz="2000" noProof="0" dirty="0">
                    <a:latin typeface="Atkinson Hyperlegible"/>
                  </a:rPr>
                  <a:t>Por eso en RF se usa: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000" noProof="0" smtClean="0"/>
                          </m:ctrlPr>
                        </m:sSubPr>
                        <m:e>
                          <m:r>
                            <a:rPr lang="es-CL" sz="2000" i="1" noProof="0" smtClean="0"/>
                            <m:t>𝑃</m:t>
                          </m:r>
                        </m:e>
                        <m:sub>
                          <m:r>
                            <a:rPr lang="es-CL" sz="2000" i="1" noProof="0" smtClean="0"/>
                            <m:t>𝑅𝑋</m:t>
                          </m:r>
                        </m:sub>
                      </m:sSub>
                      <m:d>
                        <m:dPr>
                          <m:ctrlPr>
                            <a:rPr lang="es-CL" sz="2000" i="1" noProof="0" smtClean="0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CL" sz="2000" i="1" noProof="0">
                              <a:latin typeface="Atkinson Hyperlegible"/>
                            </a:rPr>
                            <m:t>dBm</m:t>
                          </m:r>
                        </m:e>
                      </m:d>
                      <m:r>
                        <a:rPr lang="es-CL" sz="2000" noProof="0" smtClean="0"/>
                        <m:t>=</m:t>
                      </m:r>
                      <m:sSub>
                        <m:sSubPr>
                          <m:ctrlPr>
                            <a:rPr lang="es-CL" sz="2000" i="1" noProof="0" smtClean="0"/>
                          </m:ctrlPr>
                        </m:sSubPr>
                        <m:e>
                          <m:r>
                            <a:rPr lang="es-CL" sz="2000" i="1" noProof="0" smtClean="0"/>
                            <m:t>𝑃</m:t>
                          </m:r>
                        </m:e>
                        <m:sub>
                          <m:r>
                            <a:rPr lang="es-CL" sz="2000" i="1" noProof="0" smtClean="0"/>
                            <m:t>𝑇𝑋</m:t>
                          </m:r>
                        </m:sub>
                      </m:sSub>
                      <m:d>
                        <m:dPr>
                          <m:ctrlPr>
                            <a:rPr lang="es-CL" sz="2000" i="1" noProof="0" smtClean="0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CL" sz="2000" i="1" noProof="0">
                              <a:latin typeface="Atkinson Hyperlegible"/>
                            </a:rPr>
                            <m:t>dBm</m:t>
                          </m:r>
                        </m:e>
                      </m:d>
                      <m:r>
                        <a:rPr lang="es-CL" sz="2000" noProof="0" smtClean="0"/>
                        <m:t>+</m:t>
                      </m:r>
                      <m:sSub>
                        <m:sSubPr>
                          <m:ctrlPr>
                            <a:rPr lang="es-CL" sz="2000" i="1" noProof="0" smtClean="0"/>
                          </m:ctrlPr>
                        </m:sSubPr>
                        <m:e>
                          <m:r>
                            <a:rPr lang="es-CL" sz="2000" i="1" noProof="0" smtClean="0"/>
                            <m:t>𝐺</m:t>
                          </m:r>
                        </m:e>
                        <m:sub>
                          <m:r>
                            <a:rPr lang="es-CL" sz="2000" i="1" noProof="0" smtClean="0"/>
                            <m:t>𝑇𝑋</m:t>
                          </m:r>
                        </m:sub>
                      </m:sSub>
                      <m:d>
                        <m:dPr>
                          <m:ctrlPr>
                            <a:rPr lang="es-CL" sz="2000" i="1" noProof="0" smtClean="0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CL" sz="2000" i="1" noProof="0">
                              <a:latin typeface="Atkinson Hyperlegible"/>
                            </a:rPr>
                            <m:t>dBi</m:t>
                          </m:r>
                        </m:e>
                      </m:d>
                      <m:r>
                        <a:rPr lang="es-CL" sz="2000" noProof="0" smtClean="0"/>
                        <m:t>−</m:t>
                      </m:r>
                      <m:r>
                        <a:rPr lang="es-CL" sz="2000" i="1" noProof="0" smtClean="0"/>
                        <m:t>𝐿</m:t>
                      </m:r>
                      <m:d>
                        <m:dPr>
                          <m:ctrlPr>
                            <a:rPr lang="es-CL" sz="2000" i="1" noProof="0" smtClean="0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CL" sz="2000" i="1" noProof="0">
                              <a:latin typeface="Atkinson Hyperlegible"/>
                            </a:rPr>
                            <m:t>dB</m:t>
                          </m:r>
                        </m:e>
                      </m:d>
                      <m:r>
                        <a:rPr lang="es-CL" sz="2000" noProof="0" smtClean="0"/>
                        <m:t>+</m:t>
                      </m:r>
                      <m:sSub>
                        <m:sSubPr>
                          <m:ctrlPr>
                            <a:rPr lang="es-CL" sz="2000" i="1" noProof="0" smtClean="0"/>
                          </m:ctrlPr>
                        </m:sSubPr>
                        <m:e>
                          <m:r>
                            <a:rPr lang="es-CL" sz="2000" i="1" noProof="0" smtClean="0"/>
                            <m:t>𝐺</m:t>
                          </m:r>
                        </m:e>
                        <m:sub>
                          <m:r>
                            <a:rPr lang="es-CL" sz="2000" i="1" noProof="0" smtClean="0"/>
                            <m:t>𝑅𝑋</m:t>
                          </m:r>
                        </m:sub>
                      </m:sSub>
                      <m:d>
                        <m:dPr>
                          <m:ctrlPr>
                            <a:rPr lang="es-CL" sz="2000" i="1" noProof="0" smtClean="0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CL" sz="2000" i="1" noProof="0">
                              <a:latin typeface="Atkinson Hyperlegible"/>
                            </a:rPr>
                            <m:t>dBi</m:t>
                          </m:r>
                        </m:e>
                      </m:d>
                    </m:oMath>
                  </m:oMathPara>
                </a14:m>
                <a:endParaRPr lang="es-CL" sz="2000" b="0" noProof="0" dirty="0">
                  <a:latin typeface="Atkinson Hyperlegible"/>
                </a:endParaRPr>
              </a:p>
            </p:txBody>
          </p:sp>
        </mc:Choice>
        <mc:Fallback>
          <p:sp>
            <p:nvSpPr>
              <p:cNvPr id="17" name="5 Rectángulo">
                <a:extLst>
                  <a:ext uri="{FF2B5EF4-FFF2-40B4-BE49-F238E27FC236}">
                    <a16:creationId xmlns:a16="http://schemas.microsoft.com/office/drawing/2014/main" id="{646FDD49-BE63-0072-2A47-E9D2D1EDA3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683" y="1387475"/>
                <a:ext cx="18598386" cy="9157315"/>
              </a:xfrm>
              <a:prstGeom prst="rect">
                <a:avLst/>
              </a:prstGeom>
              <a:blipFill>
                <a:blip r:embed="rId4"/>
                <a:stretch>
                  <a:fillRect l="-328" t="-399"/>
                </a:stretch>
              </a:blipFill>
              <a:effectLst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904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7CA43D-2297-8CFF-4DB0-90718CEC0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0AEE74B-2B96-EDC0-0285-A6B0F574F7EC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3E752CCA-ED65-1071-F5E5-E0B98FEA6DE1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MICROONDAS</a:t>
            </a:r>
            <a:endParaRPr lang="es-CL" sz="2800" b="1" kern="100" noProof="0" dirty="0"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  <a:p>
            <a:pPr>
              <a:lnSpc>
                <a:spcPct val="150000"/>
              </a:lnSpc>
            </a:pP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4D916B-94C1-FBBC-F73F-F17B36F4F79F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noProof="0" dirty="0">
                <a:latin typeface="Atkinson Hyperlegible"/>
              </a:rPr>
              <a:t>HF / </a:t>
            </a:r>
            <a:r>
              <a:rPr lang="es-CL" sz="4000" noProof="0" dirty="0" err="1">
                <a:latin typeface="Atkinson Hyperlegible"/>
              </a:rPr>
              <a:t>VHF</a:t>
            </a:r>
            <a:r>
              <a:rPr lang="es-CL" sz="4000" noProof="0" dirty="0">
                <a:latin typeface="Atkinson Hyperlegible"/>
              </a:rPr>
              <a:t> / </a:t>
            </a:r>
            <a:r>
              <a:rPr lang="es-CL" sz="4000" noProof="0" dirty="0" err="1">
                <a:latin typeface="Atkinson Hyperlegible"/>
              </a:rPr>
              <a:t>UHF</a:t>
            </a:r>
            <a:r>
              <a:rPr lang="es-CL" sz="4000" noProof="0" dirty="0">
                <a:latin typeface="Atkinson Hyperlegible"/>
              </a:rPr>
              <a:t> / Microondas (rangos </a:t>
            </a:r>
            <a:r>
              <a:rPr lang="es-CL" sz="4000" noProof="0" dirty="0" err="1">
                <a:latin typeface="Atkinson Hyperlegible"/>
              </a:rPr>
              <a:t>ITU</a:t>
            </a:r>
            <a:r>
              <a:rPr lang="es-CL" sz="4000" noProof="0" dirty="0">
                <a:latin typeface="Atkinson Hyperlegible"/>
              </a:rPr>
              <a:t> + comportamiento general</a:t>
            </a:r>
            <a:r>
              <a:rPr lang="es-CL" sz="4000" noProof="0" dirty="0"/>
              <a:t>)</a:t>
            </a:r>
            <a:endParaRPr lang="es-CL" sz="4000" noProof="0" dirty="0">
              <a:latin typeface="Atkinson Hyperlegible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51C1B6D-0AAA-50B4-526F-E47D13860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393355"/>
              </p:ext>
            </p:extLst>
          </p:nvPr>
        </p:nvGraphicFramePr>
        <p:xfrm>
          <a:off x="746907" y="1755455"/>
          <a:ext cx="18610285" cy="8265809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3722057">
                  <a:extLst>
                    <a:ext uri="{9D8B030D-6E8A-4147-A177-3AD203B41FA5}">
                      <a16:colId xmlns:a16="http://schemas.microsoft.com/office/drawing/2014/main" val="1364351410"/>
                    </a:ext>
                  </a:extLst>
                </a:gridCol>
                <a:gridCol w="3722057">
                  <a:extLst>
                    <a:ext uri="{9D8B030D-6E8A-4147-A177-3AD203B41FA5}">
                      <a16:colId xmlns:a16="http://schemas.microsoft.com/office/drawing/2014/main" val="1136078965"/>
                    </a:ext>
                  </a:extLst>
                </a:gridCol>
                <a:gridCol w="3722057">
                  <a:extLst>
                    <a:ext uri="{9D8B030D-6E8A-4147-A177-3AD203B41FA5}">
                      <a16:colId xmlns:a16="http://schemas.microsoft.com/office/drawing/2014/main" val="3764395969"/>
                    </a:ext>
                  </a:extLst>
                </a:gridCol>
                <a:gridCol w="3722057">
                  <a:extLst>
                    <a:ext uri="{9D8B030D-6E8A-4147-A177-3AD203B41FA5}">
                      <a16:colId xmlns:a16="http://schemas.microsoft.com/office/drawing/2014/main" val="410328218"/>
                    </a:ext>
                  </a:extLst>
                </a:gridCol>
                <a:gridCol w="3722057">
                  <a:extLst>
                    <a:ext uri="{9D8B030D-6E8A-4147-A177-3AD203B41FA5}">
                      <a16:colId xmlns:a16="http://schemas.microsoft.com/office/drawing/2014/main" val="2942153727"/>
                    </a:ext>
                  </a:extLst>
                </a:gridCol>
              </a:tblGrid>
              <a:tr h="718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noProof="0" dirty="0">
                          <a:latin typeface="Atkinson Hyperlegible"/>
                        </a:rPr>
                        <a:t>Banda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noProof="0" dirty="0">
                          <a:latin typeface="Atkinson Hyperlegible"/>
                        </a:rPr>
                        <a:t>Nombre completo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noProof="0" dirty="0">
                          <a:latin typeface="Atkinson Hyperlegible"/>
                        </a:rPr>
                        <a:t>Rango (</a:t>
                      </a:r>
                      <a:r>
                        <a:rPr lang="es-CL" sz="2400" noProof="0" dirty="0" err="1">
                          <a:latin typeface="Atkinson Hyperlegible"/>
                        </a:rPr>
                        <a:t>ITU</a:t>
                      </a:r>
                      <a:r>
                        <a:rPr lang="es-CL" sz="2400" noProof="0" dirty="0">
                          <a:latin typeface="Atkinson Hyperlegible"/>
                        </a:rPr>
                        <a:t>)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noProof="0" dirty="0">
                          <a:latin typeface="Atkinson Hyperlegible"/>
                        </a:rPr>
                        <a:t>Comportamiento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noProof="0" dirty="0">
                          <a:latin typeface="Atkinson Hyperlegible"/>
                        </a:rPr>
                        <a:t>En el curso se conecta con…</a:t>
                      </a:r>
                    </a:p>
                  </a:txBody>
                  <a:tcPr marL="65919" marR="65919" marT="32960" marB="32960" anchor="ctr"/>
                </a:tc>
                <a:extLst>
                  <a:ext uri="{0D108BD9-81ED-4DB2-BD59-A6C34878D82A}">
                    <a16:rowId xmlns:a16="http://schemas.microsoft.com/office/drawing/2014/main" val="2029396340"/>
                  </a:ext>
                </a:extLst>
              </a:tr>
              <a:tr h="169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 noProof="0" dirty="0">
                          <a:latin typeface="Atkinson Hyperlegible"/>
                        </a:rPr>
                        <a:t>HF</a:t>
                      </a:r>
                      <a:endParaRPr lang="es-CL" sz="2400" noProof="0" dirty="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noProof="0" dirty="0">
                          <a:latin typeface="Atkinson Hyperlegible"/>
                        </a:rPr>
                        <a:t>Alta Frecuencia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 noProof="0" dirty="0">
                          <a:latin typeface="Atkinson Hyperlegible"/>
                        </a:rPr>
                        <a:t>3–30 MHz</a:t>
                      </a:r>
                      <a:endParaRPr lang="es-CL" sz="2400" noProof="0" dirty="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noProof="0" dirty="0">
                          <a:latin typeface="Atkinson Hyperlegible"/>
                        </a:rPr>
                        <a:t>Propagación puede permitir </a:t>
                      </a:r>
                      <a:r>
                        <a:rPr lang="es-CL" sz="2400" b="1" noProof="0" dirty="0">
                          <a:latin typeface="Atkinson Hyperlegible"/>
                        </a:rPr>
                        <a:t>alcances grandes, </a:t>
                      </a:r>
                      <a:r>
                        <a:rPr lang="es-CL" sz="2400" noProof="0" dirty="0">
                          <a:latin typeface="Atkinson Hyperlegible"/>
                        </a:rPr>
                        <a:t>Puede habilitar </a:t>
                      </a:r>
                      <a:r>
                        <a:rPr lang="es-CL" sz="2400" b="1" noProof="0" dirty="0">
                          <a:latin typeface="Atkinson Hyperlegible"/>
                        </a:rPr>
                        <a:t>alcances más allá de línea de vista</a:t>
                      </a:r>
                      <a:r>
                        <a:rPr lang="es-CL" sz="2400" noProof="0" dirty="0">
                          <a:latin typeface="Atkinson Hyperlegible"/>
                        </a:rPr>
                        <a:t> según condicione. (atmósfera/entorno)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 noProof="0" dirty="0">
                          <a:latin typeface="Atkinson Hyperlegible"/>
                        </a:rPr>
                        <a:t>2.5.1 Redes </a:t>
                      </a:r>
                      <a:r>
                        <a:rPr lang="es-CL" sz="2400" b="1" noProof="0" dirty="0" err="1">
                          <a:latin typeface="Atkinson Hyperlegible"/>
                        </a:rPr>
                        <a:t>VHF</a:t>
                      </a:r>
                      <a:r>
                        <a:rPr lang="es-CL" sz="2400" b="1" noProof="0" dirty="0">
                          <a:latin typeface="Atkinson Hyperlegible"/>
                        </a:rPr>
                        <a:t>/</a:t>
                      </a:r>
                      <a:r>
                        <a:rPr lang="es-CL" sz="2400" b="1" noProof="0" dirty="0" err="1">
                          <a:latin typeface="Atkinson Hyperlegible"/>
                        </a:rPr>
                        <a:t>UHF</a:t>
                      </a:r>
                      <a:r>
                        <a:rPr lang="es-CL" sz="2400" b="1" noProof="0" dirty="0">
                          <a:latin typeface="Atkinson Hyperlegible"/>
                        </a:rPr>
                        <a:t>/HF</a:t>
                      </a:r>
                      <a:r>
                        <a:rPr lang="es-CL" sz="2400" noProof="0" dirty="0">
                          <a:latin typeface="Atkinson Hyperlegible"/>
                        </a:rPr>
                        <a:t> (visión de funcionamiento HF)</a:t>
                      </a:r>
                    </a:p>
                  </a:txBody>
                  <a:tcPr marL="65919" marR="65919" marT="32960" marB="32960" anchor="ctr"/>
                </a:tc>
                <a:extLst>
                  <a:ext uri="{0D108BD9-81ED-4DB2-BD59-A6C34878D82A}">
                    <a16:rowId xmlns:a16="http://schemas.microsoft.com/office/drawing/2014/main" val="4191982477"/>
                  </a:ext>
                </a:extLst>
              </a:tr>
              <a:tr h="1370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 noProof="0" dirty="0" err="1">
                          <a:latin typeface="Atkinson Hyperlegible"/>
                        </a:rPr>
                        <a:t>VHF</a:t>
                      </a:r>
                      <a:endParaRPr lang="es-CL" sz="2400" noProof="0" dirty="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noProof="0" dirty="0">
                          <a:latin typeface="Atkinson Hyperlegible"/>
                        </a:rPr>
                        <a:t>Muy Alta Frecuencia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 noProof="0" dirty="0">
                          <a:latin typeface="Atkinson Hyperlegible"/>
                        </a:rPr>
                        <a:t>30–300 MHz</a:t>
                      </a:r>
                      <a:endParaRPr lang="es-CL" sz="2400" noProof="0" dirty="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noProof="0" dirty="0">
                          <a:latin typeface="Atkinson Hyperlegible"/>
                        </a:rPr>
                        <a:t>En muchos escenarios predomina </a:t>
                      </a:r>
                      <a:r>
                        <a:rPr lang="es-CL" sz="2400" b="1" noProof="0" dirty="0">
                          <a:latin typeface="Atkinson Hyperlegible"/>
                        </a:rPr>
                        <a:t>línea de vista</a:t>
                      </a:r>
                      <a:r>
                        <a:rPr lang="es-CL" sz="2400" noProof="0" dirty="0">
                          <a:latin typeface="Atkinson Hyperlegible"/>
                        </a:rPr>
                        <a:t> y cobertura local/regional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 noProof="0" dirty="0">
                          <a:latin typeface="Atkinson Hyperlegible"/>
                        </a:rPr>
                        <a:t>2.5 </a:t>
                      </a:r>
                      <a:r>
                        <a:rPr lang="es-CL" sz="2400" b="1" noProof="0" dirty="0" err="1">
                          <a:latin typeface="Atkinson Hyperlegible"/>
                        </a:rPr>
                        <a:t>VHF</a:t>
                      </a:r>
                      <a:r>
                        <a:rPr lang="es-CL" sz="2400" b="1" noProof="0" dirty="0">
                          <a:latin typeface="Atkinson Hyperlegible"/>
                        </a:rPr>
                        <a:t>/</a:t>
                      </a:r>
                      <a:r>
                        <a:rPr lang="es-CL" sz="2400" b="1" noProof="0" dirty="0" err="1">
                          <a:latin typeface="Atkinson Hyperlegible"/>
                        </a:rPr>
                        <a:t>UHF</a:t>
                      </a:r>
                      <a:r>
                        <a:rPr lang="es-CL" sz="2400" noProof="0" dirty="0">
                          <a:latin typeface="Atkinson Hyperlegible"/>
                        </a:rPr>
                        <a:t>, </a:t>
                      </a:r>
                      <a:r>
                        <a:rPr lang="es-CL" sz="2400" b="1" noProof="0" dirty="0">
                          <a:latin typeface="Atkinson Hyperlegible"/>
                        </a:rPr>
                        <a:t>2.5.2 </a:t>
                      </a:r>
                      <a:r>
                        <a:rPr lang="es-CL" sz="2400" b="1" noProof="0" dirty="0" err="1">
                          <a:latin typeface="Atkinson Hyperlegible"/>
                        </a:rPr>
                        <a:t>Broadcasting</a:t>
                      </a:r>
                      <a:r>
                        <a:rPr lang="es-CL" sz="2400" noProof="0" dirty="0">
                          <a:latin typeface="Atkinson Hyperlegible"/>
                        </a:rPr>
                        <a:t>, bases de </a:t>
                      </a:r>
                      <a:r>
                        <a:rPr lang="es-CL" sz="2400" b="1" noProof="0" dirty="0">
                          <a:latin typeface="Atkinson Hyperlegible"/>
                        </a:rPr>
                        <a:t>propagación y pérdidas</a:t>
                      </a:r>
                      <a:endParaRPr lang="es-CL" sz="2400" noProof="0" dirty="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extLst>
                  <a:ext uri="{0D108BD9-81ED-4DB2-BD59-A6C34878D82A}">
                    <a16:rowId xmlns:a16="http://schemas.microsoft.com/office/drawing/2014/main" val="2354890991"/>
                  </a:ext>
                </a:extLst>
              </a:tr>
              <a:tr h="2022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 noProof="0" dirty="0" err="1">
                          <a:latin typeface="Atkinson Hyperlegible"/>
                        </a:rPr>
                        <a:t>UHF</a:t>
                      </a:r>
                      <a:endParaRPr lang="es-CL" sz="2400" noProof="0" dirty="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noProof="0" dirty="0">
                          <a:latin typeface="Atkinson Hyperlegible"/>
                        </a:rPr>
                        <a:t>Ultra Alta Frecuencia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 noProof="0" dirty="0">
                          <a:latin typeface="Atkinson Hyperlegible"/>
                        </a:rPr>
                        <a:t>300–3000 MHz</a:t>
                      </a:r>
                      <a:endParaRPr lang="es-CL" sz="2400" noProof="0" dirty="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noProof="0" dirty="0">
                          <a:latin typeface="Atkinson Hyperlegible"/>
                        </a:rPr>
                        <a:t>Similar a </a:t>
                      </a:r>
                      <a:r>
                        <a:rPr lang="es-CL" sz="2400" noProof="0" dirty="0" err="1">
                          <a:latin typeface="Atkinson Hyperlegible"/>
                        </a:rPr>
                        <a:t>VHF</a:t>
                      </a:r>
                      <a:r>
                        <a:rPr lang="es-CL" sz="2400" noProof="0" dirty="0">
                          <a:latin typeface="Atkinson Hyperlegible"/>
                        </a:rPr>
                        <a:t> (frecuente </a:t>
                      </a:r>
                      <a:r>
                        <a:rPr lang="es-CL" sz="2400" b="1" noProof="0" dirty="0">
                          <a:latin typeface="Atkinson Hyperlegible"/>
                        </a:rPr>
                        <a:t>línea de vista</a:t>
                      </a:r>
                      <a:r>
                        <a:rPr lang="es-CL" sz="2400" noProof="0" dirty="0">
                          <a:latin typeface="Atkinson Hyperlegible"/>
                        </a:rPr>
                        <a:t>) y comportamiento sensible a obstáculos/entorno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 noProof="0" dirty="0">
                          <a:latin typeface="Atkinson Hyperlegible"/>
                        </a:rPr>
                        <a:t>2.5.3 Tecnologías </a:t>
                      </a:r>
                      <a:r>
                        <a:rPr lang="es-CL" sz="2400" b="1" noProof="0" dirty="0" err="1">
                          <a:latin typeface="Atkinson Hyperlegible"/>
                        </a:rPr>
                        <a:t>VHF</a:t>
                      </a:r>
                      <a:r>
                        <a:rPr lang="es-CL" sz="2400" b="1" noProof="0" dirty="0">
                          <a:latin typeface="Atkinson Hyperlegible"/>
                        </a:rPr>
                        <a:t> y </a:t>
                      </a:r>
                      <a:r>
                        <a:rPr lang="es-CL" sz="2400" b="1" noProof="0" dirty="0" err="1">
                          <a:latin typeface="Atkinson Hyperlegible"/>
                        </a:rPr>
                        <a:t>UHF</a:t>
                      </a:r>
                      <a:r>
                        <a:rPr lang="es-CL" sz="2400" noProof="0" dirty="0">
                          <a:latin typeface="Atkinson Hyperlegible"/>
                        </a:rPr>
                        <a:t> + </a:t>
                      </a:r>
                      <a:r>
                        <a:rPr lang="es-CL" sz="2400" b="1" noProof="0" dirty="0">
                          <a:latin typeface="Atkinson Hyperlegible"/>
                        </a:rPr>
                        <a:t>2.5.4</a:t>
                      </a:r>
                      <a:r>
                        <a:rPr lang="es-CL" sz="2400" noProof="0" dirty="0">
                          <a:latin typeface="Atkinson Hyperlegible"/>
                        </a:rPr>
                        <a:t> (propagación, pérdidas)</a:t>
                      </a:r>
                    </a:p>
                  </a:txBody>
                  <a:tcPr marL="65919" marR="65919" marT="32960" marB="32960" anchor="ctr"/>
                </a:tc>
                <a:extLst>
                  <a:ext uri="{0D108BD9-81ED-4DB2-BD59-A6C34878D82A}">
                    <a16:rowId xmlns:a16="http://schemas.microsoft.com/office/drawing/2014/main" val="3124455530"/>
                  </a:ext>
                </a:extLst>
              </a:tr>
              <a:tr h="1370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 noProof="0" dirty="0">
                          <a:latin typeface="Atkinson Hyperlegible"/>
                        </a:rPr>
                        <a:t>Microondas (</a:t>
                      </a:r>
                      <a:r>
                        <a:rPr lang="es-CL" sz="2400" b="1" noProof="0" dirty="0" err="1">
                          <a:latin typeface="Atkinson Hyperlegible"/>
                        </a:rPr>
                        <a:t>SHF</a:t>
                      </a:r>
                      <a:r>
                        <a:rPr lang="es-CL" sz="2400" b="1" noProof="0" dirty="0">
                          <a:latin typeface="Atkinson Hyperlegible"/>
                        </a:rPr>
                        <a:t>)</a:t>
                      </a:r>
                      <a:endParaRPr lang="es-CL" sz="2400" noProof="0" dirty="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noProof="0" dirty="0">
                          <a:latin typeface="Atkinson Hyperlegible"/>
                        </a:rPr>
                        <a:t>(Microondas)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 noProof="0" dirty="0">
                          <a:latin typeface="Atkinson Hyperlegible"/>
                        </a:rPr>
                        <a:t>3–30 GHz</a:t>
                      </a:r>
                      <a:endParaRPr lang="es-CL" sz="2400" noProof="0" dirty="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noProof="0" dirty="0">
                          <a:latin typeface="Atkinson Hyperlegible"/>
                        </a:rPr>
                        <a:t>Comúnmente </a:t>
                      </a:r>
                      <a:r>
                        <a:rPr lang="es-CL" sz="2400" b="1" noProof="0" dirty="0">
                          <a:latin typeface="Atkinson Hyperlegible"/>
                        </a:rPr>
                        <a:t>enlaces punto a punto</a:t>
                      </a:r>
                      <a:r>
                        <a:rPr lang="es-CL" sz="2400" noProof="0" dirty="0">
                          <a:latin typeface="Atkinson Hyperlegible"/>
                        </a:rPr>
                        <a:t> planificados; alta exigencia del trayecto (LOS)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 noProof="0" dirty="0">
                          <a:latin typeface="Atkinson Hyperlegible"/>
                        </a:rPr>
                        <a:t>2.6 Microondas</a:t>
                      </a:r>
                      <a:r>
                        <a:rPr lang="es-CL" sz="2400" noProof="0" dirty="0">
                          <a:latin typeface="Atkinson Hyperlegible"/>
                        </a:rPr>
                        <a:t>: cálculo de enlace, ganancias/atenuaciones, </a:t>
                      </a:r>
                      <a:r>
                        <a:rPr lang="es-CL" sz="2400" b="1" noProof="0" dirty="0">
                          <a:latin typeface="Atkinson Hyperlegible"/>
                        </a:rPr>
                        <a:t>Zona de Fresnel</a:t>
                      </a:r>
                      <a:r>
                        <a:rPr lang="es-CL" sz="2400" noProof="0" dirty="0">
                          <a:latin typeface="Atkinson Hyperlegible"/>
                        </a:rPr>
                        <a:t>, aplicaciones de red</a:t>
                      </a:r>
                    </a:p>
                  </a:txBody>
                  <a:tcPr marL="65919" marR="65919" marT="32960" marB="32960" anchor="ctr"/>
                </a:tc>
                <a:extLst>
                  <a:ext uri="{0D108BD9-81ED-4DB2-BD59-A6C34878D82A}">
                    <a16:rowId xmlns:a16="http://schemas.microsoft.com/office/drawing/2014/main" val="871284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270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28DFB1-9CDD-002B-B11C-DEB9A378C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30B56A0-B3CC-7EF1-290F-EEDCEED43C1C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83AF0E86-07F3-3CC7-D412-54C030C2F6B6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MICROONDAS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8F3D503-65EF-393C-5F39-8203FFC6CF75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noProof="0" dirty="0"/>
              <a:t>Cálculo de enlace: Link Budget (ganancias y pérdidas en dB)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1639401-3445-C35B-2738-F6DAF750C21C}"/>
              </a:ext>
            </a:extLst>
          </p:cNvPr>
          <p:cNvSpPr txBox="1"/>
          <p:nvPr/>
        </p:nvSpPr>
        <p:spPr>
          <a:xfrm>
            <a:off x="679450" y="8331497"/>
            <a:ext cx="88495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b="1" noProof="0" dirty="0" err="1">
                <a:latin typeface="Atkinson Hyperlegible"/>
              </a:rPr>
              <a:t>ITU</a:t>
            </a:r>
            <a:r>
              <a:rPr lang="es-CL" sz="2400" b="1" noProof="0" dirty="0">
                <a:latin typeface="Atkinson Hyperlegible"/>
              </a:rPr>
              <a:t>-R </a:t>
            </a:r>
            <a:r>
              <a:rPr lang="es-CL" sz="2400" b="1" noProof="0" dirty="0" err="1">
                <a:latin typeface="Atkinson Hyperlegible"/>
              </a:rPr>
              <a:t>P.530</a:t>
            </a:r>
            <a:r>
              <a:rPr lang="es-CL" sz="2400" b="1" noProof="0" dirty="0">
                <a:latin typeface="Atkinson Hyperlegible"/>
              </a:rPr>
              <a:t> </a:t>
            </a:r>
            <a:r>
              <a:rPr lang="es-CL" sz="2400" noProof="0" dirty="0">
                <a:latin typeface="Atkinson Hyperlegible"/>
              </a:rPr>
              <a:t>— diseño y predicción para enlaces terrestres en línea de vista (LOS).</a:t>
            </a:r>
          </a:p>
          <a:p>
            <a:r>
              <a:rPr lang="es-CL" sz="2400" b="1" noProof="0" dirty="0" err="1">
                <a:latin typeface="Atkinson Hyperlegible"/>
              </a:rPr>
              <a:t>ITU</a:t>
            </a:r>
            <a:r>
              <a:rPr lang="es-CL" sz="2400" b="1" noProof="0" dirty="0">
                <a:latin typeface="Atkinson Hyperlegible"/>
              </a:rPr>
              <a:t>-R </a:t>
            </a:r>
            <a:r>
              <a:rPr lang="es-CL" sz="2400" b="1" noProof="0" dirty="0" err="1">
                <a:latin typeface="Atkinson Hyperlegible"/>
              </a:rPr>
              <a:t>P.525</a:t>
            </a:r>
            <a:r>
              <a:rPr lang="es-CL" sz="2400" b="1" noProof="0" dirty="0">
                <a:latin typeface="Atkinson Hyperlegible"/>
              </a:rPr>
              <a:t> </a:t>
            </a:r>
            <a:r>
              <a:rPr lang="es-CL" sz="2400" noProof="0" dirty="0">
                <a:latin typeface="Atkinson Hyperlegible"/>
              </a:rPr>
              <a:t>— pérdida en espacio libre.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5 Rectángulo">
                <a:extLst>
                  <a:ext uri="{FF2B5EF4-FFF2-40B4-BE49-F238E27FC236}">
                    <a16:creationId xmlns:a16="http://schemas.microsoft.com/office/drawing/2014/main" id="{043F3A6A-FDE2-CE4C-9097-83168EB126F2}"/>
                  </a:ext>
                </a:extLst>
              </p:cNvPr>
              <p:cNvSpPr/>
              <p:nvPr/>
            </p:nvSpPr>
            <p:spPr>
              <a:xfrm>
                <a:off x="1221683" y="1606607"/>
                <a:ext cx="18598386" cy="5717912"/>
              </a:xfrm>
              <a:prstGeom prst="rect">
                <a:avLst/>
              </a:prstGeom>
              <a:noFill/>
              <a:effectLst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CL" sz="2400" noProof="0" dirty="0">
                    <a:latin typeface="Atkinson Hyperlegible"/>
                  </a:rPr>
                  <a:t>Un </a:t>
                </a:r>
                <a:r>
                  <a:rPr lang="es-CL" sz="2400" b="1" noProof="0" dirty="0">
                    <a:latin typeface="Atkinson Hyperlegible"/>
                  </a:rPr>
                  <a:t>link Budget(presupuesto de lance)</a:t>
                </a:r>
                <a:r>
                  <a:rPr lang="es-CL" sz="2400" noProof="0" dirty="0">
                    <a:latin typeface="Atkinson Hyperlegible"/>
                  </a:rPr>
                  <a:t> estima la potencia recibida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400" noProof="0" smtClean="0"/>
                        </m:ctrlPr>
                      </m:sSubPr>
                      <m:e>
                        <m:r>
                          <a:rPr lang="es-CL" sz="2400" i="1" noProof="0" smtClean="0"/>
                          <m:t>𝑃</m:t>
                        </m:r>
                      </m:e>
                      <m:sub>
                        <m:r>
                          <a:rPr lang="es-CL" sz="2400" i="1" noProof="0" smtClean="0"/>
                          <m:t>𝑅𝑋</m:t>
                        </m:r>
                      </m:sub>
                    </m:sSub>
                  </m:oMath>
                </a14:m>
                <a:r>
                  <a:rPr lang="es-CL" sz="2400" noProof="0" dirty="0">
                    <a:latin typeface="Atkinson Hyperlegible"/>
                  </a:rPr>
                  <a:t> sumando </a:t>
                </a:r>
                <a:r>
                  <a:rPr lang="es-CL" sz="2400" b="1" noProof="0" dirty="0">
                    <a:latin typeface="Atkinson Hyperlegible"/>
                  </a:rPr>
                  <a:t>ganancias</a:t>
                </a:r>
                <a:r>
                  <a:rPr lang="es-CL" sz="2400" noProof="0" dirty="0">
                    <a:latin typeface="Atkinson Hyperlegible"/>
                  </a:rPr>
                  <a:t> y restando </a:t>
                </a:r>
                <a:r>
                  <a:rPr lang="es-CL" sz="2400" b="1" noProof="0" dirty="0">
                    <a:latin typeface="Atkinson Hyperlegible"/>
                  </a:rPr>
                  <a:t>pérdidas</a:t>
                </a:r>
                <a:r>
                  <a:rPr lang="es-CL" sz="2400" noProof="0" dirty="0">
                    <a:latin typeface="Atkinson Hyperlegible"/>
                  </a:rPr>
                  <a:t> (en dB).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CL" sz="2400" noProof="0" dirty="0">
                    <a:latin typeface="Atkinson Hyperlegible"/>
                  </a:rPr>
                  <a:t>Se trabaja en unidades logarítmicas para simplificar: </a:t>
                </a:r>
                <a:r>
                  <a:rPr lang="es-CL" sz="2400" b="1" noProof="0" dirty="0">
                    <a:latin typeface="Atkinson Hyperlegible"/>
                  </a:rPr>
                  <a:t>sumar</a:t>
                </a:r>
                <a:r>
                  <a:rPr lang="es-CL" sz="2400" noProof="0" dirty="0">
                    <a:latin typeface="Atkinson Hyperlegible"/>
                  </a:rPr>
                  <a:t> y </a:t>
                </a:r>
                <a:r>
                  <a:rPr lang="es-CL" sz="2400" b="1" noProof="0" dirty="0">
                    <a:latin typeface="Atkinson Hyperlegible"/>
                  </a:rPr>
                  <a:t>restar</a:t>
                </a:r>
                <a:r>
                  <a:rPr lang="es-CL" sz="2400" noProof="0" dirty="0">
                    <a:latin typeface="Atkinson Hyperlegible"/>
                  </a:rPr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CL" sz="2400" noProof="0" dirty="0">
                    <a:latin typeface="Atkinson Hyperlegible"/>
                  </a:rPr>
                  <a:t>Componentes típicos del enlace: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s-CL" sz="2400" b="1" noProof="0" dirty="0">
                    <a:latin typeface="Atkinson Hyperlegible"/>
                  </a:rPr>
                  <a:t>Potencia transmitida:</a:t>
                </a:r>
                <a:r>
                  <a:rPr lang="es-CL" sz="2400" noProof="0" dirty="0">
                    <a:latin typeface="Atkinson Hyperlegible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400" noProof="0" smtClean="0"/>
                        </m:ctrlPr>
                      </m:sSubPr>
                      <m:e>
                        <m:r>
                          <a:rPr lang="es-CL" sz="2400" i="1" noProof="0" smtClean="0"/>
                          <m:t>𝑃</m:t>
                        </m:r>
                      </m:e>
                      <m:sub>
                        <m:r>
                          <a:rPr lang="es-CL" sz="2400" i="1" noProof="0" smtClean="0"/>
                          <m:t>𝑇𝑋</m:t>
                        </m:r>
                      </m:sub>
                    </m:sSub>
                  </m:oMath>
                </a14:m>
                <a:r>
                  <a:rPr lang="es-CL" sz="2400" noProof="0" dirty="0">
                    <a:latin typeface="Atkinson Hyperlegible"/>
                  </a:rPr>
                  <a:t>( (dBm)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s-CL" sz="2400" b="1" noProof="0" dirty="0">
                    <a:latin typeface="Atkinson Hyperlegible"/>
                  </a:rPr>
                  <a:t>Ganancia antena TX:</a:t>
                </a:r>
                <a:r>
                  <a:rPr lang="es-CL" sz="2400" noProof="0" dirty="0">
                    <a:latin typeface="Atkinson Hyperlegible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400" noProof="0" smtClean="0"/>
                        </m:ctrlPr>
                      </m:sSubPr>
                      <m:e>
                        <m:r>
                          <a:rPr lang="es-CL" sz="2400" i="1" noProof="0" smtClean="0"/>
                          <m:t>𝐺</m:t>
                        </m:r>
                      </m:e>
                      <m:sub>
                        <m:r>
                          <a:rPr lang="es-CL" sz="2400" i="1" noProof="0" smtClean="0"/>
                          <m:t>𝑇𝑋</m:t>
                        </m:r>
                      </m:sub>
                    </m:sSub>
                  </m:oMath>
                </a14:m>
                <a:r>
                  <a:rPr lang="es-CL" sz="2400" noProof="0" dirty="0">
                    <a:latin typeface="Atkinson Hyperlegible"/>
                  </a:rPr>
                  <a:t>( (dBi)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s-CL" sz="2400" b="1" noProof="0" dirty="0">
                    <a:latin typeface="Atkinson Hyperlegible"/>
                  </a:rPr>
                  <a:t>Pérdidas TX:</a:t>
                </a:r>
                <a:r>
                  <a:rPr lang="es-CL" sz="2400" noProof="0" dirty="0">
                    <a:latin typeface="Atkinson Hyperlegible"/>
                  </a:rPr>
                  <a:t> cables/conectores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400" noProof="0" smtClean="0"/>
                        </m:ctrlPr>
                      </m:sSubPr>
                      <m:e>
                        <m:r>
                          <a:rPr lang="es-CL" sz="2400" i="1" noProof="0" smtClean="0"/>
                          <m:t>𝐿</m:t>
                        </m:r>
                      </m:e>
                      <m:sub>
                        <m:r>
                          <a:rPr lang="es-CL" sz="2400" i="1" noProof="0" smtClean="0"/>
                          <m:t>𝑇𝑋</m:t>
                        </m:r>
                      </m:sub>
                    </m:sSub>
                  </m:oMath>
                </a14:m>
                <a:r>
                  <a:rPr lang="es-CL" sz="2400" noProof="0" dirty="0">
                    <a:latin typeface="Atkinson Hyperlegible"/>
                  </a:rPr>
                  <a:t>( (dB)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s-CL" sz="2400" b="1" noProof="0" dirty="0">
                    <a:latin typeface="Atkinson Hyperlegible"/>
                  </a:rPr>
                  <a:t>Pérdida de trayecto:</a:t>
                </a:r>
                <a:r>
                  <a:rPr lang="es-CL" sz="2400" noProof="0" dirty="0">
                    <a:latin typeface="Atkinson Hyperlegible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400" noProof="0" smtClean="0"/>
                        </m:ctrlPr>
                      </m:sSubPr>
                      <m:e>
                        <m:r>
                          <a:rPr lang="es-CL" sz="2400" i="1" noProof="0" smtClean="0"/>
                          <m:t>𝐿</m:t>
                        </m:r>
                      </m:e>
                      <m:sub>
                        <m:r>
                          <a:rPr lang="es-CL" sz="2400" i="1" noProof="0" smtClean="0"/>
                          <m:t>𝑝𝑎𝑡h</m:t>
                        </m:r>
                      </m:sub>
                    </m:sSub>
                  </m:oMath>
                </a14:m>
                <a:r>
                  <a:rPr lang="es-CL" sz="2400" noProof="0" dirty="0">
                    <a:latin typeface="Atkinson Hyperlegible"/>
                  </a:rPr>
                  <a:t>( (dB) </a:t>
                </a:r>
                <a:r>
                  <a:rPr lang="es-CL" sz="2400" i="1" noProof="0" dirty="0">
                    <a:latin typeface="Atkinson Hyperlegible"/>
                  </a:rPr>
                  <a:t>(espacio libre + efectos del canal)</a:t>
                </a:r>
                <a:r>
                  <a:rPr lang="es-CL" sz="2400" noProof="0" dirty="0">
                    <a:latin typeface="Atkinson Hyperlegible"/>
                  </a:rPr>
                  <a:t>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s-CL" sz="2400" b="1" noProof="0" dirty="0">
                    <a:latin typeface="Atkinson Hyperlegible"/>
                  </a:rPr>
                  <a:t>Ganancia antena </a:t>
                </a:r>
                <a:r>
                  <a:rPr lang="es-CL" sz="2400" b="1" noProof="0" dirty="0" err="1">
                    <a:latin typeface="Atkinson Hyperlegible"/>
                  </a:rPr>
                  <a:t>RX</a:t>
                </a:r>
                <a:r>
                  <a:rPr lang="es-CL" sz="2400" b="1" noProof="0" dirty="0">
                    <a:latin typeface="Atkinson Hyperlegible"/>
                  </a:rPr>
                  <a:t>:</a:t>
                </a:r>
                <a:r>
                  <a:rPr lang="es-CL" sz="2400" noProof="0" dirty="0">
                    <a:latin typeface="Atkinson Hyperlegible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400" noProof="0" smtClean="0"/>
                        </m:ctrlPr>
                      </m:sSubPr>
                      <m:e>
                        <m:r>
                          <a:rPr lang="es-CL" sz="2400" i="1" noProof="0" smtClean="0"/>
                          <m:t>𝐺</m:t>
                        </m:r>
                      </m:e>
                      <m:sub>
                        <m:r>
                          <a:rPr lang="es-CL" sz="2400" i="1" noProof="0" smtClean="0"/>
                          <m:t>𝑅𝑋</m:t>
                        </m:r>
                      </m:sub>
                    </m:sSub>
                  </m:oMath>
                </a14:m>
                <a:r>
                  <a:rPr lang="es-CL" sz="2400" noProof="0" dirty="0">
                    <a:latin typeface="Atkinson Hyperlegible"/>
                  </a:rPr>
                  <a:t>( (dBi)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s-CL" sz="2400" b="1" noProof="0" dirty="0">
                    <a:latin typeface="Atkinson Hyperlegible"/>
                  </a:rPr>
                  <a:t>Pérdidas </a:t>
                </a:r>
                <a:r>
                  <a:rPr lang="es-CL" sz="2400" b="1" noProof="0" dirty="0" err="1">
                    <a:latin typeface="Atkinson Hyperlegible"/>
                  </a:rPr>
                  <a:t>RX</a:t>
                </a:r>
                <a:r>
                  <a:rPr lang="es-CL" sz="2400" b="1" noProof="0" dirty="0">
                    <a:latin typeface="Atkinson Hyperlegible"/>
                  </a:rPr>
                  <a:t>:</a:t>
                </a:r>
                <a:r>
                  <a:rPr lang="es-CL" sz="2400" noProof="0" dirty="0">
                    <a:latin typeface="Atkinson Hyperlegible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400" noProof="0" smtClean="0"/>
                        </m:ctrlPr>
                      </m:sSubPr>
                      <m:e>
                        <m:r>
                          <a:rPr lang="es-CL" sz="2400" i="1" noProof="0" smtClean="0"/>
                          <m:t>𝐿</m:t>
                        </m:r>
                      </m:e>
                      <m:sub>
                        <m:r>
                          <a:rPr lang="es-CL" sz="2400" i="1" noProof="0" smtClean="0"/>
                          <m:t>𝑅𝑋</m:t>
                        </m:r>
                      </m:sub>
                    </m:sSub>
                  </m:oMath>
                </a14:m>
                <a:r>
                  <a:rPr lang="es-CL" sz="2400" noProof="0" dirty="0">
                    <a:latin typeface="Atkinson Hyperlegible"/>
                  </a:rPr>
                  <a:t> ((dB)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CL" sz="2400" noProof="0" dirty="0">
                    <a:latin typeface="Atkinson Hyperlegible"/>
                  </a:rPr>
                  <a:t>Idea clave: </a:t>
                </a:r>
                <a:r>
                  <a:rPr lang="es-CL" sz="2400" b="1" noProof="0" dirty="0">
                    <a:latin typeface="Atkinson Hyperlegible"/>
                  </a:rPr>
                  <a:t>enlace microondas</a:t>
                </a:r>
                <a:r>
                  <a:rPr lang="es-CL" sz="2400" noProof="0" dirty="0">
                    <a:latin typeface="Atkinson Hyperlegible"/>
                  </a:rPr>
                  <a:t> = sistema planificado </a:t>
                </a:r>
                <a:r>
                  <a:rPr lang="es-CL" sz="2400" b="1" noProof="0" dirty="0">
                    <a:latin typeface="Atkinson Hyperlegible"/>
                  </a:rPr>
                  <a:t>LOS</a:t>
                </a:r>
                <a:r>
                  <a:rPr lang="es-CL" sz="2400" noProof="0" dirty="0">
                    <a:latin typeface="Atkinson Hyperlegible"/>
                  </a:rPr>
                  <a:t> + antenas direccionales + </a:t>
                </a:r>
                <a:r>
                  <a:rPr lang="es-CL" sz="2400" b="1" noProof="0" dirty="0">
                    <a:latin typeface="Atkinson Hyperlegible"/>
                  </a:rPr>
                  <a:t>pérdidas del trayecto</a:t>
                </a:r>
                <a:r>
                  <a:rPr lang="es-CL" sz="2400" noProof="0" dirty="0">
                    <a:latin typeface="Atkinson Hyperlegible"/>
                  </a:rPr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CL" sz="2400" b="1" noProof="0" dirty="0" err="1">
                    <a:latin typeface="Atkinson Hyperlegible"/>
                  </a:rPr>
                  <a:t>FSPL</a:t>
                </a:r>
                <a:r>
                  <a:rPr lang="es-CL" sz="2400" b="1" noProof="0" dirty="0">
                    <a:latin typeface="Atkinson Hyperlegible"/>
                  </a:rPr>
                  <a:t> (</a:t>
                </a:r>
                <a:r>
                  <a:rPr lang="es-CL" sz="2400" b="1" noProof="0" dirty="0" err="1">
                    <a:latin typeface="Atkinson Hyperlegible"/>
                  </a:rPr>
                  <a:t>ITU</a:t>
                </a:r>
                <a:r>
                  <a:rPr lang="es-CL" sz="2400" b="1" noProof="0" dirty="0">
                    <a:latin typeface="Atkinson Hyperlegible"/>
                  </a:rPr>
                  <a:t>-R </a:t>
                </a:r>
                <a:r>
                  <a:rPr lang="es-CL" sz="2400" b="1" noProof="0" dirty="0" err="1">
                    <a:latin typeface="Atkinson Hyperlegible"/>
                  </a:rPr>
                  <a:t>P.525</a:t>
                </a:r>
                <a:r>
                  <a:rPr lang="es-CL" sz="2400" b="1" noProof="0" dirty="0">
                    <a:latin typeface="Atkinson Hyperlegible"/>
                  </a:rPr>
                  <a:t>)</a:t>
                </a:r>
                <a:r>
                  <a:rPr lang="es-CL" sz="2400" noProof="0" dirty="0">
                    <a:latin typeface="Atkinson Hyperlegible"/>
                  </a:rPr>
                  <a:t> como base. </a:t>
                </a:r>
              </a:p>
              <a:p>
                <a:endParaRPr lang="es-CL" sz="2400" noProof="0" dirty="0">
                  <a:latin typeface="Atkinson Hyperlegible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400" noProof="0" smtClean="0"/>
                          </m:ctrlPr>
                        </m:sSubPr>
                        <m:e>
                          <m:r>
                            <a:rPr lang="es-CL" sz="2400" i="1" noProof="0" smtClean="0"/>
                            <m:t>𝑃</m:t>
                          </m:r>
                        </m:e>
                        <m:sub>
                          <m:r>
                            <a:rPr lang="es-CL" sz="2400" i="1" noProof="0" smtClean="0"/>
                            <m:t>𝑅𝑋</m:t>
                          </m:r>
                        </m:sub>
                      </m:sSub>
                      <m:d>
                        <m:dPr>
                          <m:ctrlPr>
                            <a:rPr lang="es-CL" sz="2400" i="1" noProof="0" smtClean="0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CL" sz="2400" i="1" noProof="0">
                              <a:latin typeface="Atkinson Hyperlegible"/>
                            </a:rPr>
                            <m:t>dBm</m:t>
                          </m:r>
                        </m:e>
                      </m:d>
                      <m:r>
                        <a:rPr lang="es-CL" sz="2400" noProof="0" smtClean="0"/>
                        <m:t>=</m:t>
                      </m:r>
                      <m:sSub>
                        <m:sSubPr>
                          <m:ctrlPr>
                            <a:rPr lang="es-CL" sz="2400" i="1" noProof="0" smtClean="0"/>
                          </m:ctrlPr>
                        </m:sSubPr>
                        <m:e>
                          <m:r>
                            <a:rPr lang="es-CL" sz="2400" i="1" noProof="0" smtClean="0"/>
                            <m:t>𝑃</m:t>
                          </m:r>
                        </m:e>
                        <m:sub>
                          <m:r>
                            <a:rPr lang="es-CL" sz="2400" i="1" noProof="0" smtClean="0"/>
                            <m:t>𝑇𝑋</m:t>
                          </m:r>
                        </m:sub>
                      </m:sSub>
                      <m:r>
                        <a:rPr lang="es-CL" sz="2400" noProof="0" smtClean="0"/>
                        <m:t>+</m:t>
                      </m:r>
                      <m:sSub>
                        <m:sSubPr>
                          <m:ctrlPr>
                            <a:rPr lang="es-CL" sz="2400" i="1" noProof="0" smtClean="0"/>
                          </m:ctrlPr>
                        </m:sSubPr>
                        <m:e>
                          <m:r>
                            <a:rPr lang="es-CL" sz="2400" i="1" noProof="0" smtClean="0"/>
                            <m:t>𝐺</m:t>
                          </m:r>
                        </m:e>
                        <m:sub>
                          <m:r>
                            <a:rPr lang="es-CL" sz="2400" i="1" noProof="0" smtClean="0"/>
                            <m:t>𝑇𝑋</m:t>
                          </m:r>
                        </m:sub>
                      </m:sSub>
                      <m:r>
                        <a:rPr lang="es-CL" sz="2400" noProof="0" smtClean="0"/>
                        <m:t>−</m:t>
                      </m:r>
                      <m:sSub>
                        <m:sSubPr>
                          <m:ctrlPr>
                            <a:rPr lang="es-CL" sz="2400" i="1" noProof="0" smtClean="0"/>
                          </m:ctrlPr>
                        </m:sSubPr>
                        <m:e>
                          <m:r>
                            <a:rPr lang="es-CL" sz="2400" i="1" noProof="0" smtClean="0"/>
                            <m:t>𝐿</m:t>
                          </m:r>
                        </m:e>
                        <m:sub>
                          <m:r>
                            <a:rPr lang="es-CL" sz="2400" i="1" noProof="0" smtClean="0"/>
                            <m:t>𝑇𝑋</m:t>
                          </m:r>
                        </m:sub>
                      </m:sSub>
                      <m:r>
                        <a:rPr lang="es-CL" sz="2400" noProof="0" smtClean="0"/>
                        <m:t>−</m:t>
                      </m:r>
                      <m:sSub>
                        <m:sSubPr>
                          <m:ctrlPr>
                            <a:rPr lang="es-CL" sz="2400" i="1" noProof="0" smtClean="0"/>
                          </m:ctrlPr>
                        </m:sSubPr>
                        <m:e>
                          <m:r>
                            <a:rPr lang="es-CL" sz="2400" i="1" noProof="0" smtClean="0"/>
                            <m:t>𝐿</m:t>
                          </m:r>
                        </m:e>
                        <m:sub>
                          <m:r>
                            <a:rPr lang="es-CL" sz="2400" i="1" noProof="0" smtClean="0"/>
                            <m:t>𝑝𝑎𝑡h</m:t>
                          </m:r>
                        </m:sub>
                      </m:sSub>
                      <m:r>
                        <a:rPr lang="es-CL" sz="2400" noProof="0" smtClean="0"/>
                        <m:t>+</m:t>
                      </m:r>
                      <m:sSub>
                        <m:sSubPr>
                          <m:ctrlPr>
                            <a:rPr lang="es-CL" sz="2400" i="1" noProof="0" smtClean="0"/>
                          </m:ctrlPr>
                        </m:sSubPr>
                        <m:e>
                          <m:r>
                            <a:rPr lang="es-CL" sz="2400" i="1" noProof="0" smtClean="0"/>
                            <m:t>𝐺</m:t>
                          </m:r>
                        </m:e>
                        <m:sub>
                          <m:r>
                            <a:rPr lang="es-CL" sz="2400" i="1" noProof="0" smtClean="0"/>
                            <m:t>𝑅𝑋</m:t>
                          </m:r>
                        </m:sub>
                      </m:sSub>
                      <m:r>
                        <a:rPr lang="es-CL" sz="2400" noProof="0" smtClean="0"/>
                        <m:t>−</m:t>
                      </m:r>
                      <m:sSub>
                        <m:sSubPr>
                          <m:ctrlPr>
                            <a:rPr lang="es-CL" sz="2400" i="1" noProof="0" smtClean="0"/>
                          </m:ctrlPr>
                        </m:sSubPr>
                        <m:e>
                          <m:r>
                            <a:rPr lang="es-CL" sz="2400" i="1" noProof="0" smtClean="0"/>
                            <m:t>𝐿</m:t>
                          </m:r>
                        </m:e>
                        <m:sub>
                          <m:r>
                            <a:rPr lang="es-CL" sz="2400" i="1" noProof="0" smtClean="0"/>
                            <m:t>𝑅𝑋</m:t>
                          </m:r>
                        </m:sub>
                      </m:sSub>
                    </m:oMath>
                  </m:oMathPara>
                </a14:m>
                <a:endParaRPr lang="es-CL" sz="2400" b="0" noProof="0" dirty="0">
                  <a:latin typeface="Atkinson Hyperlegible"/>
                </a:endParaRPr>
              </a:p>
              <a:p>
                <a:br>
                  <a:rPr lang="es-CL" sz="2400" noProof="0" dirty="0">
                    <a:latin typeface="Atkinson Hyperlegible"/>
                  </a:rPr>
                </a:br>
                <a:r>
                  <a:rPr lang="es-CL" sz="2400" b="1" noProof="0" dirty="0">
                    <a:latin typeface="Atkinson Hyperlegible"/>
                  </a:rPr>
                  <a:t>Ganancias se suman; pérdidas se restan. Todo en dB/dBm.</a:t>
                </a:r>
                <a:endParaRPr lang="es-CL" sz="2400" noProof="0" dirty="0">
                  <a:latin typeface="Atkinson Hyperlegible"/>
                </a:endParaRPr>
              </a:p>
            </p:txBody>
          </p:sp>
        </mc:Choice>
        <mc:Fallback>
          <p:sp>
            <p:nvSpPr>
              <p:cNvPr id="17" name="5 Rectángulo">
                <a:extLst>
                  <a:ext uri="{FF2B5EF4-FFF2-40B4-BE49-F238E27FC236}">
                    <a16:creationId xmlns:a16="http://schemas.microsoft.com/office/drawing/2014/main" id="{043F3A6A-FDE2-CE4C-9097-83168EB126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683" y="1606607"/>
                <a:ext cx="18598386" cy="5717912"/>
              </a:xfrm>
              <a:prstGeom prst="rect">
                <a:avLst/>
              </a:prstGeom>
              <a:blipFill>
                <a:blip r:embed="rId4"/>
                <a:stretch>
                  <a:fillRect l="-492" t="-853" b="-959"/>
                </a:stretch>
              </a:blipFill>
              <a:effectLst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840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DC8D56-4DB5-C444-35EB-45EDA4996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2BC3142-125A-1FBC-8263-79605E1FE299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3A4FC77B-56D1-8FC9-52BD-CF45FE20A0BF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MICROONDAS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7FE2599-6557-DB15-1506-53990972E4F9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noProof="0" dirty="0"/>
              <a:t>Pérdida en espacio libre (</a:t>
            </a:r>
            <a:r>
              <a:rPr lang="es-CL" sz="4000" noProof="0" dirty="0" err="1"/>
              <a:t>FSPL</a:t>
            </a:r>
            <a:r>
              <a:rPr lang="es-CL" sz="4000" noProof="0" dirty="0"/>
              <a:t> / </a:t>
            </a:r>
            <a:r>
              <a:rPr lang="es-CL" sz="4000" noProof="0" dirty="0" err="1"/>
              <a:t>Lbf</a:t>
            </a:r>
            <a:r>
              <a:rPr lang="es-CL" sz="4000" noProof="0" dirty="0"/>
              <a:t>) — base del cálculo de enlace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BF58E5D-C041-74B9-0EDD-EF3799EB26F9}"/>
              </a:ext>
            </a:extLst>
          </p:cNvPr>
          <p:cNvSpPr txBox="1"/>
          <p:nvPr/>
        </p:nvSpPr>
        <p:spPr>
          <a:xfrm>
            <a:off x="679450" y="8331497"/>
            <a:ext cx="88495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b="1" noProof="0" dirty="0" err="1">
                <a:latin typeface="Atkinson Hyperlegible"/>
              </a:rPr>
              <a:t>ITU</a:t>
            </a:r>
            <a:r>
              <a:rPr lang="es-CL" sz="2400" b="1" noProof="0" dirty="0">
                <a:latin typeface="Atkinson Hyperlegible"/>
              </a:rPr>
              <a:t>-R </a:t>
            </a:r>
            <a:r>
              <a:rPr lang="es-CL" sz="2400" b="1" noProof="0" dirty="0" err="1">
                <a:latin typeface="Atkinson Hyperlegible"/>
              </a:rPr>
              <a:t>P.530</a:t>
            </a:r>
            <a:r>
              <a:rPr lang="es-CL" sz="2400" b="1" noProof="0" dirty="0">
                <a:latin typeface="Atkinson Hyperlegible"/>
              </a:rPr>
              <a:t> </a:t>
            </a:r>
            <a:r>
              <a:rPr lang="es-CL" sz="2400" noProof="0" dirty="0">
                <a:latin typeface="Atkinson Hyperlegible"/>
              </a:rPr>
              <a:t>— diseño y predicción para enlaces terrestres en línea de vista (LOS).</a:t>
            </a:r>
          </a:p>
          <a:p>
            <a:r>
              <a:rPr lang="es-CL" sz="2400" b="1" noProof="0" dirty="0" err="1">
                <a:latin typeface="Atkinson Hyperlegible"/>
              </a:rPr>
              <a:t>ITU</a:t>
            </a:r>
            <a:r>
              <a:rPr lang="es-CL" sz="2400" b="1" noProof="0" dirty="0">
                <a:latin typeface="Atkinson Hyperlegible"/>
              </a:rPr>
              <a:t>-R </a:t>
            </a:r>
            <a:r>
              <a:rPr lang="es-CL" sz="2400" b="1" noProof="0" dirty="0" err="1">
                <a:latin typeface="Atkinson Hyperlegible"/>
              </a:rPr>
              <a:t>P.525</a:t>
            </a:r>
            <a:r>
              <a:rPr lang="es-CL" sz="2400" b="1" noProof="0" dirty="0">
                <a:latin typeface="Atkinson Hyperlegible"/>
              </a:rPr>
              <a:t> </a:t>
            </a:r>
            <a:r>
              <a:rPr lang="es-CL" sz="2400" noProof="0" dirty="0">
                <a:latin typeface="Atkinson Hyperlegible"/>
              </a:rPr>
              <a:t>— pérdida en espacio libre.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5 Rectángulo">
                <a:extLst>
                  <a:ext uri="{FF2B5EF4-FFF2-40B4-BE49-F238E27FC236}">
                    <a16:creationId xmlns:a16="http://schemas.microsoft.com/office/drawing/2014/main" id="{9DEA010D-BCF2-A4E9-1B7A-1E8404708461}"/>
                  </a:ext>
                </a:extLst>
              </p:cNvPr>
              <p:cNvSpPr/>
              <p:nvPr/>
            </p:nvSpPr>
            <p:spPr>
              <a:xfrm>
                <a:off x="1221683" y="1828291"/>
                <a:ext cx="18598386" cy="6277937"/>
              </a:xfrm>
              <a:prstGeom prst="rect">
                <a:avLst/>
              </a:prstGeom>
              <a:noFill/>
              <a:effectLst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s-CL" sz="2800" noProof="0" dirty="0">
                    <a:latin typeface="Atkinson Hyperlegible"/>
                  </a:rPr>
                  <a:t>La pérdida en espacio libre (</a:t>
                </a:r>
                <a:r>
                  <a:rPr lang="es-CL" sz="2800" b="1" noProof="0" dirty="0" err="1">
                    <a:latin typeface="Atkinson Hyperlegible"/>
                  </a:rPr>
                  <a:t>Lbf</a:t>
                </a:r>
                <a:r>
                  <a:rPr lang="es-CL" sz="2800" noProof="0" dirty="0">
                    <a:latin typeface="Atkinson Hyperlegible"/>
                  </a:rPr>
                  <a:t>) es la atenuación “mínima” ideal entre dos antenas isotrópicas en </a:t>
                </a:r>
                <a:r>
                  <a:rPr lang="es-CL" sz="2800" b="1" noProof="0" dirty="0">
                    <a:latin typeface="Atkinson Hyperlegible"/>
                  </a:rPr>
                  <a:t>línea de vista</a:t>
                </a:r>
                <a:r>
                  <a:rPr lang="es-CL" sz="2800" noProof="0" dirty="0">
                    <a:latin typeface="Atkinson Hyperlegible"/>
                  </a:rPr>
                  <a:t>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s-CL" sz="2800" noProof="0" dirty="0">
                    <a:latin typeface="Atkinson Hyperlegible"/>
                  </a:rPr>
                  <a:t>Se usa como base para el </a:t>
                </a:r>
                <a:r>
                  <a:rPr lang="es-CL" sz="2800" b="1" noProof="0" dirty="0">
                    <a:latin typeface="Atkinson Hyperlegible"/>
                  </a:rPr>
                  <a:t>link </a:t>
                </a:r>
                <a:r>
                  <a:rPr lang="es-CL" sz="2800" b="1" noProof="0" dirty="0" err="1">
                    <a:latin typeface="Atkinson Hyperlegible"/>
                  </a:rPr>
                  <a:t>budget</a:t>
                </a:r>
                <a:r>
                  <a:rPr lang="es-CL" sz="2800" noProof="0" dirty="0">
                    <a:latin typeface="Atkinson Hyperlegible"/>
                  </a:rPr>
                  <a:t>; en enlaces reales se agregan pérdidas adicionales (atmósfera, obstáculos, </a:t>
                </a:r>
                <a:r>
                  <a:rPr lang="es-CL" sz="2800" noProof="0" dirty="0" err="1">
                    <a:latin typeface="Atkinson Hyperlegible"/>
                  </a:rPr>
                  <a:t>multipath</a:t>
                </a:r>
                <a:r>
                  <a:rPr lang="es-CL" sz="2800" noProof="0" dirty="0">
                    <a:latin typeface="Atkinson Hyperlegible"/>
                  </a:rPr>
                  <a:t>).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s-CL" sz="2800" noProof="0" dirty="0">
                    <a:latin typeface="Atkinson Hyperlegible"/>
                  </a:rPr>
                  <a:t>Forma general: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800" noProof="0" smtClean="0"/>
                          </m:ctrlPr>
                        </m:sSubPr>
                        <m:e>
                          <m:r>
                            <a:rPr lang="es-CL" sz="2800" i="1" noProof="0" smtClean="0"/>
                            <m:t>𝐿</m:t>
                          </m:r>
                        </m:e>
                        <m:sub>
                          <m:r>
                            <a:rPr lang="es-CL" sz="2800" i="1" noProof="0" smtClean="0"/>
                            <m:t>𝑏𝑓</m:t>
                          </m:r>
                        </m:sub>
                      </m:sSub>
                      <m:r>
                        <a:rPr lang="es-CL" sz="2800" noProof="0" smtClean="0"/>
                        <m:t>=</m:t>
                      </m:r>
                      <m:r>
                        <a:rPr lang="es-CL" sz="2800" noProof="0" smtClean="0"/>
                        <m:t>20</m:t>
                      </m:r>
                      <m:sSub>
                        <m:sSubPr>
                          <m:ctrlPr>
                            <a:rPr lang="es-CL" sz="2800" i="1" noProof="0" smtClean="0"/>
                          </m:ctrlPr>
                        </m:sSubPr>
                        <m:e>
                          <m:func>
                            <m:funcPr>
                              <m:ctrlPr>
                                <a:rPr lang="es-CL" sz="2800" i="1" noProof="0" smtClean="0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CL" sz="2800" noProof="0"/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es-CL" sz="2800" noProof="0" smtClean="0"/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es-CL" sz="2800" i="1" noProof="0" smtClean="0"/>
                          </m:ctrlPr>
                        </m:dPr>
                        <m:e>
                          <m:f>
                            <m:fPr>
                              <m:ctrlPr>
                                <a:rPr lang="es-CL" sz="2800" i="1" noProof="0" smtClean="0"/>
                              </m:ctrlPr>
                            </m:fPr>
                            <m:num>
                              <m:r>
                                <a:rPr lang="es-CL" sz="2800" noProof="0" smtClean="0"/>
                                <m:t>4</m:t>
                              </m:r>
                              <m:r>
                                <a:rPr lang="es-CL" sz="2800" i="1" noProof="0" smtClean="0"/>
                                <m:t>𝜋</m:t>
                              </m:r>
                              <m:r>
                                <a:rPr lang="es-CL" sz="2800" i="1" noProof="0" smtClean="0"/>
                                <m:t>𝑑</m:t>
                              </m:r>
                            </m:num>
                            <m:den>
                              <m:r>
                                <a:rPr lang="es-CL" sz="2800" i="1" noProof="0" smtClean="0"/>
                                <m:t>𝜆</m:t>
                              </m:r>
                            </m:den>
                          </m:f>
                        </m:e>
                      </m:d>
                      <m:r>
                        <m:rPr>
                          <m:nor/>
                        </m:rPr>
                        <a:rPr lang="es-CL" sz="2800" i="1" noProof="0" smtClean="0">
                          <a:latin typeface="Atkinson Hyperlegible"/>
                        </a:rPr>
                        <m:t>  </m:t>
                      </m:r>
                      <m:d>
                        <m:dPr>
                          <m:ctrlPr>
                            <a:rPr lang="es-CL" sz="2800" i="1" noProof="0" smtClean="0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CL" sz="2800" i="1" noProof="0">
                              <a:latin typeface="Atkinson Hyperlegible"/>
                            </a:rPr>
                            <m:t>dB</m:t>
                          </m:r>
                        </m:e>
                      </m:d>
                    </m:oMath>
                  </m:oMathPara>
                </a14:m>
                <a:endParaRPr lang="es-CL" sz="2800" b="0" noProof="0" dirty="0">
                  <a:latin typeface="Atkinson Hyperlegible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s-CL" sz="2800" noProof="0" dirty="0">
                    <a:latin typeface="Atkinson Hyperlegible"/>
                  </a:rPr>
                  <a:t>Forma práctica (</a:t>
                </a:r>
                <a:r>
                  <a:rPr lang="es-CL" sz="2800" noProof="0" dirty="0" err="1">
                    <a:latin typeface="Atkinson Hyperlegible"/>
                  </a:rPr>
                  <a:t>ITU</a:t>
                </a:r>
                <a:r>
                  <a:rPr lang="es-CL" sz="2800" noProof="0" dirty="0">
                    <a:latin typeface="Atkinson Hyperlegible"/>
                  </a:rPr>
                  <a:t>, unidades típicas):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800" noProof="0" smtClean="0"/>
                          </m:ctrlPr>
                        </m:sSubPr>
                        <m:e>
                          <m:r>
                            <a:rPr lang="es-CL" sz="2800" i="1" noProof="0" smtClean="0"/>
                            <m:t>𝐿</m:t>
                          </m:r>
                        </m:e>
                        <m:sub>
                          <m:r>
                            <a:rPr lang="es-CL" sz="2800" i="1" noProof="0" smtClean="0"/>
                            <m:t>𝑏𝑓</m:t>
                          </m:r>
                        </m:sub>
                      </m:sSub>
                      <m:r>
                        <a:rPr lang="es-CL" sz="2800" noProof="0" smtClean="0"/>
                        <m:t>=</m:t>
                      </m:r>
                      <m:r>
                        <a:rPr lang="es-CL" sz="2800" noProof="0" smtClean="0"/>
                        <m:t>32</m:t>
                      </m:r>
                      <m:r>
                        <a:rPr lang="es-CL" sz="2800" noProof="0" smtClean="0"/>
                        <m:t>.</m:t>
                      </m:r>
                      <m:r>
                        <a:rPr lang="es-CL" sz="2800" noProof="0" smtClean="0"/>
                        <m:t>4</m:t>
                      </m:r>
                      <m:r>
                        <a:rPr lang="es-CL" sz="2800" noProof="0" smtClean="0"/>
                        <m:t>+</m:t>
                      </m:r>
                      <m:r>
                        <a:rPr lang="es-CL" sz="2800" noProof="0" smtClean="0"/>
                        <m:t>20</m:t>
                      </m:r>
                      <m:sSub>
                        <m:sSubPr>
                          <m:ctrlPr>
                            <a:rPr lang="es-CL" sz="2800" i="1" noProof="0" smtClean="0"/>
                          </m:ctrlPr>
                        </m:sSubPr>
                        <m:e>
                          <m:func>
                            <m:funcPr>
                              <m:ctrlPr>
                                <a:rPr lang="es-CL" sz="2800" i="1" noProof="0" smtClean="0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CL" sz="2800" noProof="0"/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es-CL" sz="2800" noProof="0" smtClean="0"/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es-CL" sz="2800" i="1" noProof="0" smtClean="0"/>
                          </m:ctrlPr>
                        </m:dPr>
                        <m:e>
                          <m:r>
                            <a:rPr lang="es-CL" sz="2800" i="1" noProof="0" smtClean="0"/>
                            <m:t>𝑓</m:t>
                          </m:r>
                        </m:e>
                      </m:d>
                      <m:r>
                        <a:rPr lang="es-CL" sz="2800" noProof="0" smtClean="0"/>
                        <m:t>+</m:t>
                      </m:r>
                      <m:r>
                        <a:rPr lang="es-CL" sz="2800" noProof="0" smtClean="0"/>
                        <m:t>20</m:t>
                      </m:r>
                      <m:sSub>
                        <m:sSubPr>
                          <m:ctrlPr>
                            <a:rPr lang="es-CL" sz="2800" i="1" noProof="0" smtClean="0"/>
                          </m:ctrlPr>
                        </m:sSubPr>
                        <m:e>
                          <m:func>
                            <m:funcPr>
                              <m:ctrlPr>
                                <a:rPr lang="es-CL" sz="2800" i="1" noProof="0" smtClean="0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CL" sz="2800" noProof="0"/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es-CL" sz="2800" noProof="0" smtClean="0"/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es-CL" sz="2800" i="1" noProof="0" smtClean="0"/>
                          </m:ctrlPr>
                        </m:dPr>
                        <m:e>
                          <m:r>
                            <a:rPr lang="es-CL" sz="2800" i="1" noProof="0" smtClean="0"/>
                            <m:t>𝑑</m:t>
                          </m:r>
                        </m:e>
                      </m:d>
                      <m:r>
                        <m:rPr>
                          <m:nor/>
                        </m:rPr>
                        <a:rPr lang="es-CL" sz="2800" i="1" noProof="0" smtClean="0">
                          <a:latin typeface="Atkinson Hyperlegible"/>
                        </a:rPr>
                        <m:t>  </m:t>
                      </m:r>
                      <m:d>
                        <m:dPr>
                          <m:ctrlPr>
                            <a:rPr lang="es-CL" sz="2800" i="1" noProof="0" smtClean="0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CL" sz="2800" i="1" noProof="0">
                              <a:latin typeface="Atkinson Hyperlegible"/>
                            </a:rPr>
                            <m:t>dB</m:t>
                          </m:r>
                        </m:e>
                      </m:d>
                    </m:oMath>
                  </m:oMathPara>
                </a14:m>
                <a:endParaRPr lang="es-CL" sz="2800" b="0" noProof="0" dirty="0">
                  <a:latin typeface="Atkinson Hyperlegible"/>
                </a:endParaRPr>
              </a:p>
              <a:p>
                <a:r>
                  <a:rPr lang="es-CL" sz="2800" noProof="0" dirty="0">
                    <a:latin typeface="Atkinson Hyperlegible"/>
                  </a:rPr>
                  <a:t>con </a:t>
                </a:r>
                <a:r>
                  <a:rPr lang="es-CL" sz="2800" b="1" noProof="0" dirty="0">
                    <a:latin typeface="Atkinson Hyperlegible"/>
                  </a:rPr>
                  <a:t>f en MHz</a:t>
                </a:r>
                <a:r>
                  <a:rPr lang="es-CL" sz="2800" noProof="0" dirty="0">
                    <a:latin typeface="Atkinson Hyperlegible"/>
                  </a:rPr>
                  <a:t> y </a:t>
                </a:r>
                <a:r>
                  <a:rPr lang="es-CL" sz="2800" b="1" noProof="0" dirty="0">
                    <a:latin typeface="Atkinson Hyperlegible"/>
                  </a:rPr>
                  <a:t>d en km</a:t>
                </a:r>
                <a:r>
                  <a:rPr lang="es-CL" sz="2800" noProof="0" dirty="0">
                    <a:latin typeface="Atkinson Hyperlegible"/>
                  </a:rPr>
                  <a:t>. </a:t>
                </a:r>
              </a:p>
              <a:p>
                <a:r>
                  <a:rPr lang="es-CL" sz="2800" b="1" noProof="0" dirty="0">
                    <a:latin typeface="Atkinson Hyperlegible"/>
                  </a:rPr>
                  <a:t>Regla rápida:</a:t>
                </a:r>
                <a:endParaRPr lang="es-CL" sz="2800" noProof="0" dirty="0">
                  <a:latin typeface="Atkinson Hyperlegible"/>
                </a:endParaRPr>
              </a:p>
              <a:p>
                <a:r>
                  <a:rPr lang="es-CL" sz="2800" noProof="0" dirty="0">
                    <a:latin typeface="Atkinson Hyperlegible"/>
                  </a:rPr>
                  <a:t>Duplicar </a:t>
                </a:r>
                <a:r>
                  <a:rPr lang="es-CL" sz="2800" b="1" noProof="0" dirty="0">
                    <a:latin typeface="Atkinson Hyperlegible"/>
                  </a:rPr>
                  <a:t>distancia</a:t>
                </a:r>
                <a:r>
                  <a:rPr lang="es-CL" sz="2800" noProof="0" dirty="0">
                    <a:latin typeface="Atkinson Hyperlegible"/>
                  </a:rPr>
                  <a:t> ⇒ </a:t>
                </a:r>
                <a:r>
                  <a:rPr lang="es-CL" sz="2800" b="1" noProof="0" dirty="0">
                    <a:latin typeface="Atkinson Hyperlegible"/>
                  </a:rPr>
                  <a:t>+6 dB</a:t>
                </a:r>
                <a:r>
                  <a:rPr lang="es-CL" sz="2800" noProof="0" dirty="0">
                    <a:latin typeface="Atkinson Hyperlegible"/>
                  </a:rPr>
                  <a:t> (aprox.) </a:t>
                </a:r>
              </a:p>
              <a:p>
                <a:r>
                  <a:rPr lang="es-CL" sz="2800" noProof="0" dirty="0">
                    <a:latin typeface="Atkinson Hyperlegible"/>
                  </a:rPr>
                  <a:t>Duplicar </a:t>
                </a:r>
                <a:r>
                  <a:rPr lang="es-CL" sz="2800" b="1" noProof="0" dirty="0">
                    <a:latin typeface="Atkinson Hyperlegible"/>
                  </a:rPr>
                  <a:t>frecuencia</a:t>
                </a:r>
                <a:r>
                  <a:rPr lang="es-CL" sz="2800" noProof="0" dirty="0">
                    <a:latin typeface="Atkinson Hyperlegible"/>
                  </a:rPr>
                  <a:t> ⇒ </a:t>
                </a:r>
                <a:r>
                  <a:rPr lang="es-CL" sz="2800" b="1" noProof="0" dirty="0">
                    <a:latin typeface="Atkinson Hyperlegible"/>
                  </a:rPr>
                  <a:t>+6 dB</a:t>
                </a:r>
                <a:r>
                  <a:rPr lang="es-CL" sz="2800" noProof="0" dirty="0">
                    <a:latin typeface="Atkinson Hyperlegible"/>
                  </a:rPr>
                  <a:t> (aprox.)</a:t>
                </a:r>
              </a:p>
              <a:p>
                <a:endParaRPr lang="es-CL" sz="2800" noProof="0" dirty="0">
                  <a:latin typeface="Atkinson Hyperlegible"/>
                </a:endParaRPr>
              </a:p>
              <a:p>
                <a:pPr algn="ctr"/>
                <a:r>
                  <a:rPr lang="es-CL" sz="2800" b="1" noProof="0" dirty="0">
                    <a:latin typeface="Atkinson Hyperlegible"/>
                  </a:rPr>
                  <a:t>En microondas, la pérdida del trayecto crece rápido con distancia y frecuencia (por eso el diseño requiere ganancia de antena y márgenes).</a:t>
                </a:r>
              </a:p>
            </p:txBody>
          </p:sp>
        </mc:Choice>
        <mc:Fallback>
          <p:sp>
            <p:nvSpPr>
              <p:cNvPr id="17" name="5 Rectángulo">
                <a:extLst>
                  <a:ext uri="{FF2B5EF4-FFF2-40B4-BE49-F238E27FC236}">
                    <a16:creationId xmlns:a16="http://schemas.microsoft.com/office/drawing/2014/main" id="{9DEA010D-BCF2-A4E9-1B7A-1E84047084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683" y="1828291"/>
                <a:ext cx="18598386" cy="6277937"/>
              </a:xfrm>
              <a:prstGeom prst="rect">
                <a:avLst/>
              </a:prstGeom>
              <a:blipFill>
                <a:blip r:embed="rId4"/>
                <a:stretch>
                  <a:fillRect l="-656" t="-971" r="-590" b="-1845"/>
                </a:stretch>
              </a:blipFill>
              <a:effectLst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859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20ABA6-60D9-3238-FAA1-03E7DCBBB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7E76557-39A5-559E-7DD4-578A16FB7F64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76B23290-0700-BACD-3F84-ABE2DA75A050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MICROONDAS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F4D933B-11ED-D494-BBD5-7E3FAA5E21FD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noProof="0" dirty="0"/>
              <a:t>Sensibilidad del receptor (</a:t>
            </a:r>
            <a:r>
              <a:rPr lang="es-CL" sz="4000" noProof="0" dirty="0" err="1"/>
              <a:t>Rx</a:t>
            </a:r>
            <a:r>
              <a:rPr lang="es-CL" sz="4000" noProof="0" dirty="0"/>
              <a:t> </a:t>
            </a:r>
            <a:r>
              <a:rPr lang="es-CL" sz="4000" noProof="0" dirty="0" err="1"/>
              <a:t>Sensitivity</a:t>
            </a:r>
            <a:r>
              <a:rPr lang="es-CL" sz="4000" noProof="0" dirty="0"/>
              <a:t>) y margen del enlace</a:t>
            </a:r>
            <a:endParaRPr lang="es-CL" sz="4000" noProof="0" dirty="0">
              <a:latin typeface="Atkinson Hyperlegible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5 Rectángulo">
                <a:extLst>
                  <a:ext uri="{FF2B5EF4-FFF2-40B4-BE49-F238E27FC236}">
                    <a16:creationId xmlns:a16="http://schemas.microsoft.com/office/drawing/2014/main" id="{E04E8446-A093-ED64-BDB0-A932E13E2CF4}"/>
                  </a:ext>
                </a:extLst>
              </p:cNvPr>
              <p:cNvSpPr/>
              <p:nvPr/>
            </p:nvSpPr>
            <p:spPr>
              <a:xfrm>
                <a:off x="1221683" y="1828291"/>
                <a:ext cx="18598386" cy="8312404"/>
              </a:xfrm>
              <a:prstGeom prst="rect">
                <a:avLst/>
              </a:prstGeom>
              <a:noFill/>
              <a:effectLst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s-CL" sz="2800" b="1" noProof="0" dirty="0">
                    <a:latin typeface="Atkinson Hyperlegible"/>
                  </a:rPr>
                  <a:t>Sensibilidad (dBm):</a:t>
                </a:r>
                <a:r>
                  <a:rPr lang="es-CL" sz="2800" noProof="0" dirty="0">
                    <a:latin typeface="Atkinson Hyperlegible"/>
                  </a:rPr>
                  <a:t> </a:t>
                </a:r>
                <a:r>
                  <a:rPr lang="es-CL" sz="2800" b="1" noProof="0" dirty="0">
                    <a:latin typeface="Atkinson Hyperlegible"/>
                  </a:rPr>
                  <a:t>mínima potencia</a:t>
                </a:r>
                <a:r>
                  <a:rPr lang="es-CL" sz="2800" noProof="0" dirty="0">
                    <a:latin typeface="Atkinson Hyperlegible"/>
                  </a:rPr>
                  <a:t> a la entrada del receptor para cumplir un criterio de calidad (p. ej., </a:t>
                </a:r>
                <a:r>
                  <a:rPr lang="es-CL" sz="2800" noProof="0" dirty="0" err="1">
                    <a:latin typeface="Atkinson Hyperlegible"/>
                  </a:rPr>
                  <a:t>BER</a:t>
                </a:r>
                <a:r>
                  <a:rPr lang="es-CL" sz="2800" noProof="0" dirty="0">
                    <a:latin typeface="Atkinson Hyperlegible"/>
                  </a:rPr>
                  <a:t>/</a:t>
                </a:r>
                <a:r>
                  <a:rPr lang="es-CL" sz="2800" noProof="0" dirty="0" err="1">
                    <a:latin typeface="Atkinson Hyperlegible"/>
                  </a:rPr>
                  <a:t>SNR</a:t>
                </a:r>
                <a:r>
                  <a:rPr lang="es-CL" sz="2800" noProof="0" dirty="0">
                    <a:latin typeface="Atkinson Hyperlegible"/>
                  </a:rPr>
                  <a:t>).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s-CL" sz="2800" b="1" noProof="0" dirty="0">
                    <a:latin typeface="Atkinson Hyperlegible"/>
                  </a:rPr>
                  <a:t>No es ganancia:</a:t>
                </a:r>
                <a:r>
                  <a:rPr lang="es-CL" sz="2800" noProof="0" dirty="0">
                    <a:latin typeface="Atkinson Hyperlegible"/>
                  </a:rPr>
                  <a:t> la sensibilidad es </a:t>
                </a:r>
                <a:r>
                  <a:rPr lang="es-CL" sz="2800" b="1" noProof="0" dirty="0">
                    <a:latin typeface="Atkinson Hyperlegible"/>
                  </a:rPr>
                  <a:t>propiedad del receptor</a:t>
                </a:r>
                <a:r>
                  <a:rPr lang="es-CL" sz="2800" noProof="0" dirty="0">
                    <a:latin typeface="Atkinson Hyperlegible"/>
                  </a:rPr>
                  <a:t>; la ganancia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noProof="0" smtClean="0"/>
                        </m:ctrlPr>
                      </m:sSubPr>
                      <m:e>
                        <m:r>
                          <a:rPr lang="es-CL" i="1" noProof="0" smtClean="0"/>
                          <m:t>𝐺</m:t>
                        </m:r>
                      </m:e>
                      <m:sub>
                        <m:r>
                          <a:rPr lang="es-CL" i="1" noProof="0" smtClean="0"/>
                          <m:t>𝑅𝑋</m:t>
                        </m:r>
                      </m:sub>
                    </m:sSub>
                  </m:oMath>
                </a14:m>
                <a:r>
                  <a:rPr lang="es-CL" sz="2800" noProof="0" dirty="0">
                    <a:latin typeface="Atkinson Hyperlegible"/>
                  </a:rPr>
                  <a:t>(dBi) es </a:t>
                </a:r>
                <a:r>
                  <a:rPr lang="es-CL" sz="2800" b="1" noProof="0" dirty="0">
                    <a:latin typeface="Atkinson Hyperlegible"/>
                  </a:rPr>
                  <a:t>propiedad de la antena</a:t>
                </a:r>
                <a:r>
                  <a:rPr lang="es-CL" sz="2800" noProof="0" dirty="0">
                    <a:latin typeface="Atkinson Hyperlegible"/>
                  </a:rPr>
                  <a:t>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s-CL" sz="2800" noProof="0" dirty="0">
                    <a:latin typeface="Atkinson Hyperlegible"/>
                  </a:rPr>
                  <a:t>El enlace “funciona” si: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800" noProof="0" smtClean="0"/>
                          </m:ctrlPr>
                        </m:sSubPr>
                        <m:e>
                          <m:r>
                            <a:rPr lang="es-CL" sz="2800" i="1" noProof="0" smtClean="0"/>
                            <m:t>𝑃</m:t>
                          </m:r>
                        </m:e>
                        <m:sub>
                          <m:r>
                            <a:rPr lang="es-CL" sz="2800" i="1" noProof="0" smtClean="0"/>
                            <m:t>𝑅𝑋</m:t>
                          </m:r>
                        </m:sub>
                      </m:sSub>
                      <m:d>
                        <m:dPr>
                          <m:ctrlPr>
                            <a:rPr lang="es-CL" sz="2800" i="1" noProof="0" smtClean="0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CL" sz="2800" i="1" noProof="0">
                              <a:latin typeface="Atkinson Hyperlegible"/>
                            </a:rPr>
                            <m:t>dBm</m:t>
                          </m:r>
                        </m:e>
                      </m:d>
                      <m:r>
                        <a:rPr lang="es-CL" sz="2800" noProof="0" smtClean="0"/>
                        <m:t>≥</m:t>
                      </m:r>
                      <m:sSub>
                        <m:sSubPr>
                          <m:ctrlPr>
                            <a:rPr lang="es-CL" sz="2800" i="1" noProof="0" smtClean="0"/>
                          </m:ctrlPr>
                        </m:sSubPr>
                        <m:e>
                          <m:r>
                            <a:rPr lang="es-CL" sz="2800" i="1" noProof="0" smtClean="0"/>
                            <m:t>𝑆</m:t>
                          </m:r>
                        </m:e>
                        <m:sub>
                          <m:r>
                            <a:rPr lang="es-CL" sz="2800" i="1" noProof="0" smtClean="0"/>
                            <m:t>𝑅𝑋</m:t>
                          </m:r>
                        </m:sub>
                      </m:sSub>
                      <m:d>
                        <m:dPr>
                          <m:ctrlPr>
                            <a:rPr lang="es-CL" sz="2800" i="1" noProof="0" smtClean="0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CL" sz="2800" i="1" noProof="0">
                              <a:latin typeface="Atkinson Hyperlegible"/>
                            </a:rPr>
                            <m:t>dBm</m:t>
                          </m:r>
                        </m:e>
                      </m:d>
                    </m:oMath>
                  </m:oMathPara>
                </a14:m>
                <a:endParaRPr lang="es-CL" sz="2800" b="0" noProof="0" dirty="0">
                  <a:latin typeface="Atkinson Hyperlegible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s-CL" sz="2800" b="1" noProof="0" dirty="0">
                    <a:latin typeface="Atkinson Hyperlegible"/>
                  </a:rPr>
                  <a:t>Margen de enlace (Link </a:t>
                </a:r>
                <a:r>
                  <a:rPr lang="es-CL" sz="2800" b="1" noProof="0" dirty="0" err="1">
                    <a:latin typeface="Atkinson Hyperlegible"/>
                  </a:rPr>
                  <a:t>Margin</a:t>
                </a:r>
                <a:r>
                  <a:rPr lang="es-CL" sz="2800" b="1" noProof="0" dirty="0">
                    <a:latin typeface="Atkinson Hyperlegible"/>
                  </a:rPr>
                  <a:t>):</a:t>
                </a:r>
                <a:endParaRPr lang="es-CL" sz="2800" noProof="0" dirty="0">
                  <a:latin typeface="Atkinson Hyperlegible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2800" i="1" noProof="0"/>
                        <m:t>𝑀</m:t>
                      </m:r>
                      <m:r>
                        <a:rPr lang="es-CL" sz="2800" noProof="0"/>
                        <m:t>=</m:t>
                      </m:r>
                      <m:sSub>
                        <m:sSubPr>
                          <m:ctrlPr>
                            <a:rPr lang="es-CL" sz="2800" i="1" noProof="0" smtClean="0"/>
                          </m:ctrlPr>
                        </m:sSubPr>
                        <m:e>
                          <m:r>
                            <a:rPr lang="es-CL" sz="2800" i="1" noProof="0" smtClean="0"/>
                            <m:t>𝑃</m:t>
                          </m:r>
                        </m:e>
                        <m:sub>
                          <m:r>
                            <a:rPr lang="es-CL" sz="2800" i="1" noProof="0" smtClean="0"/>
                            <m:t>𝑅𝑋</m:t>
                          </m:r>
                        </m:sub>
                      </m:sSub>
                      <m:r>
                        <a:rPr lang="es-CL" sz="2800" noProof="0" smtClean="0"/>
                        <m:t>−</m:t>
                      </m:r>
                      <m:sSub>
                        <m:sSubPr>
                          <m:ctrlPr>
                            <a:rPr lang="es-CL" sz="2800" i="1" noProof="0" smtClean="0"/>
                          </m:ctrlPr>
                        </m:sSubPr>
                        <m:e>
                          <m:r>
                            <a:rPr lang="es-CL" sz="2800" i="1" noProof="0" smtClean="0"/>
                            <m:t>𝑆</m:t>
                          </m:r>
                        </m:e>
                        <m:sub>
                          <m:r>
                            <a:rPr lang="es-CL" sz="2800" i="1" noProof="0" smtClean="0"/>
                            <m:t>𝑅𝑋</m:t>
                          </m:r>
                        </m:sub>
                      </m:sSub>
                      <m:r>
                        <m:rPr>
                          <m:nor/>
                        </m:rPr>
                        <a:rPr lang="es-CL" sz="2800" i="1" noProof="0" smtClean="0">
                          <a:latin typeface="Atkinson Hyperlegible"/>
                        </a:rPr>
                        <m:t>  </m:t>
                      </m:r>
                      <m:d>
                        <m:dPr>
                          <m:ctrlPr>
                            <a:rPr lang="es-CL" sz="2800" i="1" noProof="0" smtClean="0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CL" sz="2800" i="1" noProof="0">
                              <a:latin typeface="Atkinson Hyperlegible"/>
                            </a:rPr>
                            <m:t>dB</m:t>
                          </m:r>
                        </m:e>
                      </m:d>
                    </m:oMath>
                  </m:oMathPara>
                </a14:m>
                <a:endParaRPr lang="es-CL" sz="2800" b="0" noProof="0" dirty="0">
                  <a:latin typeface="Atkinson Hyperlegible"/>
                </a:endParaRPr>
              </a:p>
              <a:p>
                <a:r>
                  <a:rPr lang="es-CL" sz="2800" i="1" noProof="0" dirty="0">
                    <a:latin typeface="Atkinson Hyperlegible"/>
                  </a:rPr>
                  <a:t>(si </a:t>
                </a:r>
                <a14:m>
                  <m:oMath xmlns:m="http://schemas.openxmlformats.org/officeDocument/2006/math">
                    <m:r>
                      <a:rPr lang="es-CL" sz="2800" i="1" noProof="0"/>
                      <m:t>𝑀</m:t>
                    </m:r>
                  </m:oMath>
                </a14:m>
                <a:r>
                  <a:rPr lang="es-CL" sz="2800" i="1" noProof="0" dirty="0">
                    <a:latin typeface="Atkinson Hyperlegible"/>
                  </a:rPr>
                  <a:t> es positivo y suficiente, hay robustez)</a:t>
                </a:r>
                <a:endParaRPr lang="es-CL" sz="2800" noProof="0" dirty="0">
                  <a:latin typeface="Atkinson Hyperlegible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CL" sz="2800" noProof="0" smtClean="0"/>
                        </m:ctrlPr>
                      </m:sSubPr>
                      <m:e>
                        <m:r>
                          <a:rPr lang="es-CL" sz="2800" i="1" noProof="0" smtClean="0"/>
                          <m:t>𝑃</m:t>
                        </m:r>
                      </m:e>
                      <m:sub>
                        <m:r>
                          <a:rPr lang="es-CL" sz="2800" i="1" noProof="0" smtClean="0"/>
                          <m:t>𝑅𝑋</m:t>
                        </m:r>
                      </m:sub>
                    </m:sSub>
                  </m:oMath>
                </a14:m>
                <a:r>
                  <a:rPr lang="es-CL" sz="2800" noProof="0" dirty="0">
                    <a:latin typeface="Atkinson Hyperlegible"/>
                  </a:rPr>
                  <a:t>se obtiene del link </a:t>
                </a:r>
                <a:r>
                  <a:rPr lang="es-CL" sz="2800" noProof="0" dirty="0" err="1">
                    <a:latin typeface="Atkinson Hyperlegible"/>
                  </a:rPr>
                  <a:t>budget</a:t>
                </a:r>
                <a:r>
                  <a:rPr lang="es-CL" sz="2800" noProof="0" dirty="0">
                    <a:latin typeface="Atkinson Hyperlegible"/>
                  </a:rPr>
                  <a:t> (incluye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800" noProof="0" smtClean="0"/>
                        </m:ctrlPr>
                      </m:sSubPr>
                      <m:e>
                        <m:r>
                          <a:rPr lang="es-CL" sz="2800" i="1" noProof="0" smtClean="0"/>
                          <m:t>𝐺</m:t>
                        </m:r>
                      </m:e>
                      <m:sub>
                        <m:r>
                          <a:rPr lang="es-CL" sz="2800" i="1" noProof="0" smtClean="0"/>
                          <m:t>𝑇𝑋</m:t>
                        </m:r>
                      </m:sub>
                    </m:sSub>
                  </m:oMath>
                </a14:m>
                <a:r>
                  <a:rPr lang="es-CL" sz="2800" noProof="0" dirty="0">
                    <a:latin typeface="Atkinson Hyperlegible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800" noProof="0" smtClean="0"/>
                        </m:ctrlPr>
                      </m:sSubPr>
                      <m:e>
                        <m:r>
                          <a:rPr lang="es-CL" sz="2800" i="1" noProof="0" smtClean="0"/>
                          <m:t>𝐺</m:t>
                        </m:r>
                      </m:e>
                      <m:sub>
                        <m:r>
                          <a:rPr lang="es-CL" sz="2800" i="1" noProof="0" smtClean="0"/>
                          <m:t>𝑅𝑋</m:t>
                        </m:r>
                      </m:sub>
                    </m:sSub>
                  </m:oMath>
                </a14:m>
                <a:r>
                  <a:rPr lang="es-CL" sz="2800" noProof="0" dirty="0">
                    <a:latin typeface="Atkinson Hyperlegible"/>
                  </a:rPr>
                  <a:t>y pérdidas).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s-CL" sz="2800" noProof="0" dirty="0">
                    <a:latin typeface="Atkinson Hyperlegible"/>
                  </a:rPr>
                  <a:t>En microondas, el margen se usa para enfrentar variaciones del canal (desvanecimientos). </a:t>
                </a:r>
              </a:p>
              <a:p>
                <a:pPr algn="ctr"/>
                <a:br>
                  <a:rPr lang="es-CL" sz="2800" noProof="0" dirty="0">
                    <a:latin typeface="Atkinson Hyperlegible"/>
                  </a:rPr>
                </a:br>
                <a:r>
                  <a:rPr lang="es-CL" sz="2800" b="1" noProof="0" dirty="0">
                    <a:latin typeface="Atkinson Hyperlegible"/>
                  </a:rPr>
                  <a:t>La antena (dBi) mejora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800" noProof="0" smtClean="0"/>
                        </m:ctrlPr>
                      </m:sSubPr>
                      <m:e>
                        <m:r>
                          <a:rPr lang="es-CL" sz="2800" i="1" noProof="0" smtClean="0"/>
                          <m:t>𝑃</m:t>
                        </m:r>
                      </m:e>
                      <m:sub>
                        <m:r>
                          <a:rPr lang="es-CL" sz="2800" i="1" noProof="0" smtClean="0"/>
                          <m:t>𝑅𝑋</m:t>
                        </m:r>
                      </m:sub>
                    </m:sSub>
                  </m:oMath>
                </a14:m>
                <a:r>
                  <a:rPr lang="es-CL" sz="2800" b="1" noProof="0" dirty="0">
                    <a:latin typeface="Atkinson Hyperlegible"/>
                  </a:rPr>
                  <a:t>; la sensibilidad define el mínimo que exige el receptor.</a:t>
                </a:r>
              </a:p>
              <a:p>
                <a:pPr algn="ctr"/>
                <a:endParaRPr lang="es-CL" sz="2800" b="1" noProof="0" dirty="0">
                  <a:latin typeface="Atkinson Hyperlegible"/>
                </a:endParaRPr>
              </a:p>
              <a:p>
                <a:pPr algn="ctr"/>
                <a:r>
                  <a:rPr lang="es-CL" sz="2800" noProof="0" dirty="0" err="1">
                    <a:latin typeface="Atkinson Hyperlegible"/>
                  </a:rPr>
                  <a:t>SRX</a:t>
                </a:r>
                <a:r>
                  <a:rPr lang="es-CL" sz="2800" noProof="0" dirty="0">
                    <a:latin typeface="Atkinson Hyperlegible"/>
                  </a:rPr>
                  <a:t>​≈</a:t>
                </a:r>
                <a:r>
                  <a:rPr lang="es-CL" sz="2800" noProof="0" dirty="0" err="1">
                    <a:latin typeface="Atkinson Hyperlegible"/>
                  </a:rPr>
                  <a:t>N0</a:t>
                </a:r>
                <a:r>
                  <a:rPr lang="es-CL" sz="2800" noProof="0" dirty="0">
                    <a:latin typeface="Atkinson Hyperlegible"/>
                  </a:rPr>
                  <a:t>​+</a:t>
                </a:r>
                <a:r>
                  <a:rPr lang="es-CL" sz="2800" noProof="0" dirty="0" err="1">
                    <a:latin typeface="Atkinson Hyperlegible"/>
                  </a:rPr>
                  <a:t>10log</a:t>
                </a:r>
                <a:r>
                  <a:rPr lang="es-CL" sz="2800" noProof="0" dirty="0">
                    <a:latin typeface="Atkinson Hyperlegible"/>
                  </a:rPr>
                  <a:t>(B)+</a:t>
                </a:r>
                <a:r>
                  <a:rPr lang="es-CL" sz="2800" noProof="0" dirty="0" err="1">
                    <a:latin typeface="Atkinson Hyperlegible"/>
                  </a:rPr>
                  <a:t>NF+SNRreq</a:t>
                </a:r>
                <a:r>
                  <a:rPr lang="es-CL" sz="2800" noProof="0" dirty="0">
                    <a:latin typeface="Atkinson Hyperlegible"/>
                  </a:rPr>
                  <a:t>​ </a:t>
                </a:r>
              </a:p>
              <a:p>
                <a:r>
                  <a:rPr lang="es-CL" sz="2800" noProof="0" dirty="0">
                    <a:latin typeface="Atkinson Hyperlegible"/>
                  </a:rPr>
                  <a:t>Donde: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L" sz="2800" noProof="0" smtClean="0"/>
                        </m:ctrlPr>
                      </m:sSubPr>
                      <m:e>
                        <m:r>
                          <a:rPr lang="es-CL" sz="2800" i="1" noProof="0" smtClean="0"/>
                          <m:t>𝑁</m:t>
                        </m:r>
                      </m:e>
                      <m:sub>
                        <m:r>
                          <a:rPr lang="es-CL" sz="2800" noProof="0" smtClean="0"/>
                          <m:t>0</m:t>
                        </m:r>
                      </m:sub>
                    </m:sSub>
                    <m:r>
                      <a:rPr lang="es-CL" sz="2800" noProof="0" smtClean="0"/>
                      <m:t>≈−</m:t>
                    </m:r>
                    <m:r>
                      <a:rPr lang="es-CL" sz="2800" noProof="0" smtClean="0"/>
                      <m:t>174</m:t>
                    </m:r>
                  </m:oMath>
                </a14:m>
                <a:r>
                  <a:rPr lang="es-CL" sz="2800" noProof="0" dirty="0">
                    <a:latin typeface="Atkinson Hyperlegible"/>
                  </a:rPr>
                  <a:t>dBm/Hz (ruido térmico) </a:t>
                </a:r>
              </a:p>
              <a:p>
                <a14:m>
                  <m:oMath xmlns:m="http://schemas.openxmlformats.org/officeDocument/2006/math">
                    <m:r>
                      <a:rPr lang="es-CL" sz="2800" i="1" noProof="0"/>
                      <m:t>𝐵</m:t>
                    </m:r>
                  </m:oMath>
                </a14:m>
                <a:r>
                  <a:rPr lang="es-CL" sz="2800" noProof="0" dirty="0">
                    <a:latin typeface="Atkinson Hyperlegible"/>
                  </a:rPr>
                  <a:t>: ancho de banda (Hz) </a:t>
                </a:r>
              </a:p>
              <a:p>
                <a14:m>
                  <m:oMath xmlns:m="http://schemas.openxmlformats.org/officeDocument/2006/math">
                    <m:r>
                      <a:rPr lang="es-CL" sz="2800" i="1" noProof="0"/>
                      <m:t>𝑁𝐹</m:t>
                    </m:r>
                  </m:oMath>
                </a14:m>
                <a:r>
                  <a:rPr lang="es-CL" sz="2800" noProof="0" dirty="0">
                    <a:latin typeface="Atkinson Hyperlegible"/>
                  </a:rPr>
                  <a:t>: figura de ruido del receptor (dB) </a:t>
                </a:r>
              </a:p>
              <a:p>
                <a14:m>
                  <m:oMath xmlns:m="http://schemas.openxmlformats.org/officeDocument/2006/math">
                    <m:r>
                      <a:rPr lang="es-CL" sz="2800" i="1" noProof="0"/>
                      <m:t>𝑆𝑁</m:t>
                    </m:r>
                    <m:sSub>
                      <m:sSubPr>
                        <m:ctrlPr>
                          <a:rPr lang="es-CL" sz="2800" i="1" noProof="0" smtClean="0"/>
                        </m:ctrlPr>
                      </m:sSubPr>
                      <m:e>
                        <m:r>
                          <a:rPr lang="es-CL" sz="2800" i="1" noProof="0" smtClean="0"/>
                          <m:t>𝑅</m:t>
                        </m:r>
                      </m:e>
                      <m:sub>
                        <m:r>
                          <a:rPr lang="es-CL" sz="2800" i="1" noProof="0" smtClean="0"/>
                          <m:t>𝑟𝑒𝑞</m:t>
                        </m:r>
                      </m:sub>
                    </m:sSub>
                  </m:oMath>
                </a14:m>
                <a:r>
                  <a:rPr lang="es-CL" sz="2800" noProof="0" dirty="0">
                    <a:latin typeface="Atkinson Hyperlegible"/>
                  </a:rPr>
                  <a:t>: </a:t>
                </a:r>
                <a:r>
                  <a:rPr lang="es-CL" sz="2800" noProof="0" dirty="0" err="1">
                    <a:latin typeface="Atkinson Hyperlegible"/>
                  </a:rPr>
                  <a:t>SNR</a:t>
                </a:r>
                <a:r>
                  <a:rPr lang="es-CL" sz="2800" noProof="0" dirty="0">
                    <a:latin typeface="Atkinson Hyperlegible"/>
                  </a:rPr>
                  <a:t> mínimo requerido (dB)</a:t>
                </a:r>
              </a:p>
              <a:p>
                <a:pPr algn="ctr"/>
                <a:endParaRPr lang="es-CL" sz="2800" noProof="0" dirty="0">
                  <a:latin typeface="Atkinson Hyperlegible"/>
                </a:endParaRPr>
              </a:p>
            </p:txBody>
          </p:sp>
        </mc:Choice>
        <mc:Fallback>
          <p:sp>
            <p:nvSpPr>
              <p:cNvPr id="17" name="5 Rectángulo">
                <a:extLst>
                  <a:ext uri="{FF2B5EF4-FFF2-40B4-BE49-F238E27FC236}">
                    <a16:creationId xmlns:a16="http://schemas.microsoft.com/office/drawing/2014/main" id="{E04E8446-A093-ED64-BDB0-A932E13E2C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683" y="1828291"/>
                <a:ext cx="18598386" cy="8312404"/>
              </a:xfrm>
              <a:prstGeom prst="rect">
                <a:avLst/>
              </a:prstGeom>
              <a:blipFill>
                <a:blip r:embed="rId4"/>
                <a:stretch>
                  <a:fillRect l="-656" t="-734"/>
                </a:stretch>
              </a:blipFill>
              <a:effectLst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3233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AE8E37-7476-FF95-51B2-5101A476A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FC5048B-3075-C260-E3C3-669E8F3296AA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E0B6E8CE-6816-04E8-DA86-03783B4D020C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MICROONDAS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8F044A9-BAD2-E6E7-0C16-ADCB30836DCD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noProof="0" dirty="0"/>
              <a:t>Sensibilidad del receptor (</a:t>
            </a:r>
            <a:r>
              <a:rPr lang="es-CL" sz="4000" noProof="0" dirty="0" err="1"/>
              <a:t>Rx</a:t>
            </a:r>
            <a:r>
              <a:rPr lang="es-CL" sz="4000" noProof="0" dirty="0"/>
              <a:t> </a:t>
            </a:r>
            <a:r>
              <a:rPr lang="es-CL" sz="4000" noProof="0" dirty="0" err="1"/>
              <a:t>Sensitivity</a:t>
            </a:r>
            <a:r>
              <a:rPr lang="es-CL" sz="4000" noProof="0" dirty="0"/>
              <a:t>) y margen del enlace</a:t>
            </a:r>
            <a:endParaRPr lang="es-CL" sz="4000" noProof="0" dirty="0">
              <a:latin typeface="Atkinson Hyperlegible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5 Rectángulo">
                <a:extLst>
                  <a:ext uri="{FF2B5EF4-FFF2-40B4-BE49-F238E27FC236}">
                    <a16:creationId xmlns:a16="http://schemas.microsoft.com/office/drawing/2014/main" id="{82094CF6-D76F-3AE0-4314-674711692B6E}"/>
                  </a:ext>
                </a:extLst>
              </p:cNvPr>
              <p:cNvSpPr/>
              <p:nvPr/>
            </p:nvSpPr>
            <p:spPr>
              <a:xfrm>
                <a:off x="1221683" y="1828291"/>
                <a:ext cx="18598386" cy="6124754"/>
              </a:xfrm>
              <a:prstGeom prst="rect">
                <a:avLst/>
              </a:prstGeom>
              <a:noFill/>
              <a:effectLst/>
            </p:spPr>
            <p:txBody>
              <a:bodyPr wrap="square" lIns="91440" tIns="45720" rIns="91440" bIns="45720" anchor="t">
                <a:spAutoFit/>
              </a:bodyPr>
              <a:lstStyle/>
              <a:p>
                <a:r>
                  <a:rPr lang="es-CL" sz="2800" noProof="0" dirty="0">
                    <a:latin typeface="Atkinson Hyperlegible"/>
                  </a:rPr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800" noProof="0" smtClean="0"/>
                        </m:ctrlPr>
                      </m:sSubPr>
                      <m:e>
                        <m:r>
                          <a:rPr lang="es-CL" sz="2800" i="1" noProof="0" smtClean="0"/>
                          <m:t>𝑃</m:t>
                        </m:r>
                      </m:e>
                      <m:sub>
                        <m:r>
                          <a:rPr lang="es-CL" sz="2800" i="1" noProof="0" smtClean="0"/>
                          <m:t>𝑅𝑋</m:t>
                        </m:r>
                      </m:sub>
                    </m:sSub>
                    <m:r>
                      <a:rPr lang="es-CL" sz="2800" noProof="0" smtClean="0"/>
                      <m:t>=−</m:t>
                    </m:r>
                    <m:r>
                      <a:rPr lang="es-CL" sz="2800" noProof="0" smtClean="0"/>
                      <m:t>65</m:t>
                    </m:r>
                  </m:oMath>
                </a14:m>
                <a:r>
                  <a:rPr lang="es-CL" sz="2800" noProof="0" dirty="0">
                    <a:latin typeface="Atkinson Hyperlegible"/>
                  </a:rPr>
                  <a:t>dBm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800" noProof="0" smtClean="0"/>
                        </m:ctrlPr>
                      </m:sSubPr>
                      <m:e>
                        <m:r>
                          <a:rPr lang="es-CL" sz="2800" i="1" noProof="0" smtClean="0"/>
                          <m:t>𝑆</m:t>
                        </m:r>
                      </m:e>
                      <m:sub>
                        <m:r>
                          <a:rPr lang="es-CL" sz="2800" i="1" noProof="0" smtClean="0"/>
                          <m:t>𝑅𝑋</m:t>
                        </m:r>
                      </m:sub>
                    </m:sSub>
                    <m:r>
                      <a:rPr lang="es-CL" sz="2800" noProof="0" smtClean="0"/>
                      <m:t>=−</m:t>
                    </m:r>
                    <m:r>
                      <a:rPr lang="es-CL" sz="2800" noProof="0" smtClean="0"/>
                      <m:t>75</m:t>
                    </m:r>
                  </m:oMath>
                </a14:m>
                <a:r>
                  <a:rPr lang="es-CL" sz="2800" noProof="0" dirty="0">
                    <a:latin typeface="Atkinson Hyperlegible"/>
                  </a:rPr>
                  <a:t>dBm →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2800" i="1" noProof="0"/>
                        <m:t>𝑀</m:t>
                      </m:r>
                      <m:r>
                        <a:rPr lang="es-CL" sz="2800" noProof="0"/>
                        <m:t>=−</m:t>
                      </m:r>
                      <m:r>
                        <a:rPr lang="es-CL" sz="2800" noProof="0"/>
                        <m:t>65</m:t>
                      </m:r>
                      <m:r>
                        <a:rPr lang="es-CL" sz="2800" noProof="0"/>
                        <m:t>−</m:t>
                      </m:r>
                      <m:d>
                        <m:dPr>
                          <m:ctrlPr>
                            <a:rPr lang="es-CL" sz="2800" i="1" noProof="0" smtClean="0"/>
                          </m:ctrlPr>
                        </m:dPr>
                        <m:e>
                          <m:r>
                            <a:rPr lang="es-CL" sz="2800" noProof="0" smtClean="0"/>
                            <m:t>−</m:t>
                          </m:r>
                          <m:r>
                            <a:rPr lang="es-CL" sz="2800" noProof="0" smtClean="0"/>
                            <m:t>75</m:t>
                          </m:r>
                        </m:e>
                      </m:d>
                      <m:r>
                        <a:rPr lang="es-CL" sz="2800" noProof="0" smtClean="0"/>
                        <m:t>=</m:t>
                      </m:r>
                      <m:r>
                        <a:rPr lang="es-CL" sz="2800" noProof="0" smtClean="0"/>
                        <m:t>10</m:t>
                      </m:r>
                      <m:r>
                        <m:rPr>
                          <m:nor/>
                        </m:rPr>
                        <a:rPr lang="es-CL" sz="2800" i="1" noProof="0" smtClean="0">
                          <a:latin typeface="Atkinson Hyperlegible"/>
                        </a:rPr>
                        <m:t> </m:t>
                      </m:r>
                      <m:r>
                        <m:rPr>
                          <m:nor/>
                        </m:rPr>
                        <a:rPr lang="es-CL" sz="2800" i="1" noProof="0">
                          <a:latin typeface="Atkinson Hyperlegible"/>
                        </a:rPr>
                        <m:t>dB</m:t>
                      </m:r>
                    </m:oMath>
                  </m:oMathPara>
                </a14:m>
                <a:endParaRPr lang="es-CL" sz="2800" b="0" noProof="0" dirty="0">
                  <a:latin typeface="Atkinson Hyperlegible"/>
                </a:endParaRPr>
              </a:p>
              <a:p>
                <a:r>
                  <a:rPr lang="es-CL" sz="2800" noProof="0" dirty="0">
                    <a:latin typeface="Atkinson Hyperlegible"/>
                  </a:rPr>
                  <a:t>✅ </a:t>
                </a:r>
                <a:r>
                  <a:rPr lang="es-CL" sz="2800" b="1" noProof="0" dirty="0">
                    <a:latin typeface="Atkinson Hyperlegible"/>
                  </a:rPr>
                  <a:t>margen positivo </a:t>
                </a:r>
                <a:r>
                  <a:rPr lang="es-CL" sz="2800" noProof="0" dirty="0">
                    <a:latin typeface="Atkinson Hyperlegible"/>
                  </a:rPr>
                  <a:t>(enlace más robusto).</a:t>
                </a:r>
                <a:br>
                  <a:rPr lang="es-CL" sz="2800" noProof="0" dirty="0"/>
                </a:br>
                <a:endParaRPr lang="es-CL" sz="2800" noProof="0" dirty="0"/>
              </a:p>
              <a:p>
                <a:endParaRPr lang="es-CL" sz="2800" noProof="0" dirty="0"/>
              </a:p>
              <a:p>
                <a:endParaRPr lang="es-CL" sz="2800" noProof="0" dirty="0"/>
              </a:p>
              <a:p>
                <a:endParaRPr lang="es-CL" sz="2800" noProof="0" dirty="0"/>
              </a:p>
              <a:p>
                <a:br>
                  <a:rPr lang="es-CL" sz="2800" noProof="0" dirty="0"/>
                </a:br>
                <a:r>
                  <a:rPr lang="es-CL" sz="2800" noProof="0" dirty="0">
                    <a:latin typeface="Atkinson Hyperlegible"/>
                  </a:rPr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800" noProof="0" smtClean="0"/>
                        </m:ctrlPr>
                      </m:sSubPr>
                      <m:e>
                        <m:r>
                          <a:rPr lang="es-CL" sz="2800" i="1" noProof="0" smtClean="0"/>
                          <m:t>𝑃</m:t>
                        </m:r>
                      </m:e>
                      <m:sub>
                        <m:r>
                          <a:rPr lang="es-CL" sz="2800" i="1" noProof="0" smtClean="0"/>
                          <m:t>𝑅𝑋</m:t>
                        </m:r>
                      </m:sub>
                    </m:sSub>
                    <m:r>
                      <a:rPr lang="es-CL" sz="2800" noProof="0" smtClean="0"/>
                      <m:t>=−</m:t>
                    </m:r>
                    <m:r>
                      <a:rPr lang="es-CL" sz="2800" noProof="0" smtClean="0"/>
                      <m:t>85</m:t>
                    </m:r>
                    <m:r>
                      <m:rPr>
                        <m:nor/>
                      </m:rPr>
                      <a:rPr lang="es-CL" sz="2800" i="1" noProof="0" smtClean="0">
                        <a:latin typeface="Atkinson Hyperlegible"/>
                      </a:rPr>
                      <m:t> </m:t>
                    </m:r>
                    <m:r>
                      <m:rPr>
                        <m:nor/>
                      </m:rPr>
                      <a:rPr lang="es-CL" sz="2800" i="1" noProof="0">
                        <a:latin typeface="Atkinson Hyperlegible"/>
                      </a:rPr>
                      <m:t>dBm</m:t>
                    </m:r>
                  </m:oMath>
                </a14:m>
                <a:r>
                  <a:rPr lang="es-CL" sz="2800" noProof="0" dirty="0">
                    <a:latin typeface="Atkinson Hyperlegible"/>
                  </a:rPr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800" noProof="0" smtClean="0"/>
                        </m:ctrlPr>
                      </m:sSubPr>
                      <m:e>
                        <m:r>
                          <a:rPr lang="es-CL" sz="2800" i="1" noProof="0" smtClean="0"/>
                          <m:t>𝑆</m:t>
                        </m:r>
                      </m:e>
                      <m:sub>
                        <m:r>
                          <a:rPr lang="es-CL" sz="2800" i="1" noProof="0" smtClean="0"/>
                          <m:t>𝑅𝑋</m:t>
                        </m:r>
                      </m:sub>
                    </m:sSub>
                    <m:r>
                      <a:rPr lang="es-CL" sz="2800" noProof="0" smtClean="0"/>
                      <m:t>=−</m:t>
                    </m:r>
                    <m:r>
                      <a:rPr lang="es-CL" sz="2800" noProof="0" smtClean="0"/>
                      <m:t>75</m:t>
                    </m:r>
                    <m:r>
                      <m:rPr>
                        <m:nor/>
                      </m:rPr>
                      <a:rPr lang="es-CL" sz="2800" i="1" noProof="0" smtClean="0">
                        <a:latin typeface="Atkinson Hyperlegible"/>
                      </a:rPr>
                      <m:t> </m:t>
                    </m:r>
                    <m:r>
                      <m:rPr>
                        <m:nor/>
                      </m:rPr>
                      <a:rPr lang="es-CL" sz="2800" i="1" noProof="0">
                        <a:latin typeface="Atkinson Hyperlegible"/>
                      </a:rPr>
                      <m:t>dBm</m:t>
                    </m:r>
                  </m:oMath>
                </a14:m>
                <a:r>
                  <a:rPr lang="es-CL" sz="2800" noProof="0" dirty="0">
                    <a:latin typeface="Atkinson Hyperlegible"/>
                  </a:rPr>
                  <a:t>→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2800" i="1" noProof="0"/>
                        <m:t>𝑀</m:t>
                      </m:r>
                      <m:r>
                        <a:rPr lang="es-CL" sz="2800" noProof="0"/>
                        <m:t>=−</m:t>
                      </m:r>
                      <m:r>
                        <a:rPr lang="es-CL" sz="2800" noProof="0"/>
                        <m:t>85</m:t>
                      </m:r>
                      <m:r>
                        <a:rPr lang="es-CL" sz="2800" noProof="0"/>
                        <m:t>−</m:t>
                      </m:r>
                      <m:d>
                        <m:dPr>
                          <m:ctrlPr>
                            <a:rPr lang="es-CL" sz="2800" i="1" noProof="0" smtClean="0"/>
                          </m:ctrlPr>
                        </m:dPr>
                        <m:e>
                          <m:r>
                            <a:rPr lang="es-CL" sz="2800" noProof="0" smtClean="0"/>
                            <m:t>−</m:t>
                          </m:r>
                          <m:r>
                            <a:rPr lang="es-CL" sz="2800" noProof="0" smtClean="0"/>
                            <m:t>75</m:t>
                          </m:r>
                        </m:e>
                      </m:d>
                      <m:r>
                        <a:rPr lang="es-CL" sz="2800" noProof="0" smtClean="0"/>
                        <m:t>=−</m:t>
                      </m:r>
                      <m:r>
                        <a:rPr lang="es-CL" sz="2800" noProof="0" smtClean="0"/>
                        <m:t>10</m:t>
                      </m:r>
                      <m:r>
                        <m:rPr>
                          <m:nor/>
                        </m:rPr>
                        <a:rPr lang="es-CL" sz="2800" i="1" noProof="0" smtClean="0">
                          <a:latin typeface="Atkinson Hyperlegible"/>
                        </a:rPr>
                        <m:t> </m:t>
                      </m:r>
                      <m:r>
                        <m:rPr>
                          <m:nor/>
                        </m:rPr>
                        <a:rPr lang="es-CL" sz="2800" i="1" noProof="0">
                          <a:latin typeface="Atkinson Hyperlegible"/>
                        </a:rPr>
                        <m:t>dB</m:t>
                      </m:r>
                    </m:oMath>
                  </m:oMathPara>
                </a14:m>
                <a:endParaRPr lang="es-CL" sz="2800" b="0" noProof="0" dirty="0">
                  <a:latin typeface="Atkinson Hyperlegible"/>
                </a:endParaRPr>
              </a:p>
              <a:p>
                <a:endParaRPr lang="es-CL" sz="2800" b="0" noProof="0" dirty="0">
                  <a:latin typeface="Atkinson Hyperlegible"/>
                </a:endParaRPr>
              </a:p>
              <a:p>
                <a:r>
                  <a:rPr lang="es-CL" sz="2800" noProof="0" dirty="0">
                    <a:latin typeface="Atkinson Hyperlegible"/>
                  </a:rPr>
                  <a:t>❌ </a:t>
                </a:r>
                <a:r>
                  <a:rPr lang="es-CL" sz="2800" b="1" noProof="0" dirty="0">
                    <a:latin typeface="Atkinson Hyperlegible"/>
                  </a:rPr>
                  <a:t>margen negativo</a:t>
                </a:r>
                <a:r>
                  <a:rPr lang="es-CL" sz="2800" noProof="0" dirty="0">
                    <a:latin typeface="Atkinson Hyperlegible"/>
                  </a:rPr>
                  <a:t> (el enlace </a:t>
                </a:r>
                <a:r>
                  <a:rPr lang="es-CL" sz="2800" b="1" noProof="0" dirty="0">
                    <a:latin typeface="Atkinson Hyperlegible"/>
                  </a:rPr>
                  <a:t>no cumple</a:t>
                </a:r>
                <a:r>
                  <a:rPr lang="es-CL" sz="2800" noProof="0" dirty="0">
                    <a:latin typeface="Atkinson Hyperlegible"/>
                  </a:rPr>
                  <a:t> la sensibilidad del receptor).</a:t>
                </a:r>
              </a:p>
              <a:p>
                <a:endParaRPr lang="es-CL" sz="2800" b="0" noProof="0" dirty="0">
                  <a:latin typeface="Atkinson Hyperlegible"/>
                </a:endParaRPr>
              </a:p>
              <a:p>
                <a:pPr algn="ctr"/>
                <a:endParaRPr lang="es-CL" sz="2800" noProof="0" dirty="0">
                  <a:latin typeface="Atkinson Hyperlegible"/>
                </a:endParaRPr>
              </a:p>
            </p:txBody>
          </p:sp>
        </mc:Choice>
        <mc:Fallback>
          <p:sp>
            <p:nvSpPr>
              <p:cNvPr id="17" name="5 Rectángulo">
                <a:extLst>
                  <a:ext uri="{FF2B5EF4-FFF2-40B4-BE49-F238E27FC236}">
                    <a16:creationId xmlns:a16="http://schemas.microsoft.com/office/drawing/2014/main" id="{82094CF6-D76F-3AE0-4314-674711692B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683" y="1828291"/>
                <a:ext cx="18598386" cy="6124754"/>
              </a:xfrm>
              <a:prstGeom prst="rect">
                <a:avLst/>
              </a:prstGeom>
              <a:blipFill>
                <a:blip r:embed="rId4"/>
                <a:stretch>
                  <a:fillRect l="-656" t="-995"/>
                </a:stretch>
              </a:blipFill>
              <a:effectLst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404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8E231-98C2-0E48-1F2C-8A6E54100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B35A46C-2CD7-3D02-75C6-D56CD9CEA6D1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EACBB82F-2CDC-8078-26C6-7DEB3D8C3B56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MICROONDAS</a:t>
            </a:r>
            <a:endParaRPr lang="es-CL" sz="2800" b="1" kern="100" noProof="0" dirty="0"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C404A04-382A-DB15-BF17-723886EB304B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noProof="0" dirty="0">
                <a:latin typeface="Atkinson Hyperlegible"/>
              </a:rPr>
              <a:t>Otros fenómenos físicos que afectan la onda en el trayecto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FED17A3-F1E5-7004-4AD4-A8694166CE9C}"/>
              </a:ext>
            </a:extLst>
          </p:cNvPr>
          <p:cNvSpPr txBox="1"/>
          <p:nvPr/>
        </p:nvSpPr>
        <p:spPr>
          <a:xfrm>
            <a:off x="0" y="8471637"/>
            <a:ext cx="107857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noProof="0" dirty="0" err="1">
                <a:latin typeface="Atkinson Hyperlegible"/>
              </a:rPr>
              <a:t>ITU</a:t>
            </a:r>
            <a:r>
              <a:rPr lang="es-CL" sz="2400" noProof="0" dirty="0">
                <a:latin typeface="Atkinson Hyperlegible"/>
              </a:rPr>
              <a:t> Radio </a:t>
            </a:r>
            <a:r>
              <a:rPr lang="es-CL" sz="2400" noProof="0" dirty="0" err="1">
                <a:latin typeface="Atkinson Hyperlegible"/>
              </a:rPr>
              <a:t>Regulations</a:t>
            </a:r>
            <a:r>
              <a:rPr lang="es-CL" sz="2400" noProof="0" dirty="0">
                <a:latin typeface="Atkinson Hyperlegible"/>
              </a:rPr>
              <a:t> (Ed. 2024)</a:t>
            </a:r>
          </a:p>
          <a:p>
            <a:r>
              <a:rPr lang="es-CL" sz="2400" noProof="0" dirty="0" err="1">
                <a:latin typeface="Atkinson Hyperlegible"/>
              </a:rPr>
              <a:t>ITU</a:t>
            </a:r>
            <a:r>
              <a:rPr lang="es-CL" sz="2400" noProof="0" dirty="0">
                <a:latin typeface="Atkinson Hyperlegible"/>
              </a:rPr>
              <a:t>-R </a:t>
            </a:r>
            <a:r>
              <a:rPr lang="es-CL" sz="2400" noProof="0" dirty="0" err="1">
                <a:latin typeface="Atkinson Hyperlegible"/>
              </a:rPr>
              <a:t>P.676</a:t>
            </a:r>
            <a:r>
              <a:rPr lang="es-CL" sz="2400" noProof="0" dirty="0">
                <a:latin typeface="Atkinson Hyperlegible"/>
              </a:rPr>
              <a:t> (atenuación por gases atmosféricos)</a:t>
            </a:r>
          </a:p>
          <a:p>
            <a:r>
              <a:rPr lang="es-CL" sz="2400" noProof="0" dirty="0" err="1">
                <a:latin typeface="Atkinson Hyperlegible"/>
              </a:rPr>
              <a:t>ITU</a:t>
            </a:r>
            <a:r>
              <a:rPr lang="es-CL" sz="2400" noProof="0" dirty="0">
                <a:latin typeface="Atkinson Hyperlegible"/>
              </a:rPr>
              <a:t>-R </a:t>
            </a:r>
            <a:r>
              <a:rPr lang="es-CL" sz="2400" noProof="0" dirty="0" err="1">
                <a:latin typeface="Atkinson Hyperlegible"/>
              </a:rPr>
              <a:t>P.838</a:t>
            </a:r>
            <a:r>
              <a:rPr lang="es-CL" sz="2400" noProof="0" dirty="0">
                <a:latin typeface="Atkinson Hyperlegible"/>
              </a:rPr>
              <a:t> (atenuación específica por lluvia)</a:t>
            </a:r>
          </a:p>
          <a:p>
            <a:r>
              <a:rPr lang="es-CL" sz="2400" noProof="0" dirty="0" err="1">
                <a:latin typeface="Atkinson Hyperlegible"/>
              </a:rPr>
              <a:t>ITU</a:t>
            </a:r>
            <a:r>
              <a:rPr lang="es-CL" sz="2400" noProof="0" dirty="0">
                <a:latin typeface="Atkinson Hyperlegible"/>
              </a:rPr>
              <a:t>-R </a:t>
            </a:r>
            <a:r>
              <a:rPr lang="es-CL" sz="2400" noProof="0" dirty="0" err="1">
                <a:latin typeface="Atkinson Hyperlegible"/>
              </a:rPr>
              <a:t>P.618</a:t>
            </a:r>
            <a:r>
              <a:rPr lang="es-CL" sz="2400" noProof="0" dirty="0">
                <a:latin typeface="Atkinson Hyperlegible"/>
              </a:rPr>
              <a:t> (predicción para enlaces Tierra-espacio, satélite)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5991DDF-850D-73A6-0733-91BE2275F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412" y="1683489"/>
            <a:ext cx="13814490" cy="69956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198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699FA7-3795-BBB8-CE40-7E3CB9E51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9BE8681-6452-AF7C-3098-AE1B4F927ECC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48F3492E-E1A2-E761-3528-8EC522EA28D3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MICROONDAS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D051E3-E197-8928-F3B2-D72918C29EA7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noProof="0" dirty="0"/>
              <a:t>Ganancias y atenuaciones en microondas (plantilla de Link Budget)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B071C23-FD29-942E-5F8F-6A545CD51139}"/>
              </a:ext>
            </a:extLst>
          </p:cNvPr>
          <p:cNvSpPr txBox="1"/>
          <p:nvPr/>
        </p:nvSpPr>
        <p:spPr>
          <a:xfrm>
            <a:off x="679450" y="8331497"/>
            <a:ext cx="88495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b="1" noProof="0" dirty="0" err="1">
                <a:latin typeface="Atkinson Hyperlegible"/>
              </a:rPr>
              <a:t>ITU</a:t>
            </a:r>
            <a:r>
              <a:rPr lang="es-CL" sz="2400" b="1" noProof="0" dirty="0">
                <a:latin typeface="Atkinson Hyperlegible"/>
              </a:rPr>
              <a:t>-R </a:t>
            </a:r>
            <a:r>
              <a:rPr lang="es-CL" sz="2400" b="1" noProof="0" dirty="0" err="1">
                <a:latin typeface="Atkinson Hyperlegible"/>
              </a:rPr>
              <a:t>P.530</a:t>
            </a:r>
            <a:r>
              <a:rPr lang="es-CL" sz="2400" b="1" noProof="0" dirty="0">
                <a:latin typeface="Atkinson Hyperlegible"/>
              </a:rPr>
              <a:t> </a:t>
            </a:r>
            <a:r>
              <a:rPr lang="es-CL" sz="2400" noProof="0" dirty="0">
                <a:latin typeface="Atkinson Hyperlegible"/>
              </a:rPr>
              <a:t>— diseño y predicción para enlaces terrestres en línea de vista (LOS).</a:t>
            </a:r>
          </a:p>
          <a:p>
            <a:r>
              <a:rPr lang="es-CL" sz="2400" b="1" noProof="0" dirty="0" err="1">
                <a:latin typeface="Atkinson Hyperlegible"/>
              </a:rPr>
              <a:t>ITU</a:t>
            </a:r>
            <a:r>
              <a:rPr lang="es-CL" sz="2400" b="1" noProof="0" dirty="0">
                <a:latin typeface="Atkinson Hyperlegible"/>
              </a:rPr>
              <a:t>-R </a:t>
            </a:r>
            <a:r>
              <a:rPr lang="es-CL" sz="2400" b="1" noProof="0" dirty="0" err="1">
                <a:latin typeface="Atkinson Hyperlegible"/>
              </a:rPr>
              <a:t>P.525</a:t>
            </a:r>
            <a:r>
              <a:rPr lang="es-CL" sz="2400" b="1" noProof="0" dirty="0">
                <a:latin typeface="Atkinson Hyperlegible"/>
              </a:rPr>
              <a:t> </a:t>
            </a:r>
            <a:r>
              <a:rPr lang="es-CL" sz="2400" noProof="0" dirty="0">
                <a:latin typeface="Atkinson Hyperlegible"/>
              </a:rPr>
              <a:t>— pérdida en espacio libre.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5 Rectángulo">
                <a:extLst>
                  <a:ext uri="{FF2B5EF4-FFF2-40B4-BE49-F238E27FC236}">
                    <a16:creationId xmlns:a16="http://schemas.microsoft.com/office/drawing/2014/main" id="{74F49F7E-D226-64CF-2CAE-4578546C7A2F}"/>
                  </a:ext>
                </a:extLst>
              </p:cNvPr>
              <p:cNvSpPr/>
              <p:nvPr/>
            </p:nvSpPr>
            <p:spPr>
              <a:xfrm>
                <a:off x="1221683" y="1606607"/>
                <a:ext cx="18598386" cy="5586594"/>
              </a:xfrm>
              <a:prstGeom prst="rect">
                <a:avLst/>
              </a:prstGeom>
              <a:noFill/>
              <a:effectLst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CL" sz="3200" noProof="0" dirty="0">
                    <a:latin typeface="Atkinson Hyperlegible"/>
                  </a:rPr>
                  <a:t>En microondas, el enlace se evalúa como una </a:t>
                </a:r>
                <a:r>
                  <a:rPr lang="es-CL" sz="3200" b="1" noProof="0" dirty="0">
                    <a:latin typeface="Atkinson Hyperlegible"/>
                  </a:rPr>
                  <a:t>contabilidad en dB</a:t>
                </a:r>
                <a:r>
                  <a:rPr lang="es-CL" sz="3200" noProof="0" dirty="0">
                    <a:latin typeface="Atkinson Hyperlegible"/>
                  </a:rPr>
                  <a:t>: </a:t>
                </a:r>
                <a:r>
                  <a:rPr lang="es-CL" sz="3200" b="1" noProof="0" dirty="0">
                    <a:latin typeface="Atkinson Hyperlegible"/>
                  </a:rPr>
                  <a:t>ganancias se suman</a:t>
                </a:r>
                <a:r>
                  <a:rPr lang="es-CL" sz="3200" noProof="0" dirty="0">
                    <a:latin typeface="Atkinson Hyperlegible"/>
                  </a:rPr>
                  <a:t> y </a:t>
                </a:r>
                <a:r>
                  <a:rPr lang="es-CL" sz="3200" b="1" noProof="0" dirty="0">
                    <a:latin typeface="Atkinson Hyperlegible"/>
                  </a:rPr>
                  <a:t>pérdidas se restan</a:t>
                </a:r>
                <a:r>
                  <a:rPr lang="es-CL" sz="3200" noProof="0" dirty="0">
                    <a:latin typeface="Atkinson Hyperlegible"/>
                  </a:rPr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CL" sz="3200" b="1" noProof="0" dirty="0">
                    <a:latin typeface="Atkinson Hyperlegible"/>
                  </a:rPr>
                  <a:t>Ganancias principales:</a:t>
                </a:r>
                <a:r>
                  <a:rPr lang="es-CL" sz="3200" noProof="0" dirty="0">
                    <a:latin typeface="Atkinson Hyperlegible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3200" noProof="0" smtClean="0"/>
                        </m:ctrlPr>
                      </m:sSubPr>
                      <m:e>
                        <m:r>
                          <a:rPr lang="es-CL" sz="3200" i="1" noProof="0" smtClean="0"/>
                          <m:t>𝐺</m:t>
                        </m:r>
                      </m:e>
                      <m:sub>
                        <m:r>
                          <a:rPr lang="es-CL" sz="3200" i="1" noProof="0" smtClean="0"/>
                          <m:t>𝑇𝑋</m:t>
                        </m:r>
                      </m:sub>
                    </m:sSub>
                  </m:oMath>
                </a14:m>
                <a:r>
                  <a:rPr lang="es-CL" sz="3200" noProof="0" dirty="0">
                    <a:latin typeface="Atkinson Hyperlegible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3200" noProof="0" smtClean="0"/>
                        </m:ctrlPr>
                      </m:sSubPr>
                      <m:e>
                        <m:r>
                          <a:rPr lang="es-CL" sz="3200" i="1" noProof="0" smtClean="0"/>
                          <m:t>𝐺</m:t>
                        </m:r>
                      </m:e>
                      <m:sub>
                        <m:r>
                          <a:rPr lang="es-CL" sz="3200" i="1" noProof="0" smtClean="0"/>
                          <m:t>𝑅𝑋</m:t>
                        </m:r>
                      </m:sub>
                    </m:sSub>
                  </m:oMath>
                </a14:m>
                <a:r>
                  <a:rPr lang="es-CL" sz="3200" noProof="0" dirty="0">
                    <a:latin typeface="Atkinson Hyperlegible"/>
                  </a:rPr>
                  <a:t> (ganancia de antenas, dBi).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CL" sz="3200" b="1" noProof="0" dirty="0">
                    <a:latin typeface="Atkinson Hyperlegible"/>
                  </a:rPr>
                  <a:t>Pérdidas típicas del sistema:</a:t>
                </a:r>
                <a:r>
                  <a:rPr lang="es-CL" sz="3200" noProof="0" dirty="0">
                    <a:latin typeface="Atkinson Hyperlegible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3200" noProof="0" smtClean="0"/>
                        </m:ctrlPr>
                      </m:sSubPr>
                      <m:e>
                        <m:r>
                          <a:rPr lang="es-CL" sz="3200" i="1" noProof="0" smtClean="0"/>
                          <m:t>𝐿</m:t>
                        </m:r>
                      </m:e>
                      <m:sub>
                        <m:r>
                          <a:rPr lang="es-CL" sz="3200" i="1" noProof="0" smtClean="0"/>
                          <m:t>𝑇𝑋</m:t>
                        </m:r>
                      </m:sub>
                    </m:sSub>
                  </m:oMath>
                </a14:m>
                <a:r>
                  <a:rPr lang="es-CL" sz="3200" noProof="0" dirty="0">
                    <a:latin typeface="Atkinson Hyperlegible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3200" noProof="0" smtClean="0"/>
                        </m:ctrlPr>
                      </m:sSubPr>
                      <m:e>
                        <m:r>
                          <a:rPr lang="es-CL" sz="3200" i="1" noProof="0" smtClean="0"/>
                          <m:t>𝐿</m:t>
                        </m:r>
                      </m:e>
                      <m:sub>
                        <m:r>
                          <a:rPr lang="es-CL" sz="3200" i="1" noProof="0" smtClean="0"/>
                          <m:t>𝑅𝑋</m:t>
                        </m:r>
                      </m:sub>
                    </m:sSub>
                  </m:oMath>
                </a14:m>
                <a:r>
                  <a:rPr lang="es-CL" sz="3200" noProof="0" dirty="0">
                    <a:latin typeface="Atkinson Hyperlegible"/>
                  </a:rPr>
                  <a:t> (cables, conectores, dB).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CL" sz="3200" b="1" noProof="0" dirty="0">
                    <a:latin typeface="Atkinson Hyperlegible"/>
                  </a:rPr>
                  <a:t>Pérdida del trayecto:</a:t>
                </a:r>
                <a:r>
                  <a:rPr lang="es-CL" sz="3200" noProof="0" dirty="0">
                    <a:latin typeface="Atkinson Hyperlegible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3200" noProof="0" smtClean="0"/>
                        </m:ctrlPr>
                      </m:sSubPr>
                      <m:e>
                        <m:r>
                          <a:rPr lang="es-CL" sz="3200" i="1" noProof="0" smtClean="0"/>
                          <m:t>𝐿</m:t>
                        </m:r>
                      </m:e>
                      <m:sub>
                        <m:r>
                          <a:rPr lang="es-CL" sz="3200" i="1" noProof="0" smtClean="0"/>
                          <m:t>𝑝𝑎𝑡</m:t>
                        </m:r>
                        <m:r>
                          <a:rPr lang="es-CL" sz="3200" i="1" noProof="0" smtClean="0"/>
                          <m:t>h</m:t>
                        </m:r>
                      </m:sub>
                    </m:sSub>
                  </m:oMath>
                </a14:m>
                <a:r>
                  <a:rPr lang="es-CL" sz="3200" noProof="0" dirty="0">
                    <a:latin typeface="Atkinson Hyperlegible"/>
                  </a:rPr>
                  <a:t>(incluye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3200" noProof="0" smtClean="0"/>
                        </m:ctrlPr>
                      </m:sSubPr>
                      <m:e>
                        <m:r>
                          <a:rPr lang="es-CL" sz="3200" i="1" noProof="0" smtClean="0"/>
                          <m:t>𝐿</m:t>
                        </m:r>
                      </m:e>
                      <m:sub>
                        <m:r>
                          <a:rPr lang="es-CL" sz="3200" i="1" noProof="0" smtClean="0"/>
                          <m:t>𝑏𝑓</m:t>
                        </m:r>
                      </m:sub>
                    </m:sSub>
                  </m:oMath>
                </a14:m>
                <a:r>
                  <a:rPr lang="es-CL" sz="3200" noProof="0" dirty="0">
                    <a:latin typeface="Atkinson Hyperlegible"/>
                  </a:rPr>
                  <a:t>(de espacio libre como base y pérdidas adicionales si aplica).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CL" sz="3200" b="1" noProof="0" dirty="0">
                    <a:latin typeface="Atkinson Hyperlegible"/>
                  </a:rPr>
                  <a:t>Criterio de funcionamiento:</a:t>
                </a:r>
                <a:r>
                  <a:rPr lang="es-CL" sz="3200" noProof="0" dirty="0">
                    <a:latin typeface="Atkinson Hyperlegible"/>
                  </a:rPr>
                  <a:t> comparar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3200" noProof="0" smtClean="0"/>
                        </m:ctrlPr>
                      </m:sSubPr>
                      <m:e>
                        <m:r>
                          <a:rPr lang="es-CL" sz="3200" i="1" noProof="0" smtClean="0"/>
                          <m:t>𝑃</m:t>
                        </m:r>
                      </m:e>
                      <m:sub>
                        <m:r>
                          <a:rPr lang="es-CL" sz="3200" i="1" noProof="0" smtClean="0"/>
                          <m:t>𝑅𝑋</m:t>
                        </m:r>
                      </m:sub>
                    </m:sSub>
                  </m:oMath>
                </a14:m>
                <a:r>
                  <a:rPr lang="es-CL" sz="3200" noProof="0" dirty="0">
                    <a:latin typeface="Atkinson Hyperlegible"/>
                  </a:rPr>
                  <a:t>con la </a:t>
                </a:r>
                <a:r>
                  <a:rPr lang="es-CL" sz="3200" b="1" noProof="0" dirty="0">
                    <a:latin typeface="Atkinson Hyperlegible"/>
                  </a:rPr>
                  <a:t>sensibilidad</a:t>
                </a:r>
                <a:r>
                  <a:rPr lang="es-CL" sz="3200" noProof="0" dirty="0">
                    <a:latin typeface="Atkinson Hyperlegible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3200" noProof="0" smtClean="0"/>
                        </m:ctrlPr>
                      </m:sSubPr>
                      <m:e>
                        <m:r>
                          <a:rPr lang="es-CL" sz="3200" i="1" noProof="0" smtClean="0"/>
                          <m:t>𝑆</m:t>
                        </m:r>
                      </m:e>
                      <m:sub>
                        <m:r>
                          <a:rPr lang="es-CL" sz="3200" i="1" noProof="0" smtClean="0"/>
                          <m:t>𝑅𝑋</m:t>
                        </m:r>
                      </m:sub>
                    </m:sSub>
                  </m:oMath>
                </a14:m>
                <a:r>
                  <a:rPr lang="es-CL" sz="3200" noProof="0" dirty="0">
                    <a:latin typeface="Atkinson Hyperlegible"/>
                  </a:rPr>
                  <a:t>y calcular margen </a:t>
                </a:r>
                <a14:m>
                  <m:oMath xmlns:m="http://schemas.openxmlformats.org/officeDocument/2006/math">
                    <m:r>
                      <a:rPr lang="es-CL" sz="3200" i="1" noProof="0"/>
                      <m:t>𝑀</m:t>
                    </m:r>
                    <m:r>
                      <a:rPr lang="es-CL" sz="3200" noProof="0"/>
                      <m:t>=</m:t>
                    </m:r>
                    <m:sSub>
                      <m:sSubPr>
                        <m:ctrlPr>
                          <a:rPr lang="es-CL" sz="3200" i="1" noProof="0" smtClean="0"/>
                        </m:ctrlPr>
                      </m:sSubPr>
                      <m:e>
                        <m:r>
                          <a:rPr lang="es-CL" sz="3200" i="1" noProof="0" smtClean="0"/>
                          <m:t>𝑃</m:t>
                        </m:r>
                      </m:e>
                      <m:sub>
                        <m:r>
                          <a:rPr lang="es-CL" sz="3200" i="1" noProof="0" smtClean="0"/>
                          <m:t>𝑅𝑋</m:t>
                        </m:r>
                      </m:sub>
                    </m:sSub>
                    <m:r>
                      <a:rPr lang="es-CL" sz="3200" noProof="0" smtClean="0"/>
                      <m:t>−</m:t>
                    </m:r>
                    <m:sSub>
                      <m:sSubPr>
                        <m:ctrlPr>
                          <a:rPr lang="es-CL" sz="3200" i="1" noProof="0" smtClean="0"/>
                        </m:ctrlPr>
                      </m:sSubPr>
                      <m:e>
                        <m:r>
                          <a:rPr lang="es-CL" sz="3200" i="1" noProof="0" smtClean="0"/>
                          <m:t>𝑆</m:t>
                        </m:r>
                      </m:e>
                      <m:sub>
                        <m:r>
                          <a:rPr lang="es-CL" sz="3200" i="1" noProof="0" smtClean="0"/>
                          <m:t>𝑅𝑋</m:t>
                        </m:r>
                      </m:sub>
                    </m:sSub>
                  </m:oMath>
                </a14:m>
                <a:r>
                  <a:rPr lang="es-CL" sz="3200" noProof="0" dirty="0">
                    <a:latin typeface="Atkinson Hyperlegible"/>
                  </a:rPr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CL" sz="3200" noProof="0" dirty="0">
                    <a:latin typeface="Atkinson Hyperlegible"/>
                  </a:rPr>
                  <a:t>Objetivo práctico: lograr </a:t>
                </a:r>
                <a:r>
                  <a:rPr lang="es-CL" sz="3200" b="1" noProof="0" dirty="0">
                    <a:latin typeface="Atkinson Hyperlegible"/>
                  </a:rPr>
                  <a:t>margen positivo suficiente</a:t>
                </a:r>
                <a:r>
                  <a:rPr lang="es-CL" sz="3200" noProof="0" dirty="0">
                    <a:latin typeface="Atkinson Hyperlegible"/>
                  </a:rPr>
                  <a:t> para robustez del enlace.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s-CL" sz="3200" noProof="0" dirty="0">
                  <a:latin typeface="Atkinson Hyperlegible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3200" b="1" noProof="0" smtClean="0"/>
                          </m:ctrlPr>
                        </m:sSubPr>
                        <m:e>
                          <m:r>
                            <a:rPr lang="es-CL" sz="3200" b="1" i="1" noProof="0" smtClean="0"/>
                            <m:t>𝑷</m:t>
                          </m:r>
                        </m:e>
                        <m:sub>
                          <m:r>
                            <a:rPr lang="es-CL" sz="3200" b="1" i="1" noProof="0" smtClean="0"/>
                            <m:t>𝑹𝑿</m:t>
                          </m:r>
                        </m:sub>
                      </m:sSub>
                      <m:r>
                        <a:rPr lang="es-CL" sz="3200" b="1" noProof="0" smtClean="0"/>
                        <m:t>=</m:t>
                      </m:r>
                      <m:sSub>
                        <m:sSubPr>
                          <m:ctrlPr>
                            <a:rPr lang="es-CL" sz="3200" b="1" i="1" noProof="0" smtClean="0"/>
                          </m:ctrlPr>
                        </m:sSubPr>
                        <m:e>
                          <m:r>
                            <a:rPr lang="es-CL" sz="3200" b="1" i="1" noProof="0" smtClean="0"/>
                            <m:t>𝑷</m:t>
                          </m:r>
                        </m:e>
                        <m:sub>
                          <m:r>
                            <a:rPr lang="es-CL" sz="3200" b="1" i="1" noProof="0" smtClean="0"/>
                            <m:t>𝑻𝑿</m:t>
                          </m:r>
                        </m:sub>
                      </m:sSub>
                      <m:r>
                        <a:rPr lang="es-CL" sz="3200" b="1" noProof="0" smtClean="0"/>
                        <m:t>+</m:t>
                      </m:r>
                      <m:sSub>
                        <m:sSubPr>
                          <m:ctrlPr>
                            <a:rPr lang="es-CL" sz="3200" b="1" i="1" noProof="0" smtClean="0"/>
                          </m:ctrlPr>
                        </m:sSubPr>
                        <m:e>
                          <m:r>
                            <a:rPr lang="es-CL" sz="3200" b="1" i="1" noProof="0" smtClean="0"/>
                            <m:t>𝑮</m:t>
                          </m:r>
                        </m:e>
                        <m:sub>
                          <m:r>
                            <a:rPr lang="es-CL" sz="3200" b="1" i="1" noProof="0" smtClean="0"/>
                            <m:t>𝑻𝑿</m:t>
                          </m:r>
                        </m:sub>
                      </m:sSub>
                      <m:r>
                        <a:rPr lang="es-CL" sz="3200" b="1" noProof="0" smtClean="0"/>
                        <m:t>−</m:t>
                      </m:r>
                      <m:sSub>
                        <m:sSubPr>
                          <m:ctrlPr>
                            <a:rPr lang="es-CL" sz="3200" b="1" i="1" noProof="0" smtClean="0"/>
                          </m:ctrlPr>
                        </m:sSubPr>
                        <m:e>
                          <m:r>
                            <a:rPr lang="es-CL" sz="3200" b="1" i="1" noProof="0" smtClean="0"/>
                            <m:t>𝑳</m:t>
                          </m:r>
                        </m:e>
                        <m:sub>
                          <m:r>
                            <a:rPr lang="es-CL" sz="3200" b="1" i="1" noProof="0" smtClean="0"/>
                            <m:t>𝑻𝑿</m:t>
                          </m:r>
                        </m:sub>
                      </m:sSub>
                      <m:r>
                        <a:rPr lang="es-CL" sz="3200" b="1" noProof="0" smtClean="0"/>
                        <m:t>−</m:t>
                      </m:r>
                      <m:sSub>
                        <m:sSubPr>
                          <m:ctrlPr>
                            <a:rPr lang="es-CL" sz="3200" b="1" i="1" noProof="0" smtClean="0"/>
                          </m:ctrlPr>
                        </m:sSubPr>
                        <m:e>
                          <m:r>
                            <a:rPr lang="es-CL" sz="3200" b="1" i="1" noProof="0" smtClean="0"/>
                            <m:t>𝑳</m:t>
                          </m:r>
                        </m:e>
                        <m:sub>
                          <m:r>
                            <a:rPr lang="es-CL" sz="3200" b="1" i="1" noProof="0" smtClean="0"/>
                            <m:t>𝒑𝒂𝒕𝒉</m:t>
                          </m:r>
                        </m:sub>
                      </m:sSub>
                      <m:r>
                        <a:rPr lang="es-CL" sz="3200" b="1" noProof="0" smtClean="0"/>
                        <m:t>+</m:t>
                      </m:r>
                      <m:sSub>
                        <m:sSubPr>
                          <m:ctrlPr>
                            <a:rPr lang="es-CL" sz="3200" b="1" i="1" noProof="0" smtClean="0"/>
                          </m:ctrlPr>
                        </m:sSubPr>
                        <m:e>
                          <m:r>
                            <a:rPr lang="es-CL" sz="3200" b="1" i="1" noProof="0" smtClean="0"/>
                            <m:t>𝑮</m:t>
                          </m:r>
                        </m:e>
                        <m:sub>
                          <m:r>
                            <a:rPr lang="es-CL" sz="3200" b="1" i="1" noProof="0" smtClean="0"/>
                            <m:t>𝑹𝑿</m:t>
                          </m:r>
                        </m:sub>
                      </m:sSub>
                      <m:r>
                        <a:rPr lang="es-CL" sz="3200" b="1" noProof="0" smtClean="0"/>
                        <m:t>−</m:t>
                      </m:r>
                      <m:sSub>
                        <m:sSubPr>
                          <m:ctrlPr>
                            <a:rPr lang="es-CL" sz="3200" b="1" i="1" noProof="0" smtClean="0"/>
                          </m:ctrlPr>
                        </m:sSubPr>
                        <m:e>
                          <m:r>
                            <a:rPr lang="es-CL" sz="3200" b="1" i="1" noProof="0" smtClean="0"/>
                            <m:t>𝑳</m:t>
                          </m:r>
                        </m:e>
                        <m:sub>
                          <m:r>
                            <a:rPr lang="es-CL" sz="3200" b="1" i="1" noProof="0" smtClean="0"/>
                            <m:t>𝑹𝑿</m:t>
                          </m:r>
                        </m:sub>
                      </m:sSub>
                    </m:oMath>
                  </m:oMathPara>
                </a14:m>
                <a:endParaRPr lang="es-CL" sz="3200" b="1" noProof="0" dirty="0">
                  <a:latin typeface="Atkinson Hyperlegible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3200" b="1" i="1" noProof="0" smtClean="0"/>
                        <m:t>𝑴</m:t>
                      </m:r>
                      <m:r>
                        <a:rPr lang="es-CL" sz="3200" b="1" noProof="0" smtClean="0"/>
                        <m:t>=</m:t>
                      </m:r>
                      <m:sSub>
                        <m:sSubPr>
                          <m:ctrlPr>
                            <a:rPr lang="es-CL" sz="3200" b="1" i="1" noProof="0" smtClean="0"/>
                          </m:ctrlPr>
                        </m:sSubPr>
                        <m:e>
                          <m:r>
                            <a:rPr lang="es-CL" sz="3200" b="1" i="1" noProof="0" smtClean="0"/>
                            <m:t>𝑷</m:t>
                          </m:r>
                        </m:e>
                        <m:sub>
                          <m:r>
                            <a:rPr lang="es-CL" sz="3200" b="1" i="1" noProof="0" smtClean="0"/>
                            <m:t>𝑹𝑿</m:t>
                          </m:r>
                        </m:sub>
                      </m:sSub>
                      <m:r>
                        <a:rPr lang="es-CL" sz="3200" b="1" noProof="0" smtClean="0"/>
                        <m:t>−</m:t>
                      </m:r>
                      <m:sSub>
                        <m:sSubPr>
                          <m:ctrlPr>
                            <a:rPr lang="es-CL" sz="3200" b="1" i="1" noProof="0" smtClean="0"/>
                          </m:ctrlPr>
                        </m:sSubPr>
                        <m:e>
                          <m:r>
                            <a:rPr lang="es-CL" sz="3200" b="1" i="1" noProof="0" smtClean="0"/>
                            <m:t>𝑺</m:t>
                          </m:r>
                        </m:e>
                        <m:sub>
                          <m:r>
                            <a:rPr lang="es-CL" sz="3200" b="1" i="1" noProof="0" smtClean="0"/>
                            <m:t>𝑹𝑿</m:t>
                          </m:r>
                        </m:sub>
                      </m:sSub>
                    </m:oMath>
                  </m:oMathPara>
                </a14:m>
                <a:endParaRPr lang="es-CL" sz="3200" b="1" noProof="0" dirty="0">
                  <a:latin typeface="Atkinson Hyperlegible"/>
                </a:endParaRPr>
              </a:p>
              <a:p>
                <a:pPr algn="ctr"/>
                <a:br>
                  <a:rPr lang="es-CL" sz="3200" noProof="0" dirty="0">
                    <a:latin typeface="Atkinson Hyperlegible"/>
                  </a:rPr>
                </a:br>
                <a:r>
                  <a:rPr lang="es-CL" sz="3200" b="1" noProof="0" dirty="0">
                    <a:latin typeface="Atkinson Hyperlegible"/>
                  </a:rPr>
                  <a:t>Un buen enlace no es “solo potencia”: es ganancia + pérdidas + sensibilidad + margen</a:t>
                </a:r>
                <a:r>
                  <a:rPr lang="es-CL" sz="2400" b="1" noProof="0" dirty="0"/>
                  <a:t>.</a:t>
                </a:r>
                <a:endParaRPr lang="es-CL" sz="2400" noProof="0" dirty="0"/>
              </a:p>
            </p:txBody>
          </p:sp>
        </mc:Choice>
        <mc:Fallback>
          <p:sp>
            <p:nvSpPr>
              <p:cNvPr id="17" name="5 Rectángulo">
                <a:extLst>
                  <a:ext uri="{FF2B5EF4-FFF2-40B4-BE49-F238E27FC236}">
                    <a16:creationId xmlns:a16="http://schemas.microsoft.com/office/drawing/2014/main" id="{74F49F7E-D226-64CF-2CAE-4578546C7A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683" y="1606607"/>
                <a:ext cx="18598386" cy="5586594"/>
              </a:xfrm>
              <a:prstGeom prst="rect">
                <a:avLst/>
              </a:prstGeom>
              <a:blipFill>
                <a:blip r:embed="rId4"/>
                <a:stretch>
                  <a:fillRect l="-754" t="-1419" b="-2838"/>
                </a:stretch>
              </a:blipFill>
              <a:effectLst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683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B00FA3-95D1-ECB6-4F62-0108F61E0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34BDEDF-32BF-9C50-F4E1-7D03FC06BFE5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ECE06979-CA98-9797-086F-FA2D3B9FFE34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MICROONDAS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12A94DE-8EB5-413D-6028-02150D0D9CD2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noProof="0" dirty="0"/>
              <a:t>Ganancias y atenuaciones en microondas (plantilla de Link Budget)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15CCD1E-4833-005B-AF85-121BA4A1024D}"/>
              </a:ext>
            </a:extLst>
          </p:cNvPr>
          <p:cNvSpPr txBox="1"/>
          <p:nvPr/>
        </p:nvSpPr>
        <p:spPr>
          <a:xfrm>
            <a:off x="679450" y="8331497"/>
            <a:ext cx="88495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b="1" noProof="0" dirty="0" err="1">
                <a:latin typeface="Atkinson Hyperlegible"/>
              </a:rPr>
              <a:t>ITU</a:t>
            </a:r>
            <a:r>
              <a:rPr lang="es-CL" sz="2400" b="1" noProof="0" dirty="0">
                <a:latin typeface="Atkinson Hyperlegible"/>
              </a:rPr>
              <a:t>-R </a:t>
            </a:r>
            <a:r>
              <a:rPr lang="es-CL" sz="2400" b="1" noProof="0" dirty="0" err="1">
                <a:latin typeface="Atkinson Hyperlegible"/>
              </a:rPr>
              <a:t>P.530</a:t>
            </a:r>
            <a:r>
              <a:rPr lang="es-CL" sz="2400" b="1" noProof="0" dirty="0">
                <a:latin typeface="Atkinson Hyperlegible"/>
              </a:rPr>
              <a:t> </a:t>
            </a:r>
            <a:r>
              <a:rPr lang="es-CL" sz="2400" noProof="0" dirty="0">
                <a:latin typeface="Atkinson Hyperlegible"/>
              </a:rPr>
              <a:t>— diseño y predicción para enlaces terrestres en línea de vista (LOS).</a:t>
            </a:r>
          </a:p>
          <a:p>
            <a:r>
              <a:rPr lang="es-CL" sz="2400" b="1" noProof="0" dirty="0" err="1">
                <a:latin typeface="Atkinson Hyperlegible"/>
              </a:rPr>
              <a:t>ITU</a:t>
            </a:r>
            <a:r>
              <a:rPr lang="es-CL" sz="2400" b="1" noProof="0" dirty="0">
                <a:latin typeface="Atkinson Hyperlegible"/>
              </a:rPr>
              <a:t>-R </a:t>
            </a:r>
            <a:r>
              <a:rPr lang="es-CL" sz="2400" b="1" noProof="0" dirty="0" err="1">
                <a:latin typeface="Atkinson Hyperlegible"/>
              </a:rPr>
              <a:t>P.525</a:t>
            </a:r>
            <a:r>
              <a:rPr lang="es-CL" sz="2400" b="1" noProof="0" dirty="0">
                <a:latin typeface="Atkinson Hyperlegible"/>
              </a:rPr>
              <a:t> </a:t>
            </a:r>
            <a:r>
              <a:rPr lang="es-CL" sz="2400" noProof="0" dirty="0">
                <a:latin typeface="Atkinson Hyperlegible"/>
              </a:rPr>
              <a:t>— pérdida en espacio libre.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F4ADCC2C-EC70-0C86-99E1-802E0FB93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259727"/>
              </p:ext>
            </p:extLst>
          </p:nvPr>
        </p:nvGraphicFramePr>
        <p:xfrm>
          <a:off x="1502635" y="1985617"/>
          <a:ext cx="17338674" cy="5090160"/>
        </p:xfrm>
        <a:graphic>
          <a:graphicData uri="http://schemas.openxmlformats.org/drawingml/2006/table">
            <a:tbl>
              <a:tblPr firstRow="1" firstCol="1">
                <a:tableStyleId>{073A0DAA-6AF3-43AB-8588-CEC1D06C72B9}</a:tableStyleId>
              </a:tblPr>
              <a:tblGrid>
                <a:gridCol w="5779558">
                  <a:extLst>
                    <a:ext uri="{9D8B030D-6E8A-4147-A177-3AD203B41FA5}">
                      <a16:colId xmlns:a16="http://schemas.microsoft.com/office/drawing/2014/main" val="1867389624"/>
                    </a:ext>
                  </a:extLst>
                </a:gridCol>
                <a:gridCol w="5779558">
                  <a:extLst>
                    <a:ext uri="{9D8B030D-6E8A-4147-A177-3AD203B41FA5}">
                      <a16:colId xmlns:a16="http://schemas.microsoft.com/office/drawing/2014/main" val="3736449104"/>
                    </a:ext>
                  </a:extLst>
                </a:gridCol>
                <a:gridCol w="5779558">
                  <a:extLst>
                    <a:ext uri="{9D8B030D-6E8A-4147-A177-3AD203B41FA5}">
                      <a16:colId xmlns:a16="http://schemas.microsoft.com/office/drawing/2014/main" val="3218326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Término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Qué representa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Signo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7008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(P_{TX}) (dBm)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potencia transmitida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+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9870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(G_{TX}) (dBi)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ganancia antena TX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+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9530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(L_{TX}) (dB)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pérdidas TX (cables/conectores)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−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544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(L_{</a:t>
                      </a:r>
                      <a:r>
                        <a:rPr lang="es-CL" sz="2800" noProof="0" dirty="0" err="1"/>
                        <a:t>path</a:t>
                      </a:r>
                      <a:r>
                        <a:rPr lang="es-CL" sz="2800" noProof="0" dirty="0"/>
                        <a:t>}) (dB)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pérdida de trayecto (base + adicionales)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−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660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(G_{</a:t>
                      </a:r>
                      <a:r>
                        <a:rPr lang="es-CL" sz="2800" noProof="0" dirty="0" err="1"/>
                        <a:t>RX</a:t>
                      </a:r>
                      <a:r>
                        <a:rPr lang="es-CL" sz="2800" noProof="0" dirty="0"/>
                        <a:t>}) (dBi)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ganancia antena </a:t>
                      </a:r>
                      <a:r>
                        <a:rPr lang="es-CL" sz="2800" noProof="0" dirty="0" err="1"/>
                        <a:t>RX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+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275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(L_{</a:t>
                      </a:r>
                      <a:r>
                        <a:rPr lang="es-CL" sz="2800" noProof="0" dirty="0" err="1"/>
                        <a:t>RX</a:t>
                      </a:r>
                      <a:r>
                        <a:rPr lang="es-CL" sz="2800" noProof="0" dirty="0"/>
                        <a:t>}) (dB)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pérdidas </a:t>
                      </a:r>
                      <a:r>
                        <a:rPr lang="es-CL" sz="2800" noProof="0" dirty="0" err="1"/>
                        <a:t>RX</a:t>
                      </a:r>
                      <a:r>
                        <a:rPr lang="es-CL" sz="2800" noProof="0" dirty="0"/>
                        <a:t> (cables/conectores)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−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942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(S_{</a:t>
                      </a:r>
                      <a:r>
                        <a:rPr lang="es-CL" sz="2800" noProof="0" dirty="0" err="1"/>
                        <a:t>RX</a:t>
                      </a:r>
                      <a:r>
                        <a:rPr lang="es-CL" sz="2800" noProof="0" dirty="0"/>
                        <a:t>}) (dBm)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sensibilidad del receptor (umbral)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comparación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8359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(M) (dB)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margen del enlace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800" noProof="0" dirty="0"/>
                        <a:t>resultado</a:t>
                      </a:r>
                      <a:endParaRPr lang="es-CL" sz="2800" noProof="0" dirty="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626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5791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389BE9-1E1A-6078-EE7C-AE403FFA4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092FFF6-A76B-5CC7-726C-2534BDF87495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60B06B5E-F4C5-7ACA-6494-5DBC4C737011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MICROONDAS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F8F88E9-B2DC-72C6-59DB-29BC673D728B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noProof="0" dirty="0"/>
              <a:t>Ejemplo guiado — Link </a:t>
            </a:r>
            <a:r>
              <a:rPr lang="es-CL" sz="4000" noProof="0" dirty="0" err="1"/>
              <a:t>budget</a:t>
            </a:r>
            <a:r>
              <a:rPr lang="es-CL" sz="4000" noProof="0" dirty="0"/>
              <a:t> microondas (dB/dBm)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6AF454D-F118-1F4C-06AE-6B513653B639}"/>
              </a:ext>
            </a:extLst>
          </p:cNvPr>
          <p:cNvSpPr txBox="1"/>
          <p:nvPr/>
        </p:nvSpPr>
        <p:spPr>
          <a:xfrm>
            <a:off x="679450" y="8331497"/>
            <a:ext cx="88495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b="1" noProof="0" dirty="0" err="1">
                <a:latin typeface="Atkinson Hyperlegible"/>
              </a:rPr>
              <a:t>ITU</a:t>
            </a:r>
            <a:r>
              <a:rPr lang="es-CL" sz="2400" b="1" noProof="0" dirty="0">
                <a:latin typeface="Atkinson Hyperlegible"/>
              </a:rPr>
              <a:t>-R </a:t>
            </a:r>
            <a:r>
              <a:rPr lang="es-CL" sz="2400" b="1" noProof="0" dirty="0" err="1">
                <a:latin typeface="Atkinson Hyperlegible"/>
              </a:rPr>
              <a:t>P.530</a:t>
            </a:r>
            <a:r>
              <a:rPr lang="es-CL" sz="2400" b="1" noProof="0" dirty="0">
                <a:latin typeface="Atkinson Hyperlegible"/>
              </a:rPr>
              <a:t> </a:t>
            </a:r>
            <a:r>
              <a:rPr lang="es-CL" sz="2400" noProof="0" dirty="0">
                <a:latin typeface="Atkinson Hyperlegible"/>
              </a:rPr>
              <a:t>— diseño y predicción para enlaces terrestres en línea de vista (LOS).</a:t>
            </a:r>
          </a:p>
          <a:p>
            <a:r>
              <a:rPr lang="es-CL" sz="2400" b="1" noProof="0" dirty="0" err="1">
                <a:latin typeface="Atkinson Hyperlegible"/>
              </a:rPr>
              <a:t>ITU</a:t>
            </a:r>
            <a:r>
              <a:rPr lang="es-CL" sz="2400" b="1" noProof="0" dirty="0">
                <a:latin typeface="Atkinson Hyperlegible"/>
              </a:rPr>
              <a:t>-R </a:t>
            </a:r>
            <a:r>
              <a:rPr lang="es-CL" sz="2400" b="1" noProof="0" dirty="0" err="1">
                <a:latin typeface="Atkinson Hyperlegible"/>
              </a:rPr>
              <a:t>P.525</a:t>
            </a:r>
            <a:r>
              <a:rPr lang="es-CL" sz="2400" b="1" noProof="0" dirty="0">
                <a:latin typeface="Atkinson Hyperlegible"/>
              </a:rPr>
              <a:t> </a:t>
            </a:r>
            <a:r>
              <a:rPr lang="es-CL" sz="2400" noProof="0" dirty="0">
                <a:latin typeface="Atkinson Hyperlegible"/>
              </a:rPr>
              <a:t>— pérdida en espacio libre.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5 Rectángulo">
                <a:extLst>
                  <a:ext uri="{FF2B5EF4-FFF2-40B4-BE49-F238E27FC236}">
                    <a16:creationId xmlns:a16="http://schemas.microsoft.com/office/drawing/2014/main" id="{7929A2E4-9A70-1D96-FBBF-86610EB565EC}"/>
                  </a:ext>
                </a:extLst>
              </p:cNvPr>
              <p:cNvSpPr/>
              <p:nvPr/>
            </p:nvSpPr>
            <p:spPr>
              <a:xfrm>
                <a:off x="1382157" y="1916800"/>
                <a:ext cx="7022907" cy="3970318"/>
              </a:xfrm>
              <a:prstGeom prst="rect">
                <a:avLst/>
              </a:prstGeom>
              <a:noFill/>
              <a:effectLst/>
            </p:spPr>
            <p:txBody>
              <a:bodyPr wrap="square" lIns="91440" tIns="45720" rIns="91440" bIns="45720" anchor="t">
                <a:spAutoFit/>
              </a:bodyPr>
              <a:lstStyle/>
              <a:p>
                <a:r>
                  <a:rPr lang="es-CL" sz="2800" b="1" noProof="0" dirty="0">
                    <a:latin typeface="Atkinson Hyperlegible"/>
                  </a:rPr>
                  <a:t>Datos del enlace </a:t>
                </a:r>
              </a:p>
              <a:p>
                <a:r>
                  <a:rPr lang="es-CL" sz="2800" noProof="0" dirty="0">
                    <a:latin typeface="Atkinson Hyperlegible"/>
                  </a:rPr>
                  <a:t>Distancia: </a:t>
                </a:r>
                <a:r>
                  <a:rPr lang="es-CL" sz="2800" b="1" noProof="0" dirty="0">
                    <a:latin typeface="Atkinson Hyperlegible"/>
                  </a:rPr>
                  <a:t>d = 10 km</a:t>
                </a:r>
                <a:r>
                  <a:rPr lang="es-CL" sz="2800" noProof="0" dirty="0">
                    <a:latin typeface="Atkinson Hyperlegible"/>
                  </a:rPr>
                  <a:t> </a:t>
                </a:r>
              </a:p>
              <a:p>
                <a:r>
                  <a:rPr lang="es-CL" sz="2800" noProof="0" dirty="0">
                    <a:latin typeface="Atkinson Hyperlegible"/>
                  </a:rPr>
                  <a:t>Frecuencia: </a:t>
                </a:r>
                <a:r>
                  <a:rPr lang="es-CL" sz="2800" b="1" noProof="0" dirty="0">
                    <a:latin typeface="Atkinson Hyperlegible"/>
                  </a:rPr>
                  <a:t>f = 6 GHz (6000 MHz)</a:t>
                </a:r>
                <a:r>
                  <a:rPr lang="es-CL" sz="2800" noProof="0" dirty="0">
                    <a:latin typeface="Atkinson Hyperlegible"/>
                  </a:rPr>
                  <a:t> </a:t>
                </a:r>
              </a:p>
              <a:p>
                <a:r>
                  <a:rPr lang="es-CL" sz="2800" noProof="0" dirty="0">
                    <a:latin typeface="Atkinson Hyperlegible"/>
                  </a:rPr>
                  <a:t>Potencia transmitida: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800" noProof="0" smtClean="0"/>
                        </m:ctrlPr>
                      </m:sSubPr>
                      <m:e>
                        <m:r>
                          <a:rPr lang="es-CL" sz="2800" i="1" noProof="0" smtClean="0"/>
                          <m:t>𝑃</m:t>
                        </m:r>
                      </m:e>
                      <m:sub>
                        <m:r>
                          <a:rPr lang="es-CL" sz="2800" i="1" noProof="0" smtClean="0"/>
                          <m:t>𝑇𝑋</m:t>
                        </m:r>
                      </m:sub>
                    </m:sSub>
                    <m:r>
                      <a:rPr lang="es-CL" sz="2800" noProof="0" smtClean="0"/>
                      <m:t>=</m:t>
                    </m:r>
                    <m:r>
                      <a:rPr lang="es-CL" sz="2800" noProof="0" smtClean="0"/>
                      <m:t>20</m:t>
                    </m:r>
                    <m:r>
                      <m:rPr>
                        <m:nor/>
                      </m:rPr>
                      <a:rPr lang="es-CL" sz="2800" i="1" noProof="0" smtClean="0">
                        <a:latin typeface="Atkinson Hyperlegible"/>
                      </a:rPr>
                      <m:t> </m:t>
                    </m:r>
                    <m:r>
                      <m:rPr>
                        <m:nor/>
                      </m:rPr>
                      <a:rPr lang="es-CL" sz="2800" i="1" noProof="0">
                        <a:latin typeface="Atkinson Hyperlegible"/>
                      </a:rPr>
                      <m:t>dBm</m:t>
                    </m:r>
                  </m:oMath>
                </a14:m>
                <a:endParaRPr lang="es-CL" sz="2800" noProof="0" dirty="0">
                  <a:latin typeface="Atkinson Hyperlegible"/>
                </a:endParaRPr>
              </a:p>
              <a:p>
                <a:r>
                  <a:rPr lang="es-CL" sz="2800" noProof="0" dirty="0">
                    <a:latin typeface="Atkinson Hyperlegible"/>
                  </a:rPr>
                  <a:t>Ganancia antena TX: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800" noProof="0" smtClean="0"/>
                        </m:ctrlPr>
                      </m:sSubPr>
                      <m:e>
                        <m:r>
                          <a:rPr lang="es-CL" sz="2800" i="1" noProof="0" smtClean="0"/>
                          <m:t>𝐺</m:t>
                        </m:r>
                      </m:e>
                      <m:sub>
                        <m:r>
                          <a:rPr lang="es-CL" sz="2800" i="1" noProof="0" smtClean="0"/>
                          <m:t>𝑇𝑋</m:t>
                        </m:r>
                      </m:sub>
                    </m:sSub>
                    <m:r>
                      <a:rPr lang="es-CL" sz="2800" noProof="0" smtClean="0"/>
                      <m:t>=</m:t>
                    </m:r>
                    <m:r>
                      <a:rPr lang="es-CL" sz="2800" noProof="0" smtClean="0"/>
                      <m:t>24</m:t>
                    </m:r>
                    <m:r>
                      <m:rPr>
                        <m:nor/>
                      </m:rPr>
                      <a:rPr lang="es-CL" sz="2800" i="1" noProof="0" smtClean="0">
                        <a:latin typeface="Atkinson Hyperlegible"/>
                      </a:rPr>
                      <m:t> </m:t>
                    </m:r>
                    <m:r>
                      <m:rPr>
                        <m:nor/>
                      </m:rPr>
                      <a:rPr lang="es-CL" sz="2800" i="1" noProof="0">
                        <a:latin typeface="Atkinson Hyperlegible"/>
                      </a:rPr>
                      <m:t>dBi</m:t>
                    </m:r>
                  </m:oMath>
                </a14:m>
                <a:endParaRPr lang="es-CL" sz="2800" noProof="0" dirty="0">
                  <a:latin typeface="Atkinson Hyperlegible"/>
                </a:endParaRPr>
              </a:p>
              <a:p>
                <a:r>
                  <a:rPr lang="es-CL" sz="2800" noProof="0" dirty="0">
                    <a:latin typeface="Atkinson Hyperlegible"/>
                  </a:rPr>
                  <a:t>Pérdidas TX (cables/conectores):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800" noProof="0" smtClean="0"/>
                        </m:ctrlPr>
                      </m:sSubPr>
                      <m:e>
                        <m:r>
                          <a:rPr lang="es-CL" sz="2800" i="1" noProof="0" smtClean="0"/>
                          <m:t>𝐿</m:t>
                        </m:r>
                      </m:e>
                      <m:sub>
                        <m:r>
                          <a:rPr lang="es-CL" sz="2800" i="1" noProof="0" smtClean="0"/>
                          <m:t>𝑇𝑋</m:t>
                        </m:r>
                      </m:sub>
                    </m:sSub>
                    <m:r>
                      <a:rPr lang="es-CL" sz="2800" noProof="0" smtClean="0"/>
                      <m:t>=</m:t>
                    </m:r>
                    <m:r>
                      <a:rPr lang="es-CL" sz="2800" noProof="0" smtClean="0"/>
                      <m:t>1</m:t>
                    </m:r>
                    <m:r>
                      <m:rPr>
                        <m:nor/>
                      </m:rPr>
                      <a:rPr lang="es-CL" sz="2800" i="1" noProof="0" smtClean="0">
                        <a:latin typeface="Atkinson Hyperlegible"/>
                      </a:rPr>
                      <m:t> </m:t>
                    </m:r>
                    <m:r>
                      <m:rPr>
                        <m:nor/>
                      </m:rPr>
                      <a:rPr lang="es-CL" sz="2800" i="1" noProof="0">
                        <a:latin typeface="Atkinson Hyperlegible"/>
                      </a:rPr>
                      <m:t>dB</m:t>
                    </m:r>
                  </m:oMath>
                </a14:m>
                <a:endParaRPr lang="es-CL" sz="2800" noProof="0" dirty="0">
                  <a:latin typeface="Atkinson Hyperlegible"/>
                </a:endParaRPr>
              </a:p>
              <a:p>
                <a:r>
                  <a:rPr lang="es-CL" sz="2800" noProof="0" dirty="0">
                    <a:latin typeface="Atkinson Hyperlegible"/>
                  </a:rPr>
                  <a:t>Ganancia antena </a:t>
                </a:r>
                <a:r>
                  <a:rPr lang="es-CL" sz="2800" noProof="0" dirty="0" err="1">
                    <a:latin typeface="Atkinson Hyperlegible"/>
                  </a:rPr>
                  <a:t>RX</a:t>
                </a:r>
                <a:r>
                  <a:rPr lang="es-CL" sz="2800" noProof="0" dirty="0">
                    <a:latin typeface="Atkinson Hyperlegible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800" noProof="0" smtClean="0"/>
                        </m:ctrlPr>
                      </m:sSubPr>
                      <m:e>
                        <m:r>
                          <a:rPr lang="es-CL" sz="2800" i="1" noProof="0" smtClean="0"/>
                          <m:t>𝐺</m:t>
                        </m:r>
                      </m:e>
                      <m:sub>
                        <m:r>
                          <a:rPr lang="es-CL" sz="2800" i="1" noProof="0" smtClean="0"/>
                          <m:t>𝑅𝑋</m:t>
                        </m:r>
                      </m:sub>
                    </m:sSub>
                    <m:r>
                      <a:rPr lang="es-CL" sz="2800" noProof="0" smtClean="0"/>
                      <m:t>=</m:t>
                    </m:r>
                    <m:r>
                      <a:rPr lang="es-CL" sz="2800" noProof="0" smtClean="0"/>
                      <m:t>24</m:t>
                    </m:r>
                    <m:r>
                      <m:rPr>
                        <m:nor/>
                      </m:rPr>
                      <a:rPr lang="es-CL" sz="2800" i="1" noProof="0" smtClean="0">
                        <a:latin typeface="Atkinson Hyperlegible"/>
                      </a:rPr>
                      <m:t> </m:t>
                    </m:r>
                    <m:r>
                      <m:rPr>
                        <m:nor/>
                      </m:rPr>
                      <a:rPr lang="es-CL" sz="2800" i="1" noProof="0">
                        <a:latin typeface="Atkinson Hyperlegible"/>
                      </a:rPr>
                      <m:t>dBi</m:t>
                    </m:r>
                  </m:oMath>
                </a14:m>
                <a:endParaRPr lang="es-CL" sz="2800" noProof="0" dirty="0">
                  <a:latin typeface="Atkinson Hyperlegible"/>
                </a:endParaRPr>
              </a:p>
              <a:p>
                <a:r>
                  <a:rPr lang="es-CL" sz="2800" noProof="0" dirty="0">
                    <a:latin typeface="Atkinson Hyperlegible"/>
                  </a:rPr>
                  <a:t>Pérdidas </a:t>
                </a:r>
                <a:r>
                  <a:rPr lang="es-CL" sz="2800" noProof="0" dirty="0" err="1">
                    <a:latin typeface="Atkinson Hyperlegible"/>
                  </a:rPr>
                  <a:t>RX</a:t>
                </a:r>
                <a:r>
                  <a:rPr lang="es-CL" sz="2800" noProof="0" dirty="0">
                    <a:latin typeface="Atkinson Hyperlegible"/>
                  </a:rPr>
                  <a:t> (cables/conectores):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800" noProof="0" smtClean="0"/>
                        </m:ctrlPr>
                      </m:sSubPr>
                      <m:e>
                        <m:r>
                          <a:rPr lang="es-CL" sz="2800" i="1" noProof="0" smtClean="0"/>
                          <m:t>𝐿</m:t>
                        </m:r>
                      </m:e>
                      <m:sub>
                        <m:r>
                          <a:rPr lang="es-CL" sz="2800" i="1" noProof="0" smtClean="0"/>
                          <m:t>𝑅𝑋</m:t>
                        </m:r>
                      </m:sub>
                    </m:sSub>
                    <m:r>
                      <a:rPr lang="es-CL" sz="2800" noProof="0" smtClean="0"/>
                      <m:t>=</m:t>
                    </m:r>
                    <m:r>
                      <a:rPr lang="es-CL" sz="2800" noProof="0" smtClean="0"/>
                      <m:t>1</m:t>
                    </m:r>
                    <m:r>
                      <m:rPr>
                        <m:nor/>
                      </m:rPr>
                      <a:rPr lang="es-CL" sz="2800" i="1" noProof="0" smtClean="0">
                        <a:latin typeface="Atkinson Hyperlegible"/>
                      </a:rPr>
                      <m:t> </m:t>
                    </m:r>
                    <m:r>
                      <m:rPr>
                        <m:nor/>
                      </m:rPr>
                      <a:rPr lang="es-CL" sz="2800" i="1" noProof="0">
                        <a:latin typeface="Atkinson Hyperlegible"/>
                      </a:rPr>
                      <m:t>dB</m:t>
                    </m:r>
                  </m:oMath>
                </a14:m>
                <a:endParaRPr lang="es-CL" sz="2800" noProof="0" dirty="0">
                  <a:latin typeface="Atkinson Hyperlegible"/>
                </a:endParaRPr>
              </a:p>
              <a:p>
                <a:r>
                  <a:rPr lang="es-CL" sz="2800" noProof="0" dirty="0">
                    <a:latin typeface="Atkinson Hyperlegible"/>
                  </a:rPr>
                  <a:t>Sensibilidad receptor: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800" noProof="0" smtClean="0"/>
                        </m:ctrlPr>
                      </m:sSubPr>
                      <m:e>
                        <m:r>
                          <a:rPr lang="es-CL" sz="2800" i="1" noProof="0" smtClean="0"/>
                          <m:t>𝑆</m:t>
                        </m:r>
                      </m:e>
                      <m:sub>
                        <m:r>
                          <a:rPr lang="es-CL" sz="2800" i="1" noProof="0" smtClean="0"/>
                          <m:t>𝑅𝑋</m:t>
                        </m:r>
                      </m:sub>
                    </m:sSub>
                    <m:r>
                      <a:rPr lang="es-CL" sz="2800" noProof="0" smtClean="0"/>
                      <m:t>=−</m:t>
                    </m:r>
                    <m:r>
                      <a:rPr lang="es-CL" sz="2800" noProof="0" smtClean="0"/>
                      <m:t>75</m:t>
                    </m:r>
                    <m:r>
                      <m:rPr>
                        <m:nor/>
                      </m:rPr>
                      <a:rPr lang="es-CL" sz="2800" i="1" noProof="0" smtClean="0">
                        <a:latin typeface="Atkinson Hyperlegible"/>
                      </a:rPr>
                      <m:t> </m:t>
                    </m:r>
                    <m:r>
                      <m:rPr>
                        <m:nor/>
                      </m:rPr>
                      <a:rPr lang="es-CL" sz="2800" i="1" noProof="0">
                        <a:latin typeface="Atkinson Hyperlegible"/>
                      </a:rPr>
                      <m:t>dBm</m:t>
                    </m:r>
                  </m:oMath>
                </a14:m>
                <a:endParaRPr lang="es-CL" sz="2800" noProof="0" dirty="0">
                  <a:latin typeface="Atkinson Hyperlegible"/>
                </a:endParaRPr>
              </a:p>
            </p:txBody>
          </p:sp>
        </mc:Choice>
        <mc:Fallback>
          <p:sp>
            <p:nvSpPr>
              <p:cNvPr id="17" name="5 Rectángulo">
                <a:extLst>
                  <a:ext uri="{FF2B5EF4-FFF2-40B4-BE49-F238E27FC236}">
                    <a16:creationId xmlns:a16="http://schemas.microsoft.com/office/drawing/2014/main" id="{7929A2E4-9A70-1D96-FBBF-86610EB565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157" y="1916800"/>
                <a:ext cx="7022907" cy="3970318"/>
              </a:xfrm>
              <a:prstGeom prst="rect">
                <a:avLst/>
              </a:prstGeom>
              <a:blipFill>
                <a:blip r:embed="rId4"/>
                <a:stretch>
                  <a:fillRect l="-1823" t="-1380" b="-3374"/>
                </a:stretch>
              </a:blipFill>
              <a:effectLst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5 Rectángulo">
                <a:extLst>
                  <a:ext uri="{FF2B5EF4-FFF2-40B4-BE49-F238E27FC236}">
                    <a16:creationId xmlns:a16="http://schemas.microsoft.com/office/drawing/2014/main" id="{1C7D16CD-FA65-F6D7-6C39-9DA91DAE8F78}"/>
                  </a:ext>
                </a:extLst>
              </p:cNvPr>
              <p:cNvSpPr/>
              <p:nvPr/>
            </p:nvSpPr>
            <p:spPr>
              <a:xfrm>
                <a:off x="8864747" y="2065827"/>
                <a:ext cx="10502545" cy="4970079"/>
              </a:xfrm>
              <a:prstGeom prst="rect">
                <a:avLst/>
              </a:prstGeom>
              <a:noFill/>
              <a:effectLst/>
            </p:spPr>
            <p:txBody>
              <a:bodyPr wrap="square" lIns="91440" tIns="45720" rIns="91440" bIns="45720" anchor="t">
                <a:spAutoFit/>
              </a:bodyPr>
              <a:lstStyle/>
              <a:p>
                <a:r>
                  <a:rPr lang="es-CL" sz="2800" b="1" dirty="0">
                    <a:latin typeface="Atkinson Hyperlegible"/>
                  </a:rPr>
                  <a:t>Cálculo </a:t>
                </a:r>
              </a:p>
              <a:p>
                <a:r>
                  <a:rPr lang="es-CL" sz="2800" b="1" dirty="0">
                    <a:latin typeface="Atkinson Hyperlegible"/>
                  </a:rPr>
                  <a:t>1) Pérdida espacio libre (</a:t>
                </a:r>
                <a:r>
                  <a:rPr lang="es-CL" sz="2800" b="1" dirty="0" err="1">
                    <a:latin typeface="Atkinson Hyperlegible"/>
                  </a:rPr>
                  <a:t>FSPL</a:t>
                </a:r>
                <a:r>
                  <a:rPr lang="es-CL" sz="2800" b="1" dirty="0">
                    <a:latin typeface="Atkinson Hyperlegible"/>
                  </a:rPr>
                  <a:t> </a:t>
                </a:r>
                <a:r>
                  <a:rPr lang="es-ES" sz="2800" b="1" dirty="0">
                    <a:latin typeface="Atkinson Hyperlegible"/>
                  </a:rPr>
                  <a:t>/</a:t>
                </a:r>
                <a:r>
                  <a:rPr lang="ar-AE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𝑏𝑓</m:t>
                        </m:r>
                      </m:sub>
                    </m:sSub>
                  </m:oMath>
                </a14:m>
                <a:r>
                  <a:rPr lang="es-ES" sz="2800" b="1" dirty="0">
                    <a:latin typeface="Atkinson Hyperlegible"/>
                  </a:rPr>
                  <a:t>)</a:t>
                </a:r>
                <a:endParaRPr lang="ar-AE" sz="2800" b="1" dirty="0">
                  <a:latin typeface="Atkinson Hyperlegible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/>
                          </m:ctrlPr>
                        </m:sSubPr>
                        <m:e>
                          <m:r>
                            <a:rPr lang="ar-AE" sz="2800" i="1"/>
                            <m:t>𝐿</m:t>
                          </m:r>
                        </m:e>
                        <m:sub>
                          <m:r>
                            <a:rPr lang="ar-AE" sz="2800" i="1"/>
                            <m:t>𝑏𝑓</m:t>
                          </m:r>
                        </m:sub>
                      </m:sSub>
                      <m:r>
                        <a:rPr lang="ar-AE" sz="2800"/>
                        <m:t>=</m:t>
                      </m:r>
                      <m:r>
                        <a:rPr lang="ar-AE" sz="2800"/>
                        <m:t>32</m:t>
                      </m:r>
                      <m:r>
                        <a:rPr lang="ar-AE" sz="2800"/>
                        <m:t>.</m:t>
                      </m:r>
                      <m:r>
                        <a:rPr lang="ar-AE" sz="2800"/>
                        <m:t>4</m:t>
                      </m:r>
                      <m:r>
                        <a:rPr lang="ar-AE" sz="2800"/>
                        <m:t>+</m:t>
                      </m:r>
                      <m:r>
                        <a:rPr lang="ar-AE" sz="2800"/>
                        <m:t>20</m:t>
                      </m:r>
                      <m:r>
                        <m:rPr>
                          <m:sty m:val="p"/>
                        </m:rPr>
                        <a:rPr lang="es-CL" sz="2800"/>
                        <m:t>log</m:t>
                      </m:r>
                      <m:r>
                        <a:rPr lang="es-CL" sz="2800"/>
                        <m:t>⁡</m:t>
                      </m:r>
                      <m:d>
                        <m:dPr>
                          <m:ctrlPr>
                            <a:rPr lang="ar-AE" sz="2800" i="1"/>
                          </m:ctrlPr>
                        </m:dPr>
                        <m:e>
                          <m:r>
                            <a:rPr lang="ar-AE" sz="2800" i="1"/>
                            <m:t>𝑓</m:t>
                          </m:r>
                        </m:e>
                      </m:d>
                      <m:r>
                        <a:rPr lang="ar-AE" sz="2800"/>
                        <m:t>+</m:t>
                      </m:r>
                      <m:r>
                        <a:rPr lang="ar-AE" sz="2800"/>
                        <m:t>20</m:t>
                      </m:r>
                      <m:r>
                        <m:rPr>
                          <m:sty m:val="p"/>
                        </m:rPr>
                        <a:rPr lang="es-CL" sz="2800"/>
                        <m:t>log</m:t>
                      </m:r>
                      <m:r>
                        <a:rPr lang="es-CL" sz="2800"/>
                        <m:t>⁡</m:t>
                      </m:r>
                      <m:d>
                        <m:dPr>
                          <m:ctrlPr>
                            <a:rPr lang="ar-AE" sz="2800" i="1"/>
                          </m:ctrlPr>
                        </m:dPr>
                        <m:e>
                          <m:r>
                            <a:rPr lang="ar-AE" sz="2800" i="1"/>
                            <m:t>𝑑</m:t>
                          </m:r>
                        </m:e>
                      </m:d>
                    </m:oMath>
                  </m:oMathPara>
                </a14:m>
                <a:endParaRPr lang="ar-AE" sz="2800" dirty="0">
                  <a:latin typeface="Atkinson Hyperlegible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/>
                          </m:ctrlPr>
                        </m:sSubPr>
                        <m:e>
                          <m:r>
                            <a:rPr lang="ar-AE" sz="2800" i="1"/>
                            <m:t>𝐿</m:t>
                          </m:r>
                        </m:e>
                        <m:sub>
                          <m:r>
                            <a:rPr lang="ar-AE" sz="2800" i="1"/>
                            <m:t>𝑏𝑓</m:t>
                          </m:r>
                        </m:sub>
                      </m:sSub>
                      <m:r>
                        <a:rPr lang="ar-AE" sz="2800"/>
                        <m:t>≈</m:t>
                      </m:r>
                      <m:r>
                        <a:rPr lang="ar-AE" sz="2800"/>
                        <m:t>128</m:t>
                      </m:r>
                      <m:r>
                        <a:rPr lang="ar-AE" sz="2800"/>
                        <m:t>.</m:t>
                      </m:r>
                      <m:r>
                        <a:rPr lang="ar-AE" sz="2800"/>
                        <m:t>0</m:t>
                      </m:r>
                      <m:r>
                        <m:rPr>
                          <m:nor/>
                        </m:rPr>
                        <a:rPr lang="ar-AE" sz="2800" i="1">
                          <a:latin typeface="Atkinson Hyperlegible"/>
                        </a:rPr>
                        <m:t> </m:t>
                      </m:r>
                      <m:r>
                        <m:rPr>
                          <m:nor/>
                        </m:rPr>
                        <a:rPr lang="es-CL" sz="2800" i="1">
                          <a:latin typeface="Atkinson Hyperlegible"/>
                        </a:rPr>
                        <m:t>dB</m:t>
                      </m:r>
                    </m:oMath>
                  </m:oMathPara>
                </a14:m>
                <a:endParaRPr lang="es-CL" sz="2800" b="0" dirty="0">
                  <a:latin typeface="Atkinson Hyperlegible"/>
                </a:endParaRPr>
              </a:p>
              <a:p>
                <a:r>
                  <a:rPr lang="es-CL" sz="2800" b="1" dirty="0">
                    <a:latin typeface="Atkinson Hyperlegible"/>
                  </a:rPr>
                  <a:t>2) Potencia recibida</a:t>
                </a:r>
                <a:endParaRPr lang="es-CL" sz="2800" dirty="0">
                  <a:latin typeface="Atkinson Hyperlegible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/>
                          </m:ctrlPr>
                        </m:sSubPr>
                        <m:e>
                          <m:r>
                            <a:rPr lang="ar-AE" sz="2800" i="1"/>
                            <m:t>𝑃</m:t>
                          </m:r>
                        </m:e>
                        <m:sub>
                          <m:r>
                            <a:rPr lang="ar-AE" sz="2800" i="1"/>
                            <m:t>𝑅𝑋</m:t>
                          </m:r>
                        </m:sub>
                      </m:sSub>
                      <m:r>
                        <a:rPr lang="ar-AE" sz="2800"/>
                        <m:t>=</m:t>
                      </m:r>
                      <m:sSub>
                        <m:sSubPr>
                          <m:ctrlPr>
                            <a:rPr lang="ar-AE" sz="2800" i="1"/>
                          </m:ctrlPr>
                        </m:sSubPr>
                        <m:e>
                          <m:r>
                            <a:rPr lang="ar-AE" sz="2800" i="1"/>
                            <m:t>𝑃</m:t>
                          </m:r>
                        </m:e>
                        <m:sub>
                          <m:r>
                            <a:rPr lang="ar-AE" sz="2800" i="1"/>
                            <m:t>𝑇𝑋</m:t>
                          </m:r>
                        </m:sub>
                      </m:sSub>
                      <m:r>
                        <a:rPr lang="ar-AE" sz="2800"/>
                        <m:t>+</m:t>
                      </m:r>
                      <m:sSub>
                        <m:sSubPr>
                          <m:ctrlPr>
                            <a:rPr lang="ar-AE" sz="2800" i="1"/>
                          </m:ctrlPr>
                        </m:sSubPr>
                        <m:e>
                          <m:r>
                            <a:rPr lang="ar-AE" sz="2800" i="1"/>
                            <m:t>𝐺</m:t>
                          </m:r>
                        </m:e>
                        <m:sub>
                          <m:r>
                            <a:rPr lang="ar-AE" sz="2800" i="1"/>
                            <m:t>𝑇𝑋</m:t>
                          </m:r>
                        </m:sub>
                      </m:sSub>
                      <m:r>
                        <a:rPr lang="ar-AE" sz="2800"/>
                        <m:t>−</m:t>
                      </m:r>
                      <m:sSub>
                        <m:sSubPr>
                          <m:ctrlPr>
                            <a:rPr lang="ar-AE" sz="2800" i="1"/>
                          </m:ctrlPr>
                        </m:sSubPr>
                        <m:e>
                          <m:r>
                            <a:rPr lang="ar-AE" sz="2800" i="1"/>
                            <m:t>𝐿</m:t>
                          </m:r>
                        </m:e>
                        <m:sub>
                          <m:r>
                            <a:rPr lang="ar-AE" sz="2800" i="1"/>
                            <m:t>𝑇𝑋</m:t>
                          </m:r>
                        </m:sub>
                      </m:sSub>
                      <m:r>
                        <a:rPr lang="ar-AE" sz="2800"/>
                        <m:t>−</m:t>
                      </m:r>
                      <m:sSub>
                        <m:sSubPr>
                          <m:ctrlPr>
                            <a:rPr lang="ar-AE" sz="2800" i="1"/>
                          </m:ctrlPr>
                        </m:sSubPr>
                        <m:e>
                          <m:r>
                            <a:rPr lang="ar-AE" sz="2800" i="1"/>
                            <m:t>𝐿</m:t>
                          </m:r>
                        </m:e>
                        <m:sub>
                          <m:r>
                            <a:rPr lang="ar-AE" sz="2800" i="1"/>
                            <m:t>𝑏𝑓</m:t>
                          </m:r>
                        </m:sub>
                      </m:sSub>
                      <m:r>
                        <a:rPr lang="ar-AE" sz="2800"/>
                        <m:t>+</m:t>
                      </m:r>
                      <m:sSub>
                        <m:sSubPr>
                          <m:ctrlPr>
                            <a:rPr lang="ar-AE" sz="2800" i="1"/>
                          </m:ctrlPr>
                        </m:sSubPr>
                        <m:e>
                          <m:r>
                            <a:rPr lang="ar-AE" sz="2800" i="1"/>
                            <m:t>𝐺</m:t>
                          </m:r>
                        </m:e>
                        <m:sub>
                          <m:r>
                            <a:rPr lang="ar-AE" sz="2800" i="1"/>
                            <m:t>𝑅𝑋</m:t>
                          </m:r>
                        </m:sub>
                      </m:sSub>
                      <m:r>
                        <a:rPr lang="ar-AE" sz="2800"/>
                        <m:t>−</m:t>
                      </m:r>
                      <m:sSub>
                        <m:sSubPr>
                          <m:ctrlPr>
                            <a:rPr lang="ar-AE" sz="2800" i="1"/>
                          </m:ctrlPr>
                        </m:sSubPr>
                        <m:e>
                          <m:r>
                            <a:rPr lang="ar-AE" sz="2800" i="1"/>
                            <m:t>𝐿</m:t>
                          </m:r>
                        </m:e>
                        <m:sub>
                          <m:r>
                            <a:rPr lang="ar-AE" sz="2800" i="1"/>
                            <m:t>𝑅𝑋</m:t>
                          </m:r>
                        </m:sub>
                      </m:sSub>
                    </m:oMath>
                  </m:oMathPara>
                </a14:m>
                <a:endParaRPr lang="ar-AE" sz="2800" dirty="0">
                  <a:latin typeface="Atkinson Hyperlegible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/>
                          </m:ctrlPr>
                        </m:sSubPr>
                        <m:e>
                          <m:r>
                            <a:rPr lang="ar-AE" sz="2800" i="1"/>
                            <m:t>𝑃</m:t>
                          </m:r>
                        </m:e>
                        <m:sub>
                          <m:r>
                            <a:rPr lang="ar-AE" sz="2800" i="1"/>
                            <m:t>𝑅𝑋</m:t>
                          </m:r>
                        </m:sub>
                      </m:sSub>
                      <m:r>
                        <a:rPr lang="ar-AE" sz="2800"/>
                        <m:t>≈−</m:t>
                      </m:r>
                      <m:r>
                        <a:rPr lang="ar-AE" sz="2800"/>
                        <m:t>62</m:t>
                      </m:r>
                      <m:r>
                        <a:rPr lang="ar-AE" sz="2800"/>
                        <m:t>.</m:t>
                      </m:r>
                      <m:r>
                        <a:rPr lang="ar-AE" sz="2800"/>
                        <m:t>0</m:t>
                      </m:r>
                      <m:r>
                        <m:rPr>
                          <m:nor/>
                        </m:rPr>
                        <a:rPr lang="ar-AE" sz="2800" i="1">
                          <a:latin typeface="Atkinson Hyperlegible"/>
                        </a:rPr>
                        <m:t> </m:t>
                      </m:r>
                      <m:r>
                        <m:rPr>
                          <m:nor/>
                        </m:rPr>
                        <a:rPr lang="es-CL" sz="2800" i="1">
                          <a:latin typeface="Atkinson Hyperlegible"/>
                        </a:rPr>
                        <m:t>dBm</m:t>
                      </m:r>
                    </m:oMath>
                  </m:oMathPara>
                </a14:m>
                <a:endParaRPr lang="es-CL" sz="2800" b="0" dirty="0">
                  <a:latin typeface="Atkinson Hyperlegible"/>
                </a:endParaRPr>
              </a:p>
              <a:p>
                <a:r>
                  <a:rPr lang="es-CL" sz="2800" b="1" dirty="0">
                    <a:latin typeface="Atkinson Hyperlegible"/>
                  </a:rPr>
                  <a:t>3) Margen del enlace</a:t>
                </a:r>
                <a:endParaRPr lang="es-CL" sz="2800" dirty="0">
                  <a:latin typeface="Atkinson Hyperlegible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2800" i="1"/>
                        <m:t>𝑀</m:t>
                      </m:r>
                      <m:r>
                        <a:rPr lang="es-CL" sz="2800"/>
                        <m:t>=</m:t>
                      </m:r>
                      <m:sSub>
                        <m:sSubPr>
                          <m:ctrlPr>
                            <a:rPr lang="ar-AE" sz="2800" i="1"/>
                          </m:ctrlPr>
                        </m:sSubPr>
                        <m:e>
                          <m:r>
                            <a:rPr lang="ar-AE" sz="2800" i="1"/>
                            <m:t>𝑃</m:t>
                          </m:r>
                        </m:e>
                        <m:sub>
                          <m:r>
                            <a:rPr lang="ar-AE" sz="2800" i="1"/>
                            <m:t>𝑅𝑋</m:t>
                          </m:r>
                        </m:sub>
                      </m:sSub>
                      <m:r>
                        <a:rPr lang="ar-AE" sz="2800"/>
                        <m:t>−</m:t>
                      </m:r>
                      <m:sSub>
                        <m:sSubPr>
                          <m:ctrlPr>
                            <a:rPr lang="ar-AE" sz="2800" i="1"/>
                          </m:ctrlPr>
                        </m:sSubPr>
                        <m:e>
                          <m:r>
                            <a:rPr lang="ar-AE" sz="2800" i="1"/>
                            <m:t>𝑆</m:t>
                          </m:r>
                        </m:e>
                        <m:sub>
                          <m:r>
                            <a:rPr lang="ar-AE" sz="2800" i="1"/>
                            <m:t>𝑅𝑋</m:t>
                          </m:r>
                        </m:sub>
                      </m:sSub>
                      <m:r>
                        <a:rPr lang="ar-AE" sz="2800"/>
                        <m:t>≈</m:t>
                      </m:r>
                      <m:d>
                        <m:dPr>
                          <m:ctrlPr>
                            <a:rPr lang="ar-AE" sz="2800" i="1"/>
                          </m:ctrlPr>
                        </m:dPr>
                        <m:e>
                          <m:r>
                            <a:rPr lang="ar-AE" sz="2800"/>
                            <m:t>−</m:t>
                          </m:r>
                          <m:r>
                            <a:rPr lang="ar-AE" sz="2800"/>
                            <m:t>62</m:t>
                          </m:r>
                        </m:e>
                      </m:d>
                      <m:r>
                        <a:rPr lang="ar-AE" sz="2800"/>
                        <m:t>−</m:t>
                      </m:r>
                      <m:d>
                        <m:dPr>
                          <m:ctrlPr>
                            <a:rPr lang="ar-AE" sz="2800" i="1"/>
                          </m:ctrlPr>
                        </m:dPr>
                        <m:e>
                          <m:r>
                            <a:rPr lang="ar-AE" sz="2800"/>
                            <m:t>−</m:t>
                          </m:r>
                          <m:r>
                            <a:rPr lang="ar-AE" sz="2800"/>
                            <m:t>75</m:t>
                          </m:r>
                        </m:e>
                      </m:d>
                      <m:r>
                        <a:rPr lang="ar-AE" sz="2800"/>
                        <m:t>=</m:t>
                      </m:r>
                      <m:r>
                        <a:rPr lang="ar-AE" sz="2800"/>
                        <m:t>13</m:t>
                      </m:r>
                      <m:r>
                        <m:rPr>
                          <m:nor/>
                        </m:rPr>
                        <a:rPr lang="ar-AE" sz="2800" i="1">
                          <a:latin typeface="Atkinson Hyperlegible"/>
                        </a:rPr>
                        <m:t> </m:t>
                      </m:r>
                      <m:r>
                        <m:rPr>
                          <m:nor/>
                        </m:rPr>
                        <a:rPr lang="es-CL" sz="2800" i="1">
                          <a:latin typeface="Atkinson Hyperlegible"/>
                        </a:rPr>
                        <m:t>dB</m:t>
                      </m:r>
                    </m:oMath>
                  </m:oMathPara>
                </a14:m>
                <a:endParaRPr lang="es-CL" sz="2800" b="0" dirty="0">
                  <a:latin typeface="Atkinson Hyperlegible"/>
                </a:endParaRPr>
              </a:p>
              <a:p>
                <a:br>
                  <a:rPr lang="es-CL" sz="2800" dirty="0">
                    <a:latin typeface="Atkinson Hyperlegible"/>
                  </a:rPr>
                </a:br>
                <a:r>
                  <a:rPr lang="es-CL" sz="2800" b="1" dirty="0">
                    <a:latin typeface="Atkinson Hyperlegible"/>
                  </a:rPr>
                  <a:t>Si </a:t>
                </a:r>
                <a14:m>
                  <m:oMath xmlns:m="http://schemas.openxmlformats.org/officeDocument/2006/math">
                    <m:r>
                      <a:rPr lang="es-CL" sz="2800" i="1"/>
                      <m:t>𝑀</m:t>
                    </m:r>
                    <m:r>
                      <a:rPr lang="es-CL" sz="2800"/>
                      <m:t>&gt;</m:t>
                    </m:r>
                    <m:r>
                      <a:rPr lang="es-CL" sz="2800"/>
                      <m:t>0</m:t>
                    </m:r>
                  </m:oMath>
                </a14:m>
                <a:r>
                  <a:rPr lang="es-CL" sz="2800" b="1" dirty="0">
                    <a:latin typeface="Atkinson Hyperlegible"/>
                  </a:rPr>
                  <a:t>y es suficiente, el enlace cumple (hay robustez).</a:t>
                </a:r>
                <a:endParaRPr lang="es-CL" sz="2800" dirty="0">
                  <a:latin typeface="Atkinson Hyperlegible"/>
                </a:endParaRPr>
              </a:p>
            </p:txBody>
          </p:sp>
        </mc:Choice>
        <mc:Fallback>
          <p:sp>
            <p:nvSpPr>
              <p:cNvPr id="8" name="5 Rectángulo">
                <a:extLst>
                  <a:ext uri="{FF2B5EF4-FFF2-40B4-BE49-F238E27FC236}">
                    <a16:creationId xmlns:a16="http://schemas.microsoft.com/office/drawing/2014/main" id="{1C7D16CD-FA65-F6D7-6C39-9DA91DAE8F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4747" y="2065827"/>
                <a:ext cx="10502545" cy="4970079"/>
              </a:xfrm>
              <a:prstGeom prst="rect">
                <a:avLst/>
              </a:prstGeom>
              <a:blipFill>
                <a:blip r:embed="rId5"/>
                <a:stretch>
                  <a:fillRect l="-1161" t="-1227" b="-2577"/>
                </a:stretch>
              </a:blipFill>
              <a:effectLst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07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9C632A-CB51-BC18-FBD0-C049CAFED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970454D-615A-1BFC-E758-9F581EFBA06A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874A6FBB-7F1E-A6F3-DE73-1F563F46AA2C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MICROONDAS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EE2374E-41C8-4BA2-0D90-151FF50D53A8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dirty="0"/>
              <a:t>Zona de Fresnel y aplicaciones (enlaces microondas)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E18A525-EC72-05DD-91B4-7D9162A1CD6C}"/>
              </a:ext>
            </a:extLst>
          </p:cNvPr>
          <p:cNvSpPr txBox="1"/>
          <p:nvPr/>
        </p:nvSpPr>
        <p:spPr>
          <a:xfrm>
            <a:off x="679450" y="8331497"/>
            <a:ext cx="88495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b="1" noProof="0" dirty="0" err="1">
                <a:latin typeface="Atkinson Hyperlegible"/>
              </a:rPr>
              <a:t>ITU</a:t>
            </a:r>
            <a:r>
              <a:rPr lang="es-CL" sz="2400" b="1" noProof="0" dirty="0">
                <a:latin typeface="Atkinson Hyperlegible"/>
              </a:rPr>
              <a:t>-R </a:t>
            </a:r>
            <a:r>
              <a:rPr lang="es-CL" sz="2400" b="1" noProof="0" dirty="0" err="1">
                <a:latin typeface="Atkinson Hyperlegible"/>
              </a:rPr>
              <a:t>P.530</a:t>
            </a:r>
            <a:r>
              <a:rPr lang="es-CL" sz="2400" b="1" noProof="0" dirty="0">
                <a:latin typeface="Atkinson Hyperlegible"/>
              </a:rPr>
              <a:t> </a:t>
            </a:r>
            <a:r>
              <a:rPr lang="es-CL" sz="2400" noProof="0" dirty="0">
                <a:latin typeface="Atkinson Hyperlegible"/>
              </a:rPr>
              <a:t>— diseño y predicción para enlaces terrestres en línea de vista (LOS).</a:t>
            </a:r>
          </a:p>
          <a:p>
            <a:r>
              <a:rPr lang="es-CL" sz="2400" b="1" noProof="0" dirty="0" err="1">
                <a:latin typeface="Atkinson Hyperlegible"/>
              </a:rPr>
              <a:t>ITU</a:t>
            </a:r>
            <a:r>
              <a:rPr lang="es-CL" sz="2400" b="1" noProof="0" dirty="0">
                <a:latin typeface="Atkinson Hyperlegible"/>
              </a:rPr>
              <a:t>-R </a:t>
            </a:r>
            <a:r>
              <a:rPr lang="es-CL" sz="2400" b="1" noProof="0" dirty="0" err="1">
                <a:latin typeface="Atkinson Hyperlegible"/>
              </a:rPr>
              <a:t>P.525</a:t>
            </a:r>
            <a:r>
              <a:rPr lang="es-CL" sz="2400" b="1" noProof="0" dirty="0">
                <a:latin typeface="Atkinson Hyperlegible"/>
              </a:rPr>
              <a:t> </a:t>
            </a:r>
            <a:r>
              <a:rPr lang="es-CL" sz="2400" noProof="0" dirty="0">
                <a:latin typeface="Atkinson Hyperlegible"/>
              </a:rPr>
              <a:t>— pérdida en espacio libre.</a:t>
            </a:r>
          </a:p>
        </p:txBody>
      </p:sp>
    </p:spTree>
    <p:extLst>
      <p:ext uri="{BB962C8B-B14F-4D97-AF65-F5344CB8AC3E}">
        <p14:creationId xmlns:p14="http://schemas.microsoft.com/office/powerpoint/2010/main" val="400436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E02B9-EA61-B724-86FF-88F84748D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0FCF618F-7E6E-94DB-387A-84F2016E3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noProof="0" dirty="0"/>
          </a:p>
        </p:txBody>
      </p:sp>
      <p:pic>
        <p:nvPicPr>
          <p:cNvPr id="2050" name="Picture 2" descr="C:\Users\FHidalgoP\Downloads\Diapositiva1_portada3 (1).jpg">
            <a:extLst>
              <a:ext uri="{FF2B5EF4-FFF2-40B4-BE49-F238E27FC236}">
                <a16:creationId xmlns:a16="http://schemas.microsoft.com/office/drawing/2014/main" id="{A7C27BC0-C5F5-677A-C0FD-C80D0C296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74162"/>
            <a:ext cx="20112192" cy="1130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173BAEAB-F5DF-6E9F-E933-68060E9B7E0F}"/>
              </a:ext>
            </a:extLst>
          </p:cNvPr>
          <p:cNvSpPr txBox="1"/>
          <p:nvPr/>
        </p:nvSpPr>
        <p:spPr>
          <a:xfrm>
            <a:off x="831850" y="8161793"/>
            <a:ext cx="18564837" cy="222381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0" tIns="349884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6000" b="1" kern="100" noProof="0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SISTEMAS DE TRANSMISIÓN</a:t>
            </a:r>
          </a:p>
          <a:p>
            <a:pPr>
              <a:lnSpc>
                <a:spcPct val="150000"/>
              </a:lnSpc>
            </a:pPr>
            <a:r>
              <a:rPr lang="es-CL" sz="2400" b="1" kern="100" noProof="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CAP. JACOB BARQUI PÉREZ</a:t>
            </a:r>
          </a:p>
        </p:txBody>
      </p:sp>
      <p:sp>
        <p:nvSpPr>
          <p:cNvPr id="6" name="CuadroTexto 1">
            <a:extLst>
              <a:ext uri="{FF2B5EF4-FFF2-40B4-BE49-F238E27FC236}">
                <a16:creationId xmlns:a16="http://schemas.microsoft.com/office/drawing/2014/main" id="{2BD7AF8A-199B-B386-2989-3AFBFF724404}"/>
              </a:ext>
            </a:extLst>
          </p:cNvPr>
          <p:cNvSpPr txBox="1"/>
          <p:nvPr/>
        </p:nvSpPr>
        <p:spPr>
          <a:xfrm>
            <a:off x="17637126" y="1937258"/>
            <a:ext cx="2051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noProof="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s-CL" sz="2000" b="1" noProof="0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ABR, 2026</a:t>
            </a:r>
          </a:p>
        </p:txBody>
      </p:sp>
      <p:pic>
        <p:nvPicPr>
          <p:cNvPr id="7" name="Imagen 4">
            <a:extLst>
              <a:ext uri="{FF2B5EF4-FFF2-40B4-BE49-F238E27FC236}">
                <a16:creationId xmlns:a16="http://schemas.microsoft.com/office/drawing/2014/main" id="{DC807EC9-9D52-7C43-CC8D-85FA067549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8615" y="168276"/>
            <a:ext cx="1468072" cy="1600200"/>
          </a:xfrm>
          <a:prstGeom prst="rect">
            <a:avLst/>
          </a:prstGeom>
        </p:spPr>
      </p:pic>
      <p:pic>
        <p:nvPicPr>
          <p:cNvPr id="13" name="Imagen 12" descr="Logotipo&#10;&#10;El contenido generado por IA puede ser incorrecto.">
            <a:extLst>
              <a:ext uri="{FF2B5EF4-FFF2-40B4-BE49-F238E27FC236}">
                <a16:creationId xmlns:a16="http://schemas.microsoft.com/office/drawing/2014/main" id="{B24191BE-31B1-4B8B-8F0D-9EE4E03EDE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57" y="-366510"/>
            <a:ext cx="1632386" cy="193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6724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2029</TotalTime>
  <Words>2313</Words>
  <Application>Microsoft Office PowerPoint</Application>
  <PresentationFormat>Personalizado</PresentationFormat>
  <Paragraphs>297</Paragraphs>
  <Slides>19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Arial</vt:lpstr>
      <vt:lpstr>Atkinson Hyperlegible</vt:lpstr>
      <vt:lpstr>Calibri</vt:lpstr>
      <vt:lpstr>Calibri Light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afgd3l2</cp:lastModifiedBy>
  <cp:revision>326</cp:revision>
  <dcterms:modified xsi:type="dcterms:W3CDTF">2026-04-21T09:15:11Z</dcterms:modified>
</cp:coreProperties>
</file>