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6D3_909494F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1718" r:id="rId2"/>
    <p:sldId id="257" r:id="rId3"/>
    <p:sldId id="1708" r:id="rId4"/>
    <p:sldId id="1725" r:id="rId5"/>
    <p:sldId id="1720" r:id="rId6"/>
    <p:sldId id="1721" r:id="rId7"/>
    <p:sldId id="1711" r:id="rId8"/>
    <p:sldId id="1730" r:id="rId9"/>
    <p:sldId id="1731" r:id="rId10"/>
    <p:sldId id="1743" r:id="rId11"/>
    <p:sldId id="1744" r:id="rId12"/>
    <p:sldId id="1746" r:id="rId13"/>
    <p:sldId id="1745" r:id="rId14"/>
    <p:sldId id="1747" r:id="rId15"/>
    <p:sldId id="1748" r:id="rId16"/>
    <p:sldId id="1749" r:id="rId17"/>
    <p:sldId id="1750" r:id="rId18"/>
    <p:sldId id="1751" r:id="rId19"/>
    <p:sldId id="1752" r:id="rId20"/>
    <p:sldId id="1753" r:id="rId21"/>
    <p:sldId id="1754" r:id="rId22"/>
    <p:sldId id="1755" r:id="rId23"/>
    <p:sldId id="1756" r:id="rId24"/>
    <p:sldId id="1757" r:id="rId25"/>
    <p:sldId id="1758" r:id="rId26"/>
    <p:sldId id="1759" r:id="rId27"/>
    <p:sldId id="1729" r:id="rId28"/>
  </p:sldIdLst>
  <p:sldSz cx="20104100" cy="11309350"/>
  <p:notesSz cx="9296400" cy="7010400"/>
  <p:defaultTextStyle>
    <a:defPPr lvl="0">
      <a:defRPr lang="es-CL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897051-24AE-98AE-7D1D-12996A0AA340}" name="afgd3l2" initials="a" userId="S::afgd3l2@verykvm.com::a234dbd5-222b-47e7-a1d4-2c032f33b7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16" y="12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modernComment_6D3_90949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242AF9-F592-47E3-AC6D-5A1958AB4084}" authorId="{09897051-24AE-98AE-7D1D-12996A0AA340}" created="2026-03-03T02:21:38.2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1603535" sldId="1747"/>
      <ac:spMk id="3" creationId="{1F04A1DD-6335-A636-F419-916F5878538D}"/>
      <ac:txMk cp="352" len="8">
        <ac:context len="448" hash="2845911911"/>
      </ac:txMk>
    </ac:txMkLst>
    <p188:pos x="5042690" y="4053637"/>
    <p188:txBody>
      <a:bodyPr/>
      <a:lstStyle/>
      <a:p>
        <a:r>
          <a:rPr lang="es-CL"/>
          <a:t>Backbone (Columna Vertebral): Se utiliza para conectar diversas redes locales (LAN) entre sí, edificios, o incluso ciudades y países, garantizando la conectividad general.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87878-4908-4019-9C9B-B0DC93DEAEC4}" type="doc">
      <dgm:prSet loTypeId="urn:microsoft.com/office/officeart/2005/8/layout/hList7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6797AC8D-2788-4112-B530-0ACFC8D7FDDB}">
      <dgm:prSet phldrT="[Texto]" phldr="0"/>
      <dgm:spPr/>
      <dgm:t>
        <a:bodyPr/>
        <a:lstStyle/>
        <a:p>
          <a:r>
            <a:rPr lang="es-ES" dirty="0"/>
            <a:t>MEDIO</a:t>
          </a:r>
          <a:endParaRPr lang="es-CL" dirty="0"/>
        </a:p>
      </dgm:t>
    </dgm:pt>
    <dgm:pt modelId="{88A6336C-C9CD-437A-9FF9-5AF13C1AB5ED}" type="parTrans" cxnId="{0DA7681D-9DAB-42D7-8152-C2844E231724}">
      <dgm:prSet/>
      <dgm:spPr/>
      <dgm:t>
        <a:bodyPr/>
        <a:lstStyle/>
        <a:p>
          <a:endParaRPr lang="es-CL"/>
        </a:p>
      </dgm:t>
    </dgm:pt>
    <dgm:pt modelId="{2DA5CCD3-E1C3-4524-96E6-47E60AA85D86}" type="sibTrans" cxnId="{0DA7681D-9DAB-42D7-8152-C2844E231724}">
      <dgm:prSet/>
      <dgm:spPr/>
      <dgm:t>
        <a:bodyPr/>
        <a:lstStyle/>
        <a:p>
          <a:endParaRPr lang="es-CL"/>
        </a:p>
      </dgm:t>
    </dgm:pt>
    <dgm:pt modelId="{9C8A4409-13B4-4656-A097-F1FBDA48E8E3}">
      <dgm:prSet phldrT="[Texto]" phldr="0"/>
      <dgm:spPr/>
      <dgm:t>
        <a:bodyPr/>
        <a:lstStyle/>
        <a:p>
          <a:r>
            <a:rPr lang="es-ES" dirty="0" err="1"/>
            <a:t>RX</a:t>
          </a:r>
          <a:endParaRPr lang="es-CL" dirty="0"/>
        </a:p>
      </dgm:t>
    </dgm:pt>
    <dgm:pt modelId="{296BE365-F051-4959-B9F1-568D3D253B02}" type="parTrans" cxnId="{02E68DC2-6E45-4FDF-97EB-FC7C88377730}">
      <dgm:prSet/>
      <dgm:spPr/>
      <dgm:t>
        <a:bodyPr/>
        <a:lstStyle/>
        <a:p>
          <a:endParaRPr lang="es-CL"/>
        </a:p>
      </dgm:t>
    </dgm:pt>
    <dgm:pt modelId="{FC946F84-F496-475A-9B9D-A977EA2B469E}" type="sibTrans" cxnId="{02E68DC2-6E45-4FDF-97EB-FC7C88377730}">
      <dgm:prSet/>
      <dgm:spPr/>
      <dgm:t>
        <a:bodyPr/>
        <a:lstStyle/>
        <a:p>
          <a:endParaRPr lang="es-CL"/>
        </a:p>
      </dgm:t>
    </dgm:pt>
    <dgm:pt modelId="{5AAD2BD2-11E3-4D5A-AD57-B279A2F57406}">
      <dgm:prSet phldrT="[Texto]" phldr="0"/>
      <dgm:spPr/>
      <dgm:t>
        <a:bodyPr/>
        <a:lstStyle/>
        <a:p>
          <a:r>
            <a:rPr lang="es-ES" dirty="0"/>
            <a:t>TX</a:t>
          </a:r>
          <a:endParaRPr lang="es-CL" dirty="0"/>
        </a:p>
      </dgm:t>
    </dgm:pt>
    <dgm:pt modelId="{5314FBE5-4F3F-422E-9B69-0C925C586A73}" type="sibTrans" cxnId="{98236E22-21C7-4979-ABE8-4140819EF0E3}">
      <dgm:prSet/>
      <dgm:spPr/>
      <dgm:t>
        <a:bodyPr/>
        <a:lstStyle/>
        <a:p>
          <a:endParaRPr lang="es-CL"/>
        </a:p>
      </dgm:t>
    </dgm:pt>
    <dgm:pt modelId="{A4AA2413-97CD-43DE-B623-ED604D1BEB0C}" type="parTrans" cxnId="{98236E22-21C7-4979-ABE8-4140819EF0E3}">
      <dgm:prSet/>
      <dgm:spPr/>
      <dgm:t>
        <a:bodyPr/>
        <a:lstStyle/>
        <a:p>
          <a:endParaRPr lang="es-CL"/>
        </a:p>
      </dgm:t>
    </dgm:pt>
    <dgm:pt modelId="{B6549583-1B86-4563-8856-586F7C4EC077}" type="pres">
      <dgm:prSet presAssocID="{48E87878-4908-4019-9C9B-B0DC93DEAEC4}" presName="Name0" presStyleCnt="0">
        <dgm:presLayoutVars>
          <dgm:dir/>
          <dgm:resizeHandles val="exact"/>
        </dgm:presLayoutVars>
      </dgm:prSet>
      <dgm:spPr/>
    </dgm:pt>
    <dgm:pt modelId="{0C4F68F6-D35C-413F-B602-F999A4623BE7}" type="pres">
      <dgm:prSet presAssocID="{48E87878-4908-4019-9C9B-B0DC93DEAEC4}" presName="fgShape" presStyleLbl="fgShp" presStyleIdx="0" presStyleCnt="1"/>
      <dgm:spPr/>
    </dgm:pt>
    <dgm:pt modelId="{701AA0E1-D2AE-4667-9E3A-ADE59F7F3193}" type="pres">
      <dgm:prSet presAssocID="{48E87878-4908-4019-9C9B-B0DC93DEAEC4}" presName="linComp" presStyleCnt="0"/>
      <dgm:spPr/>
    </dgm:pt>
    <dgm:pt modelId="{FAF217DE-6030-407F-97C7-8A118CF44822}" type="pres">
      <dgm:prSet presAssocID="{5AAD2BD2-11E3-4D5A-AD57-B279A2F57406}" presName="compNode" presStyleCnt="0"/>
      <dgm:spPr/>
    </dgm:pt>
    <dgm:pt modelId="{EA97F1F6-4C3A-4F4A-9ED0-E60A923204BD}" type="pres">
      <dgm:prSet presAssocID="{5AAD2BD2-11E3-4D5A-AD57-B279A2F57406}" presName="bkgdShape" presStyleLbl="node1" presStyleIdx="0" presStyleCnt="3"/>
      <dgm:spPr/>
    </dgm:pt>
    <dgm:pt modelId="{7A78030E-2890-432A-9BAF-DCE62628BE6A}" type="pres">
      <dgm:prSet presAssocID="{5AAD2BD2-11E3-4D5A-AD57-B279A2F57406}" presName="nodeTx" presStyleLbl="node1" presStyleIdx="0" presStyleCnt="3">
        <dgm:presLayoutVars>
          <dgm:bulletEnabled val="1"/>
        </dgm:presLayoutVars>
      </dgm:prSet>
      <dgm:spPr/>
    </dgm:pt>
    <dgm:pt modelId="{1E4D7B54-5307-4938-83B5-415385283C45}" type="pres">
      <dgm:prSet presAssocID="{5AAD2BD2-11E3-4D5A-AD57-B279A2F57406}" presName="invisiNode" presStyleLbl="node1" presStyleIdx="0" presStyleCnt="3"/>
      <dgm:spPr/>
    </dgm:pt>
    <dgm:pt modelId="{16D249EB-DFDA-4D28-9437-788B38C22580}" type="pres">
      <dgm:prSet presAssocID="{5AAD2BD2-11E3-4D5A-AD57-B279A2F57406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buja de chat con relleno sólido"/>
        </a:ext>
      </dgm:extLst>
    </dgm:pt>
    <dgm:pt modelId="{29144D62-B297-4BE8-8F3E-58FBA11EEA04}" type="pres">
      <dgm:prSet presAssocID="{5314FBE5-4F3F-422E-9B69-0C925C586A73}" presName="sibTrans" presStyleLbl="sibTrans2D1" presStyleIdx="0" presStyleCnt="0"/>
      <dgm:spPr/>
    </dgm:pt>
    <dgm:pt modelId="{C508345A-7A59-4053-8749-D70646B67D2F}" type="pres">
      <dgm:prSet presAssocID="{6797AC8D-2788-4112-B530-0ACFC8D7FDDB}" presName="compNode" presStyleCnt="0"/>
      <dgm:spPr/>
    </dgm:pt>
    <dgm:pt modelId="{3AAD6399-A654-4D6C-9CB1-51CA16C7C120}" type="pres">
      <dgm:prSet presAssocID="{6797AC8D-2788-4112-B530-0ACFC8D7FDDB}" presName="bkgdShape" presStyleLbl="node1" presStyleIdx="1" presStyleCnt="3"/>
      <dgm:spPr/>
    </dgm:pt>
    <dgm:pt modelId="{E85B498C-CE95-4776-8311-AAFAB91940B9}" type="pres">
      <dgm:prSet presAssocID="{6797AC8D-2788-4112-B530-0ACFC8D7FDDB}" presName="nodeTx" presStyleLbl="node1" presStyleIdx="1" presStyleCnt="3">
        <dgm:presLayoutVars>
          <dgm:bulletEnabled val="1"/>
        </dgm:presLayoutVars>
      </dgm:prSet>
      <dgm:spPr/>
    </dgm:pt>
    <dgm:pt modelId="{2C4090C9-44E2-4DB5-B997-A079FB52FB49}" type="pres">
      <dgm:prSet presAssocID="{6797AC8D-2788-4112-B530-0ACFC8D7FDDB}" presName="invisiNode" presStyleLbl="node1" presStyleIdx="1" presStyleCnt="3"/>
      <dgm:spPr/>
    </dgm:pt>
    <dgm:pt modelId="{6C379E41-EF26-4548-A5C4-58F66A88429F}" type="pres">
      <dgm:prSet presAssocID="{6797AC8D-2788-4112-B530-0ACFC8D7FDDB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cena de colina con relleno sólido"/>
        </a:ext>
      </dgm:extLst>
    </dgm:pt>
    <dgm:pt modelId="{9FCD614B-92AD-4170-8E14-661A698323A1}" type="pres">
      <dgm:prSet presAssocID="{2DA5CCD3-E1C3-4524-96E6-47E60AA85D86}" presName="sibTrans" presStyleLbl="sibTrans2D1" presStyleIdx="0" presStyleCnt="0"/>
      <dgm:spPr/>
    </dgm:pt>
    <dgm:pt modelId="{9A336FA5-068F-48D4-9A77-27389F380CCA}" type="pres">
      <dgm:prSet presAssocID="{9C8A4409-13B4-4656-A097-F1FBDA48E8E3}" presName="compNode" presStyleCnt="0"/>
      <dgm:spPr/>
    </dgm:pt>
    <dgm:pt modelId="{01501CEA-25DF-4B27-BC51-79DC817CC3A9}" type="pres">
      <dgm:prSet presAssocID="{9C8A4409-13B4-4656-A097-F1FBDA48E8E3}" presName="bkgdShape" presStyleLbl="node1" presStyleIdx="2" presStyleCnt="3"/>
      <dgm:spPr/>
    </dgm:pt>
    <dgm:pt modelId="{4E515DB5-F7EA-4185-B30D-9B302063A3FD}" type="pres">
      <dgm:prSet presAssocID="{9C8A4409-13B4-4656-A097-F1FBDA48E8E3}" presName="nodeTx" presStyleLbl="node1" presStyleIdx="2" presStyleCnt="3">
        <dgm:presLayoutVars>
          <dgm:bulletEnabled val="1"/>
        </dgm:presLayoutVars>
      </dgm:prSet>
      <dgm:spPr/>
    </dgm:pt>
    <dgm:pt modelId="{8E0F9B49-9CA1-442A-B1E3-50344CD6EA77}" type="pres">
      <dgm:prSet presAssocID="{9C8A4409-13B4-4656-A097-F1FBDA48E8E3}" presName="invisiNode" presStyleLbl="node1" presStyleIdx="2" presStyleCnt="3"/>
      <dgm:spPr/>
    </dgm:pt>
    <dgm:pt modelId="{E478C333-278A-4804-A954-97FCD461D7D2}" type="pres">
      <dgm:prSet presAssocID="{9C8A4409-13B4-4656-A097-F1FBDA48E8E3}" presName="imagNode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buja de chat con relleno sólido"/>
        </a:ext>
      </dgm:extLst>
    </dgm:pt>
  </dgm:ptLst>
  <dgm:cxnLst>
    <dgm:cxn modelId="{2D416509-A8ED-433C-AB04-D7A5802DB2E3}" type="presOf" srcId="{9C8A4409-13B4-4656-A097-F1FBDA48E8E3}" destId="{4E515DB5-F7EA-4185-B30D-9B302063A3FD}" srcOrd="1" destOrd="0" presId="urn:microsoft.com/office/officeart/2005/8/layout/hList7"/>
    <dgm:cxn modelId="{0DA7681D-9DAB-42D7-8152-C2844E231724}" srcId="{48E87878-4908-4019-9C9B-B0DC93DEAEC4}" destId="{6797AC8D-2788-4112-B530-0ACFC8D7FDDB}" srcOrd="1" destOrd="0" parTransId="{88A6336C-C9CD-437A-9FF9-5AF13C1AB5ED}" sibTransId="{2DA5CCD3-E1C3-4524-96E6-47E60AA85D86}"/>
    <dgm:cxn modelId="{98236E22-21C7-4979-ABE8-4140819EF0E3}" srcId="{48E87878-4908-4019-9C9B-B0DC93DEAEC4}" destId="{5AAD2BD2-11E3-4D5A-AD57-B279A2F57406}" srcOrd="0" destOrd="0" parTransId="{A4AA2413-97CD-43DE-B623-ED604D1BEB0C}" sibTransId="{5314FBE5-4F3F-422E-9B69-0C925C586A73}"/>
    <dgm:cxn modelId="{01E47B36-172B-4477-85EA-E471A8D48E42}" type="presOf" srcId="{48E87878-4908-4019-9C9B-B0DC93DEAEC4}" destId="{B6549583-1B86-4563-8856-586F7C4EC077}" srcOrd="0" destOrd="0" presId="urn:microsoft.com/office/officeart/2005/8/layout/hList7"/>
    <dgm:cxn modelId="{8BF0D574-B228-4540-B01D-145CEC56D275}" type="presOf" srcId="{5314FBE5-4F3F-422E-9B69-0C925C586A73}" destId="{29144D62-B297-4BE8-8F3E-58FBA11EEA04}" srcOrd="0" destOrd="0" presId="urn:microsoft.com/office/officeart/2005/8/layout/hList7"/>
    <dgm:cxn modelId="{A634C68F-657A-4981-8085-F33AF1B6D3A9}" type="presOf" srcId="{5AAD2BD2-11E3-4D5A-AD57-B279A2F57406}" destId="{7A78030E-2890-432A-9BAF-DCE62628BE6A}" srcOrd="1" destOrd="0" presId="urn:microsoft.com/office/officeart/2005/8/layout/hList7"/>
    <dgm:cxn modelId="{D6D224A0-5A26-4578-A8F8-4BB059C8899D}" type="presOf" srcId="{6797AC8D-2788-4112-B530-0ACFC8D7FDDB}" destId="{E85B498C-CE95-4776-8311-AAFAB91940B9}" srcOrd="1" destOrd="0" presId="urn:microsoft.com/office/officeart/2005/8/layout/hList7"/>
    <dgm:cxn modelId="{02E68DC2-6E45-4FDF-97EB-FC7C88377730}" srcId="{48E87878-4908-4019-9C9B-B0DC93DEAEC4}" destId="{9C8A4409-13B4-4656-A097-F1FBDA48E8E3}" srcOrd="2" destOrd="0" parTransId="{296BE365-F051-4959-B9F1-568D3D253B02}" sibTransId="{FC946F84-F496-475A-9B9D-A977EA2B469E}"/>
    <dgm:cxn modelId="{EE4CF4C5-E1A8-4753-A1C6-91995BE442FB}" type="presOf" srcId="{5AAD2BD2-11E3-4D5A-AD57-B279A2F57406}" destId="{EA97F1F6-4C3A-4F4A-9ED0-E60A923204BD}" srcOrd="0" destOrd="0" presId="urn:microsoft.com/office/officeart/2005/8/layout/hList7"/>
    <dgm:cxn modelId="{F2CD87C8-2034-44F7-BB76-C4825921F4FE}" type="presOf" srcId="{9C8A4409-13B4-4656-A097-F1FBDA48E8E3}" destId="{01501CEA-25DF-4B27-BC51-79DC817CC3A9}" srcOrd="0" destOrd="0" presId="urn:microsoft.com/office/officeart/2005/8/layout/hList7"/>
    <dgm:cxn modelId="{9897C5FA-356C-4BF0-99DB-D6FFFCA6BF6F}" type="presOf" srcId="{2DA5CCD3-E1C3-4524-96E6-47E60AA85D86}" destId="{9FCD614B-92AD-4170-8E14-661A698323A1}" srcOrd="0" destOrd="0" presId="urn:microsoft.com/office/officeart/2005/8/layout/hList7"/>
    <dgm:cxn modelId="{8EA5CFFF-7BCA-48DB-B8AC-D0B46F8F735A}" type="presOf" srcId="{6797AC8D-2788-4112-B530-0ACFC8D7FDDB}" destId="{3AAD6399-A654-4D6C-9CB1-51CA16C7C120}" srcOrd="0" destOrd="0" presId="urn:microsoft.com/office/officeart/2005/8/layout/hList7"/>
    <dgm:cxn modelId="{0D0E5EF6-3A80-4AF8-B0BF-C837DE0E5203}" type="presParOf" srcId="{B6549583-1B86-4563-8856-586F7C4EC077}" destId="{0C4F68F6-D35C-413F-B602-F999A4623BE7}" srcOrd="0" destOrd="0" presId="urn:microsoft.com/office/officeart/2005/8/layout/hList7"/>
    <dgm:cxn modelId="{0A8DB91A-6A89-4538-B2A3-B46D5BBCF827}" type="presParOf" srcId="{B6549583-1B86-4563-8856-586F7C4EC077}" destId="{701AA0E1-D2AE-4667-9E3A-ADE59F7F3193}" srcOrd="1" destOrd="0" presId="urn:microsoft.com/office/officeart/2005/8/layout/hList7"/>
    <dgm:cxn modelId="{99E5C243-60E3-452E-9B86-DEAC728B5098}" type="presParOf" srcId="{701AA0E1-D2AE-4667-9E3A-ADE59F7F3193}" destId="{FAF217DE-6030-407F-97C7-8A118CF44822}" srcOrd="0" destOrd="0" presId="urn:microsoft.com/office/officeart/2005/8/layout/hList7"/>
    <dgm:cxn modelId="{C62DE6C9-46F0-4FFD-A539-3A51BE09E95D}" type="presParOf" srcId="{FAF217DE-6030-407F-97C7-8A118CF44822}" destId="{EA97F1F6-4C3A-4F4A-9ED0-E60A923204BD}" srcOrd="0" destOrd="0" presId="urn:microsoft.com/office/officeart/2005/8/layout/hList7"/>
    <dgm:cxn modelId="{0B1101CB-4D8C-4E50-9EFF-D84B5845CC34}" type="presParOf" srcId="{FAF217DE-6030-407F-97C7-8A118CF44822}" destId="{7A78030E-2890-432A-9BAF-DCE62628BE6A}" srcOrd="1" destOrd="0" presId="urn:microsoft.com/office/officeart/2005/8/layout/hList7"/>
    <dgm:cxn modelId="{89FAC1D9-3139-4560-8AEB-D414ACB78E5B}" type="presParOf" srcId="{FAF217DE-6030-407F-97C7-8A118CF44822}" destId="{1E4D7B54-5307-4938-83B5-415385283C45}" srcOrd="2" destOrd="0" presId="urn:microsoft.com/office/officeart/2005/8/layout/hList7"/>
    <dgm:cxn modelId="{2D1269AF-1DE6-49A1-AC83-5F0E5096DCE0}" type="presParOf" srcId="{FAF217DE-6030-407F-97C7-8A118CF44822}" destId="{16D249EB-DFDA-4D28-9437-788B38C22580}" srcOrd="3" destOrd="0" presId="urn:microsoft.com/office/officeart/2005/8/layout/hList7"/>
    <dgm:cxn modelId="{C78F85DD-3917-45F7-9511-C7F43264A3CF}" type="presParOf" srcId="{701AA0E1-D2AE-4667-9E3A-ADE59F7F3193}" destId="{29144D62-B297-4BE8-8F3E-58FBA11EEA04}" srcOrd="1" destOrd="0" presId="urn:microsoft.com/office/officeart/2005/8/layout/hList7"/>
    <dgm:cxn modelId="{AA41D41E-7B0E-4E45-830D-B48214A2FA5F}" type="presParOf" srcId="{701AA0E1-D2AE-4667-9E3A-ADE59F7F3193}" destId="{C508345A-7A59-4053-8749-D70646B67D2F}" srcOrd="2" destOrd="0" presId="urn:microsoft.com/office/officeart/2005/8/layout/hList7"/>
    <dgm:cxn modelId="{1FE33FF7-BEE6-446C-8874-9A771CB4D9F4}" type="presParOf" srcId="{C508345A-7A59-4053-8749-D70646B67D2F}" destId="{3AAD6399-A654-4D6C-9CB1-51CA16C7C120}" srcOrd="0" destOrd="0" presId="urn:microsoft.com/office/officeart/2005/8/layout/hList7"/>
    <dgm:cxn modelId="{94C35A4E-02E1-487D-9252-3CA0FA042770}" type="presParOf" srcId="{C508345A-7A59-4053-8749-D70646B67D2F}" destId="{E85B498C-CE95-4776-8311-AAFAB91940B9}" srcOrd="1" destOrd="0" presId="urn:microsoft.com/office/officeart/2005/8/layout/hList7"/>
    <dgm:cxn modelId="{BC37E466-4010-4B4E-ABA8-71EB5C941C89}" type="presParOf" srcId="{C508345A-7A59-4053-8749-D70646B67D2F}" destId="{2C4090C9-44E2-4DB5-B997-A079FB52FB49}" srcOrd="2" destOrd="0" presId="urn:microsoft.com/office/officeart/2005/8/layout/hList7"/>
    <dgm:cxn modelId="{61D4034B-5EB8-430D-AEF1-23876A585E78}" type="presParOf" srcId="{C508345A-7A59-4053-8749-D70646B67D2F}" destId="{6C379E41-EF26-4548-A5C4-58F66A88429F}" srcOrd="3" destOrd="0" presId="urn:microsoft.com/office/officeart/2005/8/layout/hList7"/>
    <dgm:cxn modelId="{E09D58A1-099C-4EBC-826D-D17BC758D28F}" type="presParOf" srcId="{701AA0E1-D2AE-4667-9E3A-ADE59F7F3193}" destId="{9FCD614B-92AD-4170-8E14-661A698323A1}" srcOrd="3" destOrd="0" presId="urn:microsoft.com/office/officeart/2005/8/layout/hList7"/>
    <dgm:cxn modelId="{41A1D73D-935F-4A70-97CA-46AA27D14E25}" type="presParOf" srcId="{701AA0E1-D2AE-4667-9E3A-ADE59F7F3193}" destId="{9A336FA5-068F-48D4-9A77-27389F380CCA}" srcOrd="4" destOrd="0" presId="urn:microsoft.com/office/officeart/2005/8/layout/hList7"/>
    <dgm:cxn modelId="{C71C4A21-DD2A-4604-8552-764198857657}" type="presParOf" srcId="{9A336FA5-068F-48D4-9A77-27389F380CCA}" destId="{01501CEA-25DF-4B27-BC51-79DC817CC3A9}" srcOrd="0" destOrd="0" presId="urn:microsoft.com/office/officeart/2005/8/layout/hList7"/>
    <dgm:cxn modelId="{A5C79C66-7FF0-40E6-8A3A-0521F87099C1}" type="presParOf" srcId="{9A336FA5-068F-48D4-9A77-27389F380CCA}" destId="{4E515DB5-F7EA-4185-B30D-9B302063A3FD}" srcOrd="1" destOrd="0" presId="urn:microsoft.com/office/officeart/2005/8/layout/hList7"/>
    <dgm:cxn modelId="{F44EFD7D-922F-4017-B816-EC52DE061923}" type="presParOf" srcId="{9A336FA5-068F-48D4-9A77-27389F380CCA}" destId="{8E0F9B49-9CA1-442A-B1E3-50344CD6EA77}" srcOrd="2" destOrd="0" presId="urn:microsoft.com/office/officeart/2005/8/layout/hList7"/>
    <dgm:cxn modelId="{70E25D69-4E91-4F96-A0FF-1E039096E413}" type="presParOf" srcId="{9A336FA5-068F-48D4-9A77-27389F380CCA}" destId="{E478C333-278A-4804-A954-97FCD461D7D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13581D-037F-41A3-8E96-CF3BDDD7531A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48E7ACCC-B0E2-4450-B664-117B817AAE50}">
      <dgm:prSet phldrT="[Texto]" phldr="0"/>
      <dgm:spPr/>
      <dgm:t>
        <a:bodyPr/>
        <a:lstStyle/>
        <a:p>
          <a:r>
            <a:rPr lang="es-ES" dirty="0">
              <a:latin typeface="Atkinson Hyperlegible"/>
            </a:rPr>
            <a:t>GUIADOS</a:t>
          </a:r>
          <a:endParaRPr lang="es-CL" dirty="0">
            <a:latin typeface="Atkinson Hyperlegible"/>
          </a:endParaRPr>
        </a:p>
      </dgm:t>
    </dgm:pt>
    <dgm:pt modelId="{751566AF-E8BD-48C4-B6F6-5CF1826A9C4D}" type="parTrans" cxnId="{A31DB0AC-9C7C-4CC7-9995-AFCC2D566F65}">
      <dgm:prSet/>
      <dgm:spPr/>
      <dgm:t>
        <a:bodyPr/>
        <a:lstStyle/>
        <a:p>
          <a:endParaRPr lang="es-CL"/>
        </a:p>
      </dgm:t>
    </dgm:pt>
    <dgm:pt modelId="{8B29BB84-A328-4501-8848-FF4B4208CEAE}" type="sibTrans" cxnId="{A31DB0AC-9C7C-4CC7-9995-AFCC2D566F65}">
      <dgm:prSet/>
      <dgm:spPr/>
      <dgm:t>
        <a:bodyPr/>
        <a:lstStyle/>
        <a:p>
          <a:endParaRPr lang="es-CL"/>
        </a:p>
      </dgm:t>
    </dgm:pt>
    <dgm:pt modelId="{BA8172E1-BB18-4C63-BB10-9E53F9F052CD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>
              <a:latin typeface="Atkinson Hyperlegible"/>
            </a:rPr>
            <a:t>La señal viaja por un medio físico</a:t>
          </a:r>
          <a:r>
            <a:rPr lang="es-CL" dirty="0">
              <a:latin typeface="Atkinson Hyperlegible"/>
            </a:rPr>
            <a:t>(cable o fibra).</a:t>
          </a:r>
        </a:p>
      </dgm:t>
    </dgm:pt>
    <dgm:pt modelId="{FA572AB7-D86E-4F71-A1A9-E6CE96D1878F}" type="parTrans" cxnId="{B8003254-E2C7-418F-9E4C-22878FF9A61F}">
      <dgm:prSet/>
      <dgm:spPr/>
      <dgm:t>
        <a:bodyPr/>
        <a:lstStyle/>
        <a:p>
          <a:endParaRPr lang="es-CL"/>
        </a:p>
      </dgm:t>
    </dgm:pt>
    <dgm:pt modelId="{46C4FB1C-A2C2-49BE-ABC4-F7681B06914B}" type="sibTrans" cxnId="{B8003254-E2C7-418F-9E4C-22878FF9A61F}">
      <dgm:prSet/>
      <dgm:spPr/>
      <dgm:t>
        <a:bodyPr/>
        <a:lstStyle/>
        <a:p>
          <a:endParaRPr lang="es-CL"/>
        </a:p>
      </dgm:t>
    </dgm:pt>
    <dgm:pt modelId="{80CFE34C-2CB0-461B-8572-E023DEFAFA6B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b="1" dirty="0">
              <a:latin typeface="Atkinson Hyperlegible"/>
            </a:rPr>
            <a:t>Pares de cobre</a:t>
          </a:r>
          <a:r>
            <a:rPr lang="es-CL" dirty="0">
              <a:latin typeface="Atkinson Hyperlegible"/>
            </a:rPr>
            <a:t> (par trenzado).</a:t>
          </a:r>
        </a:p>
      </dgm:t>
    </dgm:pt>
    <dgm:pt modelId="{9B89AE2B-5F69-4126-B75B-0341B578B01E}" type="parTrans" cxnId="{0BFF3DE6-D21E-4879-928C-DC164FFD7BE1}">
      <dgm:prSet/>
      <dgm:spPr/>
      <dgm:t>
        <a:bodyPr/>
        <a:lstStyle/>
        <a:p>
          <a:endParaRPr lang="es-CL"/>
        </a:p>
      </dgm:t>
    </dgm:pt>
    <dgm:pt modelId="{59348F77-F481-4150-91CC-E58AD338D15C}" type="sibTrans" cxnId="{0BFF3DE6-D21E-4879-928C-DC164FFD7BE1}">
      <dgm:prSet/>
      <dgm:spPr/>
      <dgm:t>
        <a:bodyPr/>
        <a:lstStyle/>
        <a:p>
          <a:endParaRPr lang="es-CL"/>
        </a:p>
      </dgm:t>
    </dgm:pt>
    <dgm:pt modelId="{0433E0BB-79E7-4992-A591-6A544EF0DF6D}">
      <dgm:prSet phldrT="[Texto]" phldr="0"/>
      <dgm:spPr/>
      <dgm:t>
        <a:bodyPr/>
        <a:lstStyle/>
        <a:p>
          <a:r>
            <a:rPr lang="es-ES" dirty="0">
              <a:latin typeface="Atkinson Hyperlegible"/>
            </a:rPr>
            <a:t>NO GUIADOS</a:t>
          </a:r>
          <a:endParaRPr lang="es-CL" dirty="0">
            <a:latin typeface="Atkinson Hyperlegible"/>
          </a:endParaRPr>
        </a:p>
      </dgm:t>
    </dgm:pt>
    <dgm:pt modelId="{F66CC2D8-43DB-4DE3-8D11-00B9506CEB80}" type="parTrans" cxnId="{EA716BAA-47D7-4158-A65A-A9F1B262E938}">
      <dgm:prSet/>
      <dgm:spPr/>
      <dgm:t>
        <a:bodyPr/>
        <a:lstStyle/>
        <a:p>
          <a:endParaRPr lang="es-CL"/>
        </a:p>
      </dgm:t>
    </dgm:pt>
    <dgm:pt modelId="{B3114CC7-3F8A-4CEF-90C2-AC8A044F059E}" type="sibTrans" cxnId="{EA716BAA-47D7-4158-A65A-A9F1B262E938}">
      <dgm:prSet/>
      <dgm:spPr/>
      <dgm:t>
        <a:bodyPr/>
        <a:lstStyle/>
        <a:p>
          <a:endParaRPr lang="es-CL"/>
        </a:p>
      </dgm:t>
    </dgm:pt>
    <dgm:pt modelId="{24A20D69-D51B-4D4F-8707-41E1C7D572A8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>
              <a:latin typeface="Atkinson Hyperlegible"/>
            </a:rPr>
            <a:t>La señal se propaga por el aire/espacio (ondas electromagnéticas).</a:t>
          </a:r>
          <a:endParaRPr lang="es-CL" dirty="0">
            <a:latin typeface="Atkinson Hyperlegible"/>
          </a:endParaRPr>
        </a:p>
      </dgm:t>
    </dgm:pt>
    <dgm:pt modelId="{78FCA73D-BB33-41F9-83AB-6059596E9250}" type="parTrans" cxnId="{B00C4212-2E64-4BCF-A28D-4FDDF6FFF21C}">
      <dgm:prSet/>
      <dgm:spPr/>
      <dgm:t>
        <a:bodyPr/>
        <a:lstStyle/>
        <a:p>
          <a:endParaRPr lang="es-CL"/>
        </a:p>
      </dgm:t>
    </dgm:pt>
    <dgm:pt modelId="{ADCEC426-FA4C-4919-8024-CB3D7D7E8972}" type="sibTrans" cxnId="{B00C4212-2E64-4BCF-A28D-4FDDF6FFF21C}">
      <dgm:prSet/>
      <dgm:spPr/>
      <dgm:t>
        <a:bodyPr/>
        <a:lstStyle/>
        <a:p>
          <a:endParaRPr lang="es-CL"/>
        </a:p>
      </dgm:t>
    </dgm:pt>
    <dgm:pt modelId="{36BDD1A0-D1DF-452E-B7BE-CDF6B89F7B6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b="1" dirty="0">
              <a:latin typeface="Atkinson Hyperlegible"/>
            </a:rPr>
            <a:t>Radiofrecuencia (RF).</a:t>
          </a:r>
        </a:p>
      </dgm:t>
    </dgm:pt>
    <dgm:pt modelId="{EDC5B09E-EA81-4710-AD55-76C03A2BF7B2}" type="parTrans" cxnId="{4F050B0B-AD40-4452-AF69-40244844C3D2}">
      <dgm:prSet/>
      <dgm:spPr/>
      <dgm:t>
        <a:bodyPr/>
        <a:lstStyle/>
        <a:p>
          <a:endParaRPr lang="es-CL"/>
        </a:p>
      </dgm:t>
    </dgm:pt>
    <dgm:pt modelId="{80EA9EC2-647A-465A-8CB3-7D91F1BA4DA0}" type="sibTrans" cxnId="{4F050B0B-AD40-4452-AF69-40244844C3D2}">
      <dgm:prSet/>
      <dgm:spPr/>
      <dgm:t>
        <a:bodyPr/>
        <a:lstStyle/>
        <a:p>
          <a:endParaRPr lang="es-CL"/>
        </a:p>
      </dgm:t>
    </dgm:pt>
    <dgm:pt modelId="{CE56F73E-85BB-400D-8106-81CA005B6D0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L" b="1" dirty="0">
              <a:latin typeface="Atkinson Hyperlegible"/>
            </a:rPr>
            <a:t>Fibra óptica.</a:t>
          </a:r>
          <a:endParaRPr lang="es-CL" dirty="0">
            <a:latin typeface="Atkinson Hyperlegible"/>
          </a:endParaRPr>
        </a:p>
      </dgm:t>
    </dgm:pt>
    <dgm:pt modelId="{A2B99E1D-9765-4B3F-AF2B-B8080E525718}" type="parTrans" cxnId="{BB8E1EDA-9522-4827-B967-03B8D3349FC3}">
      <dgm:prSet/>
      <dgm:spPr/>
      <dgm:t>
        <a:bodyPr/>
        <a:lstStyle/>
        <a:p>
          <a:endParaRPr lang="es-CL"/>
        </a:p>
      </dgm:t>
    </dgm:pt>
    <dgm:pt modelId="{71A8643D-0D55-4052-86CF-4E5B662CA5B3}" type="sibTrans" cxnId="{BB8E1EDA-9522-4827-B967-03B8D3349FC3}">
      <dgm:prSet/>
      <dgm:spPr/>
      <dgm:t>
        <a:bodyPr/>
        <a:lstStyle/>
        <a:p>
          <a:endParaRPr lang="es-CL"/>
        </a:p>
      </dgm:t>
    </dgm:pt>
    <dgm:pt modelId="{AFD81890-4B07-42B1-B008-2BE78CFACAA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1" dirty="0">
              <a:latin typeface="Atkinson Hyperlegible"/>
            </a:rPr>
            <a:t>Cable Coaxial</a:t>
          </a:r>
          <a:r>
            <a:rPr lang="es-ES" dirty="0">
              <a:latin typeface="Atkinson Hyperlegible"/>
            </a:rPr>
            <a:t>.</a:t>
          </a:r>
          <a:endParaRPr lang="es-CL" dirty="0">
            <a:latin typeface="Atkinson Hyperlegible"/>
          </a:endParaRPr>
        </a:p>
      </dgm:t>
    </dgm:pt>
    <dgm:pt modelId="{D90012BD-FF8F-4CAD-B41E-697E7D3DADC8}" type="parTrans" cxnId="{C7A26EB3-4BD7-4156-8B69-39A85E07D141}">
      <dgm:prSet/>
      <dgm:spPr/>
      <dgm:t>
        <a:bodyPr/>
        <a:lstStyle/>
        <a:p>
          <a:endParaRPr lang="es-CL"/>
        </a:p>
      </dgm:t>
    </dgm:pt>
    <dgm:pt modelId="{1BEDAA48-0364-47C7-B76D-8E1A2F2506D7}" type="sibTrans" cxnId="{C7A26EB3-4BD7-4156-8B69-39A85E07D141}">
      <dgm:prSet/>
      <dgm:spPr/>
      <dgm:t>
        <a:bodyPr/>
        <a:lstStyle/>
        <a:p>
          <a:endParaRPr lang="es-CL"/>
        </a:p>
      </dgm:t>
    </dgm:pt>
    <dgm:pt modelId="{D6ECD2EC-E33A-451B-B587-3F9E0143A4F0}" type="pres">
      <dgm:prSet presAssocID="{1313581D-037F-41A3-8E96-CF3BDDD7531A}" presName="Name0" presStyleCnt="0">
        <dgm:presLayoutVars>
          <dgm:dir/>
          <dgm:animLvl val="lvl"/>
          <dgm:resizeHandles val="exact"/>
        </dgm:presLayoutVars>
      </dgm:prSet>
      <dgm:spPr/>
    </dgm:pt>
    <dgm:pt modelId="{BA86F410-EAB3-44EE-8B74-64A7CA603644}" type="pres">
      <dgm:prSet presAssocID="{48E7ACCC-B0E2-4450-B664-117B817AAE50}" presName="composite" presStyleCnt="0"/>
      <dgm:spPr/>
    </dgm:pt>
    <dgm:pt modelId="{11C6544A-012D-4E96-901C-B7C4958A4305}" type="pres">
      <dgm:prSet presAssocID="{48E7ACCC-B0E2-4450-B664-117B817AAE5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A81ED40-F12B-4C90-88FC-A0045555F88C}" type="pres">
      <dgm:prSet presAssocID="{48E7ACCC-B0E2-4450-B664-117B817AAE50}" presName="desTx" presStyleLbl="alignAccFollowNode1" presStyleIdx="0" presStyleCnt="2">
        <dgm:presLayoutVars>
          <dgm:bulletEnabled val="1"/>
        </dgm:presLayoutVars>
      </dgm:prSet>
      <dgm:spPr/>
    </dgm:pt>
    <dgm:pt modelId="{2237172D-B615-4C05-B44B-74B7B484A9A7}" type="pres">
      <dgm:prSet presAssocID="{8B29BB84-A328-4501-8848-FF4B4208CEAE}" presName="space" presStyleCnt="0"/>
      <dgm:spPr/>
    </dgm:pt>
    <dgm:pt modelId="{2C83E4C4-27CB-48F0-BEF1-24729ADD8105}" type="pres">
      <dgm:prSet presAssocID="{0433E0BB-79E7-4992-A591-6A544EF0DF6D}" presName="composite" presStyleCnt="0"/>
      <dgm:spPr/>
    </dgm:pt>
    <dgm:pt modelId="{ED535D0F-3DCE-4A00-8D95-72BF24F656ED}" type="pres">
      <dgm:prSet presAssocID="{0433E0BB-79E7-4992-A591-6A544EF0DF6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C826543-5CD3-467E-9179-BECC30B47118}" type="pres">
      <dgm:prSet presAssocID="{0433E0BB-79E7-4992-A591-6A544EF0DF6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CFDC40A-2381-4E68-96D2-964365E9E44B}" type="presOf" srcId="{80CFE34C-2CB0-461B-8572-E023DEFAFA6B}" destId="{1A81ED40-F12B-4C90-88FC-A0045555F88C}" srcOrd="0" destOrd="1" presId="urn:microsoft.com/office/officeart/2005/8/layout/hList1"/>
    <dgm:cxn modelId="{4F050B0B-AD40-4452-AF69-40244844C3D2}" srcId="{0433E0BB-79E7-4992-A591-6A544EF0DF6D}" destId="{36BDD1A0-D1DF-452E-B7BE-CDF6B89F7B61}" srcOrd="1" destOrd="0" parTransId="{EDC5B09E-EA81-4710-AD55-76C03A2BF7B2}" sibTransId="{80EA9EC2-647A-465A-8CB3-7D91F1BA4DA0}"/>
    <dgm:cxn modelId="{A4448D11-540C-418F-8857-AFCF0984BCE9}" type="presOf" srcId="{BA8172E1-BB18-4C63-BB10-9E53F9F052CD}" destId="{1A81ED40-F12B-4C90-88FC-A0045555F88C}" srcOrd="0" destOrd="0" presId="urn:microsoft.com/office/officeart/2005/8/layout/hList1"/>
    <dgm:cxn modelId="{B00C4212-2E64-4BCF-A28D-4FDDF6FFF21C}" srcId="{0433E0BB-79E7-4992-A591-6A544EF0DF6D}" destId="{24A20D69-D51B-4D4F-8707-41E1C7D572A8}" srcOrd="0" destOrd="0" parTransId="{78FCA73D-BB33-41F9-83AB-6059596E9250}" sibTransId="{ADCEC426-FA4C-4919-8024-CB3D7D7E8972}"/>
    <dgm:cxn modelId="{E4CA643E-09A9-4AE6-B351-E44A00B64972}" type="presOf" srcId="{36BDD1A0-D1DF-452E-B7BE-CDF6B89F7B61}" destId="{8C826543-5CD3-467E-9179-BECC30B47118}" srcOrd="0" destOrd="1" presId="urn:microsoft.com/office/officeart/2005/8/layout/hList1"/>
    <dgm:cxn modelId="{B8003254-E2C7-418F-9E4C-22878FF9A61F}" srcId="{48E7ACCC-B0E2-4450-B664-117B817AAE50}" destId="{BA8172E1-BB18-4C63-BB10-9E53F9F052CD}" srcOrd="0" destOrd="0" parTransId="{FA572AB7-D86E-4F71-A1A9-E6CE96D1878F}" sibTransId="{46C4FB1C-A2C2-49BE-ABC4-F7681B06914B}"/>
    <dgm:cxn modelId="{48D4D47B-FDBD-4620-9D5D-4604CA8E7880}" type="presOf" srcId="{48E7ACCC-B0E2-4450-B664-117B817AAE50}" destId="{11C6544A-012D-4E96-901C-B7C4958A4305}" srcOrd="0" destOrd="0" presId="urn:microsoft.com/office/officeart/2005/8/layout/hList1"/>
    <dgm:cxn modelId="{EA716BAA-47D7-4158-A65A-A9F1B262E938}" srcId="{1313581D-037F-41A3-8E96-CF3BDDD7531A}" destId="{0433E0BB-79E7-4992-A591-6A544EF0DF6D}" srcOrd="1" destOrd="0" parTransId="{F66CC2D8-43DB-4DE3-8D11-00B9506CEB80}" sibTransId="{B3114CC7-3F8A-4CEF-90C2-AC8A044F059E}"/>
    <dgm:cxn modelId="{A31DB0AC-9C7C-4CC7-9995-AFCC2D566F65}" srcId="{1313581D-037F-41A3-8E96-CF3BDDD7531A}" destId="{48E7ACCC-B0E2-4450-B664-117B817AAE50}" srcOrd="0" destOrd="0" parTransId="{751566AF-E8BD-48C4-B6F6-5CF1826A9C4D}" sibTransId="{8B29BB84-A328-4501-8848-FF4B4208CEAE}"/>
    <dgm:cxn modelId="{247EC6B0-A184-4F5E-8F09-BB8899CFCD93}" type="presOf" srcId="{24A20D69-D51B-4D4F-8707-41E1C7D572A8}" destId="{8C826543-5CD3-467E-9179-BECC30B47118}" srcOrd="0" destOrd="0" presId="urn:microsoft.com/office/officeart/2005/8/layout/hList1"/>
    <dgm:cxn modelId="{C7A26EB3-4BD7-4156-8B69-39A85E07D141}" srcId="{48E7ACCC-B0E2-4450-B664-117B817AAE50}" destId="{AFD81890-4B07-42B1-B008-2BE78CFACAAF}" srcOrd="3" destOrd="0" parTransId="{D90012BD-FF8F-4CAD-B41E-697E7D3DADC8}" sibTransId="{1BEDAA48-0364-47C7-B76D-8E1A2F2506D7}"/>
    <dgm:cxn modelId="{CE2580BE-ED73-433B-8585-84E2C2B4C178}" type="presOf" srcId="{1313581D-037F-41A3-8E96-CF3BDDD7531A}" destId="{D6ECD2EC-E33A-451B-B587-3F9E0143A4F0}" srcOrd="0" destOrd="0" presId="urn:microsoft.com/office/officeart/2005/8/layout/hList1"/>
    <dgm:cxn modelId="{CC5424C5-0344-4421-8E86-DBCA23356F32}" type="presOf" srcId="{AFD81890-4B07-42B1-B008-2BE78CFACAAF}" destId="{1A81ED40-F12B-4C90-88FC-A0045555F88C}" srcOrd="0" destOrd="3" presId="urn:microsoft.com/office/officeart/2005/8/layout/hList1"/>
    <dgm:cxn modelId="{0F1790CE-9B9E-4C39-B040-2F17130CC544}" type="presOf" srcId="{CE56F73E-85BB-400D-8106-81CA005B6D06}" destId="{1A81ED40-F12B-4C90-88FC-A0045555F88C}" srcOrd="0" destOrd="2" presId="urn:microsoft.com/office/officeart/2005/8/layout/hList1"/>
    <dgm:cxn modelId="{BB8E1EDA-9522-4827-B967-03B8D3349FC3}" srcId="{48E7ACCC-B0E2-4450-B664-117B817AAE50}" destId="{CE56F73E-85BB-400D-8106-81CA005B6D06}" srcOrd="2" destOrd="0" parTransId="{A2B99E1D-9765-4B3F-AF2B-B8080E525718}" sibTransId="{71A8643D-0D55-4052-86CF-4E5B662CA5B3}"/>
    <dgm:cxn modelId="{0BFF3DE6-D21E-4879-928C-DC164FFD7BE1}" srcId="{48E7ACCC-B0E2-4450-B664-117B817AAE50}" destId="{80CFE34C-2CB0-461B-8572-E023DEFAFA6B}" srcOrd="1" destOrd="0" parTransId="{9B89AE2B-5F69-4126-B75B-0341B578B01E}" sibTransId="{59348F77-F481-4150-91CC-E58AD338D15C}"/>
    <dgm:cxn modelId="{0A1071F0-66DD-4788-94F3-F31189D26951}" type="presOf" srcId="{0433E0BB-79E7-4992-A591-6A544EF0DF6D}" destId="{ED535D0F-3DCE-4A00-8D95-72BF24F656ED}" srcOrd="0" destOrd="0" presId="urn:microsoft.com/office/officeart/2005/8/layout/hList1"/>
    <dgm:cxn modelId="{3A21EDD5-4CE8-44CB-9110-7DCD3539BDF0}" type="presParOf" srcId="{D6ECD2EC-E33A-451B-B587-3F9E0143A4F0}" destId="{BA86F410-EAB3-44EE-8B74-64A7CA603644}" srcOrd="0" destOrd="0" presId="urn:microsoft.com/office/officeart/2005/8/layout/hList1"/>
    <dgm:cxn modelId="{049DBE9F-ABC3-4E07-8D0E-E4BEA2AD407A}" type="presParOf" srcId="{BA86F410-EAB3-44EE-8B74-64A7CA603644}" destId="{11C6544A-012D-4E96-901C-B7C4958A4305}" srcOrd="0" destOrd="0" presId="urn:microsoft.com/office/officeart/2005/8/layout/hList1"/>
    <dgm:cxn modelId="{C1BB5185-6DD9-4C78-9014-E35E3F7F47A3}" type="presParOf" srcId="{BA86F410-EAB3-44EE-8B74-64A7CA603644}" destId="{1A81ED40-F12B-4C90-88FC-A0045555F88C}" srcOrd="1" destOrd="0" presId="urn:microsoft.com/office/officeart/2005/8/layout/hList1"/>
    <dgm:cxn modelId="{3D6829A2-7A8E-4BFA-9A87-18D5E9A15589}" type="presParOf" srcId="{D6ECD2EC-E33A-451B-B587-3F9E0143A4F0}" destId="{2237172D-B615-4C05-B44B-74B7B484A9A7}" srcOrd="1" destOrd="0" presId="urn:microsoft.com/office/officeart/2005/8/layout/hList1"/>
    <dgm:cxn modelId="{402367B6-6543-4381-BD1C-C5711A93CF3A}" type="presParOf" srcId="{D6ECD2EC-E33A-451B-B587-3F9E0143A4F0}" destId="{2C83E4C4-27CB-48F0-BEF1-24729ADD8105}" srcOrd="2" destOrd="0" presId="urn:microsoft.com/office/officeart/2005/8/layout/hList1"/>
    <dgm:cxn modelId="{F20C971C-611E-441B-BAAA-65F08C1EE377}" type="presParOf" srcId="{2C83E4C4-27CB-48F0-BEF1-24729ADD8105}" destId="{ED535D0F-3DCE-4A00-8D95-72BF24F656ED}" srcOrd="0" destOrd="0" presId="urn:microsoft.com/office/officeart/2005/8/layout/hList1"/>
    <dgm:cxn modelId="{B4ECE694-85E5-4EB6-9748-6063A55FA581}" type="presParOf" srcId="{2C83E4C4-27CB-48F0-BEF1-24729ADD8105}" destId="{8C826543-5CD3-467E-9179-BECC30B4711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7F1F6-4C3A-4F4A-9ED0-E60A923204BD}">
      <dsp:nvSpPr>
        <dsp:cNvPr id="0" name=""/>
        <dsp:cNvSpPr/>
      </dsp:nvSpPr>
      <dsp:spPr>
        <a:xfrm>
          <a:off x="2132" y="0"/>
          <a:ext cx="3318130" cy="52504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TX</a:t>
          </a:r>
          <a:endParaRPr lang="es-CL" sz="6500" kern="1200" dirty="0"/>
        </a:p>
      </dsp:txBody>
      <dsp:txXfrm>
        <a:off x="2132" y="2100180"/>
        <a:ext cx="3318130" cy="2100180"/>
      </dsp:txXfrm>
    </dsp:sp>
    <dsp:sp modelId="{16D249EB-DFDA-4D28-9437-788B38C22580}">
      <dsp:nvSpPr>
        <dsp:cNvPr id="0" name=""/>
        <dsp:cNvSpPr/>
      </dsp:nvSpPr>
      <dsp:spPr>
        <a:xfrm>
          <a:off x="786997" y="315026"/>
          <a:ext cx="1748399" cy="174839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D6399-A654-4D6C-9CB1-51CA16C7C120}">
      <dsp:nvSpPr>
        <dsp:cNvPr id="0" name=""/>
        <dsp:cNvSpPr/>
      </dsp:nvSpPr>
      <dsp:spPr>
        <a:xfrm>
          <a:off x="3419806" y="0"/>
          <a:ext cx="3318130" cy="52504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MEDIO</a:t>
          </a:r>
          <a:endParaRPr lang="es-CL" sz="6500" kern="1200" dirty="0"/>
        </a:p>
      </dsp:txBody>
      <dsp:txXfrm>
        <a:off x="3419806" y="2100180"/>
        <a:ext cx="3318130" cy="2100180"/>
      </dsp:txXfrm>
    </dsp:sp>
    <dsp:sp modelId="{6C379E41-EF26-4548-A5C4-58F66A88429F}">
      <dsp:nvSpPr>
        <dsp:cNvPr id="0" name=""/>
        <dsp:cNvSpPr/>
      </dsp:nvSpPr>
      <dsp:spPr>
        <a:xfrm>
          <a:off x="4204672" y="315026"/>
          <a:ext cx="1748399" cy="174839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01CEA-25DF-4B27-BC51-79DC817CC3A9}">
      <dsp:nvSpPr>
        <dsp:cNvPr id="0" name=""/>
        <dsp:cNvSpPr/>
      </dsp:nvSpPr>
      <dsp:spPr>
        <a:xfrm>
          <a:off x="6837481" y="0"/>
          <a:ext cx="3318130" cy="52504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 err="1"/>
            <a:t>RX</a:t>
          </a:r>
          <a:endParaRPr lang="es-CL" sz="6500" kern="1200" dirty="0"/>
        </a:p>
      </dsp:txBody>
      <dsp:txXfrm>
        <a:off x="6837481" y="2100180"/>
        <a:ext cx="3318130" cy="2100180"/>
      </dsp:txXfrm>
    </dsp:sp>
    <dsp:sp modelId="{E478C333-278A-4804-A954-97FCD461D7D2}">
      <dsp:nvSpPr>
        <dsp:cNvPr id="0" name=""/>
        <dsp:cNvSpPr/>
      </dsp:nvSpPr>
      <dsp:spPr>
        <a:xfrm>
          <a:off x="7622346" y="315026"/>
          <a:ext cx="1748399" cy="174839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4F68F6-D35C-413F-B602-F999A4623BE7}">
      <dsp:nvSpPr>
        <dsp:cNvPr id="0" name=""/>
        <dsp:cNvSpPr/>
      </dsp:nvSpPr>
      <dsp:spPr>
        <a:xfrm>
          <a:off x="406309" y="4200360"/>
          <a:ext cx="9345124" cy="787567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6544A-012D-4E96-901C-B7C4958A4305}">
      <dsp:nvSpPr>
        <dsp:cNvPr id="0" name=""/>
        <dsp:cNvSpPr/>
      </dsp:nvSpPr>
      <dsp:spPr>
        <a:xfrm>
          <a:off x="50" y="102393"/>
          <a:ext cx="4848901" cy="1123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 dirty="0">
              <a:latin typeface="Atkinson Hyperlegible"/>
            </a:rPr>
            <a:t>GUIADOS</a:t>
          </a:r>
          <a:endParaRPr lang="es-CL" sz="3900" kern="1200" dirty="0">
            <a:latin typeface="Atkinson Hyperlegible"/>
          </a:endParaRPr>
        </a:p>
      </dsp:txBody>
      <dsp:txXfrm>
        <a:off x="50" y="102393"/>
        <a:ext cx="4848901" cy="1123200"/>
      </dsp:txXfrm>
    </dsp:sp>
    <dsp:sp modelId="{1A81ED40-F12B-4C90-88FC-A0045555F88C}">
      <dsp:nvSpPr>
        <dsp:cNvPr id="0" name=""/>
        <dsp:cNvSpPr/>
      </dsp:nvSpPr>
      <dsp:spPr>
        <a:xfrm>
          <a:off x="50" y="1225593"/>
          <a:ext cx="4848901" cy="46033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900" kern="1200" dirty="0">
              <a:latin typeface="Atkinson Hyperlegible"/>
            </a:rPr>
            <a:t>La señal viaja por un medio físico</a:t>
          </a:r>
          <a:r>
            <a:rPr lang="es-CL" sz="3900" kern="1200" dirty="0">
              <a:latin typeface="Atkinson Hyperlegible"/>
            </a:rPr>
            <a:t>(cable o fibra).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3900" b="1" kern="1200" dirty="0">
              <a:latin typeface="Atkinson Hyperlegible"/>
            </a:rPr>
            <a:t>Pares de cobre</a:t>
          </a:r>
          <a:r>
            <a:rPr lang="es-CL" sz="3900" kern="1200" dirty="0">
              <a:latin typeface="Atkinson Hyperlegible"/>
            </a:rPr>
            <a:t> (par trenzado).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3900" b="1" kern="1200" dirty="0">
              <a:latin typeface="Atkinson Hyperlegible"/>
            </a:rPr>
            <a:t>Fibra óptica.</a:t>
          </a:r>
          <a:endParaRPr lang="es-CL" sz="3900" kern="1200" dirty="0">
            <a:latin typeface="Atkinson Hyperlegible"/>
          </a:endParaRP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900" b="1" kern="1200" dirty="0">
              <a:latin typeface="Atkinson Hyperlegible"/>
            </a:rPr>
            <a:t>Cable Coaxial</a:t>
          </a:r>
          <a:r>
            <a:rPr lang="es-ES" sz="3900" kern="1200" dirty="0">
              <a:latin typeface="Atkinson Hyperlegible"/>
            </a:rPr>
            <a:t>.</a:t>
          </a:r>
          <a:endParaRPr lang="es-CL" sz="3900" kern="1200" dirty="0">
            <a:latin typeface="Atkinson Hyperlegible"/>
          </a:endParaRPr>
        </a:p>
      </dsp:txBody>
      <dsp:txXfrm>
        <a:off x="50" y="1225593"/>
        <a:ext cx="4848901" cy="4603365"/>
      </dsp:txXfrm>
    </dsp:sp>
    <dsp:sp modelId="{ED535D0F-3DCE-4A00-8D95-72BF24F656ED}">
      <dsp:nvSpPr>
        <dsp:cNvPr id="0" name=""/>
        <dsp:cNvSpPr/>
      </dsp:nvSpPr>
      <dsp:spPr>
        <a:xfrm>
          <a:off x="5527798" y="102393"/>
          <a:ext cx="4848901" cy="1123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 dirty="0">
              <a:latin typeface="Atkinson Hyperlegible"/>
            </a:rPr>
            <a:t>NO GUIADOS</a:t>
          </a:r>
          <a:endParaRPr lang="es-CL" sz="3900" kern="1200" dirty="0">
            <a:latin typeface="Atkinson Hyperlegible"/>
          </a:endParaRPr>
        </a:p>
      </dsp:txBody>
      <dsp:txXfrm>
        <a:off x="5527798" y="102393"/>
        <a:ext cx="4848901" cy="1123200"/>
      </dsp:txXfrm>
    </dsp:sp>
    <dsp:sp modelId="{8C826543-5CD3-467E-9179-BECC30B47118}">
      <dsp:nvSpPr>
        <dsp:cNvPr id="0" name=""/>
        <dsp:cNvSpPr/>
      </dsp:nvSpPr>
      <dsp:spPr>
        <a:xfrm>
          <a:off x="5527798" y="1225593"/>
          <a:ext cx="4848901" cy="46033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900" kern="1200" dirty="0">
              <a:latin typeface="Atkinson Hyperlegible"/>
            </a:rPr>
            <a:t>La señal se propaga por el aire/espacio (ondas electromagnéticas).</a:t>
          </a:r>
          <a:endParaRPr lang="es-CL" sz="3900" kern="1200" dirty="0">
            <a:latin typeface="Atkinson Hyperlegible"/>
          </a:endParaRP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3900" b="1" kern="1200" dirty="0">
              <a:latin typeface="Atkinson Hyperlegible"/>
            </a:rPr>
            <a:t>Radiofrecuencia (RF).</a:t>
          </a:r>
        </a:p>
      </dsp:txBody>
      <dsp:txXfrm>
        <a:off x="5527798" y="1225593"/>
        <a:ext cx="4848901" cy="4603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265562" y="0"/>
            <a:ext cx="4028636" cy="351308"/>
          </a:xfrm>
          <a:prstGeom prst="rect">
            <a:avLst/>
          </a:prstGeom>
        </p:spPr>
        <p:txBody>
          <a:bodyPr vert="horz" lIns="47092" tIns="23546" rIns="47092" bIns="23546" rtlCol="0"/>
          <a:lstStyle>
            <a:lvl1pPr algn="r">
              <a:defRPr sz="600"/>
            </a:lvl1pPr>
          </a:lstStyle>
          <a:p>
            <a:fld id="{BA6E888F-4D11-6642-A67A-175E177747A6}" type="datetimeFigureOut">
              <a:rPr lang="es-CL" smtClean="0"/>
              <a:t>02-03-2026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7092" tIns="23546" rIns="47092" bIns="23546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29348" y="3373337"/>
            <a:ext cx="7437707" cy="2761255"/>
          </a:xfrm>
          <a:prstGeom prst="rect">
            <a:avLst/>
          </a:prstGeom>
        </p:spPr>
        <p:txBody>
          <a:bodyPr vert="horz" lIns="47092" tIns="23546" rIns="47092" bIns="23546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l">
              <a:defRPr sz="6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265562" y="6659094"/>
            <a:ext cx="4028636" cy="351307"/>
          </a:xfrm>
          <a:prstGeom prst="rect">
            <a:avLst/>
          </a:prstGeom>
        </p:spPr>
        <p:txBody>
          <a:bodyPr vert="horz" lIns="47092" tIns="23546" rIns="47092" bIns="23546" rtlCol="0" anchor="b"/>
          <a:lstStyle>
            <a:lvl1pPr algn="r">
              <a:defRPr sz="600"/>
            </a:lvl1pPr>
          </a:lstStyle>
          <a:p>
            <a:fld id="{235CC6FD-75C5-034E-BC56-691A10C416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082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565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modelo es suficiente para entender cualquier sistema RF: hay transmisión, radiación con antena, un canal que agrega pérdidas e interferencias, y recepción. Hoy nos interesa que identifiquen dónde aparecen los problemas típicos: principalmente en el canal.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0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4BA1-51AA-3B4E-77B6-2E9B4986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BF315C-4F95-D618-20D2-EB6EE00A4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E35A8B-A94A-4F17-C6AD-27AC7A631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buscamos memorizar rangos numéricos en este nivel introductorio, sino entender que HF, </a:t>
            </a:r>
            <a:r>
              <a:rPr lang="es-ES" dirty="0" err="1"/>
              <a:t>VHF</a:t>
            </a:r>
            <a:r>
              <a:rPr lang="es-ES" dirty="0"/>
              <a:t> y </a:t>
            </a:r>
            <a:r>
              <a:rPr lang="es-ES" dirty="0" err="1"/>
              <a:t>UHF</a:t>
            </a:r>
            <a:r>
              <a:rPr lang="es-ES" dirty="0"/>
              <a:t> son bandas con comportamientos distintos. La frecuencia elegida afecta cómo se propaga la señal, cómo se comporta frente a obstáculos y qué tan práctica es la antena. Esto explica por qué radios militares pueden operar en diferentes bandas según el escenario.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D121A-EBCB-8EDF-40EE-E07F3734B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7616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6342-BD13-FE2C-C681-A8240914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AE05D1-20C4-9980-644A-0F407FEAF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4E838D-0297-4408-AAD3-EB250EF6A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Las Microondas es una forma muy común de resolver enlaces punto a punto. En esta unidad solo lo ubicamos conceptualmente: suele requerir línea de vista y una buena planificación del trayecto. Más adelante veremos cálculo de enlace y pérdidas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2CAC41-20A5-87FB-F8DA-CED8139A7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3254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2123-5B3A-84EC-A2AB-B40C6D5C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D4DD89-0429-6DDB-8E1A-B60F57D37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8D86A2-5A51-AE8F-F434-6C65CA714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RF siempre hay pérdidas con la distancia y el entorno agrega variabilidad. Por eso hablamos de calidad de enlace, aunque todavía no calculamos. Cuando lleguemos a la unidad RF, veremos cómo estas pérdidas se modelan formalmente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E1BC70-1E7D-CDDF-E47E-93E6FF2A6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2936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ED0E-8C48-6171-1335-A79AF02E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D7F1254-8112-557F-245A-BE8224166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367A97-86D3-D8B1-E066-CC72B74B7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fibra es el medio guía por excelencia cuando necesitamos capacidad y distancia con estabilidad. A diferencia del cobre, la fibra es inmune a interferencias electromagnéticas. Hoy la presentaremos como concepto; más adelante veremos arquitecturas y aspectos de red óptica.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BA1285-9718-2524-1274-ABB1456C7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2283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35C8F-B794-82DC-1B61-812E0A87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B5ED6A-D0A5-78BD-A698-944A5016F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1FA1EA-A30A-DFBC-EA32-548D088B0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“Este es el recorrido mínimo: lo eléctrico se convierte en luz, la fibra transporta, y luego vuelve a eléctrico. Aunque la fibra es muy estable, los puntos críticos suelen ser las conexiones: conectores y empalmes.”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7BF2FB-A0C5-0F71-57BE-9F416CE79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8350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E992-82D8-BF50-BDEF-B1D41FC9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19519F-02A1-D0F9-B47A-AA741DF2C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A61E07-E470-7177-F2B0-DF7EDAEFE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solo fijamos la idea de uso: monomodo para distancias mayores, multimodo para distancias cortas dentro de edificios. No entraremos a parámetros físicos en esta clase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013BEB-F72A-52B1-F532-890A26890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5641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D43C-D255-ED5C-8325-BF8F6F58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2BFB2E-192F-B5CA-4B09-71BDF0F46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F98BA9-C3EB-7155-E77E-05F48C5BC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fibra destaca cuando buscamos capacidad y estabilidad, especialmente en </a:t>
            </a:r>
            <a:r>
              <a:rPr lang="es-ES" dirty="0" err="1"/>
              <a:t>backbone</a:t>
            </a:r>
            <a:r>
              <a:rPr lang="es-ES" dirty="0"/>
              <a:t> y enlaces principales. El punto débil no suele ser la fibra en sí, sino la instalación y las conexiones. Por eso se habla de buenas prácticas de conectividad.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7EDE4B-E144-2B6E-6D4C-EE0E5AD9B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2952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A043-9939-1158-0BF1-7CD48A34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990F79-3BAC-545C-B858-6A4086C3F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F71EF7-89CB-9FBF-B6AD-580C6ACC0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red inalámbrica no elimina la infraestructura: cambia el medio de acceso a RF, pero normalmente se apoya en una red cableada o troncal para transportar el tráfico. Por eso hablaremos de LAN/MAN/WAN y del ‘retorno’ hacia la red principal.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DFAECF-635E-6043-5D89-C8CEC2B14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A876-7724-95CC-1031-790980A3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C804A9-BC26-8B68-9CF9-AA6C6FE88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2558FB-9B76-0B46-A110-CAFAE6C4C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misma idea ‘inalámbrica’ se usa en escenarios muy distintos. En LAN domina </a:t>
            </a:r>
            <a:r>
              <a:rPr lang="es-ES" dirty="0" err="1"/>
              <a:t>Wi</a:t>
            </a:r>
            <a:r>
              <a:rPr lang="es-ES" dirty="0"/>
              <a:t>-Fi con foco en usuarios. Para MAN, típicamente se usa enlace punto a punto para unir edificios o sedes. Para WAN, el ejemplo más claro es satélite cuando no hay infraestructura cableada disponible.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B2E67-69C3-F1B4-F1AB-A8F3BF95F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6956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4773-1BD5-8AC2-9335-128E73CDD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810A67-C43F-F5BE-A1BD-D45537B3A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39D814-308A-FC68-142B-9CFE9ABFF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Wi</a:t>
            </a:r>
            <a:r>
              <a:rPr lang="es-ES" dirty="0"/>
              <a:t>-Fi es el ejemplo clásico de LAN inalámbrica. El Access Point no ‘reemplaza’ a la red cableada: la complementa. Por eso es clave el </a:t>
            </a:r>
            <a:r>
              <a:rPr lang="es-ES" dirty="0" err="1"/>
              <a:t>backhaul</a:t>
            </a:r>
            <a:r>
              <a:rPr lang="es-ES" dirty="0"/>
              <a:t> hacia switches/rack, que puede ser cobre o fibra según distancia y capacidad.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F09F54-6C6E-B3B9-6050-2BA5097BB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954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DC7A-6F8D-F2E0-4318-B5D97B6DF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956D5C-328A-2CCE-D1D1-099E28428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53CF37-28D2-1841-ACF2-7DE627435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“MAN inalámbrico suele ser enlace punto a punto con planificación del trayecto. Para WAN, el satélite es el ejemplo clásico cuando no existe fibra disponible. 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7B9EAD-93AC-3455-3B54-759075D69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751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383F-956C-C6C8-F83C-0C8F709F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7B00D0-7423-E0FC-08FF-4C36A2960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8AE3AC-A0EE-379B-8864-72B81EFEE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</a:t>
            </a:r>
            <a:r>
              <a:rPr lang="es-ES" dirty="0" err="1"/>
              <a:t>MPLS</a:t>
            </a:r>
            <a:r>
              <a:rPr lang="es-ES" dirty="0"/>
              <a:t> se usa mucho en redes corporativas y de operadores para conectar sedes. No reemplaza cables ni radio: se monta sobre ellos. Piensen en </a:t>
            </a:r>
            <a:r>
              <a:rPr lang="es-ES" dirty="0" err="1"/>
              <a:t>MPLS</a:t>
            </a:r>
            <a:r>
              <a:rPr lang="es-ES" dirty="0"/>
              <a:t> como una ‘autopista administrada’ dentro de la WAN del proveedor, donde el tráfico se guía con etiquetas para control y eficiencia.”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97BBA5-D8B4-872C-5112-6917D734D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8700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9645-0359-3B20-EA20-26A98B77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01356D-3900-5329-B3C3-D64ADC0F9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D719168-1643-8A9F-D936-FAECE9527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par trenzado es el medio clásico para acceso en LAN. Es económico y fácil de desplegar, por eso lo ve en oficinas, laboratorios y también como </a:t>
            </a:r>
            <a:r>
              <a:rPr lang="es-ES" dirty="0" err="1"/>
              <a:t>backhaul</a:t>
            </a:r>
            <a:r>
              <a:rPr lang="es-ES" dirty="0"/>
              <a:t> para puntos de acceso. Luego veremos sus límites y cuándo conviene fibra.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7388C7-1D63-4053-334C-95F7B66C5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20649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4188C-3522-AEF4-4127-C15E1341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B3710D-E19F-A7CD-9DD7-E676DADC7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0484CE-B514-25D2-1171-685B858F9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cobre funciona muy bien en acceso LAN por costo y facilidad, pero tiene límites claros. Esta lámina les da una regla de decisión: si crece la distancia, la capacidad o el ruido del entorno, la alternativa natural es fibra.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E3A0FB-3B0C-34BF-BB61-7F6A92623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1063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DD1D-4D9A-6740-1B07-3DCA84A1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E5FE93-949F-FAB2-A432-6EAE63FC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CC9F2F-DB4D-A8C4-1254-15D5B610C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“La idea final es que una red real suele combinar medios. RF resuelve el acceso; el </a:t>
            </a:r>
            <a:r>
              <a:rPr lang="es-ES" dirty="0" err="1"/>
              <a:t>backhaul</a:t>
            </a:r>
            <a:r>
              <a:rPr lang="es-ES" dirty="0"/>
              <a:t> suele ir por cobre; la fibra domina el </a:t>
            </a:r>
            <a:r>
              <a:rPr lang="es-ES" dirty="0" err="1"/>
              <a:t>backbone</a:t>
            </a:r>
            <a:r>
              <a:rPr lang="es-ES" dirty="0"/>
              <a:t> y las distancias grandes. Lo importante es justificar con criterios técnicos.”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F71B9E-32AD-EFFF-E9EB-C0D739429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3990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C929-5EC4-C7CB-5BDA-9A6F80BD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7F84AE-5C5F-E71C-EB40-E9DB0AAEA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3ED71A-C16F-2542-F4C2-8D2C66477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“La idea final es que una red real suele combinar medios. RF resuelve el acceso; el </a:t>
            </a:r>
            <a:r>
              <a:rPr lang="es-ES" dirty="0" err="1"/>
              <a:t>backhaul</a:t>
            </a:r>
            <a:r>
              <a:rPr lang="es-ES" dirty="0"/>
              <a:t> suele ir por cobre; la fibra domina el </a:t>
            </a:r>
            <a:r>
              <a:rPr lang="es-ES" dirty="0" err="1"/>
              <a:t>backbone</a:t>
            </a:r>
            <a:r>
              <a:rPr lang="es-ES" dirty="0"/>
              <a:t> y las distancias grandes. Lo importante es justificar con criterios técnicos.”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16BF22-3EEF-3A4D-9630-5550E1E12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CC6FD-75C5-034E-BC56-691A10C41604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63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4DCFF-58D8-97D2-51D3-6268BB696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B0821F-352C-1076-2ECE-CDE7AF30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F513E-E201-4345-522F-05D5BDC9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71351-BD5F-0CBD-6276-4BE74B70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B4A449-F555-EC65-0F1B-0ABB7AA8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248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35A15-CC56-D4D0-6469-74F8CA91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61CDD0-AEA2-E1E1-8449-BEFC90594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13E17-511C-62B9-D495-4FA06434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45FD42-27BC-120C-3AF3-D3D355B0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ED70BB-D70F-5C80-BEC5-C6A31C94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260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923E4-E3C8-5760-2CD0-CDF9BFCB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86" y="2819485"/>
            <a:ext cx="17339786" cy="4704375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085F8F-91AC-DEDF-BDC7-BE1F89C4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86" y="7568366"/>
            <a:ext cx="17339786" cy="247391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BA4FA8-08B8-0E66-F01F-B235F110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CA919-6BF3-42BD-DBC7-09A7CBD6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715315-E27F-B452-CA46-776C4AE8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413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8B64B-EBCD-6853-58B8-B2CA0C7D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F2E63-4791-D0B1-D362-7EB60DD0D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157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18DFB6-1BE9-C5A5-B8E5-C1BF4C301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7700" y="3010591"/>
            <a:ext cx="8544243" cy="71756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BC9F7E-0C80-2B3B-50ED-2EA3038F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B1FDDF-62D9-10D0-3A15-E051505E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0564F-FADB-7B9D-90E1-AF826F8D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7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9F778-08A9-A6B8-5C93-C5AAB8EA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119"/>
            <a:ext cx="17339786" cy="218595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1367A-B26A-422F-D2BD-31866324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2362"/>
            <a:ext cx="8504976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EB983-DE50-2793-94B1-6282B8FB5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1054"/>
            <a:ext cx="8504976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D20D19-F20A-717C-BA4D-6B5661EBE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2362"/>
            <a:ext cx="8546861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562768-89FD-AA2F-EB7A-2C15C1362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1054"/>
            <a:ext cx="8546861" cy="607615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A6A63F-08A7-06F9-6F36-72AC2E1E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5A53C4-A8EF-EB7C-EA3A-6C78EC4B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10B013-DDC7-D0B3-F289-335856F7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371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7347E-68C2-47E3-D5CA-088E9958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526359-41CF-4EFB-0CDE-88ABEEC2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B796C5-5685-6789-4FBC-3CF567A0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E7E3A9-9B64-71CD-9D73-9DC2A402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19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86668C-654D-7680-D2F1-5951A5B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641BD1-643A-0141-998D-BA2EF4BC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63F749-E945-0A95-968F-044A4AC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770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DA742-F495-D4AC-270C-DA999951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77B855-60C9-AC83-44EF-14F710C3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23DF89-AB5E-D209-90B6-FBB140BD1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27FB68-BAF2-FAFC-20C5-50840A80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E96347-07C2-617F-DA6B-64514835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B3FF74-E26C-3624-C160-FD84EBF2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6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3DB23-2B68-8BE6-5BE8-74FB8AC8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753957"/>
            <a:ext cx="6484095" cy="2638848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12C754-B8E4-3914-A69F-E1B36DCF6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546861" y="1628338"/>
            <a:ext cx="10177701" cy="8036969"/>
          </a:xfrm>
        </p:spPr>
        <p:txBody>
          <a:bodyPr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A8F03C-2BE0-3A95-F000-ACD6AD1C7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3392805"/>
            <a:ext cx="6484095" cy="6285591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51A9BF-B911-5C93-22DE-19FD6899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DF1256-7E86-58E3-6661-FA1D6737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1259D9-D8FC-1B56-BFFA-37357293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61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06267-7792-D819-1250-3B80F216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545AC6-7292-773C-7509-D7E1D0B69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3A385-780F-B272-80CB-E3EE2720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E7FDF5-4CCA-2A20-13BC-D406ED96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F13AE1-0243-5662-3E9D-89565B76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10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2016D2-D6B9-D0D7-A956-FC3D8BE03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386996" y="602118"/>
            <a:ext cx="4334947" cy="958415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4FC73-6922-E6BE-8B37-9A3D83C84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2157" y="602118"/>
            <a:ext cx="12753538" cy="958415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029604-4D94-FF99-EACD-68549E65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B03D43-86E0-0338-2B20-C4B28C45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2D1C4-EEBA-36AC-255B-B421F28F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5433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3E6B1A-7AB0-C547-8394-097517D6C818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0821498"/>
            <a:ext cx="19059478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4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454EFA-1F7B-877B-469B-2D764857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19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C16E2-A185-FEA6-7411-8103675A8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21F49-C348-4F08-D8CA-E6E1125C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2157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E2BA2-5BAF-A870-FA74-B2B0C7643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6E0C4E-A769-0FA6-B059-676054203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26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72" r:id="rId1"/>
    <p:sldLayoutId id="2147485173" r:id="rId2"/>
    <p:sldLayoutId id="2147485174" r:id="rId3"/>
    <p:sldLayoutId id="2147485175" r:id="rId4"/>
    <p:sldLayoutId id="2147485176" r:id="rId5"/>
    <p:sldLayoutId id="2147485177" r:id="rId6"/>
    <p:sldLayoutId id="2147485178" r:id="rId7"/>
    <p:sldLayoutId id="2147485179" r:id="rId8"/>
    <p:sldLayoutId id="2147485180" r:id="rId9"/>
    <p:sldLayoutId id="2147485181" r:id="rId10"/>
    <p:sldLayoutId id="2147485182" r:id="rId11"/>
    <p:sldLayoutId id="2147485183" r:id="rId12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2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6D3_909494F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1EB7-9429-938F-2206-0C0DF1A1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47993BD-1026-BE53-F0BF-6C1E19F3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E2C98402-7C99-52F0-8BAE-9D1EECF0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F0EEF1A1-EED1-4A80-05D6-1A782B76E8A3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6000" b="1" kern="10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  <a:endParaRPr lang="es-CL" sz="6000" b="1" kern="100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  <a:endParaRPr lang="es-CL" sz="2400" b="1" kern="100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04A64BD5-A679-1220-6BE4-18316EBEAFEE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MAR,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75267336-5C6F-233B-B307-ACCAAEB663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C9712216-5E15-034A-5027-79B61F1C6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6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181627E-945E-922A-A8C8-DEDA2C7AC933}"/>
              </a:ext>
            </a:extLst>
          </p:cNvPr>
          <p:cNvSpPr txBox="1">
            <a:spLocks/>
          </p:cNvSpPr>
          <p:nvPr/>
        </p:nvSpPr>
        <p:spPr>
          <a:xfrm>
            <a:off x="8375650" y="2869622"/>
            <a:ext cx="10591799" cy="6976054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 lnSpcReduction="10000"/>
          </a:bodyPr>
          <a:lstStyle>
            <a:lvl1pPr marL="376961" indent="-376961" algn="l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Char char="•"/>
              <a:defRPr sz="46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1. </a:t>
            </a:r>
            <a:r>
              <a:rPr lang="es-MX" sz="3200" b="1" dirty="0">
                <a:latin typeface="Atkinson Hyperlegible" pitchFamily="2" charset="77"/>
              </a:rPr>
              <a:t>OBJETIVO DE LA UNIDAD DE APRENDIZAJE.</a:t>
            </a:r>
          </a:p>
          <a:p>
            <a:pPr marL="457200" indent="-457200">
              <a:buFont typeface="+mj-lt"/>
              <a:buAutoNum type="arabicPeriod"/>
            </a:pPr>
            <a:endParaRPr lang="es-CL" sz="24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2. </a:t>
            </a:r>
            <a:r>
              <a:rPr lang="es-ES" sz="3200" b="1" dirty="0">
                <a:latin typeface="Atkinson Hyperlegible" pitchFamily="2" charset="77"/>
              </a:rPr>
              <a:t>COMUNICACIÓN RF.</a:t>
            </a:r>
          </a:p>
          <a:p>
            <a:pPr marL="457200" indent="-457200">
              <a:buFont typeface="+mj-lt"/>
              <a:buAutoNum type="arabicPeriod"/>
            </a:pPr>
            <a:endParaRPr lang="es-CL" sz="2400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3. </a:t>
            </a:r>
            <a:r>
              <a:rPr lang="es-ES" sz="3200" b="1" dirty="0">
                <a:latin typeface="Atkinson Hyperlegible" pitchFamily="2" charset="77"/>
              </a:rPr>
              <a:t>COMUNICACIONES EN FIBRA ÓPTICA.</a:t>
            </a:r>
            <a:endParaRPr lang="es-CL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4. </a:t>
            </a:r>
            <a:r>
              <a:rPr lang="es-MX" sz="3200" b="1" dirty="0">
                <a:latin typeface="Atkinson Hyperlegible" pitchFamily="2" charset="77"/>
              </a:rPr>
              <a:t>REDES INALÁMBRICAS DE TRANSMISIÓN DE DATOS PARA LAN/MAN/WAN.</a:t>
            </a: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MX" sz="3200" b="1" dirty="0">
                <a:latin typeface="Atkinson Hyperlegible" pitchFamily="2" charset="77"/>
              </a:rPr>
              <a:t>5. COMUNICACIONES EN PARES DE COBRE.</a:t>
            </a: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r>
              <a:rPr lang="es-CL" sz="3200" b="1" dirty="0">
                <a:latin typeface="Atkinson Hyperlegible" pitchFamily="2" charset="77"/>
              </a:rPr>
              <a:t>6. </a:t>
            </a:r>
            <a:r>
              <a:rPr lang="es-MX" sz="3200" b="1" dirty="0">
                <a:latin typeface="Atkinson Hyperlegible" pitchFamily="2" charset="77"/>
              </a:rPr>
              <a:t>CONSULTAS.</a:t>
            </a: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MX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3200" b="1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dirty="0">
              <a:latin typeface="Atkinson Hyperlegible" pitchFamily="2" charset="77"/>
            </a:endParaRPr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endParaRPr lang="es-CL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L" sz="3200" dirty="0"/>
          </a:p>
          <a:p>
            <a:endParaRPr lang="es-CL" sz="320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F8EB62E-9478-2731-9162-83AA65AA10D2}"/>
              </a:ext>
            </a:extLst>
          </p:cNvPr>
          <p:cNvSpPr txBox="1"/>
          <p:nvPr/>
        </p:nvSpPr>
        <p:spPr>
          <a:xfrm>
            <a:off x="8375650" y="24840"/>
            <a:ext cx="8610595" cy="1482522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5400" b="1" kern="100" dirty="0">
                <a:latin typeface="Atkinson Hyperlegible" pitchFamily="2" charset="77"/>
                <a:ea typeface="Calibri" panose="020F0502020204030204" pitchFamily="34" charset="0"/>
                <a:cs typeface="Gotham" pitchFamily="2" charset="0"/>
              </a:rPr>
              <a:t>TEMARIO</a:t>
            </a:r>
            <a:endParaRPr lang="es-CL" sz="54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0913B85-DB62-6753-27C9-B93610CCB519}"/>
              </a:ext>
            </a:extLst>
          </p:cNvPr>
          <p:cNvCxnSpPr>
            <a:cxnSpLocks/>
          </p:cNvCxnSpPr>
          <p:nvPr/>
        </p:nvCxnSpPr>
        <p:spPr>
          <a:xfrm>
            <a:off x="80708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2" descr="C:\Users\FHidalgoP\Downloads\WhatsApp Image 2025-03-12 at 14.35.36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8" r="43683" b="714"/>
          <a:stretch/>
        </p:blipFill>
        <p:spPr bwMode="auto">
          <a:xfrm>
            <a:off x="0" y="0"/>
            <a:ext cx="7308850" cy="1048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0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6BDD0DA-35A7-19FD-C84B-195C6F463A82}"/>
              </a:ext>
            </a:extLst>
          </p:cNvPr>
          <p:cNvSpPr txBox="1"/>
          <p:nvPr/>
        </p:nvSpPr>
        <p:spPr>
          <a:xfrm>
            <a:off x="7766631" y="6036368"/>
            <a:ext cx="4523423" cy="4060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ES" sz="1649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4B6FE4-EB02-E344-53F4-F643E93825FE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D695D3-82B4-0843-C646-1FDE68CDAE1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AC5A5358-5A9B-B423-3443-E2F3ABECD712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ES" sz="3200" b="1" dirty="0">
                <a:effectLst/>
                <a:latin typeface="Atkinson Hyperlegible"/>
                <a:ea typeface="Times New Roman" panose="02020603050405020304" pitchFamily="18" charset="0"/>
              </a:rPr>
              <a:t>Aplicar conocimientos en los distintos medios de transmisión físicos y guiados de </a:t>
            </a:r>
          </a:p>
          <a:p>
            <a:pPr algn="just">
              <a:lnSpc>
                <a:spcPct val="200000"/>
              </a:lnSpc>
              <a:defRPr/>
            </a:pPr>
            <a:r>
              <a:rPr lang="es-ES" sz="3200" b="1" dirty="0">
                <a:effectLst/>
                <a:latin typeface="Atkinson Hyperlegible"/>
                <a:ea typeface="Times New Roman" panose="02020603050405020304" pitchFamily="18" charset="0"/>
              </a:rPr>
              <a:t>redes de transmisión.</a:t>
            </a:r>
            <a:endParaRPr lang="es-CL" sz="3200" b="1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2054" name="Picture 6" descr="Cómo funciona un conector de fibra óptica - Exposición - Focc Technology  Co., Ltd">
            <a:extLst>
              <a:ext uri="{FF2B5EF4-FFF2-40B4-BE49-F238E27FC236}">
                <a16:creationId xmlns:a16="http://schemas.microsoft.com/office/drawing/2014/main" id="{0E0CC03A-4C48-3252-B353-458D3BE4D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8969" y="2997364"/>
            <a:ext cx="4074634" cy="5034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Qué Topologías de Red Existen">
            <a:extLst>
              <a:ext uri="{FF2B5EF4-FFF2-40B4-BE49-F238E27FC236}">
                <a16:creationId xmlns:a16="http://schemas.microsoft.com/office/drawing/2014/main" id="{8F3833C3-0150-146D-7061-E3C390290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98" y="3049332"/>
            <a:ext cx="6062274" cy="6820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des por Medios No Guiados – Herramientas Tecnológicas">
            <a:extLst>
              <a:ext uri="{FF2B5EF4-FFF2-40B4-BE49-F238E27FC236}">
                <a16:creationId xmlns:a16="http://schemas.microsoft.com/office/drawing/2014/main" id="{6B114107-2BA0-8A26-35AF-3B03D6362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54" y="7416455"/>
            <a:ext cx="6055369" cy="3027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ipos-de-cable-red-">
            <a:extLst>
              <a:ext uri="{FF2B5EF4-FFF2-40B4-BE49-F238E27FC236}">
                <a16:creationId xmlns:a16="http://schemas.microsoft.com/office/drawing/2014/main" id="{0DADB60D-8609-A6A6-C7D1-9EF835B2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014" y="7383944"/>
            <a:ext cx="3956946" cy="2230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034206-837D-C333-5695-2E829BF0D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6932" y="2912254"/>
            <a:ext cx="11010014" cy="7519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3726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8161-E743-BE49-064B-CB7D07D7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1DF841-C4F9-3803-3EC3-7ADDE2C2B736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A41CF5-6C7A-894F-1885-A65049BB8B4B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TAREA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BB1A79F7-0E03-99C9-7F6F-A149134A742D}"/>
              </a:ext>
            </a:extLst>
          </p:cNvPr>
          <p:cNvSpPr/>
          <p:nvPr/>
        </p:nvSpPr>
        <p:spPr>
          <a:xfrm>
            <a:off x="846666" y="3316256"/>
            <a:ext cx="7653867" cy="29091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s-ES" sz="3200" b="1" dirty="0">
                <a:latin typeface="Atkinson Hyperlegible"/>
              </a:rPr>
              <a:t>Analizar sistemas transmisión desde los fundamentos que sustentan las tecnologías de la aplicación militar. </a:t>
            </a:r>
            <a:endParaRPr lang="es-CL" sz="3200" b="1" dirty="0">
              <a:latin typeface="Atkinson Hyperlegible"/>
              <a:cs typeface="Times New Roman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10472D1-4E4B-226B-3FB0-F6851B1F8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14" y="3243258"/>
            <a:ext cx="8748150" cy="71909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41182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51B1-2380-EAA3-522C-C9153F80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0A7AD0-808B-F2F0-1A64-D80879603938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FDF1386-B050-7714-150D-67856E0AD2D5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B0F417D9-033E-D5F5-9726-8037B9002420}"/>
              </a:ext>
            </a:extLst>
          </p:cNvPr>
          <p:cNvSpPr/>
          <p:nvPr/>
        </p:nvSpPr>
        <p:spPr>
          <a:xfrm>
            <a:off x="1696951" y="3795530"/>
            <a:ext cx="17775273" cy="3231654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742950" indent="-742950" algn="just">
              <a:lnSpc>
                <a:spcPct val="150000"/>
              </a:lnSpc>
              <a:buAutoNum type="arabicPeriod"/>
              <a:defRPr/>
            </a:pPr>
            <a:r>
              <a:rPr lang="es-ES" sz="4000" b="1" dirty="0">
                <a:effectLst/>
                <a:latin typeface="Atkinson Hyperlegible"/>
                <a:ea typeface="Times New Roman" panose="02020603050405020304" pitchFamily="18" charset="0"/>
              </a:rPr>
              <a:t>Introducción as los sistemas de transmisión.</a:t>
            </a:r>
          </a:p>
          <a:p>
            <a:r>
              <a:rPr lang="es-CL" sz="3600" dirty="0">
                <a:latin typeface="Atkinson Hyperlegible" pitchFamily="2" charset="77"/>
              </a:rPr>
              <a:t>1.3 </a:t>
            </a:r>
            <a:r>
              <a:rPr lang="es-ES" sz="3600" dirty="0">
                <a:latin typeface="Atkinson Hyperlegible" pitchFamily="2" charset="77"/>
              </a:rPr>
              <a:t>Comunicación Rf.</a:t>
            </a:r>
            <a:endParaRPr lang="es-CL" sz="3600" dirty="0">
              <a:latin typeface="Atkinson Hyperlegible" pitchFamily="2" charset="77"/>
            </a:endParaRPr>
          </a:p>
          <a:p>
            <a:r>
              <a:rPr lang="es-CL" sz="3600" dirty="0">
                <a:latin typeface="Atkinson Hyperlegible" pitchFamily="2" charset="77"/>
              </a:rPr>
              <a:t>1.4 </a:t>
            </a:r>
            <a:r>
              <a:rPr lang="es-ES" sz="3600" dirty="0">
                <a:latin typeface="Atkinson Hyperlegible" pitchFamily="2" charset="77"/>
              </a:rPr>
              <a:t>Comunicaciones En Fibra Óptica.</a:t>
            </a:r>
            <a:endParaRPr lang="es-MX" sz="3600" dirty="0">
              <a:latin typeface="Atkinson Hyperlegible" pitchFamily="2" charset="77"/>
            </a:endParaRPr>
          </a:p>
          <a:p>
            <a:r>
              <a:rPr lang="es-CL" sz="3600" dirty="0">
                <a:latin typeface="Atkinson Hyperlegible" pitchFamily="2" charset="77"/>
              </a:rPr>
              <a:t>1.5 </a:t>
            </a:r>
            <a:r>
              <a:rPr lang="es-MX" sz="3600" dirty="0">
                <a:latin typeface="Atkinson Hyperlegible" pitchFamily="2" charset="77"/>
              </a:rPr>
              <a:t>Redes Inalámbricas De Transmisión De Datos Para </a:t>
            </a:r>
            <a:r>
              <a:rPr lang="es-MX" sz="3600" dirty="0" err="1">
                <a:latin typeface="Atkinson Hyperlegible" pitchFamily="2" charset="77"/>
              </a:rPr>
              <a:t>Lan</a:t>
            </a:r>
            <a:r>
              <a:rPr lang="es-MX" sz="3600" dirty="0">
                <a:latin typeface="Atkinson Hyperlegible" pitchFamily="2" charset="77"/>
              </a:rPr>
              <a:t>/Man/</a:t>
            </a:r>
            <a:r>
              <a:rPr lang="es-MX" sz="3600" dirty="0" err="1">
                <a:latin typeface="Atkinson Hyperlegible" pitchFamily="2" charset="77"/>
              </a:rPr>
              <a:t>Wan</a:t>
            </a:r>
            <a:r>
              <a:rPr lang="es-MX" sz="3600" dirty="0">
                <a:latin typeface="Atkinson Hyperlegible" pitchFamily="2" charset="77"/>
              </a:rPr>
              <a:t>.</a:t>
            </a:r>
          </a:p>
          <a:p>
            <a:r>
              <a:rPr lang="es-MX" sz="3600" dirty="0">
                <a:latin typeface="Atkinson Hyperlegible" pitchFamily="2" charset="77"/>
              </a:rPr>
              <a:t>1.6 Comunicaciones En Pares De Cobre.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E4BD31-0C5E-EFE9-1AA1-3F00F2CADD93}"/>
              </a:ext>
            </a:extLst>
          </p:cNvPr>
          <p:cNvSpPr txBox="1"/>
          <p:nvPr/>
        </p:nvSpPr>
        <p:spPr>
          <a:xfrm>
            <a:off x="8917065" y="2889315"/>
            <a:ext cx="3113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CONTENIDOS</a:t>
            </a:r>
            <a:endParaRPr lang="es-CL" sz="4000" dirty="0"/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52EEEA47-11D0-9A27-8331-6389403D15CF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smtClean="0"/>
              <a:pPr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32770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8D25-85D9-E04C-486C-47D90C11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0F57B8-3A8B-5EB4-1FE2-C04A71699F61}"/>
              </a:ext>
            </a:extLst>
          </p:cNvPr>
          <p:cNvSpPr txBox="1"/>
          <p:nvPr/>
        </p:nvSpPr>
        <p:spPr>
          <a:xfrm>
            <a:off x="2598359" y="1294836"/>
            <a:ext cx="16638039" cy="6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968" b="1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290603-0D84-307D-6C66-78F87FE24653}"/>
              </a:ext>
            </a:extLst>
          </p:cNvPr>
          <p:cNvSpPr txBox="1"/>
          <p:nvPr/>
        </p:nvSpPr>
        <p:spPr>
          <a:xfrm>
            <a:off x="1382157" y="-44605"/>
            <a:ext cx="12604775" cy="2179315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5400" b="1" dirty="0">
                <a:latin typeface="Atkinson Hyperlegible" pitchFamily="2" charset="77"/>
              </a:rPr>
              <a:t>OBJETIVO DE LA UNIDAD DE APRENDIZAJE </a:t>
            </a:r>
            <a:r>
              <a:rPr lang="es-ES" sz="2800" b="1" kern="100" dirty="0">
                <a:latin typeface="Atkinson Hyperlegible" pitchFamily="2" charset="77"/>
                <a:ea typeface="Calibri" panose="020F0502020204030204" pitchFamily="34" charset="0"/>
              </a:rPr>
              <a:t>OBJETIVO PRINCIPAL DE LA CLASE</a:t>
            </a: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2CF2888-6C70-521D-1E85-724AFFDC56A4}"/>
              </a:ext>
            </a:extLst>
          </p:cNvPr>
          <p:cNvSpPr txBox="1">
            <a:spLocks/>
          </p:cNvSpPr>
          <p:nvPr/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/>
          <a:lstStyle>
            <a:defPPr lvl="0">
              <a:defRPr lang="es-CL"/>
            </a:defPPr>
            <a:lvl1pPr marL="0" lv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s-CL" smtClean="0"/>
              <a:pPr/>
              <a:t>6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F20D85-CAB9-8520-3FEA-7DACC72DF43F}"/>
              </a:ext>
            </a:extLst>
          </p:cNvPr>
          <p:cNvSpPr txBox="1"/>
          <p:nvPr/>
        </p:nvSpPr>
        <p:spPr>
          <a:xfrm>
            <a:off x="6938363" y="2889315"/>
            <a:ext cx="6629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INDICADORES DE DESEMPEÑO</a:t>
            </a:r>
            <a:endParaRPr lang="es-CL" sz="4000" dirty="0"/>
          </a:p>
        </p:txBody>
      </p:sp>
      <p:sp>
        <p:nvSpPr>
          <p:cNvPr id="12" name="5 Rectángulo">
            <a:extLst>
              <a:ext uri="{FF2B5EF4-FFF2-40B4-BE49-F238E27FC236}">
                <a16:creationId xmlns:a16="http://schemas.microsoft.com/office/drawing/2014/main" id="{832F7C39-1FC9-DBFB-225E-203D366FD081}"/>
              </a:ext>
            </a:extLst>
          </p:cNvPr>
          <p:cNvSpPr/>
          <p:nvPr/>
        </p:nvSpPr>
        <p:spPr>
          <a:xfrm>
            <a:off x="1696951" y="6761665"/>
            <a:ext cx="17775273" cy="184358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s-ES" sz="4000" dirty="0">
                <a:latin typeface="Atkinson Hyperlegible"/>
                <a:ea typeface="Times New Roman" panose="02020603050405020304" pitchFamily="18" charset="0"/>
              </a:rPr>
              <a:t>Explicar las comunicaciones en RF y Fibra óptica.</a:t>
            </a:r>
            <a:endParaRPr lang="es-ES" sz="4000" dirty="0">
              <a:effectLst/>
              <a:latin typeface="Atkinson Hyperlegible"/>
              <a:ea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s-ES" sz="4000" dirty="0">
                <a:latin typeface="Atkinson Hyperlegible"/>
                <a:ea typeface="Times New Roman" panose="02020603050405020304" pitchFamily="18" charset="0"/>
              </a:rPr>
              <a:t>Identificar redes inalámbricas de transmisión de datos.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66A7B3-1BC9-38CE-CE52-7326808F0116}"/>
              </a:ext>
            </a:extLst>
          </p:cNvPr>
          <p:cNvSpPr txBox="1"/>
          <p:nvPr/>
        </p:nvSpPr>
        <p:spPr>
          <a:xfrm>
            <a:off x="6938363" y="5855450"/>
            <a:ext cx="5533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kern="100" dirty="0">
                <a:latin typeface="Atkinson Hyperlegible" pitchFamily="2" charset="77"/>
                <a:ea typeface="Calibri" panose="020F0502020204030204" pitchFamily="34" charset="0"/>
              </a:rPr>
              <a:t>APRENDIZAJE ESPERADO</a:t>
            </a:r>
            <a:endParaRPr lang="es-CL" sz="40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31C0C65-5FB0-FC55-34FB-3885FAD55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01988"/>
              </p:ext>
            </p:extLst>
          </p:nvPr>
        </p:nvGraphicFramePr>
        <p:xfrm>
          <a:off x="1528996" y="4046211"/>
          <a:ext cx="17478531" cy="1133222"/>
        </p:xfrm>
        <a:graphic>
          <a:graphicData uri="http://schemas.openxmlformats.org/drawingml/2006/table">
            <a:tbl>
              <a:tblPr/>
              <a:tblGrid>
                <a:gridCol w="17478531">
                  <a:extLst>
                    <a:ext uri="{9D8B030D-6E8A-4147-A177-3AD203B41FA5}">
                      <a16:colId xmlns:a16="http://schemas.microsoft.com/office/drawing/2014/main" val="3873856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>
                          <a:effectLst/>
                        </a:rPr>
                        <a:t>1.1. Explica comunicaciones en RF y fibra óptica.</a:t>
                      </a: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6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ES" dirty="0">
                          <a:effectLst/>
                        </a:rPr>
                        <a:t>1.2. Identifica redes inalámbricas de transmisión de datos.</a:t>
                      </a:r>
                    </a:p>
                  </a:txBody>
                  <a:tcPr marL="57150" marR="57150" marT="57150" marB="571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0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42661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9E09E-3FC0-77B2-B1B8-8811E5C6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047D558-B041-89D7-5104-0E5C5F5AC9D4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099BBEA-3137-2CAB-C501-00C749EB7475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REPASO CLASE ANTERIOR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522DAB-11A9-5295-81B7-56DA60F45279}"/>
              </a:ext>
            </a:extLst>
          </p:cNvPr>
          <p:cNvSpPr txBox="1"/>
          <p:nvPr/>
        </p:nvSpPr>
        <p:spPr>
          <a:xfrm>
            <a:off x="1382157" y="1558645"/>
            <a:ext cx="68774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/>
              <a:t>Emisor → Medio → Receptor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E6CA4674-7A36-30BA-C044-31ED1F2AF9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390317"/>
              </p:ext>
            </p:extLst>
          </p:nvPr>
        </p:nvGraphicFramePr>
        <p:xfrm>
          <a:off x="902948" y="3618720"/>
          <a:ext cx="10157744" cy="525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Gráfico 9" descr="Voz contorno">
            <a:extLst>
              <a:ext uri="{FF2B5EF4-FFF2-40B4-BE49-F238E27FC236}">
                <a16:creationId xmlns:a16="http://schemas.microsoft.com/office/drawing/2014/main" id="{FFAF54F3-297D-4D54-36FC-58E1A59A86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1091" y="8701935"/>
            <a:ext cx="914400" cy="914400"/>
          </a:xfrm>
          <a:prstGeom prst="rect">
            <a:avLst/>
          </a:prstGeom>
        </p:spPr>
      </p:pic>
      <p:pic>
        <p:nvPicPr>
          <p:cNvPr id="12" name="Gráfico 11" descr="Abrir sobre contorno">
            <a:extLst>
              <a:ext uri="{FF2B5EF4-FFF2-40B4-BE49-F238E27FC236}">
                <a16:creationId xmlns:a16="http://schemas.microsoft.com/office/drawing/2014/main" id="{3C4D6AA9-F2DA-A129-6A08-DB61EA0288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1897" y="8534700"/>
            <a:ext cx="914400" cy="914400"/>
          </a:xfrm>
          <a:prstGeom prst="rect">
            <a:avLst/>
          </a:prstGeom>
        </p:spPr>
      </p:pic>
      <p:pic>
        <p:nvPicPr>
          <p:cNvPr id="17" name="Gráfico 16" descr="Sellos discográfico con relleno sólido">
            <a:extLst>
              <a:ext uri="{FF2B5EF4-FFF2-40B4-BE49-F238E27FC236}">
                <a16:creationId xmlns:a16="http://schemas.microsoft.com/office/drawing/2014/main" id="{D3492ECD-3B6E-D9B4-8B8A-3A0F7B1D64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2703" y="8701935"/>
            <a:ext cx="914400" cy="9144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7EA4B79-7285-EF13-074F-029DAB95B95B}"/>
              </a:ext>
            </a:extLst>
          </p:cNvPr>
          <p:cNvSpPr txBox="1"/>
          <p:nvPr/>
        </p:nvSpPr>
        <p:spPr>
          <a:xfrm>
            <a:off x="5158700" y="7987955"/>
            <a:ext cx="164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>
                <a:latin typeface="Atkinson Hyperlegible"/>
              </a:rPr>
              <a:t>MENSAJE</a:t>
            </a:r>
          </a:p>
        </p:txBody>
      </p:sp>
      <p:pic>
        <p:nvPicPr>
          <p:cNvPr id="19" name="Gráfico 18" descr="Signo de interrogación con relleno sólido">
            <a:extLst>
              <a:ext uri="{FF2B5EF4-FFF2-40B4-BE49-F238E27FC236}">
                <a16:creationId xmlns:a16="http://schemas.microsoft.com/office/drawing/2014/main" id="{F1B33380-9663-9496-E515-B43063674F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873459" y="4760559"/>
            <a:ext cx="1179439" cy="117943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FEBAE6F5-E4FF-59F2-9C82-6ECCD0741C26}"/>
              </a:ext>
            </a:extLst>
          </p:cNvPr>
          <p:cNvSpPr txBox="1"/>
          <p:nvPr/>
        </p:nvSpPr>
        <p:spPr>
          <a:xfrm>
            <a:off x="12240371" y="5906355"/>
            <a:ext cx="236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latin typeface="Atkinson Hyperlegible"/>
              </a:rPr>
              <a:t>🧩Problemática</a:t>
            </a:r>
            <a:endParaRPr lang="es-ES" sz="2400" b="1" dirty="0">
              <a:latin typeface="Atkinson Hyperlegible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56C58BD-4438-4813-EBAF-900D079E0458}"/>
              </a:ext>
            </a:extLst>
          </p:cNvPr>
          <p:cNvSpPr txBox="1"/>
          <p:nvPr/>
        </p:nvSpPr>
        <p:spPr>
          <a:xfrm>
            <a:off x="13589486" y="9016170"/>
            <a:ext cx="6395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i="1" dirty="0"/>
              <a:t>“El medio impone límites: alcance, capacidad, atenuación e interferencias.”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38907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E293D-C5C5-785C-1300-3ACB3D4E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28133D-E7FB-A5AB-E3A0-F3981F0AE038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44253AAB-6D96-8A6F-067B-DC50E1E0498A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REPASO CLASE ANTERIOR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238201-6D6A-67F0-03E8-34E84E11AF37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Clasificación de los medios de </a:t>
            </a:r>
            <a:r>
              <a:rPr lang="es-ES" sz="4000" dirty="0" err="1"/>
              <a:t>Tx</a:t>
            </a:r>
            <a:endParaRPr lang="es-CL" sz="40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2CE652-6B5D-EE9A-2C96-D974CF74E909}"/>
              </a:ext>
            </a:extLst>
          </p:cNvPr>
          <p:cNvSpPr txBox="1"/>
          <p:nvPr/>
        </p:nvSpPr>
        <p:spPr>
          <a:xfrm>
            <a:off x="3064753" y="8952707"/>
            <a:ext cx="15975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>
                <a:latin typeface="Atkinson Hyperlegible"/>
              </a:rPr>
              <a:t>“Esta clasificación es la base del curso: </a:t>
            </a:r>
            <a:r>
              <a:rPr lang="es-ES" sz="2400" b="1" dirty="0">
                <a:latin typeface="Atkinson Hyperlegible"/>
              </a:rPr>
              <a:t>guiado</a:t>
            </a:r>
            <a:r>
              <a:rPr lang="es-ES" sz="2400" dirty="0">
                <a:latin typeface="Atkinson Hyperlegible"/>
              </a:rPr>
              <a:t> significa que el medio limita/define la señal por su estructura física; </a:t>
            </a:r>
            <a:r>
              <a:rPr lang="es-ES" sz="2400" b="1" dirty="0">
                <a:latin typeface="Atkinson Hyperlegible"/>
              </a:rPr>
              <a:t>no guiado</a:t>
            </a:r>
            <a:r>
              <a:rPr lang="es-ES" sz="2400" dirty="0">
                <a:latin typeface="Atkinson Hyperlegible"/>
              </a:rPr>
              <a:t> significa que el canal es el espacio y entran factores como interferencia y propagación. Hoy solo fijamos el mapa; en las próximas unidades profundizamos.”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0BBC63F-27B6-8463-0376-521924FBA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3321729"/>
              </p:ext>
            </p:extLst>
          </p:nvPr>
        </p:nvGraphicFramePr>
        <p:xfrm>
          <a:off x="4928207" y="3021354"/>
          <a:ext cx="10376750" cy="5931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608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FA625-675A-3752-8687-5B00EC0B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1346A36-E85D-36ED-FA65-06AB66E9A8A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C4AA5EC9-FA50-57B3-C64D-F0D40C3354D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COMUNICACIÓN RF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8DF272-D90E-A822-23E5-45828A92DB84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Concepto básico</a:t>
            </a:r>
            <a:endParaRPr lang="es-CL" sz="4000" dirty="0"/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B2300321-B6A5-1619-81CD-145DF3DCC01D}"/>
              </a:ext>
            </a:extLst>
          </p:cNvPr>
          <p:cNvSpPr/>
          <p:nvPr/>
        </p:nvSpPr>
        <p:spPr>
          <a:xfrm>
            <a:off x="846666" y="3168573"/>
            <a:ext cx="17775273" cy="6247864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RF(RADIOFRECUENCIA):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Transmisión de información mediante ondas electromagnéticas.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Es un medio no guiado.</a:t>
            </a:r>
          </a:p>
          <a:p>
            <a:r>
              <a:rPr lang="es-ES" sz="4000" i="1" dirty="0">
                <a:latin typeface="Atkinson Hyperlegible"/>
              </a:rPr>
              <a:t>La señal se propaga por el aire/espacio (el canal es el ambiente).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El desempeño depende de: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Distancia, obstáculos, interferencias y ruido.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Se usan cuando: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Se requiere movilidad o despliegue rápido.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Ejemplos</a:t>
            </a:r>
            <a:endParaRPr lang="es-ES" sz="4000" dirty="0">
              <a:latin typeface="Atkinson Hyperlegible"/>
            </a:endParaRPr>
          </a:p>
          <a:p>
            <a:r>
              <a:rPr lang="es-ES" sz="4000" i="1" dirty="0">
                <a:latin typeface="Atkinson Hyperlegible"/>
              </a:rPr>
              <a:t>Radios militares, redes wifi (AP), enlaces de ultima milla.</a:t>
            </a:r>
            <a:endParaRPr lang="es-ES" sz="4000" dirty="0">
              <a:latin typeface="Atkinson Hyperlegible"/>
            </a:endParaRPr>
          </a:p>
        </p:txBody>
      </p:sp>
      <p:pic>
        <p:nvPicPr>
          <p:cNvPr id="4" name="Picture 12" descr="Enlaces Microondas – NAVYCOM">
            <a:extLst>
              <a:ext uri="{FF2B5EF4-FFF2-40B4-BE49-F238E27FC236}">
                <a16:creationId xmlns:a16="http://schemas.microsoft.com/office/drawing/2014/main" id="{898CB519-2116-E62F-3260-B289EF0EF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8972" y="3168573"/>
            <a:ext cx="2683446" cy="39097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47087F9A-7EF2-D245-B181-67CDD1C01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668" y="6386712"/>
            <a:ext cx="3262612" cy="1957568"/>
          </a:xfrm>
          <a:prstGeom prst="rect">
            <a:avLst/>
          </a:prstGeom>
        </p:spPr>
      </p:pic>
      <p:pic>
        <p:nvPicPr>
          <p:cNvPr id="1026" name="Picture 2" descr="Antenna for Military Communication Stock Photo - Alamy">
            <a:extLst>
              <a:ext uri="{FF2B5EF4-FFF2-40B4-BE49-F238E27FC236}">
                <a16:creationId xmlns:a16="http://schemas.microsoft.com/office/drawing/2014/main" id="{83FB4B7C-9B84-BCC4-6A77-C33CC5678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262486" y="6292505"/>
            <a:ext cx="3199386" cy="23527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arias antenas militares, transmisores y receptores Foto de stock  2685854083 | Shutterstock">
            <a:extLst>
              <a:ext uri="{FF2B5EF4-FFF2-40B4-BE49-F238E27FC236}">
                <a16:creationId xmlns:a16="http://schemas.microsoft.com/office/drawing/2014/main" id="{FDE58F00-EA4F-B0FF-3D5E-C53E1A35C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9613" y="7999468"/>
            <a:ext cx="3199387" cy="22969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23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AD419-C84A-5E2E-F0D8-B76C226EC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D694FFC-8F5E-5C1E-DF2B-467272AE99C3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2B0B5F79-4F0B-38A7-A10E-17F79679CDD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COMUNICACIÓN RF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4E5DCF-E835-3457-1BC1-12F93F3A2DE2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Modelo mínimo de un enlace</a:t>
            </a:r>
            <a:endParaRPr lang="es-CL" sz="4000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8E87F79D-17E5-3D00-3BB8-4A47FFD2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471" y="3427921"/>
            <a:ext cx="8609835" cy="4217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FD707E9-D477-2DA4-2899-B099C9FA8C4F}"/>
              </a:ext>
            </a:extLst>
          </p:cNvPr>
          <p:cNvSpPr/>
          <p:nvPr/>
        </p:nvSpPr>
        <p:spPr>
          <a:xfrm>
            <a:off x="6048471" y="7869836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/>
              </a:rPr>
              <a:t>TX</a:t>
            </a:r>
            <a:endParaRPr lang="es-CL" sz="4000" b="1" dirty="0">
              <a:latin typeface="Atkinson Hyperlegible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61D3487-A4EC-134B-558A-E3546D371A47}"/>
              </a:ext>
            </a:extLst>
          </p:cNvPr>
          <p:cNvSpPr/>
          <p:nvPr/>
        </p:nvSpPr>
        <p:spPr>
          <a:xfrm>
            <a:off x="12574673" y="7869836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 err="1">
                <a:latin typeface="Atkinson Hyperlegible"/>
              </a:rPr>
              <a:t>RX</a:t>
            </a:r>
            <a:endParaRPr lang="es-CL" sz="4000" b="1" dirty="0">
              <a:latin typeface="Atkinson Hyperlegible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CD15121-0802-E6BB-50E0-0FE7D083DC6C}"/>
              </a:ext>
            </a:extLst>
          </p:cNvPr>
          <p:cNvSpPr txBox="1"/>
          <p:nvPr/>
        </p:nvSpPr>
        <p:spPr>
          <a:xfrm>
            <a:off x="846666" y="909631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n-US" sz="2400" dirty="0">
                <a:latin typeface="Atkinson Hyperlegible"/>
              </a:rPr>
              <a:t>ITU Radio Regulations (Ed. 2024</a:t>
            </a:r>
            <a:r>
              <a:rPr lang="en-US" sz="2400" dirty="0"/>
              <a:t>)</a:t>
            </a:r>
            <a:endParaRPr lang="es-ES" sz="2400" dirty="0">
              <a:latin typeface="Atkinson Hyperlegible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411F501-2EB2-A485-D776-E75BBBC3F504}"/>
              </a:ext>
            </a:extLst>
          </p:cNvPr>
          <p:cNvSpPr/>
          <p:nvPr/>
        </p:nvSpPr>
        <p:spPr>
          <a:xfrm>
            <a:off x="9311571" y="7869836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/>
              </a:rPr>
              <a:t>?</a:t>
            </a:r>
            <a:endParaRPr lang="es-CL" sz="4000" b="1" dirty="0">
              <a:latin typeface="Atkinson Hyperlegible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5F91B4C-4BFA-30F1-7982-A6ED7228A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811" y="6820343"/>
            <a:ext cx="1626373" cy="82464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EE729A2-D537-171F-7BD7-47F2D3451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3593" y="6820343"/>
            <a:ext cx="1626373" cy="824640"/>
          </a:xfrm>
          <a:prstGeom prst="rect">
            <a:avLst/>
          </a:prstGeom>
        </p:spPr>
      </p:pic>
      <p:sp>
        <p:nvSpPr>
          <p:cNvPr id="17" name="5 Rectángulo">
            <a:extLst>
              <a:ext uri="{FF2B5EF4-FFF2-40B4-BE49-F238E27FC236}">
                <a16:creationId xmlns:a16="http://schemas.microsoft.com/office/drawing/2014/main" id="{F2F7F8F4-CD7F-9E9F-0EA1-126625E715F8}"/>
              </a:ext>
            </a:extLst>
          </p:cNvPr>
          <p:cNvSpPr/>
          <p:nvPr/>
        </p:nvSpPr>
        <p:spPr>
          <a:xfrm>
            <a:off x="846667" y="3168573"/>
            <a:ext cx="4789636" cy="255454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TX(transmisor)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Antenas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Canal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 err="1">
                <a:latin typeface="Atkinson Hyperlegible"/>
              </a:rPr>
              <a:t>RX</a:t>
            </a:r>
            <a:r>
              <a:rPr lang="es-ES" sz="4000" dirty="0">
                <a:latin typeface="Atkinson Hyperlegible"/>
              </a:rPr>
              <a:t>(receptor)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B62C40F-0668-D516-AF8B-B05398806589}"/>
              </a:ext>
            </a:extLst>
          </p:cNvPr>
          <p:cNvSpPr txBox="1"/>
          <p:nvPr/>
        </p:nvSpPr>
        <p:spPr>
          <a:xfrm>
            <a:off x="13528193" y="9093602"/>
            <a:ext cx="6395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/>
              <a:t>En RF, el canal es variable: el entorno modifica el enlace.</a:t>
            </a:r>
            <a:endParaRPr lang="es-ES" sz="24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17470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20344-8C54-95B8-50F6-3CF0D6DA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A2D9565-9E39-A663-A40C-7A3BF8B69E9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516A752D-81F5-5AA7-C12F-64186DF6E1E3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COMUNICACIÓN RF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A2A453-5EEE-EA21-2144-FA4F90673275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>
                <a:latin typeface="Atkinson Hyperlegible"/>
              </a:rPr>
              <a:t>Bandas HF / </a:t>
            </a:r>
            <a:r>
              <a:rPr lang="es-CL" sz="4000" dirty="0" err="1">
                <a:latin typeface="Atkinson Hyperlegible"/>
              </a:rPr>
              <a:t>VHF</a:t>
            </a:r>
            <a:r>
              <a:rPr lang="es-CL" sz="4000" dirty="0">
                <a:latin typeface="Atkinson Hyperlegible"/>
              </a:rPr>
              <a:t> / </a:t>
            </a:r>
            <a:r>
              <a:rPr lang="es-CL" sz="4000" dirty="0" err="1">
                <a:latin typeface="Atkinson Hyperlegible"/>
              </a:rPr>
              <a:t>UHF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482D8ECC-269D-0113-F8F0-B8AF9A60D49B}"/>
              </a:ext>
            </a:extLst>
          </p:cNvPr>
          <p:cNvSpPr/>
          <p:nvPr/>
        </p:nvSpPr>
        <p:spPr>
          <a:xfrm>
            <a:off x="846666" y="3168573"/>
            <a:ext cx="17775273" cy="501675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HF (Alta Frecuencia):</a:t>
            </a:r>
            <a:r>
              <a:rPr lang="es-ES" sz="4000" dirty="0">
                <a:latin typeface="Atkinson Hyperlegible"/>
              </a:rPr>
              <a:t> banda de radiofrecuencia usada en comunicaciones a mayor alcance según condiciones de propagación.</a:t>
            </a:r>
            <a:r>
              <a:rPr lang="es-ES" sz="4000" b="1" dirty="0">
                <a:latin typeface="Atkinson Hyperlegible"/>
              </a:rPr>
              <a:t>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 err="1">
                <a:latin typeface="Atkinson Hyperlegible"/>
              </a:rPr>
              <a:t>VHF</a:t>
            </a:r>
            <a:r>
              <a:rPr lang="es-ES" sz="4000" b="1" dirty="0">
                <a:latin typeface="Atkinson Hyperlegible"/>
              </a:rPr>
              <a:t> (Muy Alta Frecuencia):</a:t>
            </a:r>
            <a:r>
              <a:rPr lang="es-ES" sz="4000" dirty="0">
                <a:latin typeface="Atkinson Hyperlegible"/>
              </a:rPr>
              <a:t> banda usada en comunicaciones de voz/datos con alcance típico regional y buena penetración en escenarios abiertos.</a:t>
            </a:r>
            <a:r>
              <a:rPr lang="es-ES" sz="4000" b="1" dirty="0">
                <a:latin typeface="Atkinson Hyperlegible"/>
              </a:rPr>
              <a:t>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 err="1">
                <a:latin typeface="Atkinson Hyperlegible"/>
              </a:rPr>
              <a:t>UHF</a:t>
            </a:r>
            <a:r>
              <a:rPr lang="es-ES" sz="4000" b="1" dirty="0">
                <a:latin typeface="Atkinson Hyperlegible"/>
              </a:rPr>
              <a:t> (Ultra Alta Frecuencia):</a:t>
            </a:r>
            <a:r>
              <a:rPr lang="es-ES" sz="4000" dirty="0">
                <a:latin typeface="Atkinson Hyperlegible"/>
              </a:rPr>
              <a:t> banda usada en comunicaciones con mejor desempeño en entornos urbanos y dispositivos compactos.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La </a:t>
            </a:r>
            <a:r>
              <a:rPr lang="es-ES" sz="4000" b="1" dirty="0">
                <a:latin typeface="Atkinson Hyperlegible"/>
              </a:rPr>
              <a:t>frecuencia</a:t>
            </a:r>
            <a:r>
              <a:rPr lang="es-ES" sz="4000" dirty="0">
                <a:latin typeface="Atkinson Hyperlegible"/>
              </a:rPr>
              <a:t> influye en: alcance, comportamiento frente a obstáculos y requerimientos de antena.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FB38D3-9AC7-8C39-9227-4E91B0B89402}"/>
              </a:ext>
            </a:extLst>
          </p:cNvPr>
          <p:cNvSpPr txBox="1"/>
          <p:nvPr/>
        </p:nvSpPr>
        <p:spPr>
          <a:xfrm>
            <a:off x="846666" y="933520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n-US" sz="2400" dirty="0">
                <a:latin typeface="Atkinson Hyperlegible"/>
              </a:rPr>
              <a:t>ITU Radio Regulations (Ed. 2024</a:t>
            </a:r>
            <a:r>
              <a:rPr lang="en-US" sz="2400" dirty="0"/>
              <a:t>)</a:t>
            </a:r>
            <a:endParaRPr lang="es-ES" sz="24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35871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F5B71-73C6-5A57-7BC8-6565DE20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B153661-8E56-4909-0D79-CCF890693F5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04D08A2B-0D63-3888-7F56-129E7454C54B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COMUNICACIÓN RF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E80CD2-18CA-8A7B-1062-6C95C905E9D7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dirty="0">
                <a:latin typeface="Atkinson Hyperlegible"/>
              </a:rPr>
              <a:t>Microondas (visión general)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0BBD4B97-9D1A-9A44-D224-43BED2FFAC58}"/>
              </a:ext>
            </a:extLst>
          </p:cNvPr>
          <p:cNvSpPr/>
          <p:nvPr/>
        </p:nvSpPr>
        <p:spPr>
          <a:xfrm>
            <a:off x="846667" y="3168573"/>
            <a:ext cx="14293400" cy="501675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/>
              <a:t>Microondas:</a:t>
            </a:r>
            <a:r>
              <a:rPr lang="es-ES" sz="4000" dirty="0"/>
              <a:t> comunicaciones RF en frecuencias altas, típicamente usadas en </a:t>
            </a:r>
            <a:r>
              <a:rPr lang="es-ES" sz="4000" b="1" dirty="0"/>
              <a:t>enlaces punto a punto</a:t>
            </a:r>
            <a:r>
              <a:rPr lang="es-ES" sz="4000" dirty="0"/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/>
              <a:t>Microondas:</a:t>
            </a:r>
            <a:r>
              <a:rPr lang="es-ES" sz="4000" dirty="0"/>
              <a:t> comunicaciones RF en frecuencias altas, típicamente usadas en </a:t>
            </a:r>
            <a:r>
              <a:rPr lang="es-ES" sz="4000" b="1" dirty="0"/>
              <a:t>enlaces punto a punto</a:t>
            </a:r>
            <a:r>
              <a:rPr lang="es-ES" sz="4000" dirty="0"/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/>
              <a:t>Se aplican en </a:t>
            </a:r>
            <a:r>
              <a:rPr lang="es-ES" sz="4000" b="1" dirty="0" err="1"/>
              <a:t>backhaul</a:t>
            </a:r>
            <a:r>
              <a:rPr lang="es-ES" sz="4000" dirty="0"/>
              <a:t> y </a:t>
            </a:r>
            <a:r>
              <a:rPr lang="es-ES" sz="4000" b="1" dirty="0"/>
              <a:t>última milla</a:t>
            </a:r>
            <a:r>
              <a:rPr lang="es-ES" sz="4000" dirty="0"/>
              <a:t> cuando no es factible cablear con fibra/cobre.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/>
              <a:t>El diseño del enlace considera </a:t>
            </a:r>
            <a:r>
              <a:rPr lang="es-ES" sz="4000" b="1" dirty="0"/>
              <a:t>pérdidas</a:t>
            </a:r>
            <a:r>
              <a:rPr lang="es-ES" sz="4000" dirty="0"/>
              <a:t> y condiciones del entorno.</a:t>
            </a:r>
            <a:endParaRPr lang="es-ES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5068FD-BED4-8F44-8DDD-F883F10BE8C0}"/>
              </a:ext>
            </a:extLst>
          </p:cNvPr>
          <p:cNvSpPr txBox="1"/>
          <p:nvPr/>
        </p:nvSpPr>
        <p:spPr>
          <a:xfrm>
            <a:off x="846666" y="933520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n-US" sz="2400" dirty="0">
                <a:latin typeface="Atkinson Hyperlegible"/>
              </a:rPr>
              <a:t>ITU-R </a:t>
            </a:r>
            <a:r>
              <a:rPr lang="en-US" sz="2400" dirty="0" err="1">
                <a:latin typeface="Atkinson Hyperlegible"/>
              </a:rPr>
              <a:t>P.530</a:t>
            </a:r>
            <a:r>
              <a:rPr lang="en-US" sz="2400" dirty="0">
                <a:latin typeface="Atkinson Hyperlegible"/>
              </a:rPr>
              <a:t> (enlaces </a:t>
            </a:r>
            <a:r>
              <a:rPr lang="en-US" sz="2400" dirty="0" err="1">
                <a:latin typeface="Atkinson Hyperlegible"/>
              </a:rPr>
              <a:t>terrestres</a:t>
            </a:r>
            <a:r>
              <a:rPr lang="en-US" sz="2400" dirty="0">
                <a:latin typeface="Atkinson Hyperlegible"/>
              </a:rPr>
              <a:t> </a:t>
            </a:r>
            <a:r>
              <a:rPr lang="en-US" sz="2400" dirty="0" err="1">
                <a:latin typeface="Atkinson Hyperlegible"/>
              </a:rPr>
              <a:t>en</a:t>
            </a:r>
            <a:r>
              <a:rPr lang="en-US" sz="2400" dirty="0">
                <a:latin typeface="Atkinson Hyperlegible"/>
              </a:rPr>
              <a:t> </a:t>
            </a:r>
            <a:r>
              <a:rPr lang="en-US" sz="2400" dirty="0" err="1">
                <a:latin typeface="Atkinson Hyperlegible"/>
              </a:rPr>
              <a:t>línea</a:t>
            </a:r>
            <a:r>
              <a:rPr lang="en-US" sz="2400" dirty="0">
                <a:latin typeface="Atkinson Hyperlegible"/>
              </a:rPr>
              <a:t> de vista)</a:t>
            </a:r>
            <a:endParaRPr lang="es-ES" sz="2400" dirty="0">
              <a:latin typeface="Atkinson Hyperlegible"/>
            </a:endParaRPr>
          </a:p>
        </p:txBody>
      </p:sp>
      <p:pic>
        <p:nvPicPr>
          <p:cNvPr id="5122" name="Picture 2" descr="Antena polo con microondas en AutoCAD | CAD (57.4 KB) | Bibliocad">
            <a:extLst>
              <a:ext uri="{FF2B5EF4-FFF2-40B4-BE49-F238E27FC236}">
                <a16:creationId xmlns:a16="http://schemas.microsoft.com/office/drawing/2014/main" id="{EDA390A5-D7EE-E9C9-2369-0B5535159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9908" y="3424107"/>
            <a:ext cx="4554406" cy="3411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iversidad espacial en enlaces de microondas-Preguntas frecuentes-FMUSER  Proveedor único de transmisión de FM / TV">
            <a:extLst>
              <a:ext uri="{FF2B5EF4-FFF2-40B4-BE49-F238E27FC236}">
                <a16:creationId xmlns:a16="http://schemas.microsoft.com/office/drawing/2014/main" id="{4B2B6AB0-6118-3C44-A3A9-1D5FBD9BE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400" y="114843"/>
            <a:ext cx="17011543" cy="1079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41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FEE46-30A1-FD0D-84A2-7100B8AD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A2F0003-798C-B3CA-B9FC-44F6F1FEA549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6B4636B3-DB5B-E8F9-9D4D-1F9A6AA83AE4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COMUNICACIÓN RF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1FB40D-E88E-D9CE-19D3-B519C30E792B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Pérdidas del enlace y factores del entorno (visión general)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491B0989-AEC9-6BC7-FDBD-31E60AED48E7}"/>
              </a:ext>
            </a:extLst>
          </p:cNvPr>
          <p:cNvSpPr/>
          <p:nvPr/>
        </p:nvSpPr>
        <p:spPr>
          <a:xfrm>
            <a:off x="846666" y="3168573"/>
            <a:ext cx="17775273" cy="4401205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En RF, la señal </a:t>
            </a:r>
            <a:r>
              <a:rPr lang="es-ES" sz="4000" b="1" dirty="0">
                <a:latin typeface="Atkinson Hyperlegible"/>
              </a:rPr>
              <a:t>se debilita con la distancia</a:t>
            </a:r>
            <a:r>
              <a:rPr lang="es-ES" sz="4000" dirty="0">
                <a:latin typeface="Atkinson Hyperlegible"/>
              </a:rPr>
              <a:t> (pérdidas del enlace).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El entorno introduce </a:t>
            </a:r>
            <a:r>
              <a:rPr lang="es-ES" sz="4000" b="1" dirty="0">
                <a:latin typeface="Atkinson Hyperlegible"/>
              </a:rPr>
              <a:t>ruido</a:t>
            </a:r>
            <a:r>
              <a:rPr lang="es-ES" sz="4000" dirty="0">
                <a:latin typeface="Atkinson Hyperlegible"/>
              </a:rPr>
              <a:t> e </a:t>
            </a:r>
            <a:r>
              <a:rPr lang="es-ES" sz="4000" b="1" dirty="0">
                <a:latin typeface="Atkinson Hyperlegible"/>
              </a:rPr>
              <a:t>interferencias</a:t>
            </a:r>
            <a:r>
              <a:rPr lang="es-ES" sz="4000" dirty="0">
                <a:latin typeface="Atkinson Hyperlegible"/>
              </a:rPr>
              <a:t>, que reducen la calidad de la comunicación.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Los </a:t>
            </a:r>
            <a:r>
              <a:rPr lang="es-ES" sz="4000" b="1" dirty="0">
                <a:latin typeface="Atkinson Hyperlegible"/>
              </a:rPr>
              <a:t>obstáculos</a:t>
            </a:r>
            <a:r>
              <a:rPr lang="es-ES" sz="4000" dirty="0">
                <a:latin typeface="Atkinson Hyperlegible"/>
              </a:rPr>
              <a:t> pueden provocar pérdidas adicionales.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En enlaces de mayor alcance, la </a:t>
            </a:r>
            <a:r>
              <a:rPr lang="es-ES" sz="4000" b="1" dirty="0">
                <a:latin typeface="Atkinson Hyperlegible"/>
              </a:rPr>
              <a:t>atmósfera</a:t>
            </a:r>
            <a:r>
              <a:rPr lang="es-ES" sz="4000" dirty="0">
                <a:latin typeface="Atkinson Hyperlegible"/>
              </a:rPr>
              <a:t> y las condiciones ambientales pueden influir.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Concepto clave: </a:t>
            </a:r>
            <a:r>
              <a:rPr lang="es-ES" sz="4000" b="1" dirty="0">
                <a:latin typeface="Atkinson Hyperlegible"/>
              </a:rPr>
              <a:t>calidad de enlace</a:t>
            </a:r>
            <a:r>
              <a:rPr lang="es-ES" sz="4000" dirty="0">
                <a:latin typeface="Atkinson Hyperlegible"/>
              </a:rPr>
              <a:t> = estimar si la señal recibida será suficiente.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74F2D0-1C54-21C6-71B7-26FED0A94375}"/>
              </a:ext>
            </a:extLst>
          </p:cNvPr>
          <p:cNvSpPr txBox="1"/>
          <p:nvPr/>
        </p:nvSpPr>
        <p:spPr>
          <a:xfrm>
            <a:off x="846666" y="933520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-R </a:t>
            </a:r>
            <a:r>
              <a:rPr lang="es-ES" sz="2400" dirty="0" err="1">
                <a:latin typeface="Atkinson Hyperlegible"/>
              </a:rPr>
              <a:t>P.525</a:t>
            </a:r>
            <a:r>
              <a:rPr lang="es-ES" sz="2400" dirty="0">
                <a:latin typeface="Atkinson Hyperlegible"/>
              </a:rPr>
              <a:t> (pérdida en espacio libre)</a:t>
            </a:r>
          </a:p>
        </p:txBody>
      </p:sp>
    </p:spTree>
    <p:extLst>
      <p:ext uri="{BB962C8B-B14F-4D97-AF65-F5344CB8AC3E}">
        <p14:creationId xmlns:p14="http://schemas.microsoft.com/office/powerpoint/2010/main" val="13324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2757B-394D-6EF6-B158-6954F526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38AB441-AEDC-B059-CD09-05889B1A4AD7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7DE3A14B-C620-A0F9-50A1-EDB8EDD70BCF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FIBRA ÓPTICA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FEFC02-615B-0ECD-B025-A292BA8FF1A8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visión general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1F04A1DD-6335-A636-F419-916F5878538D}"/>
              </a:ext>
            </a:extLst>
          </p:cNvPr>
          <p:cNvSpPr/>
          <p:nvPr/>
        </p:nvSpPr>
        <p:spPr>
          <a:xfrm>
            <a:off x="846666" y="3168573"/>
            <a:ext cx="17775273" cy="501675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Fibra óptica: </a:t>
            </a:r>
            <a:r>
              <a:rPr lang="es-ES" sz="4000" b="1" dirty="0">
                <a:latin typeface="Atkinson Hyperlegible"/>
              </a:rPr>
              <a:t>medio guiado </a:t>
            </a:r>
            <a:r>
              <a:rPr lang="es-ES" sz="4000" dirty="0">
                <a:latin typeface="Atkinson Hyperlegible"/>
              </a:rPr>
              <a:t>que transporta información como luz a través de una fibra.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Se utiliza cuando se requiere </a:t>
            </a:r>
            <a:r>
              <a:rPr lang="es-ES" sz="4000" b="1" dirty="0"/>
              <a:t>alta capacidad</a:t>
            </a:r>
            <a:r>
              <a:rPr lang="es-ES" sz="4000" dirty="0"/>
              <a:t> y </a:t>
            </a:r>
            <a:r>
              <a:rPr lang="es-ES" sz="4000" b="1" dirty="0"/>
              <a:t>alta estabilidad</a:t>
            </a:r>
            <a:r>
              <a:rPr lang="es-ES" sz="4000" dirty="0"/>
              <a:t> del enlace.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Presenta baja atenuación en comparación con otros medios (mejor desempeño en distancias mayores).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Es </a:t>
            </a:r>
            <a:r>
              <a:rPr lang="es-ES" sz="4000" b="1" dirty="0"/>
              <a:t>inmune a interferencias electromagnéticas</a:t>
            </a:r>
            <a:r>
              <a:rPr lang="es-ES" sz="4000" dirty="0"/>
              <a:t> (no se ve afectada como el cobre).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Uso típico: </a:t>
            </a:r>
            <a:r>
              <a:rPr lang="es-ES" sz="4000" dirty="0" err="1">
                <a:latin typeface="Atkinson Hyperlegible"/>
              </a:rPr>
              <a:t>backbone</a:t>
            </a:r>
            <a:r>
              <a:rPr lang="es-ES" sz="4000" dirty="0">
                <a:latin typeface="Atkinson Hyperlegible"/>
              </a:rPr>
              <a:t>, enlaces troncales y conexiones de alta demanda (interconexión hacia rack/servidores).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1CA26E-5B04-24CB-6382-55D763080934}"/>
              </a:ext>
            </a:extLst>
          </p:cNvPr>
          <p:cNvSpPr txBox="1"/>
          <p:nvPr/>
        </p:nvSpPr>
        <p:spPr>
          <a:xfrm>
            <a:off x="846666" y="933520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-T </a:t>
            </a:r>
            <a:r>
              <a:rPr lang="es-ES" sz="2400" dirty="0" err="1">
                <a:latin typeface="Atkinson Hyperlegible"/>
              </a:rPr>
              <a:t>G.652</a:t>
            </a:r>
            <a:r>
              <a:rPr lang="es-ES" sz="2400" dirty="0">
                <a:latin typeface="Atkinson Hyperlegible"/>
              </a:rPr>
              <a:t> (fibra monomodo)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FE1FF4F-CC8C-2DD7-0B41-D0FC38B4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367" y="7931360"/>
            <a:ext cx="6395299" cy="140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E746BA2-FEC0-84FE-3E93-7A1A98547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922566" y="7931360"/>
            <a:ext cx="6395297" cy="140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DF1B7F9-D484-4E09-7713-E552695EF471}"/>
              </a:ext>
            </a:extLst>
          </p:cNvPr>
          <p:cNvCxnSpPr>
            <a:cxnSpLocks/>
          </p:cNvCxnSpPr>
          <p:nvPr/>
        </p:nvCxnSpPr>
        <p:spPr>
          <a:xfrm>
            <a:off x="10345849" y="8529191"/>
            <a:ext cx="2245889" cy="19592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52C755F-CC4B-BA90-2182-38C8D4547447}"/>
              </a:ext>
            </a:extLst>
          </p:cNvPr>
          <p:cNvSpPr/>
          <p:nvPr/>
        </p:nvSpPr>
        <p:spPr>
          <a:xfrm>
            <a:off x="7650669" y="9144000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 err="1">
                <a:latin typeface="Atkinson Hyperlegible"/>
              </a:rPr>
              <a:t>SW1</a:t>
            </a:r>
            <a:endParaRPr lang="es-CL" sz="4000" b="1" dirty="0">
              <a:latin typeface="Atkinson Hyperlegible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817979C-16E4-C30E-BAA4-3EFC18A5E3A0}"/>
              </a:ext>
            </a:extLst>
          </p:cNvPr>
          <p:cNvSpPr/>
          <p:nvPr/>
        </p:nvSpPr>
        <p:spPr>
          <a:xfrm>
            <a:off x="14308800" y="9144000"/>
            <a:ext cx="208363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 err="1">
                <a:latin typeface="Atkinson Hyperlegible"/>
              </a:rPr>
              <a:t>SW2</a:t>
            </a:r>
            <a:endParaRPr lang="es-CL" sz="4000" b="1" dirty="0">
              <a:latin typeface="Atkinson Hyperlegible"/>
            </a:endParaRPr>
          </a:p>
        </p:txBody>
      </p:sp>
      <p:pic>
        <p:nvPicPr>
          <p:cNvPr id="27" name="Picture 6" descr="Liberando el potencial de los módulos SFP de fibra: una guía completa -  Blog de AscentOptics">
            <a:extLst>
              <a:ext uri="{FF2B5EF4-FFF2-40B4-BE49-F238E27FC236}">
                <a16:creationId xmlns:a16="http://schemas.microsoft.com/office/drawing/2014/main" id="{919D1CD9-970A-266D-67C7-C17EEE565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538" y="8977143"/>
            <a:ext cx="1403846" cy="1403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E1AFB-AF70-3617-03F3-A854905E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0FF9864-2B47-3D07-D1AF-8ADD48E1A8DF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BD05A1A-FF16-DD2B-B540-A0C5B9A12066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FIBRA ÓPTICA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E1D7FC8-7ABA-6976-D447-7FDE2AC60B89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Fibra óptica: componentes mínimos de un enlace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97D78E34-54D0-0060-48F6-040835CDD78C}"/>
              </a:ext>
            </a:extLst>
          </p:cNvPr>
          <p:cNvSpPr/>
          <p:nvPr/>
        </p:nvSpPr>
        <p:spPr>
          <a:xfrm>
            <a:off x="846666" y="3168573"/>
            <a:ext cx="17775273" cy="3785652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Transceptor óptico: </a:t>
            </a:r>
            <a:r>
              <a:rPr lang="es-ES" sz="4000" dirty="0">
                <a:latin typeface="Atkinson Hyperlegible"/>
              </a:rPr>
              <a:t>convierte señal eléctrica ↔ óptica.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Fibra: </a:t>
            </a:r>
            <a:r>
              <a:rPr lang="es-ES" sz="4000" dirty="0">
                <a:latin typeface="Atkinson Hyperlegible"/>
              </a:rPr>
              <a:t>guía la luz con bajas pérdidas y alta estabilidad.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 err="1">
                <a:latin typeface="Atkinson Hyperlegible"/>
              </a:rPr>
              <a:t>Conexiones:</a:t>
            </a:r>
            <a:r>
              <a:rPr lang="es-ES" sz="4000" dirty="0" err="1">
                <a:latin typeface="Atkinson Hyperlegible"/>
              </a:rPr>
              <a:t>conectores</a:t>
            </a:r>
            <a:r>
              <a:rPr lang="es-ES" sz="4000" dirty="0">
                <a:latin typeface="Atkinson Hyperlegible"/>
              </a:rPr>
              <a:t>/empalmes afectan calidad si hay pérdidas o mala limpieza.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4000" b="1" dirty="0">
                <a:latin typeface="Atkinson Hyperlegible"/>
              </a:rPr>
              <a:t>Receptor: </a:t>
            </a:r>
            <a:r>
              <a:rPr lang="es-ES" sz="4000" dirty="0">
                <a:latin typeface="Atkinson Hyperlegible"/>
              </a:rPr>
              <a:t>recupera la información desde la señal óptica recibida.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A68E27-DA34-AD10-A089-6A4406D60069}"/>
              </a:ext>
            </a:extLst>
          </p:cNvPr>
          <p:cNvSpPr txBox="1"/>
          <p:nvPr/>
        </p:nvSpPr>
        <p:spPr>
          <a:xfrm>
            <a:off x="846666" y="9335206"/>
            <a:ext cx="639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-T </a:t>
            </a:r>
            <a:r>
              <a:rPr lang="es-ES" sz="2400" dirty="0" err="1">
                <a:latin typeface="Atkinson Hyperlegible"/>
              </a:rPr>
              <a:t>G.652</a:t>
            </a:r>
            <a:r>
              <a:rPr lang="es-ES" sz="2400" dirty="0">
                <a:latin typeface="Atkinson Hyperlegible"/>
              </a:rPr>
              <a:t> (fibra monomodo)</a:t>
            </a:r>
          </a:p>
        </p:txBody>
      </p:sp>
      <p:pic>
        <p:nvPicPr>
          <p:cNvPr id="7170" name="Picture 2" descr="Transceptor óptico Ethernet">
            <a:extLst>
              <a:ext uri="{FF2B5EF4-FFF2-40B4-BE49-F238E27FC236}">
                <a16:creationId xmlns:a16="http://schemas.microsoft.com/office/drawing/2014/main" id="{BC59804C-38F1-8D56-2060-405098F32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505" y="6293758"/>
            <a:ext cx="4248800" cy="32990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ransceptor óptico SFP de 155Mbps 15km | Transceptores ópticos de  vanguardia y soluciones de prueba para infraestructura 5G">
            <a:extLst>
              <a:ext uri="{FF2B5EF4-FFF2-40B4-BE49-F238E27FC236}">
                <a16:creationId xmlns:a16="http://schemas.microsoft.com/office/drawing/2014/main" id="{2C3B1E0E-12BB-6413-CB9C-FE74374D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901" y="8411281"/>
            <a:ext cx="2466975" cy="1847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Con qué frecuencia necesitan ser reemplazados los cables de fibra óptica?">
            <a:extLst>
              <a:ext uri="{FF2B5EF4-FFF2-40B4-BE49-F238E27FC236}">
                <a16:creationId xmlns:a16="http://schemas.microsoft.com/office/drawing/2014/main" id="{F6C71495-9577-7F26-788A-D9243B5F2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934" y="6727717"/>
            <a:ext cx="3783533" cy="2833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Qué es la Fibra óptica, para qué se usa y cómo funciona? - Tecplan Panama">
            <a:extLst>
              <a:ext uri="{FF2B5EF4-FFF2-40B4-BE49-F238E27FC236}">
                <a16:creationId xmlns:a16="http://schemas.microsoft.com/office/drawing/2014/main" id="{89FB0945-3288-2DC2-D463-F81FB09FD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1751" y="6378434"/>
            <a:ext cx="3932904" cy="3880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44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AE806-9D8F-CCCA-CF96-DA5D62F2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2F3046F-E802-02F4-01C7-10C745CE96D1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F7BF38E7-9297-7D38-A682-902F0ACAAE48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FIBRA ÓPTICA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9EC163-7830-9EFE-29F8-8FD88159CE61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Fibra óptica: tipos (visión general)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56977D36-D436-02D9-D760-11D11C9F0724}"/>
              </a:ext>
            </a:extLst>
          </p:cNvPr>
          <p:cNvSpPr/>
          <p:nvPr/>
        </p:nvSpPr>
        <p:spPr>
          <a:xfrm>
            <a:off x="846666" y="3168573"/>
            <a:ext cx="17775273" cy="501675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/>
              <a:t>Monomodo:</a:t>
            </a:r>
            <a:r>
              <a:rPr lang="es-ES" sz="4000" dirty="0"/>
              <a:t> se usa típicamente para </a:t>
            </a:r>
            <a:r>
              <a:rPr lang="es-ES" sz="4000" b="1" dirty="0"/>
              <a:t>mayores distancias</a:t>
            </a:r>
            <a:r>
              <a:rPr lang="es-ES" sz="4000" dirty="0"/>
              <a:t> y enlaces troncales/</a:t>
            </a:r>
            <a:r>
              <a:rPr lang="es-ES" sz="4000" dirty="0" err="1"/>
              <a:t>backbone</a:t>
            </a:r>
            <a:r>
              <a:rPr lang="es-ES" sz="4000" dirty="0"/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4000" b="1" dirty="0"/>
              <a:t>Multimodo:</a:t>
            </a:r>
            <a:r>
              <a:rPr lang="es-CL" sz="4000" dirty="0"/>
              <a:t> se usa típicamente para </a:t>
            </a:r>
            <a:r>
              <a:rPr lang="es-CL" sz="4000" b="1" dirty="0"/>
              <a:t>distancias más cortas</a:t>
            </a:r>
            <a:r>
              <a:rPr lang="es-CL" sz="4000" dirty="0"/>
              <a:t> (interior de edificio/sala).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La elección depende principalmente de: </a:t>
            </a:r>
            <a:r>
              <a:rPr lang="es-ES" sz="4000" b="1" dirty="0"/>
              <a:t>distancia</a:t>
            </a:r>
            <a:r>
              <a:rPr lang="es-ES" sz="4000" dirty="0"/>
              <a:t>, </a:t>
            </a:r>
            <a:r>
              <a:rPr lang="es-ES" sz="4000" b="1" dirty="0"/>
              <a:t>capacidad requerida</a:t>
            </a:r>
            <a:r>
              <a:rPr lang="es-ES" sz="4000" dirty="0"/>
              <a:t> y </a:t>
            </a:r>
            <a:r>
              <a:rPr lang="es-ES" sz="4000" b="1" dirty="0"/>
              <a:t>costo de equipamiento</a:t>
            </a:r>
            <a:r>
              <a:rPr lang="es-E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CL" sz="4000" dirty="0"/>
              <a:t>Ambas comparten ventajas de fibra: </a:t>
            </a:r>
            <a:r>
              <a:rPr lang="es-CL" sz="4000" b="1" dirty="0"/>
              <a:t>alta capacidad</a:t>
            </a:r>
            <a:r>
              <a:rPr lang="es-CL" sz="4000" dirty="0"/>
              <a:t> e </a:t>
            </a:r>
            <a:r>
              <a:rPr lang="es-CL" sz="4000" b="1" dirty="0"/>
              <a:t>inmunidad a interferencias</a:t>
            </a:r>
            <a:r>
              <a:rPr lang="es-CL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87DE27-00B4-9D79-A8C2-351591049B18}"/>
              </a:ext>
            </a:extLst>
          </p:cNvPr>
          <p:cNvSpPr txBox="1"/>
          <p:nvPr/>
        </p:nvSpPr>
        <p:spPr>
          <a:xfrm>
            <a:off x="996566" y="855037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>
                <a:latin typeface="Atkinson Hyperlegible"/>
              </a:rPr>
              <a:t>Regla general: más distancia → monomodo; distancias cortas → multimodo.)</a:t>
            </a:r>
          </a:p>
        </p:txBody>
      </p:sp>
      <p:pic>
        <p:nvPicPr>
          <p:cNvPr id="8194" name="Picture 2" descr="Cables de fibra óptica monomodo versus multimodo: una comparación en  profundidad - Blog de AscentOptics">
            <a:extLst>
              <a:ext uri="{FF2B5EF4-FFF2-40B4-BE49-F238E27FC236}">
                <a16:creationId xmlns:a16="http://schemas.microsoft.com/office/drawing/2014/main" id="{E904EA55-93C1-126D-69E6-0C29455FE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760359"/>
            <a:ext cx="19130948" cy="924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8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B1E46-6F3D-1F0F-7699-B6DEDFC0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9C47DEA-10FB-093B-184E-D7A8CFABD642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11B7D1EE-9D4B-C8C2-F6C1-DDA805F11EC1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FIBRA ÓPTICA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D3289E-4F35-E44F-F6BD-38238AB00950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Fibra óptica: ventajas, limitaciones y usos típicos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00F8386D-3E70-EBE6-1BA7-C1D2DD1858F8}"/>
              </a:ext>
            </a:extLst>
          </p:cNvPr>
          <p:cNvSpPr/>
          <p:nvPr/>
        </p:nvSpPr>
        <p:spPr>
          <a:xfrm>
            <a:off x="846666" y="3168573"/>
            <a:ext cx="17775273" cy="6863417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4000" b="1" dirty="0">
                <a:latin typeface="Atkinson Hyperlegible"/>
              </a:rPr>
              <a:t>Ventajas: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Alta capacidad</a:t>
            </a:r>
            <a:r>
              <a:rPr lang="es-ES" sz="4000" dirty="0">
                <a:latin typeface="Atkinson Hyperlegible"/>
              </a:rPr>
              <a:t> para transportar grandes volúmenes de datos.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Baja atenuación</a:t>
            </a:r>
            <a:r>
              <a:rPr lang="es-ES" sz="4000" dirty="0">
                <a:latin typeface="Atkinson Hyperlegible"/>
              </a:rPr>
              <a:t>: buen desempeño en distancias mayores.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Inmunidad a interferencias electromagnéticas</a:t>
            </a:r>
            <a:r>
              <a:rPr lang="es-ES" sz="4000" dirty="0">
                <a:latin typeface="Atkinson Hyperlegible"/>
              </a:rPr>
              <a:t>: alta estabilidad del enlace.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>
              <a:latin typeface="Atkinson Hyperlegible"/>
            </a:endParaRPr>
          </a:p>
          <a:p>
            <a:r>
              <a:rPr lang="es-ES" sz="4000" b="1" dirty="0">
                <a:latin typeface="Atkinson Hyperlegible"/>
              </a:rPr>
              <a:t>Limitaciones:</a:t>
            </a:r>
            <a:endParaRPr lang="es-ES" sz="40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Instalación y terminación</a:t>
            </a:r>
            <a:r>
              <a:rPr lang="es-ES" sz="4000" dirty="0">
                <a:latin typeface="Atkinson Hyperlegible"/>
              </a:rPr>
              <a:t> más delicadas (manejo físico y conectividad).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latin typeface="Atkinson Hyperlegible"/>
              </a:rPr>
              <a:t>Costo</a:t>
            </a:r>
            <a:r>
              <a:rPr lang="es-ES" sz="4000" dirty="0">
                <a:latin typeface="Atkinson Hyperlegible"/>
              </a:rPr>
              <a:t> de equipos ópticos y componentes (según escenario).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Requiere buenas prácticas en </a:t>
            </a:r>
            <a:r>
              <a:rPr lang="es-ES" sz="4000" b="1" dirty="0">
                <a:latin typeface="Atkinson Hyperlegible"/>
              </a:rPr>
              <a:t>conectores/empalmes</a:t>
            </a:r>
            <a:r>
              <a:rPr lang="es-ES" sz="4000" dirty="0">
                <a:latin typeface="Atkinson Hyperlegible"/>
              </a:rPr>
              <a:t> para evitar pérdidas.</a:t>
            </a:r>
          </a:p>
          <a:p>
            <a:endParaRPr lang="es-E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E1BDFE-368F-5E25-7112-8EF2DA3E64B2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>
                <a:latin typeface="Atkinson Hyperlegible"/>
              </a:rPr>
              <a:t>Referencia: </a:t>
            </a:r>
            <a:r>
              <a:rPr lang="es-ES" sz="2400" dirty="0" err="1">
                <a:latin typeface="Atkinson Hyperlegible"/>
              </a:rPr>
              <a:t>ITU</a:t>
            </a:r>
            <a:r>
              <a:rPr lang="es-ES" sz="2400" dirty="0">
                <a:latin typeface="Atkinson Hyperlegible"/>
              </a:rPr>
              <a:t>-T </a:t>
            </a:r>
            <a:r>
              <a:rPr lang="es-ES" sz="2400" dirty="0" err="1">
                <a:latin typeface="Atkinson Hyperlegible"/>
              </a:rPr>
              <a:t>G.652</a:t>
            </a:r>
            <a:r>
              <a:rPr lang="es-ES" sz="2400" dirty="0">
                <a:latin typeface="Atkinson Hyperlegible"/>
              </a:rPr>
              <a:t> / ANSI/</a:t>
            </a:r>
            <a:r>
              <a:rPr lang="es-ES" sz="2400" dirty="0" err="1">
                <a:latin typeface="Atkinson Hyperlegible"/>
              </a:rPr>
              <a:t>TIA</a:t>
            </a:r>
            <a:r>
              <a:rPr lang="es-ES" sz="2400" dirty="0">
                <a:latin typeface="Atkinson Hyperlegible"/>
              </a:rPr>
              <a:t>-568.3-E</a:t>
            </a:r>
          </a:p>
        </p:txBody>
      </p:sp>
    </p:spTree>
    <p:extLst>
      <p:ext uri="{BB962C8B-B14F-4D97-AF65-F5344CB8AC3E}">
        <p14:creationId xmlns:p14="http://schemas.microsoft.com/office/powerpoint/2010/main" val="363435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9D0D2-E969-81C9-C921-E50F03C4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0DCFA03-3D24-BA51-4601-3AF4F7E673E1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E75E70A-6EDD-1DEB-D57B-71667B671A90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INALÁMBRICAS (LAN/MAN/WAN)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8210F9-52A5-49AB-E45A-EF7D8779F5C5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Vista general</a:t>
            </a:r>
            <a:endParaRPr lang="es-CL" sz="40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14626BB5-CFF4-AA74-8FA6-141F0BE0E9A8}"/>
              </a:ext>
            </a:extLst>
          </p:cNvPr>
          <p:cNvSpPr/>
          <p:nvPr/>
        </p:nvSpPr>
        <p:spPr>
          <a:xfrm>
            <a:off x="846666" y="3168573"/>
            <a:ext cx="17775273" cy="563231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Una red inalámbrica de datos usa Radiofrecuencia (RF) como medio para transportar información.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Permite conectividad sin cable directo al usuario/equipo, facilitando movilidad y despliegue rápido.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Se puede clasificar por alcance: LAN, MAN y WAN.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El rendimiento puede variar por interferencias, distancia y obstáculos.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En un diseño real, lo inalámbrico suele requerir un enlace de respaldo/retorno hacia la red cableada (</a:t>
            </a:r>
            <a:r>
              <a:rPr lang="es-ES" sz="4000" dirty="0" err="1">
                <a:latin typeface="Atkinson Hyperlegible"/>
              </a:rPr>
              <a:t>backhaul</a:t>
            </a:r>
            <a:r>
              <a:rPr lang="es-ES" sz="4000" dirty="0">
                <a:latin typeface="Atkinson Hyperlegible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C22A5B-3D17-5B47-6E91-9278CD689E3E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>
                <a:latin typeface="Atkinson Hyperlegible"/>
              </a:rPr>
              <a:t>Referencia: IEEE 802.11 (</a:t>
            </a:r>
            <a:r>
              <a:rPr lang="es-ES" sz="2400" dirty="0" err="1">
                <a:latin typeface="Atkinson Hyperlegible"/>
              </a:rPr>
              <a:t>Wi</a:t>
            </a:r>
            <a:r>
              <a:rPr lang="es-ES" sz="2400" dirty="0">
                <a:latin typeface="Atkinson Hyperlegible"/>
              </a:rPr>
              <a:t>-Fi / Wireless LAN)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4E5B3077-CD48-864E-FADA-8C8F6B60F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803" y="8018039"/>
            <a:ext cx="2598998" cy="173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C3E5B818-9C77-D1D2-F67B-BA11287F9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0108" y="8018038"/>
            <a:ext cx="2598998" cy="173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>
            <a:extLst>
              <a:ext uri="{FF2B5EF4-FFF2-40B4-BE49-F238E27FC236}">
                <a16:creationId xmlns:a16="http://schemas.microsoft.com/office/drawing/2014/main" id="{76BC4239-4A50-97BE-7596-4B401852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7402" y="8130663"/>
            <a:ext cx="2900997" cy="229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07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41C76-AA6E-2693-2B7D-B90A79AF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BDAACE5-580C-8529-347D-367E0C01FC2E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EB316822-E189-A393-4B68-08E087376CEB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INALÁMBRICAS (LAN/MAN/WAN)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7EC537-C3B5-6540-BD15-C153D810B389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Clasificación de redes inalámbricas: LAN / MAN / WAN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EA0C1F-7D39-6562-662D-6118C78E1476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pt-BR" sz="2400" b="1" dirty="0"/>
              <a:t>Referencia:</a:t>
            </a:r>
            <a:r>
              <a:rPr lang="pt-BR" sz="2400" dirty="0"/>
              <a:t> IEEE 802.11 / ITU-R </a:t>
            </a:r>
            <a:r>
              <a:rPr lang="pt-BR" sz="2400" dirty="0" err="1"/>
              <a:t>P.530</a:t>
            </a:r>
            <a:r>
              <a:rPr lang="pt-BR" sz="2400" dirty="0"/>
              <a:t> / ITU-R </a:t>
            </a:r>
            <a:r>
              <a:rPr lang="pt-BR" sz="2400" dirty="0" err="1"/>
              <a:t>P.618</a:t>
            </a:r>
            <a:r>
              <a:rPr lang="es-ES" sz="2400" dirty="0">
                <a:latin typeface="Atkinson Hyperlegible"/>
              </a:rPr>
              <a:t>)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E8A2F15-2380-8690-3686-90DCC71C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828110"/>
              </p:ext>
            </p:extLst>
          </p:nvPr>
        </p:nvGraphicFramePr>
        <p:xfrm>
          <a:off x="986472" y="3337084"/>
          <a:ext cx="18673124" cy="4587715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4668281">
                  <a:extLst>
                    <a:ext uri="{9D8B030D-6E8A-4147-A177-3AD203B41FA5}">
                      <a16:colId xmlns:a16="http://schemas.microsoft.com/office/drawing/2014/main" val="3062754872"/>
                    </a:ext>
                  </a:extLst>
                </a:gridCol>
                <a:gridCol w="4668281">
                  <a:extLst>
                    <a:ext uri="{9D8B030D-6E8A-4147-A177-3AD203B41FA5}">
                      <a16:colId xmlns:a16="http://schemas.microsoft.com/office/drawing/2014/main" val="1674047581"/>
                    </a:ext>
                  </a:extLst>
                </a:gridCol>
                <a:gridCol w="4668281">
                  <a:extLst>
                    <a:ext uri="{9D8B030D-6E8A-4147-A177-3AD203B41FA5}">
                      <a16:colId xmlns:a16="http://schemas.microsoft.com/office/drawing/2014/main" val="178483494"/>
                    </a:ext>
                  </a:extLst>
                </a:gridCol>
                <a:gridCol w="4668281">
                  <a:extLst>
                    <a:ext uri="{9D8B030D-6E8A-4147-A177-3AD203B41FA5}">
                      <a16:colId xmlns:a16="http://schemas.microsoft.com/office/drawing/2014/main" val="1761684453"/>
                    </a:ext>
                  </a:extLst>
                </a:gridCol>
              </a:tblGrid>
              <a:tr h="705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 dirty="0">
                          <a:latin typeface="Atkinson Hyperlegible"/>
                        </a:rPr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Alcance (idea general)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Ejemplo típico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Enfoque clave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249871"/>
                  </a:ext>
                </a:extLst>
              </a:tr>
              <a:tr h="129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000" b="1">
                          <a:latin typeface="Atkinson Hyperlegible"/>
                        </a:rPr>
                        <a:t>LAN (Red de Área Local)</a:t>
                      </a:r>
                      <a:endParaRPr lang="es-ES" sz="30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edificio / sede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 b="1">
                          <a:latin typeface="Atkinson Hyperlegible"/>
                        </a:rPr>
                        <a:t>Wi-Fi (Access Point)</a:t>
                      </a:r>
                      <a:endParaRPr lang="es-CL" sz="30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movilidad y cobertura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674375"/>
                  </a:ext>
                </a:extLst>
              </a:tr>
              <a:tr h="129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000" b="1">
                          <a:latin typeface="Atkinson Hyperlegible"/>
                        </a:rPr>
                        <a:t>MAN (Red de Área Metropolitana)</a:t>
                      </a:r>
                      <a:endParaRPr lang="es-ES" sz="30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campus / ciudad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 b="1">
                          <a:latin typeface="Atkinson Hyperlegible"/>
                        </a:rPr>
                        <a:t>enlace inalámbrico punto a punto</a:t>
                      </a:r>
                      <a:endParaRPr lang="es-CL" sz="30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interconectar sedes cercanas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832769"/>
                  </a:ext>
                </a:extLst>
              </a:tr>
              <a:tr h="129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000" b="1">
                          <a:latin typeface="Atkinson Hyperlegible"/>
                        </a:rPr>
                        <a:t>WAN (Red de Área Amplia)</a:t>
                      </a:r>
                      <a:endParaRPr lang="es-ES" sz="3000">
                        <a:latin typeface="Atkinson Hyperlegibl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>
                          <a:latin typeface="Atkinson Hyperlegible"/>
                        </a:rPr>
                        <a:t>regional / global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3000" b="1">
                          <a:latin typeface="Atkinson Hyperlegible"/>
                        </a:rPr>
                        <a:t>satélite</a:t>
                      </a:r>
                      <a:r>
                        <a:rPr lang="es-ES" sz="3000">
                          <a:latin typeface="Atkinson Hyperlegible"/>
                        </a:rPr>
                        <a:t> o enlaces de mayor alcance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3000" dirty="0">
                          <a:latin typeface="Atkinson Hyperlegible"/>
                        </a:rPr>
                        <a:t>conectar sedes remotas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118071"/>
                  </a:ext>
                </a:extLst>
              </a:tr>
            </a:tbl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DCDE52C9-6BD9-8747-5A8A-15444B30A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126" y="822294"/>
            <a:ext cx="16402868" cy="966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52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7EF77-4145-1212-A48F-D2A5CFCD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E5395E2-8A13-0970-5C39-F8556C44A63E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997CB013-E6F5-685F-0C2D-F7ADAC961563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INALÁMBRICAS (LAN/MAN/WAN)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D193AB-F1DB-3C89-8AF5-BE4978A06483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LAN inalámbrica: </a:t>
            </a:r>
            <a:r>
              <a:rPr lang="es-ES" sz="4000" dirty="0" err="1">
                <a:latin typeface="Atkinson Hyperlegible"/>
              </a:rPr>
              <a:t>Wi</a:t>
            </a:r>
            <a:r>
              <a:rPr lang="es-ES" sz="4000" dirty="0">
                <a:latin typeface="Atkinson Hyperlegible"/>
              </a:rPr>
              <a:t>-Fi y Access Point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CAC11A-693C-3A09-6BCC-C27865B24C6E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CL" sz="2400" b="1" dirty="0">
                <a:latin typeface="Atkinson Hyperlegible"/>
              </a:rPr>
              <a:t>Referencia:</a:t>
            </a:r>
            <a:r>
              <a:rPr lang="es-CL" sz="2400" dirty="0">
                <a:latin typeface="Atkinson Hyperlegible"/>
              </a:rPr>
              <a:t> IEEE 802.11 (</a:t>
            </a:r>
            <a:r>
              <a:rPr lang="es-CL" sz="2400" dirty="0" err="1">
                <a:latin typeface="Atkinson Hyperlegible"/>
              </a:rPr>
              <a:t>Wi</a:t>
            </a:r>
            <a:r>
              <a:rPr lang="es-CL" sz="2400" dirty="0">
                <a:latin typeface="Atkinson Hyperlegible"/>
              </a:rPr>
              <a:t>-Fi / Wireless LAN</a:t>
            </a:r>
            <a:r>
              <a:rPr lang="es-ES" sz="2400" dirty="0">
                <a:latin typeface="Atkinson Hyperlegible"/>
              </a:rPr>
              <a:t>)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76FAA884-5C5D-3B86-B040-7606E80F3CD2}"/>
              </a:ext>
            </a:extLst>
          </p:cNvPr>
          <p:cNvSpPr/>
          <p:nvPr/>
        </p:nvSpPr>
        <p:spPr>
          <a:xfrm>
            <a:off x="846666" y="3168573"/>
            <a:ext cx="17775273" cy="5016758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 err="1">
                <a:latin typeface="Atkinson Hyperlegible"/>
              </a:rPr>
              <a:t>Wi</a:t>
            </a:r>
            <a:r>
              <a:rPr lang="es-ES" sz="4000" dirty="0">
                <a:latin typeface="Atkinson Hyperlegible"/>
              </a:rPr>
              <a:t>-Fi: red inalámbrica de datos orientada a LAN (Red de Área Local).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Access Point (Punto de acceso): conecta usuarios inalámbricos a la red y entrega cobertura.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Beneficio principal: movilidad y flexibilidad en el acceso.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Limitaciones típicas: interferencias, obstáculos, y rendimiento variable según el entorno.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En la práctica, el Access Point se conecta a la red por un enlace de retorno (</a:t>
            </a:r>
            <a:r>
              <a:rPr lang="es-ES" sz="4000" dirty="0" err="1">
                <a:latin typeface="Atkinson Hyperlegible"/>
              </a:rPr>
              <a:t>backhaul</a:t>
            </a:r>
            <a:r>
              <a:rPr lang="es-ES" sz="4000" dirty="0">
                <a:latin typeface="Atkinson Hyperlegible"/>
              </a:rPr>
              <a:t>) (habitualmente por pares de cobre o fibra óptica).</a:t>
            </a:r>
          </a:p>
        </p:txBody>
      </p:sp>
    </p:spTree>
    <p:extLst>
      <p:ext uri="{BB962C8B-B14F-4D97-AF65-F5344CB8AC3E}">
        <p14:creationId xmlns:p14="http://schemas.microsoft.com/office/powerpoint/2010/main" val="275457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6E80A-5BBA-E9E7-4A1A-770C4228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29E2CF3-556E-244B-F32A-0138A74FC3BB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2494F36-CFD8-72B4-F85D-17B80A0D2253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INALÁMBRICAS (LAN/MAN/WAN)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4B0F04-7154-10FA-73B8-19B72A63EAB6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MAN/WAN inalámbrico: enlaces punto a punto y satélite (visión general)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2AC65C-108E-81B6-28A3-DAC62CA5DD4F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CL" sz="2400" dirty="0">
                <a:latin typeface="Atkinson Hyperlegible"/>
              </a:rPr>
              <a:t>Referencia: </a:t>
            </a:r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-R </a:t>
            </a:r>
            <a:r>
              <a:rPr lang="es-CL" sz="2400" dirty="0" err="1">
                <a:latin typeface="Atkinson Hyperlegible"/>
              </a:rPr>
              <a:t>P.530</a:t>
            </a:r>
            <a:r>
              <a:rPr lang="es-CL" sz="2400" dirty="0">
                <a:latin typeface="Atkinson Hyperlegible"/>
              </a:rPr>
              <a:t> (enlaces terrestres LOS) / </a:t>
            </a:r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-R </a:t>
            </a:r>
            <a:r>
              <a:rPr lang="es-CL" sz="2400" dirty="0" err="1">
                <a:latin typeface="Atkinson Hyperlegible"/>
              </a:rPr>
              <a:t>P.618</a:t>
            </a:r>
            <a:r>
              <a:rPr lang="es-CL" sz="2400" dirty="0">
                <a:latin typeface="Atkinson Hyperlegible"/>
              </a:rPr>
              <a:t> (Tierra-espacio)</a:t>
            </a:r>
            <a:endParaRPr lang="es-ES" sz="24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DC08EA38-D1E0-0FEC-CD9B-08221D2BD20E}"/>
              </a:ext>
            </a:extLst>
          </p:cNvPr>
          <p:cNvSpPr/>
          <p:nvPr/>
        </p:nvSpPr>
        <p:spPr>
          <a:xfrm>
            <a:off x="846666" y="3168573"/>
            <a:ext cx="17775273" cy="3170099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Para MAN (Red de Área Metropolitana) se usan enlaces inalámbricos punto a punto para interconectar sedes.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Suelen requerir línea de vista (LOS) y planificación del trayecto.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Para WAN (Red de Área Amplia), el enlace satelital permite conectar ubicaciones remotas donde no hay infraestructura cableada.</a:t>
            </a:r>
          </a:p>
        </p:txBody>
      </p:sp>
    </p:spTree>
    <p:extLst>
      <p:ext uri="{BB962C8B-B14F-4D97-AF65-F5344CB8AC3E}">
        <p14:creationId xmlns:p14="http://schemas.microsoft.com/office/powerpoint/2010/main" val="62398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51BE5-3909-0C74-B281-525084AC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7DCD09D-33F0-6A8C-235F-5B2AFFF766FC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6EA23419-36FC-4F1E-BBF9-910775F7ACA5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REDES INALÁMBRICAS (LAN/MAN/WAN)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3F75F3-FAEE-0EFE-A8F1-D2DA6971330C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¿Qué es </a:t>
            </a:r>
            <a:r>
              <a:rPr lang="es-ES" sz="4000" dirty="0" err="1">
                <a:latin typeface="Atkinson Hyperlegible"/>
              </a:rPr>
              <a:t>MPLS</a:t>
            </a:r>
            <a:r>
              <a:rPr lang="es-ES" sz="4000" dirty="0">
                <a:latin typeface="Atkinson Hyperlegible"/>
              </a:rPr>
              <a:t> (</a:t>
            </a:r>
            <a:r>
              <a:rPr lang="es-ES" sz="4000" dirty="0" err="1">
                <a:latin typeface="Atkinson Hyperlegible"/>
              </a:rPr>
              <a:t>Multiprotocol</a:t>
            </a:r>
            <a:r>
              <a:rPr lang="es-ES" sz="4000" dirty="0">
                <a:latin typeface="Atkinson Hyperlegible"/>
              </a:rPr>
              <a:t> </a:t>
            </a:r>
            <a:r>
              <a:rPr lang="es-ES" sz="4000" dirty="0" err="1">
                <a:latin typeface="Atkinson Hyperlegible"/>
              </a:rPr>
              <a:t>Label</a:t>
            </a:r>
            <a:r>
              <a:rPr lang="es-ES" sz="4000" dirty="0">
                <a:latin typeface="Atkinson Hyperlegible"/>
              </a:rPr>
              <a:t> </a:t>
            </a:r>
            <a:r>
              <a:rPr lang="es-ES" sz="4000" dirty="0" err="1">
                <a:latin typeface="Atkinson Hyperlegible"/>
              </a:rPr>
              <a:t>Switching</a:t>
            </a:r>
            <a:r>
              <a:rPr lang="es-ES" sz="4000" dirty="0">
                <a:latin typeface="Atkinson Hyperlegible"/>
              </a:rPr>
              <a:t>)?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AB2925-FD74-9565-9DF8-686F93B348C6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ES" sz="2400" dirty="0">
                <a:latin typeface="Atkinson Hyperlegible"/>
              </a:rPr>
              <a:t>¿</a:t>
            </a:r>
            <a:r>
              <a:rPr lang="es-ES" sz="2400" dirty="0" err="1">
                <a:latin typeface="Atkinson Hyperlegible"/>
              </a:rPr>
              <a:t>MPLS</a:t>
            </a:r>
            <a:r>
              <a:rPr lang="es-ES" sz="2400" dirty="0">
                <a:latin typeface="Atkinson Hyperlegible"/>
              </a:rPr>
              <a:t> pertenece a “medio físico” o a “tecnología de red WAN”?</a:t>
            </a: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470A5725-0216-A729-39B6-CC93F5596F7F}"/>
              </a:ext>
            </a:extLst>
          </p:cNvPr>
          <p:cNvSpPr/>
          <p:nvPr/>
        </p:nvSpPr>
        <p:spPr>
          <a:xfrm>
            <a:off x="846666" y="3168573"/>
            <a:ext cx="17775273" cy="563231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 err="1">
                <a:latin typeface="Atkinson Hyperlegible"/>
              </a:rPr>
              <a:t>MPLS</a:t>
            </a:r>
            <a:r>
              <a:rPr lang="es-ES" sz="4000" dirty="0">
                <a:latin typeface="Atkinson Hyperlegible"/>
              </a:rPr>
              <a:t> es una tecnología de conmutación por etiquetas usada principalmente en redes WAN (Red de Área Amplia) de proveedores. </a:t>
            </a:r>
            <a:r>
              <a:rPr lang="es-ES" sz="4000" b="1" dirty="0">
                <a:latin typeface="Atkinson Hyperlegible"/>
              </a:rPr>
              <a:t>Es un protocolo.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Funciona sobre redes de Protocolo de Internet (IP), pero en lugar de decidir solo por “dirección”, usa una etiqueta (</a:t>
            </a:r>
            <a:r>
              <a:rPr lang="es-ES" sz="4000" dirty="0" err="1">
                <a:latin typeface="Atkinson Hyperlegible"/>
              </a:rPr>
              <a:t>label</a:t>
            </a:r>
            <a:r>
              <a:rPr lang="es-ES" sz="4000" dirty="0">
                <a:latin typeface="Atkinson Hyperlegible"/>
              </a:rPr>
              <a:t>) para reenviar tráfico.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Objetivo: transportar tráfico de forma eficiente y con control (rutas predeterminadas, priorización).Se usa para interconectar redes LAN de distintas sedes a través de una WAN gestionada.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 err="1">
                <a:latin typeface="Atkinson Hyperlegible"/>
              </a:rPr>
              <a:t>MPLS</a:t>
            </a:r>
            <a:r>
              <a:rPr lang="es-ES" sz="4000" dirty="0">
                <a:latin typeface="Atkinson Hyperlegible"/>
              </a:rPr>
              <a:t> NO es un medio físico: corre sobre infraestructura como fibra óptica o enlaces Radiofrecuencia (RF).</a:t>
            </a:r>
          </a:p>
        </p:txBody>
      </p:sp>
      <p:pic>
        <p:nvPicPr>
          <p:cNvPr id="13321" name="Picture 9" descr="Setting the MPLS MTU, and How it Affects You | Network Direction">
            <a:extLst>
              <a:ext uri="{FF2B5EF4-FFF2-40B4-BE49-F238E27FC236}">
                <a16:creationId xmlns:a16="http://schemas.microsoft.com/office/drawing/2014/main" id="{3E518280-AB81-40E8-2B2C-67C39FE6A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199" y="8249356"/>
            <a:ext cx="971723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3" name="Picture 11" descr="MPLS: ¿Qué es y cómo funciona? - Orbyta">
            <a:extLst>
              <a:ext uri="{FF2B5EF4-FFF2-40B4-BE49-F238E27FC236}">
                <a16:creationId xmlns:a16="http://schemas.microsoft.com/office/drawing/2014/main" id="{1723ED6F-50F2-2C75-D32D-305E9DD8A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134" y="0"/>
            <a:ext cx="16227998" cy="108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14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25231-4146-E749-2996-844960F8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8718F69-C94C-920D-67EE-CD7DE6DFDC16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22303B33-0951-27DE-E25C-76B9C2FB9177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PARES DE COBRE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5B4CFF-B01B-58E6-A899-C73AAD122629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Par trenzado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DDFC2A-A2AA-F901-E9F4-38ACA4D2F29D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CL" sz="2400" dirty="0">
                <a:latin typeface="Atkinson Hyperlegible"/>
              </a:rPr>
              <a:t>Referencia: ANSI/</a:t>
            </a:r>
            <a:r>
              <a:rPr lang="es-CL" sz="2400" dirty="0" err="1">
                <a:latin typeface="Atkinson Hyperlegible"/>
              </a:rPr>
              <a:t>TIA</a:t>
            </a:r>
            <a:r>
              <a:rPr lang="es-CL" sz="2400" dirty="0">
                <a:latin typeface="Atkinson Hyperlegible"/>
              </a:rPr>
              <a:t>-568.2-E (cableado balanceado / par trenzado)</a:t>
            </a:r>
            <a:endParaRPr lang="es-ES" sz="24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B5E11211-CDA6-8B07-7A2C-0853A5D90A89}"/>
              </a:ext>
            </a:extLst>
          </p:cNvPr>
          <p:cNvSpPr/>
          <p:nvPr/>
        </p:nvSpPr>
        <p:spPr>
          <a:xfrm>
            <a:off x="1164413" y="2441788"/>
            <a:ext cx="17775273" cy="6247864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Par trenzado (pares de cobre): medio guiado formado por conductores metálicos trenzados.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El trenzado ayuda a reducir efectos de interferencia y acoplamientos no deseados.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Es un medio muy usado en LAN (Red de Área Local) por su costo y facilidad de instalación.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Uso típico: conexiones de usuarios/equipos a switches y </a:t>
            </a:r>
            <a:r>
              <a:rPr lang="es-ES" sz="4000" dirty="0" err="1">
                <a:latin typeface="Atkinson Hyperlegible"/>
              </a:rPr>
              <a:t>backhaul</a:t>
            </a:r>
            <a:r>
              <a:rPr lang="es-ES" sz="4000" dirty="0">
                <a:latin typeface="Atkinson Hyperlegible"/>
              </a:rPr>
              <a:t> de Access Point hacia la red.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dirty="0">
                <a:latin typeface="Atkinson Hyperlegible"/>
              </a:rPr>
              <a:t>Se selecciona considerando requisitos de capacidad, distancia y condiciones del entorno.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" sz="4000" b="1" dirty="0"/>
              <a:t>Cobre es la base del acceso LAN por costo y simplicidad.</a:t>
            </a:r>
            <a:endParaRPr lang="es-ES" sz="4000" dirty="0">
              <a:latin typeface="Atkinson Hyperlegible"/>
            </a:endParaRPr>
          </a:p>
        </p:txBody>
      </p:sp>
      <p:pic>
        <p:nvPicPr>
          <p:cNvPr id="14338" name="Picture 2" descr="Todo lo que necesita saber sobre los conceptos básicos del cable de cobre -  QSFPTEK">
            <a:extLst>
              <a:ext uri="{FF2B5EF4-FFF2-40B4-BE49-F238E27FC236}">
                <a16:creationId xmlns:a16="http://schemas.microsoft.com/office/drawing/2014/main" id="{4BD0B1ED-FDCD-622A-E194-ECFF3E906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956" y="922780"/>
            <a:ext cx="12584209" cy="523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Cableado de Cobre Tipos y conectorización">
            <a:extLst>
              <a:ext uri="{FF2B5EF4-FFF2-40B4-BE49-F238E27FC236}">
                <a16:creationId xmlns:a16="http://schemas.microsoft.com/office/drawing/2014/main" id="{D1F8C482-DD2A-2FDF-B2D1-8F204BE76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152" y="6336214"/>
            <a:ext cx="8509867" cy="470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Qué Cable de Red usar para Cada Situación? - Lazarus">
            <a:extLst>
              <a:ext uri="{FF2B5EF4-FFF2-40B4-BE49-F238E27FC236}">
                <a16:creationId xmlns:a16="http://schemas.microsoft.com/office/drawing/2014/main" id="{E50F0F5B-3392-B37A-036B-5EABE5CD8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4019" y="6501481"/>
            <a:ext cx="7763551" cy="437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51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CFC85-1DE7-E502-6FD1-E927AADC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9A774AF-EA21-38C3-F449-431AD4BF146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9538CBC7-C824-1932-1F1B-C8A8F2FEA6E0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PARES DE COBRE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AC18E9-E5A2-3D21-D3E3-C115D0787370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latin typeface="Atkinson Hyperlegible"/>
              </a:rPr>
              <a:t>Pares de cobre: ventajas, limitaciones y criterios de selección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88622C-5F3A-8129-4FF8-32B0D3B2194F}"/>
              </a:ext>
            </a:extLst>
          </p:cNvPr>
          <p:cNvSpPr txBox="1"/>
          <p:nvPr/>
        </p:nvSpPr>
        <p:spPr>
          <a:xfrm>
            <a:off x="846666" y="933520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CL" sz="2400" dirty="0">
                <a:latin typeface="Atkinson Hyperlegible"/>
              </a:rPr>
              <a:t>Referencia: ANSI/</a:t>
            </a:r>
            <a:r>
              <a:rPr lang="es-CL" sz="2400" dirty="0" err="1">
                <a:latin typeface="Atkinson Hyperlegible"/>
              </a:rPr>
              <a:t>TIA</a:t>
            </a:r>
            <a:r>
              <a:rPr lang="es-CL" sz="2400" dirty="0">
                <a:latin typeface="Atkinson Hyperlegible"/>
              </a:rPr>
              <a:t>-568.2-E / IEEE 802.3 (Ethernet))</a:t>
            </a:r>
            <a:endParaRPr lang="es-ES" sz="24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2231E5B9-2CE1-BE87-FA13-1C4994BE2C49}"/>
              </a:ext>
            </a:extLst>
          </p:cNvPr>
          <p:cNvSpPr/>
          <p:nvPr/>
        </p:nvSpPr>
        <p:spPr>
          <a:xfrm>
            <a:off x="1382156" y="2266531"/>
            <a:ext cx="17775273" cy="7355860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latin typeface="Atkinson Hyperlegible"/>
              </a:rPr>
              <a:t>Ventajas:</a:t>
            </a:r>
            <a:endParaRPr lang="es-ES" sz="36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Costo bajo</a:t>
            </a:r>
            <a:r>
              <a:rPr lang="es-ES" sz="3600" dirty="0">
                <a:latin typeface="Atkinson Hyperlegible"/>
              </a:rPr>
              <a:t> y amplia disponibilidad en instalaciones LAN.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Instalación sencilla</a:t>
            </a:r>
            <a:r>
              <a:rPr lang="es-ES" sz="3600" dirty="0">
                <a:latin typeface="Atkinson Hyperlegible"/>
              </a:rPr>
              <a:t> y mantenimiento práctico.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Adecuado para conexiones de </a:t>
            </a:r>
            <a:r>
              <a:rPr lang="es-ES" sz="3600" b="1" dirty="0">
                <a:latin typeface="Atkinson Hyperlegible"/>
              </a:rPr>
              <a:t>acceso</a:t>
            </a:r>
            <a:r>
              <a:rPr lang="es-ES" sz="3600" dirty="0">
                <a:latin typeface="Atkinson Hyperlegible"/>
              </a:rPr>
              <a:t> (equipos/usuarios) y tramos cortos.</a:t>
            </a:r>
          </a:p>
          <a:p>
            <a:r>
              <a:rPr lang="es-ES" sz="3600" b="1" dirty="0">
                <a:latin typeface="Atkinson Hyperlegible"/>
              </a:rPr>
              <a:t>Limitaciones:</a:t>
            </a:r>
            <a:endParaRPr lang="es-ES" sz="36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Alcance limitado</a:t>
            </a:r>
            <a:r>
              <a:rPr lang="es-ES" sz="3600" dirty="0">
                <a:latin typeface="Atkinson Hyperlegible"/>
              </a:rPr>
              <a:t> comparado con fibra óptica en escenarios de mayor distancia.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Mayor sensibilidad a </a:t>
            </a:r>
            <a:r>
              <a:rPr lang="es-ES" sz="3600" b="1" dirty="0">
                <a:latin typeface="Atkinson Hyperlegible"/>
              </a:rPr>
              <a:t>interferencias</a:t>
            </a:r>
            <a:r>
              <a:rPr lang="es-ES" sz="3600" dirty="0">
                <a:latin typeface="Atkinson Hyperlegible"/>
              </a:rPr>
              <a:t> en entornos con ruido electromagnético.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>
                <a:latin typeface="Atkinson Hyperlegible"/>
              </a:rPr>
              <a:t>La capacidad y estabilidad dependen del </a:t>
            </a:r>
            <a:r>
              <a:rPr lang="es-ES" sz="3600" b="1" dirty="0">
                <a:latin typeface="Atkinson Hyperlegible"/>
              </a:rPr>
              <a:t>entorno</a:t>
            </a:r>
            <a:r>
              <a:rPr lang="es-ES" sz="3600" dirty="0">
                <a:latin typeface="Atkinson Hyperlegible"/>
              </a:rPr>
              <a:t> y de la calidad de instalación.</a:t>
            </a:r>
          </a:p>
          <a:p>
            <a:r>
              <a:rPr lang="es-ES" sz="3600" b="1" dirty="0">
                <a:latin typeface="Atkinson Hyperlegible"/>
              </a:rPr>
              <a:t>Criterios de selección:</a:t>
            </a:r>
            <a:endParaRPr lang="es-ES" sz="3600" dirty="0">
              <a:latin typeface="Atkinson Hyperlegibl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Distancia</a:t>
            </a:r>
            <a:r>
              <a:rPr lang="es-ES" sz="3600" dirty="0">
                <a:latin typeface="Atkinson Hyperlegible"/>
              </a:rPr>
              <a:t> del tramo (si crece, evaluar fibra).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Capacidad requerida</a:t>
            </a:r>
            <a:r>
              <a:rPr lang="es-ES" sz="3600" dirty="0">
                <a:latin typeface="Atkinson Hyperlegible"/>
              </a:rPr>
              <a:t> (si aumenta, evaluar fibra).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latin typeface="Atkinson Hyperlegible"/>
              </a:rPr>
              <a:t>Interferencias del entorno</a:t>
            </a:r>
            <a:r>
              <a:rPr lang="es-ES" sz="3600" dirty="0">
                <a:latin typeface="Atkinson Hyperlegible"/>
              </a:rPr>
              <a:t> (si son altas, preferir fibra).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s-ES" sz="4000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166762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9C63D-4434-D08D-3730-63A8DC28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466AD6F-0EF1-0971-76F2-F5F1EF6717EF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8940D32A-D1AF-136E-3EB9-48093CAEC83E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PARES DE COBRE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DEEED8-A7AD-F3C7-17CA-E9E26F20A598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Integración: ¿Dónde se usa cada medio en un diseño real?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E0E952-BF53-1249-5EFB-22A8D0B3311A}"/>
              </a:ext>
            </a:extLst>
          </p:cNvPr>
          <p:cNvSpPr txBox="1"/>
          <p:nvPr/>
        </p:nvSpPr>
        <p:spPr>
          <a:xfrm>
            <a:off x="846666" y="9335206"/>
            <a:ext cx="103809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CL" sz="2400" dirty="0">
                <a:latin typeface="Atkinson Hyperlegible"/>
              </a:rPr>
              <a:t>IEEE 802.11 (</a:t>
            </a:r>
            <a:r>
              <a:rPr lang="es-CL" sz="2400" dirty="0" err="1">
                <a:latin typeface="Atkinson Hyperlegible"/>
              </a:rPr>
              <a:t>Wi</a:t>
            </a:r>
            <a:r>
              <a:rPr lang="es-CL" sz="2400" dirty="0">
                <a:latin typeface="Atkinson Hyperlegible"/>
              </a:rPr>
              <a:t>-Fi / Wireless LAN)ANSI/</a:t>
            </a:r>
            <a:r>
              <a:rPr lang="es-CL" sz="2400" dirty="0" err="1">
                <a:latin typeface="Atkinson Hyperlegible"/>
              </a:rPr>
              <a:t>TIA</a:t>
            </a:r>
            <a:r>
              <a:rPr lang="es-CL" sz="2400" dirty="0">
                <a:latin typeface="Atkinson Hyperlegible"/>
              </a:rPr>
              <a:t>-568.2-E (par trenzado)</a:t>
            </a:r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-T </a:t>
            </a:r>
            <a:r>
              <a:rPr lang="es-CL" sz="2400" dirty="0" err="1">
                <a:latin typeface="Atkinson Hyperlegible"/>
              </a:rPr>
              <a:t>G.652</a:t>
            </a:r>
            <a:r>
              <a:rPr lang="es-CL" sz="2400" dirty="0">
                <a:latin typeface="Atkinson Hyperlegible"/>
              </a:rPr>
              <a:t> (fibra monomodo)IEEE 802.3 (Ethernet)</a:t>
            </a:r>
            <a:endParaRPr lang="es-ES" sz="24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2347EA3F-E456-6942-D111-E98536AAD449}"/>
              </a:ext>
            </a:extLst>
          </p:cNvPr>
          <p:cNvSpPr/>
          <p:nvPr/>
        </p:nvSpPr>
        <p:spPr>
          <a:xfrm>
            <a:off x="1159904" y="4185932"/>
            <a:ext cx="18721944" cy="64633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3600" dirty="0"/>
              <a:t>Usuario (</a:t>
            </a:r>
            <a:r>
              <a:rPr lang="es-CL" sz="3600" dirty="0" err="1"/>
              <a:t>Wi</a:t>
            </a:r>
            <a:r>
              <a:rPr lang="es-CL" sz="3600" dirty="0"/>
              <a:t>-Fi) → Access Point → (</a:t>
            </a:r>
            <a:r>
              <a:rPr lang="es-CL" sz="3600" dirty="0" err="1"/>
              <a:t>Backhaul</a:t>
            </a:r>
            <a:r>
              <a:rPr lang="es-CL" sz="3600" dirty="0"/>
              <a:t>) → Switch/Rack → (Troncal) → Enlace a sede remota</a:t>
            </a:r>
            <a:endParaRPr lang="es-ES" sz="4000" dirty="0">
              <a:latin typeface="Atkinson Hyperlegible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FAD6928-E582-5A52-4E36-84F897705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47" y="5222007"/>
            <a:ext cx="1815952" cy="141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4E79DB36-A03E-8C74-FCA8-56687FBBD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076" y="5131833"/>
            <a:ext cx="2374146" cy="158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B632BE47-3617-0D59-C869-458677C77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082" y="5424046"/>
            <a:ext cx="2581102" cy="129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72F7F3E8-FFA2-9B15-7851-7F280FE7A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7065" y="5283993"/>
            <a:ext cx="1980836" cy="143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8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4B6C6-01E0-A6CF-4C50-0D8BCA91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13AD61D-2F4E-580E-EA5B-DA29D845B745}"/>
              </a:ext>
            </a:extLst>
          </p:cNvPr>
          <p:cNvCxnSpPr>
            <a:cxnSpLocks/>
          </p:cNvCxnSpPr>
          <p:nvPr/>
        </p:nvCxnSpPr>
        <p:spPr>
          <a:xfrm>
            <a:off x="679450" y="-136525"/>
            <a:ext cx="0" cy="1524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bject 3">
            <a:extLst>
              <a:ext uri="{FF2B5EF4-FFF2-40B4-BE49-F238E27FC236}">
                <a16:creationId xmlns:a16="http://schemas.microsoft.com/office/drawing/2014/main" id="{3E6A2999-4431-981E-A291-AA39C7CC367A}"/>
              </a:ext>
            </a:extLst>
          </p:cNvPr>
          <p:cNvSpPr txBox="1"/>
          <p:nvPr/>
        </p:nvSpPr>
        <p:spPr>
          <a:xfrm>
            <a:off x="1382157" y="-44605"/>
            <a:ext cx="18277439" cy="1609928"/>
          </a:xfrm>
          <a:prstGeom prst="rect">
            <a:avLst/>
          </a:prstGeom>
          <a:noFill/>
        </p:spPr>
        <p:txBody>
          <a:bodyPr vert="horz" wrap="square" lIns="0" tIns="349885" rIns="0" bIns="0" rtlCol="0">
            <a:spAutoFit/>
          </a:bodyPr>
          <a:lstStyle/>
          <a:p>
            <a:r>
              <a:rPr lang="es-ES" sz="4400" b="1" dirty="0">
                <a:latin typeface="Atkinson Hyperlegible" pitchFamily="2" charset="77"/>
              </a:rPr>
              <a:t>COMUNICACIONES EN PARES DE COBRE</a:t>
            </a:r>
          </a:p>
          <a:p>
            <a:pPr>
              <a:lnSpc>
                <a:spcPct val="150000"/>
              </a:lnSpc>
            </a:pPr>
            <a:endParaRPr lang="es-CL" sz="2800" b="1" kern="100" dirty="0">
              <a:effectLst/>
              <a:latin typeface="Atkinson Hyperlegible" pitchFamily="2" charset="77"/>
              <a:ea typeface="Calibri" panose="020F0502020204030204" pitchFamily="34" charset="0"/>
              <a:cs typeface="Gotham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87E6FD2-38D0-FD72-9177-85A4C27E8BCC}"/>
              </a:ext>
            </a:extLst>
          </p:cNvPr>
          <p:cNvSpPr txBox="1"/>
          <p:nvPr/>
        </p:nvSpPr>
        <p:spPr>
          <a:xfrm>
            <a:off x="1382156" y="1558645"/>
            <a:ext cx="1705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Integración: ¿Dónde se usa cada medio en un diseño real?</a:t>
            </a:r>
            <a:endParaRPr lang="es-CL" sz="4000" dirty="0">
              <a:latin typeface="Atkinson Hyperlegibl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A6AB15-1D7A-03B3-215B-985898BB3DC6}"/>
              </a:ext>
            </a:extLst>
          </p:cNvPr>
          <p:cNvSpPr txBox="1"/>
          <p:nvPr/>
        </p:nvSpPr>
        <p:spPr>
          <a:xfrm>
            <a:off x="846666" y="9335206"/>
            <a:ext cx="103809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</a:p>
          <a:p>
            <a:r>
              <a:rPr lang="es-CL" sz="2400" dirty="0">
                <a:latin typeface="Atkinson Hyperlegible"/>
              </a:rPr>
              <a:t>IEEE 802.11 (</a:t>
            </a:r>
            <a:r>
              <a:rPr lang="es-CL" sz="2400" dirty="0" err="1">
                <a:latin typeface="Atkinson Hyperlegible"/>
              </a:rPr>
              <a:t>Wi</a:t>
            </a:r>
            <a:r>
              <a:rPr lang="es-CL" sz="2400" dirty="0">
                <a:latin typeface="Atkinson Hyperlegible"/>
              </a:rPr>
              <a:t>-Fi / Wireless LAN)ANSI/</a:t>
            </a:r>
            <a:r>
              <a:rPr lang="es-CL" sz="2400" dirty="0" err="1">
                <a:latin typeface="Atkinson Hyperlegible"/>
              </a:rPr>
              <a:t>TIA</a:t>
            </a:r>
            <a:r>
              <a:rPr lang="es-CL" sz="2400" dirty="0">
                <a:latin typeface="Atkinson Hyperlegible"/>
              </a:rPr>
              <a:t>-568.2-E (par trenzado)</a:t>
            </a:r>
            <a:r>
              <a:rPr lang="es-CL" sz="2400" dirty="0" err="1">
                <a:latin typeface="Atkinson Hyperlegible"/>
              </a:rPr>
              <a:t>ITU</a:t>
            </a:r>
            <a:r>
              <a:rPr lang="es-CL" sz="2400" dirty="0">
                <a:latin typeface="Atkinson Hyperlegible"/>
              </a:rPr>
              <a:t>-T </a:t>
            </a:r>
            <a:r>
              <a:rPr lang="es-CL" sz="2400" dirty="0" err="1">
                <a:latin typeface="Atkinson Hyperlegible"/>
              </a:rPr>
              <a:t>G.652</a:t>
            </a:r>
            <a:r>
              <a:rPr lang="es-CL" sz="2400" dirty="0">
                <a:latin typeface="Atkinson Hyperlegible"/>
              </a:rPr>
              <a:t> (fibra monomodo)IEEE 802.3 (Ethernet)</a:t>
            </a:r>
            <a:endParaRPr lang="es-ES" sz="2400" dirty="0">
              <a:latin typeface="Atkinson Hyperlegible"/>
            </a:endParaRPr>
          </a:p>
        </p:txBody>
      </p:sp>
      <p:sp>
        <p:nvSpPr>
          <p:cNvPr id="3" name="5 Rectángulo">
            <a:extLst>
              <a:ext uri="{FF2B5EF4-FFF2-40B4-BE49-F238E27FC236}">
                <a16:creationId xmlns:a16="http://schemas.microsoft.com/office/drawing/2014/main" id="{692EF55D-A5D2-B517-3255-BD6FB683FAF9}"/>
              </a:ext>
            </a:extLst>
          </p:cNvPr>
          <p:cNvSpPr/>
          <p:nvPr/>
        </p:nvSpPr>
        <p:spPr>
          <a:xfrm>
            <a:off x="1382156" y="2284521"/>
            <a:ext cx="18721944" cy="5632311"/>
          </a:xfrm>
          <a:prstGeom prst="rect">
            <a:avLst/>
          </a:prstGeom>
          <a:noFill/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 err="1">
                <a:latin typeface="Atkinson Hyperlegible"/>
              </a:rPr>
              <a:t>Mini-caso</a:t>
            </a:r>
            <a:r>
              <a:rPr lang="es-ES" sz="3600" b="1" dirty="0">
                <a:latin typeface="Atkinson Hyperlegible"/>
              </a:rPr>
              <a:t> (5–7 min)</a:t>
            </a:r>
          </a:p>
          <a:p>
            <a:r>
              <a:rPr lang="es-ES" sz="3600" b="1" dirty="0">
                <a:latin typeface="Atkinson Hyperlegible"/>
              </a:rPr>
              <a:t>Escenario:</a:t>
            </a:r>
            <a:br>
              <a:rPr lang="es-ES" sz="3600" dirty="0">
                <a:latin typeface="Atkinson Hyperlegible"/>
              </a:rPr>
            </a:br>
            <a:r>
              <a:rPr lang="es-ES" sz="3600" dirty="0">
                <a:latin typeface="Atkinson Hyperlegible"/>
              </a:rPr>
              <a:t>“Una unidad requiere </a:t>
            </a:r>
            <a:r>
              <a:rPr lang="es-ES" sz="3600" dirty="0" err="1">
                <a:latin typeface="Atkinson Hyperlegible"/>
              </a:rPr>
              <a:t>Wi</a:t>
            </a:r>
            <a:r>
              <a:rPr lang="es-ES" sz="3600" dirty="0">
                <a:latin typeface="Atkinson Hyperlegible"/>
              </a:rPr>
              <a:t>-Fi para usuarios, conexión al rack de servidores y conectividad con otra unidad.”</a:t>
            </a:r>
          </a:p>
          <a:p>
            <a:r>
              <a:rPr lang="es-ES" sz="3600" b="1" dirty="0">
                <a:latin typeface="Atkinson Hyperlegible"/>
              </a:rPr>
              <a:t>Pregunta:</a:t>
            </a:r>
            <a:br>
              <a:rPr lang="es-ES" sz="3600" dirty="0">
                <a:latin typeface="Atkinson Hyperlegible"/>
              </a:rPr>
            </a:br>
            <a:r>
              <a:rPr lang="es-ES" sz="3600" b="1" dirty="0">
                <a:latin typeface="Atkinson Hyperlegible"/>
              </a:rPr>
              <a:t>Seleccione el medio más adecuado para cada tramo y justifique con 2 criterios (capacidad, alcance, interferencias, costo, latencia):</a:t>
            </a:r>
            <a:endParaRPr lang="es-ES" sz="3600" dirty="0">
              <a:latin typeface="Atkinson Hyperlegible"/>
            </a:endParaRPr>
          </a:p>
          <a:p>
            <a:r>
              <a:rPr lang="es-ES" sz="3600" dirty="0">
                <a:latin typeface="Atkinson Hyperlegible"/>
              </a:rPr>
              <a:t>Usuario ↔ Access Point</a:t>
            </a:r>
          </a:p>
          <a:p>
            <a:r>
              <a:rPr lang="es-ES" sz="3600" dirty="0">
                <a:latin typeface="Atkinson Hyperlegible"/>
              </a:rPr>
              <a:t>Access Point ↔ Switch/Rack</a:t>
            </a:r>
          </a:p>
          <a:p>
            <a:r>
              <a:rPr lang="es-ES" sz="3600" dirty="0">
                <a:latin typeface="Atkinson Hyperlegible"/>
              </a:rPr>
              <a:t>Sede ↔ sede remota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400793-E200-A476-4F3A-FEBF023F9F65}"/>
              </a:ext>
            </a:extLst>
          </p:cNvPr>
          <p:cNvSpPr txBox="1"/>
          <p:nvPr/>
        </p:nvSpPr>
        <p:spPr>
          <a:xfrm>
            <a:off x="7249964" y="8242526"/>
            <a:ext cx="1038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tkinson Hyperlegible"/>
              </a:rPr>
              <a:t>⚠️ </a:t>
            </a:r>
            <a:r>
              <a:rPr lang="es-ES" sz="2400" b="1" dirty="0">
                <a:latin typeface="Atkinson Hyperlegible"/>
              </a:rPr>
              <a:t>Nota al margen:</a:t>
            </a:r>
            <a:br>
              <a:rPr lang="es-ES" sz="2400" dirty="0">
                <a:latin typeface="Atkinson Hyperlegible"/>
              </a:rPr>
            </a:br>
            <a:r>
              <a:rPr lang="es-ES" sz="2400" dirty="0">
                <a:latin typeface="Atkinson Hyperlegible"/>
              </a:rPr>
              <a:t>usar draw.io</a:t>
            </a:r>
            <a:endParaRPr lang="es-ES" sz="2400" b="1" dirty="0">
              <a:latin typeface="Atkinson Hyperlegible"/>
            </a:endParaRPr>
          </a:p>
        </p:txBody>
      </p:sp>
    </p:spTree>
    <p:extLst>
      <p:ext uri="{BB962C8B-B14F-4D97-AF65-F5344CB8AC3E}">
        <p14:creationId xmlns:p14="http://schemas.microsoft.com/office/powerpoint/2010/main" val="287726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02B9-EA61-B724-86FF-88F84748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FCF618F-7E6E-94DB-387A-84F2016E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050" name="Picture 2" descr="C:\Users\FHidalgoP\Downloads\Diapositiva1_portada3 (1).jpg">
            <a:extLst>
              <a:ext uri="{FF2B5EF4-FFF2-40B4-BE49-F238E27FC236}">
                <a16:creationId xmlns:a16="http://schemas.microsoft.com/office/drawing/2014/main" id="{A7C27BC0-C5F5-677A-C0FD-C80D0C296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74162"/>
            <a:ext cx="20112192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173BAEAB-F5DF-6E9F-E933-68060E9B7E0F}"/>
              </a:ext>
            </a:extLst>
          </p:cNvPr>
          <p:cNvSpPr txBox="1"/>
          <p:nvPr/>
        </p:nvSpPr>
        <p:spPr>
          <a:xfrm>
            <a:off x="831850" y="8161793"/>
            <a:ext cx="18564837" cy="22238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349884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6000" b="1" kern="100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SISTEMAS DE TRANSMISIÓN</a:t>
            </a:r>
            <a:endParaRPr lang="es-CL" sz="6000" b="1" kern="100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CAP. JACOB BARQUI PÉREZ</a:t>
            </a:r>
            <a:endParaRPr lang="es-CL" sz="2400" b="1" kern="100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2BD7AF8A-199B-B386-2989-3AFBFF724404}"/>
              </a:ext>
            </a:extLst>
          </p:cNvPr>
          <p:cNvSpPr txBox="1"/>
          <p:nvPr/>
        </p:nvSpPr>
        <p:spPr>
          <a:xfrm>
            <a:off x="17637126" y="1937258"/>
            <a:ext cx="205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CL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MAR,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DC807EC9-9D52-7C43-CC8D-85FA06754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15" y="168276"/>
            <a:ext cx="1468072" cy="1600200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B24191BE-31B1-4B8B-8F0D-9EE4E03ED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7" y="-366510"/>
            <a:ext cx="1632386" cy="19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72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2932</Words>
  <Application>Microsoft Office PowerPoint</Application>
  <PresentationFormat>Personalizado</PresentationFormat>
  <Paragraphs>288</Paragraphs>
  <Slides>27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Atkinson Hyperlegible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afgd3l2</cp:lastModifiedBy>
  <cp:revision>199</cp:revision>
  <dcterms:modified xsi:type="dcterms:W3CDTF">2026-03-03T04:37:55Z</dcterms:modified>
</cp:coreProperties>
</file>