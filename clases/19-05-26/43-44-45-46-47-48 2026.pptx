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0"/>
  </p:notesMasterIdLst>
  <p:sldIdLst>
    <p:sldId id="1718" r:id="rId2"/>
    <p:sldId id="257" r:id="rId3"/>
    <p:sldId id="1708" r:id="rId4"/>
    <p:sldId id="1725" r:id="rId5"/>
    <p:sldId id="1720" r:id="rId6"/>
    <p:sldId id="1721" r:id="rId7"/>
    <p:sldId id="1835" r:id="rId8"/>
    <p:sldId id="1892" r:id="rId9"/>
    <p:sldId id="1891" r:id="rId10"/>
    <p:sldId id="1893" r:id="rId11"/>
    <p:sldId id="1894" r:id="rId12"/>
    <p:sldId id="1895" r:id="rId13"/>
    <p:sldId id="1896" r:id="rId14"/>
    <p:sldId id="1897" r:id="rId15"/>
    <p:sldId id="1898" r:id="rId16"/>
    <p:sldId id="1899" r:id="rId17"/>
    <p:sldId id="1900" r:id="rId18"/>
    <p:sldId id="1903" r:id="rId19"/>
    <p:sldId id="1902" r:id="rId20"/>
    <p:sldId id="1901" r:id="rId21"/>
    <p:sldId id="1904" r:id="rId22"/>
    <p:sldId id="1905" r:id="rId23"/>
    <p:sldId id="1906" r:id="rId24"/>
    <p:sldId id="1908" r:id="rId25"/>
    <p:sldId id="1907" r:id="rId26"/>
    <p:sldId id="1909" r:id="rId27"/>
    <p:sldId id="1910" r:id="rId28"/>
    <p:sldId id="1729" r:id="rId29"/>
  </p:sldIdLst>
  <p:sldSz cx="20104100" cy="11309350"/>
  <p:notesSz cx="9296400" cy="7010400"/>
  <p:defaultTextStyle>
    <a:defPPr lvl="0">
      <a:defRPr lang="es-CL"/>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9897051-24AE-98AE-7D1D-12996A0AA340}" name="afgd3l2" initials="a" userId="S::afgd3l2@verykvm.com::a234dbd5-222b-47e7-a1d4-2c032f33b777"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Estilo temático 1 - Énfasis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F5AB1C69-6EDB-4FF4-983F-18BD219EF322}" styleName="Estilo medio 2 - Énfasis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Estilo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16DA210-FB5B-4158-B5E0-FEB733F419BA}" styleName="Estilo claro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7E9639D4-E3E2-4D34-9284-5A2195B3D0D7}" styleName="Estilo claro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93D81CF-94F2-401A-BA57-92F5A7B2D0C5}" styleName="Estilo medio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3C2FFA5D-87B4-456A-9821-1D502468CF0F}" styleName="Estilo temático 1 - Énfasis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Sin estilo ni cuadrícul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75DCB02-9BB8-47FD-8907-85C794F793BA}" styleName="Estilo temático 1 - Énfasis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5940675A-B579-460E-94D1-54222C63F5DA}" styleName="Sin estilo, cuadrícula de la tab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2" autoAdjust="0"/>
    <p:restoredTop sz="94673" autoAdjust="0"/>
  </p:normalViewPr>
  <p:slideViewPr>
    <p:cSldViewPr snapToGrid="0">
      <p:cViewPr varScale="1">
        <p:scale>
          <a:sx n="64" d="100"/>
          <a:sy n="64" d="100"/>
        </p:scale>
        <p:origin x="774" y="102"/>
      </p:cViewPr>
      <p:guideLst>
        <p:guide orient="horz" pos="2880"/>
        <p:guide pos="2160"/>
      </p:guideLst>
    </p:cSldViewPr>
  </p:slideViewPr>
  <p:outlineViewPr>
    <p:cViewPr>
      <p:scale>
        <a:sx n="33" d="100"/>
        <a:sy n="33" d="100"/>
      </p:scale>
      <p:origin x="0" y="-213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microsoft.com/office/2018/10/relationships/authors" Target="author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4028636" cy="351308"/>
          </a:xfrm>
          <a:prstGeom prst="rect">
            <a:avLst/>
          </a:prstGeom>
        </p:spPr>
        <p:txBody>
          <a:bodyPr vert="horz" lIns="47092" tIns="23546" rIns="47092" bIns="23546" rtlCol="0"/>
          <a:lstStyle>
            <a:lvl1pPr algn="l">
              <a:defRPr sz="600"/>
            </a:lvl1pPr>
          </a:lstStyle>
          <a:p>
            <a:endParaRPr lang="es-CL"/>
          </a:p>
        </p:txBody>
      </p:sp>
      <p:sp>
        <p:nvSpPr>
          <p:cNvPr id="3" name="Marcador de fecha 2"/>
          <p:cNvSpPr>
            <a:spLocks noGrp="1"/>
          </p:cNvSpPr>
          <p:nvPr>
            <p:ph type="dt" idx="1"/>
          </p:nvPr>
        </p:nvSpPr>
        <p:spPr>
          <a:xfrm>
            <a:off x="5265562" y="0"/>
            <a:ext cx="4028636" cy="351308"/>
          </a:xfrm>
          <a:prstGeom prst="rect">
            <a:avLst/>
          </a:prstGeom>
        </p:spPr>
        <p:txBody>
          <a:bodyPr vert="horz" lIns="47092" tIns="23546" rIns="47092" bIns="23546" rtlCol="0"/>
          <a:lstStyle>
            <a:lvl1pPr algn="r">
              <a:defRPr sz="600"/>
            </a:lvl1pPr>
          </a:lstStyle>
          <a:p>
            <a:fld id="{BA6E888F-4D11-6642-A67A-175E177747A6}" type="datetimeFigureOut">
              <a:rPr lang="es-CL" smtClean="0"/>
              <a:t>19-05-2026</a:t>
            </a:fld>
            <a:endParaRPr lang="es-CL"/>
          </a:p>
        </p:txBody>
      </p:sp>
      <p:sp>
        <p:nvSpPr>
          <p:cNvPr id="4" name="Marcador de imagen de diapositiva 3"/>
          <p:cNvSpPr>
            <a:spLocks noGrp="1" noRot="1" noChangeAspect="1"/>
          </p:cNvSpPr>
          <p:nvPr>
            <p:ph type="sldImg" idx="2"/>
          </p:nvPr>
        </p:nvSpPr>
        <p:spPr>
          <a:xfrm>
            <a:off x="2546350" y="876300"/>
            <a:ext cx="4203700" cy="2365375"/>
          </a:xfrm>
          <a:prstGeom prst="rect">
            <a:avLst/>
          </a:prstGeom>
          <a:noFill/>
          <a:ln w="12700">
            <a:solidFill>
              <a:prstClr val="black"/>
            </a:solidFill>
          </a:ln>
        </p:spPr>
        <p:txBody>
          <a:bodyPr vert="horz" lIns="47092" tIns="23546" rIns="47092" bIns="23546" rtlCol="0" anchor="ctr"/>
          <a:lstStyle/>
          <a:p>
            <a:endParaRPr lang="es-CL"/>
          </a:p>
        </p:txBody>
      </p:sp>
      <p:sp>
        <p:nvSpPr>
          <p:cNvPr id="5" name="Marcador de notas 4"/>
          <p:cNvSpPr>
            <a:spLocks noGrp="1"/>
          </p:cNvSpPr>
          <p:nvPr>
            <p:ph type="body" sz="quarter" idx="3"/>
          </p:nvPr>
        </p:nvSpPr>
        <p:spPr>
          <a:xfrm>
            <a:off x="929348" y="3373337"/>
            <a:ext cx="7437707" cy="2761255"/>
          </a:xfrm>
          <a:prstGeom prst="rect">
            <a:avLst/>
          </a:prstGeom>
        </p:spPr>
        <p:txBody>
          <a:bodyPr vert="horz" lIns="47092" tIns="23546" rIns="47092" bIns="23546" rtlCol="0"/>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L"/>
          </a:p>
        </p:txBody>
      </p:sp>
      <p:sp>
        <p:nvSpPr>
          <p:cNvPr id="6" name="Marcador de pie de página 5"/>
          <p:cNvSpPr>
            <a:spLocks noGrp="1"/>
          </p:cNvSpPr>
          <p:nvPr>
            <p:ph type="ftr" sz="quarter" idx="4"/>
          </p:nvPr>
        </p:nvSpPr>
        <p:spPr>
          <a:xfrm>
            <a:off x="0" y="6659094"/>
            <a:ext cx="4028636" cy="351307"/>
          </a:xfrm>
          <a:prstGeom prst="rect">
            <a:avLst/>
          </a:prstGeom>
        </p:spPr>
        <p:txBody>
          <a:bodyPr vert="horz" lIns="47092" tIns="23546" rIns="47092" bIns="23546" rtlCol="0" anchor="b"/>
          <a:lstStyle>
            <a:lvl1pPr algn="l">
              <a:defRPr sz="600"/>
            </a:lvl1pPr>
          </a:lstStyle>
          <a:p>
            <a:endParaRPr lang="es-CL"/>
          </a:p>
        </p:txBody>
      </p:sp>
      <p:sp>
        <p:nvSpPr>
          <p:cNvPr id="7" name="Marcador de número de diapositiva 6"/>
          <p:cNvSpPr>
            <a:spLocks noGrp="1"/>
          </p:cNvSpPr>
          <p:nvPr>
            <p:ph type="sldNum" sz="quarter" idx="5"/>
          </p:nvPr>
        </p:nvSpPr>
        <p:spPr>
          <a:xfrm>
            <a:off x="5265562" y="6659094"/>
            <a:ext cx="4028636" cy="351307"/>
          </a:xfrm>
          <a:prstGeom prst="rect">
            <a:avLst/>
          </a:prstGeom>
        </p:spPr>
        <p:txBody>
          <a:bodyPr vert="horz" lIns="47092" tIns="23546" rIns="47092" bIns="23546" rtlCol="0" anchor="b"/>
          <a:lstStyle>
            <a:lvl1pPr algn="r">
              <a:defRPr sz="600"/>
            </a:lvl1pPr>
          </a:lstStyle>
          <a:p>
            <a:fld id="{235CC6FD-75C5-034E-BC56-691A10C41604}" type="slidenum">
              <a:rPr lang="es-CL" smtClean="0"/>
              <a:t>‹Nº›</a:t>
            </a:fld>
            <a:endParaRPr lang="es-CL"/>
          </a:p>
        </p:txBody>
      </p:sp>
    </p:spTree>
    <p:extLst>
      <p:ext uri="{BB962C8B-B14F-4D97-AF65-F5344CB8AC3E}">
        <p14:creationId xmlns:p14="http://schemas.microsoft.com/office/powerpoint/2010/main" val="19108292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L" dirty="0"/>
          </a:p>
        </p:txBody>
      </p:sp>
      <p:sp>
        <p:nvSpPr>
          <p:cNvPr id="4" name="Marcador de número de diapositiva 3"/>
          <p:cNvSpPr>
            <a:spLocks noGrp="1"/>
          </p:cNvSpPr>
          <p:nvPr>
            <p:ph type="sldNum" sz="quarter" idx="5"/>
          </p:nvPr>
        </p:nvSpPr>
        <p:spPr/>
        <p:txBody>
          <a:bodyPr/>
          <a:lstStyle/>
          <a:p>
            <a:fld id="{235CC6FD-75C5-034E-BC56-691A10C41604}" type="slidenum">
              <a:rPr lang="es-CL" smtClean="0"/>
              <a:t>2</a:t>
            </a:fld>
            <a:endParaRPr lang="es-CL"/>
          </a:p>
        </p:txBody>
      </p:sp>
    </p:spTree>
    <p:extLst>
      <p:ext uri="{BB962C8B-B14F-4D97-AF65-F5344CB8AC3E}">
        <p14:creationId xmlns:p14="http://schemas.microsoft.com/office/powerpoint/2010/main" val="9956529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2CAE55-6725-0F9F-041C-9E7AF610867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B8D27E9-5538-9CCB-17D6-6EE7CEDD433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3F886C8-6933-4EA1-B401-2BA273EF1E54}"/>
              </a:ext>
            </a:extLst>
          </p:cNvPr>
          <p:cNvSpPr>
            <a:spLocks noGrp="1"/>
          </p:cNvSpPr>
          <p:nvPr>
            <p:ph type="body" idx="1"/>
          </p:nvPr>
        </p:nvSpPr>
        <p:spPr/>
        <p:txBody>
          <a:bodyPr/>
          <a:lstStyle/>
          <a:p>
            <a:r>
              <a:rPr lang="es-ES" dirty="0"/>
              <a:t>En este módulo comenzaremos desde la red IP tradicional. Antes de hablar de </a:t>
            </a:r>
            <a:r>
              <a:rPr lang="es-ES" dirty="0" err="1"/>
              <a:t>SDN</a:t>
            </a:r>
            <a:r>
              <a:rPr lang="es-ES" dirty="0"/>
              <a:t>, debemos entender cómo se mueven los paquetes, qué función cumplen los nodos y cómo se seleccionan rutas. </a:t>
            </a:r>
            <a:r>
              <a:rPr lang="es-ES" dirty="0" err="1"/>
              <a:t>SDN</a:t>
            </a:r>
            <a:r>
              <a:rPr lang="es-ES" dirty="0"/>
              <a:t> nace precisamente para mejorar la gestión, automatización y control de redes que originalmente operaban de forma distribuida</a:t>
            </a:r>
            <a:endParaRPr lang="es-CL" dirty="0"/>
          </a:p>
        </p:txBody>
      </p:sp>
      <p:sp>
        <p:nvSpPr>
          <p:cNvPr id="4" name="Marcador de número de diapositiva 3">
            <a:extLst>
              <a:ext uri="{FF2B5EF4-FFF2-40B4-BE49-F238E27FC236}">
                <a16:creationId xmlns:a16="http://schemas.microsoft.com/office/drawing/2014/main" id="{89D2DC42-0F5E-1B4B-A753-922B965AC979}"/>
              </a:ext>
            </a:extLst>
          </p:cNvPr>
          <p:cNvSpPr>
            <a:spLocks noGrp="1"/>
          </p:cNvSpPr>
          <p:nvPr>
            <p:ph type="sldNum" sz="quarter" idx="5"/>
          </p:nvPr>
        </p:nvSpPr>
        <p:spPr/>
        <p:txBody>
          <a:bodyPr/>
          <a:lstStyle/>
          <a:p>
            <a:fld id="{235CC6FD-75C5-034E-BC56-691A10C41604}" type="slidenum">
              <a:rPr lang="es-CL" smtClean="0"/>
              <a:t>7</a:t>
            </a:fld>
            <a:endParaRPr lang="es-CL"/>
          </a:p>
        </p:txBody>
      </p:sp>
    </p:spTree>
    <p:extLst>
      <p:ext uri="{BB962C8B-B14F-4D97-AF65-F5344CB8AC3E}">
        <p14:creationId xmlns:p14="http://schemas.microsoft.com/office/powerpoint/2010/main" val="35234488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B2EE0C-AE5A-1009-1ED9-4CDF156B89C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C279377-BD5C-91ED-BE76-B1497F7087A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B28A5DE-67B1-CE08-1D5B-55E07D6D00DE}"/>
              </a:ext>
            </a:extLst>
          </p:cNvPr>
          <p:cNvSpPr>
            <a:spLocks noGrp="1"/>
          </p:cNvSpPr>
          <p:nvPr>
            <p:ph type="body" idx="1"/>
          </p:nvPr>
        </p:nvSpPr>
        <p:spPr/>
        <p:txBody>
          <a:bodyPr/>
          <a:lstStyle/>
          <a:p>
            <a:r>
              <a:rPr lang="es-ES" dirty="0"/>
              <a:t>“Estos cuatro conceptos serán la base para entender </a:t>
            </a:r>
            <a:r>
              <a:rPr lang="es-ES" dirty="0" err="1"/>
              <a:t>SDN</a:t>
            </a:r>
            <a:r>
              <a:rPr lang="es-ES" dirty="0"/>
              <a:t> y optimización de redes. Un nodo toma decisiones, un enlace conecta nodos, un paquete transporta información y una ruta define el camino. Más adelante, cuando trabajemos con grafos, los nodos serán vértices y los enlaces serán arcos.”</a:t>
            </a:r>
            <a:endParaRPr lang="es-CL" dirty="0"/>
          </a:p>
        </p:txBody>
      </p:sp>
      <p:sp>
        <p:nvSpPr>
          <p:cNvPr id="4" name="Marcador de número de diapositiva 3">
            <a:extLst>
              <a:ext uri="{FF2B5EF4-FFF2-40B4-BE49-F238E27FC236}">
                <a16:creationId xmlns:a16="http://schemas.microsoft.com/office/drawing/2014/main" id="{51457134-6EA3-DEDA-0F93-2750A7E87972}"/>
              </a:ext>
            </a:extLst>
          </p:cNvPr>
          <p:cNvSpPr>
            <a:spLocks noGrp="1"/>
          </p:cNvSpPr>
          <p:nvPr>
            <p:ph type="sldNum" sz="quarter" idx="5"/>
          </p:nvPr>
        </p:nvSpPr>
        <p:spPr/>
        <p:txBody>
          <a:bodyPr/>
          <a:lstStyle/>
          <a:p>
            <a:fld id="{235CC6FD-75C5-034E-BC56-691A10C41604}" type="slidenum">
              <a:rPr lang="es-CL" smtClean="0"/>
              <a:t>8</a:t>
            </a:fld>
            <a:endParaRPr lang="es-CL"/>
          </a:p>
        </p:txBody>
      </p:sp>
    </p:spTree>
    <p:extLst>
      <p:ext uri="{BB962C8B-B14F-4D97-AF65-F5344CB8AC3E}">
        <p14:creationId xmlns:p14="http://schemas.microsoft.com/office/powerpoint/2010/main" val="9178555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4FEB4C-6393-0768-BC65-66AC8818F0B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8447115-E4F0-AA55-F4F6-2DE5C8F565A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B389C5D-E554-EB2D-7A3A-954569F5DEA6}"/>
              </a:ext>
            </a:extLst>
          </p:cNvPr>
          <p:cNvSpPr>
            <a:spLocks noGrp="1"/>
          </p:cNvSpPr>
          <p:nvPr>
            <p:ph type="body" idx="1"/>
          </p:nvPr>
        </p:nvSpPr>
        <p:spPr/>
        <p:txBody>
          <a:bodyPr/>
          <a:lstStyle/>
          <a:p>
            <a:endParaRPr lang="es-CL" dirty="0"/>
          </a:p>
        </p:txBody>
      </p:sp>
      <p:sp>
        <p:nvSpPr>
          <p:cNvPr id="4" name="Marcador de número de diapositiva 3">
            <a:extLst>
              <a:ext uri="{FF2B5EF4-FFF2-40B4-BE49-F238E27FC236}">
                <a16:creationId xmlns:a16="http://schemas.microsoft.com/office/drawing/2014/main" id="{B181F91F-624C-7BBF-1299-100C94746F47}"/>
              </a:ext>
            </a:extLst>
          </p:cNvPr>
          <p:cNvSpPr>
            <a:spLocks noGrp="1"/>
          </p:cNvSpPr>
          <p:nvPr>
            <p:ph type="sldNum" sz="quarter" idx="5"/>
          </p:nvPr>
        </p:nvSpPr>
        <p:spPr/>
        <p:txBody>
          <a:bodyPr/>
          <a:lstStyle/>
          <a:p>
            <a:fld id="{235CC6FD-75C5-034E-BC56-691A10C41604}" type="slidenum">
              <a:rPr lang="es-CL" smtClean="0"/>
              <a:t>9</a:t>
            </a:fld>
            <a:endParaRPr lang="es-CL"/>
          </a:p>
        </p:txBody>
      </p:sp>
    </p:spTree>
    <p:extLst>
      <p:ext uri="{BB962C8B-B14F-4D97-AF65-F5344CB8AC3E}">
        <p14:creationId xmlns:p14="http://schemas.microsoft.com/office/powerpoint/2010/main" val="8580015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0FFF08-3AE0-40AE-B42A-30FEB1A1C68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468D595-04C2-668C-0654-C0B404BB0D8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F6F82B7-0FBD-530D-99BB-73890D9D351B}"/>
              </a:ext>
            </a:extLst>
          </p:cNvPr>
          <p:cNvSpPr>
            <a:spLocks noGrp="1"/>
          </p:cNvSpPr>
          <p:nvPr>
            <p:ph type="body" idx="1"/>
          </p:nvPr>
        </p:nvSpPr>
        <p:spPr/>
        <p:txBody>
          <a:bodyPr/>
          <a:lstStyle/>
          <a:p>
            <a:r>
              <a:rPr lang="es-ES" dirty="0"/>
              <a:t>La conmutación y el enrutamiento son funciones fundamentales antes de llegar a </a:t>
            </a:r>
            <a:r>
              <a:rPr lang="es-ES" dirty="0" err="1"/>
              <a:t>SDN</a:t>
            </a:r>
            <a:r>
              <a:rPr lang="es-ES" dirty="0"/>
              <a:t>. En una red tradicional, los switches y </a:t>
            </a:r>
            <a:r>
              <a:rPr lang="es-ES" dirty="0" err="1"/>
              <a:t>routers</a:t>
            </a:r>
            <a:r>
              <a:rPr lang="es-ES" dirty="0"/>
              <a:t> toman decisiones localmente. </a:t>
            </a:r>
            <a:r>
              <a:rPr lang="es-ES" dirty="0" err="1"/>
              <a:t>SDN</a:t>
            </a:r>
            <a:r>
              <a:rPr lang="es-ES" dirty="0"/>
              <a:t> busca separar parte de esa lógica de decisión y centralizarla o programarla desde software, especialmente para aplicar políticas y automatización</a:t>
            </a:r>
            <a:endParaRPr lang="es-CL" dirty="0"/>
          </a:p>
        </p:txBody>
      </p:sp>
      <p:sp>
        <p:nvSpPr>
          <p:cNvPr id="4" name="Marcador de número de diapositiva 3">
            <a:extLst>
              <a:ext uri="{FF2B5EF4-FFF2-40B4-BE49-F238E27FC236}">
                <a16:creationId xmlns:a16="http://schemas.microsoft.com/office/drawing/2014/main" id="{9D3927D4-9451-95E4-9332-C21D3FD4DCA4}"/>
              </a:ext>
            </a:extLst>
          </p:cNvPr>
          <p:cNvSpPr>
            <a:spLocks noGrp="1"/>
          </p:cNvSpPr>
          <p:nvPr>
            <p:ph type="sldNum" sz="quarter" idx="5"/>
          </p:nvPr>
        </p:nvSpPr>
        <p:spPr/>
        <p:txBody>
          <a:bodyPr/>
          <a:lstStyle/>
          <a:p>
            <a:fld id="{235CC6FD-75C5-034E-BC56-691A10C41604}" type="slidenum">
              <a:rPr lang="es-CL" smtClean="0"/>
              <a:t>10</a:t>
            </a:fld>
            <a:endParaRPr lang="es-CL"/>
          </a:p>
        </p:txBody>
      </p:sp>
    </p:spTree>
    <p:extLst>
      <p:ext uri="{BB962C8B-B14F-4D97-AF65-F5344CB8AC3E}">
        <p14:creationId xmlns:p14="http://schemas.microsoft.com/office/powerpoint/2010/main" val="17728595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EA7F4C-F4E8-F285-3654-AC7D45F50D5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23BB3F4-7CF3-D935-196F-9583A97D4F8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5CE84A2-3729-4A7E-4136-3DA58DF4864B}"/>
              </a:ext>
            </a:extLst>
          </p:cNvPr>
          <p:cNvSpPr>
            <a:spLocks noGrp="1"/>
          </p:cNvSpPr>
          <p:nvPr>
            <p:ph type="body" idx="1"/>
          </p:nvPr>
        </p:nvSpPr>
        <p:spPr/>
        <p:txBody>
          <a:bodyPr/>
          <a:lstStyle/>
          <a:p>
            <a:endParaRPr lang="es-CL" dirty="0"/>
          </a:p>
        </p:txBody>
      </p:sp>
      <p:sp>
        <p:nvSpPr>
          <p:cNvPr id="4" name="Marcador de número de diapositiva 3">
            <a:extLst>
              <a:ext uri="{FF2B5EF4-FFF2-40B4-BE49-F238E27FC236}">
                <a16:creationId xmlns:a16="http://schemas.microsoft.com/office/drawing/2014/main" id="{DFEEA13E-D8DB-90E9-8EE7-516610F27F71}"/>
              </a:ext>
            </a:extLst>
          </p:cNvPr>
          <p:cNvSpPr>
            <a:spLocks noGrp="1"/>
          </p:cNvSpPr>
          <p:nvPr>
            <p:ph type="sldNum" sz="quarter" idx="5"/>
          </p:nvPr>
        </p:nvSpPr>
        <p:spPr/>
        <p:txBody>
          <a:bodyPr/>
          <a:lstStyle/>
          <a:p>
            <a:fld id="{235CC6FD-75C5-034E-BC56-691A10C41604}" type="slidenum">
              <a:rPr lang="es-CL" smtClean="0"/>
              <a:t>11</a:t>
            </a:fld>
            <a:endParaRPr lang="es-CL"/>
          </a:p>
        </p:txBody>
      </p:sp>
    </p:spTree>
    <p:extLst>
      <p:ext uri="{BB962C8B-B14F-4D97-AF65-F5344CB8AC3E}">
        <p14:creationId xmlns:p14="http://schemas.microsoft.com/office/powerpoint/2010/main" val="15622555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B21489-5054-F361-E558-F252B6C6777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A5818AC-47A5-41B4-60DC-9A054963222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A258AEF-D9EF-A827-C497-8CCBA875945A}"/>
              </a:ext>
            </a:extLst>
          </p:cNvPr>
          <p:cNvSpPr>
            <a:spLocks noGrp="1"/>
          </p:cNvSpPr>
          <p:nvPr>
            <p:ph type="body" idx="1"/>
          </p:nvPr>
        </p:nvSpPr>
        <p:spPr/>
        <p:txBody>
          <a:bodyPr/>
          <a:lstStyle/>
          <a:p>
            <a:r>
              <a:rPr lang="es-ES" dirty="0"/>
              <a:t>en una arquitectura tradicional, cada equipo tiene su propia lógica de decisión. Esto ha funcionado muy bien para redes IP e Internet, pero cuando la red crece, configurar y mantener políticas coherentes se vuelve más complejo. Esa dificultad es una de las razones por las que surge </a:t>
            </a:r>
            <a:r>
              <a:rPr lang="es-ES" dirty="0" err="1"/>
              <a:t>SDN</a:t>
            </a:r>
            <a:r>
              <a:rPr lang="es-ES" dirty="0"/>
              <a:t>.</a:t>
            </a:r>
            <a:endParaRPr lang="es-CL" dirty="0"/>
          </a:p>
        </p:txBody>
      </p:sp>
      <p:sp>
        <p:nvSpPr>
          <p:cNvPr id="4" name="Marcador de número de diapositiva 3">
            <a:extLst>
              <a:ext uri="{FF2B5EF4-FFF2-40B4-BE49-F238E27FC236}">
                <a16:creationId xmlns:a16="http://schemas.microsoft.com/office/drawing/2014/main" id="{875FF519-B6AD-A77A-4EBB-BB51E3F6B5D1}"/>
              </a:ext>
            </a:extLst>
          </p:cNvPr>
          <p:cNvSpPr>
            <a:spLocks noGrp="1"/>
          </p:cNvSpPr>
          <p:nvPr>
            <p:ph type="sldNum" sz="quarter" idx="5"/>
          </p:nvPr>
        </p:nvSpPr>
        <p:spPr/>
        <p:txBody>
          <a:bodyPr/>
          <a:lstStyle/>
          <a:p>
            <a:fld id="{235CC6FD-75C5-034E-BC56-691A10C41604}" type="slidenum">
              <a:rPr lang="es-CL" smtClean="0"/>
              <a:t>12</a:t>
            </a:fld>
            <a:endParaRPr lang="es-CL"/>
          </a:p>
        </p:txBody>
      </p:sp>
    </p:spTree>
    <p:extLst>
      <p:ext uri="{BB962C8B-B14F-4D97-AF65-F5344CB8AC3E}">
        <p14:creationId xmlns:p14="http://schemas.microsoft.com/office/powerpoint/2010/main" val="18387197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B513D0-78FD-6B6D-AC44-1A00792B338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56F3F00-0DF6-C60D-3A44-9951B9D5A84E}"/>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528418A-593D-2858-7109-2287E88995E6}"/>
              </a:ext>
            </a:extLst>
          </p:cNvPr>
          <p:cNvSpPr>
            <a:spLocks noGrp="1"/>
          </p:cNvSpPr>
          <p:nvPr>
            <p:ph type="body" idx="1"/>
          </p:nvPr>
        </p:nvSpPr>
        <p:spPr/>
        <p:txBody>
          <a:bodyPr/>
          <a:lstStyle/>
          <a:p>
            <a:r>
              <a:rPr lang="es-ES" dirty="0"/>
              <a:t>Esta actividad cierra la base conceptual antes de entrar a </a:t>
            </a:r>
            <a:r>
              <a:rPr lang="es-ES" dirty="0" err="1"/>
              <a:t>SDN</a:t>
            </a:r>
            <a:r>
              <a:rPr lang="es-ES" dirty="0"/>
              <a:t>. Si el estudiante puede identificar nodos, enlaces, paquetes y rutas, podrá comprender después qué significa separar plano de control y plano de datos en una red definida por software</a:t>
            </a:r>
            <a:endParaRPr lang="es-CL" dirty="0"/>
          </a:p>
        </p:txBody>
      </p:sp>
      <p:sp>
        <p:nvSpPr>
          <p:cNvPr id="4" name="Marcador de número de diapositiva 3">
            <a:extLst>
              <a:ext uri="{FF2B5EF4-FFF2-40B4-BE49-F238E27FC236}">
                <a16:creationId xmlns:a16="http://schemas.microsoft.com/office/drawing/2014/main" id="{8B0EC591-5104-BCE6-11C4-F46D81D166BF}"/>
              </a:ext>
            </a:extLst>
          </p:cNvPr>
          <p:cNvSpPr>
            <a:spLocks noGrp="1"/>
          </p:cNvSpPr>
          <p:nvPr>
            <p:ph type="sldNum" sz="quarter" idx="5"/>
          </p:nvPr>
        </p:nvSpPr>
        <p:spPr/>
        <p:txBody>
          <a:bodyPr/>
          <a:lstStyle/>
          <a:p>
            <a:fld id="{235CC6FD-75C5-034E-BC56-691A10C41604}" type="slidenum">
              <a:rPr lang="es-CL" smtClean="0"/>
              <a:t>13</a:t>
            </a:fld>
            <a:endParaRPr lang="es-CL"/>
          </a:p>
        </p:txBody>
      </p:sp>
    </p:spTree>
    <p:extLst>
      <p:ext uri="{BB962C8B-B14F-4D97-AF65-F5344CB8AC3E}">
        <p14:creationId xmlns:p14="http://schemas.microsoft.com/office/powerpoint/2010/main" val="30252739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EC9083-F6E6-0798-4307-F96EE5068F2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D280949-18C3-327D-C1B4-43790FF2272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FFB8799-73C0-3A73-830B-82FDA36558E7}"/>
              </a:ext>
            </a:extLst>
          </p:cNvPr>
          <p:cNvSpPr>
            <a:spLocks noGrp="1"/>
          </p:cNvSpPr>
          <p:nvPr>
            <p:ph type="body" idx="1"/>
          </p:nvPr>
        </p:nvSpPr>
        <p:spPr/>
        <p:txBody>
          <a:bodyPr/>
          <a:lstStyle/>
          <a:p>
            <a:r>
              <a:rPr lang="es-ES" dirty="0"/>
              <a:t>Las redes tradicionales no son malas; de hecho, son la base de Internet. El problema aparece cuando la red crece y se requiere aplicar cambios rápidos, consistentes y automatizados. </a:t>
            </a:r>
            <a:r>
              <a:rPr lang="es-ES" dirty="0" err="1"/>
              <a:t>SDN</a:t>
            </a:r>
            <a:r>
              <a:rPr lang="es-ES" dirty="0"/>
              <a:t> nace precisamente como una respuesta a esa complejidad operacional.</a:t>
            </a:r>
            <a:endParaRPr lang="es-CL" dirty="0"/>
          </a:p>
        </p:txBody>
      </p:sp>
      <p:sp>
        <p:nvSpPr>
          <p:cNvPr id="4" name="Marcador de número de diapositiva 3">
            <a:extLst>
              <a:ext uri="{FF2B5EF4-FFF2-40B4-BE49-F238E27FC236}">
                <a16:creationId xmlns:a16="http://schemas.microsoft.com/office/drawing/2014/main" id="{FA68370F-5875-9B68-F54E-560EEC33EFCB}"/>
              </a:ext>
            </a:extLst>
          </p:cNvPr>
          <p:cNvSpPr>
            <a:spLocks noGrp="1"/>
          </p:cNvSpPr>
          <p:nvPr>
            <p:ph type="sldNum" sz="quarter" idx="5"/>
          </p:nvPr>
        </p:nvSpPr>
        <p:spPr/>
        <p:txBody>
          <a:bodyPr/>
          <a:lstStyle/>
          <a:p>
            <a:fld id="{235CC6FD-75C5-034E-BC56-691A10C41604}" type="slidenum">
              <a:rPr lang="es-CL" smtClean="0"/>
              <a:t>14</a:t>
            </a:fld>
            <a:endParaRPr lang="es-CL"/>
          </a:p>
        </p:txBody>
      </p:sp>
    </p:spTree>
    <p:extLst>
      <p:ext uri="{BB962C8B-B14F-4D97-AF65-F5344CB8AC3E}">
        <p14:creationId xmlns:p14="http://schemas.microsoft.com/office/powerpoint/2010/main" val="7061129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A2C1B7-88CB-6CE5-B8DC-BB1C6503855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C97D0C1-8064-722A-DC9F-533949FC87A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44CF0B6-2B49-DD95-E6DD-05172BBDC947}"/>
              </a:ext>
            </a:extLst>
          </p:cNvPr>
          <p:cNvSpPr>
            <a:spLocks noGrp="1"/>
          </p:cNvSpPr>
          <p:nvPr>
            <p:ph type="body" idx="1"/>
          </p:nvPr>
        </p:nvSpPr>
        <p:spPr/>
        <p:txBody>
          <a:bodyPr/>
          <a:lstStyle/>
          <a:p>
            <a:r>
              <a:rPr lang="es-ES" dirty="0"/>
              <a:t>Las redes tradicionales no son malas; de hecho, son la base de Internet. El problema aparece cuando la red crece y se requiere aplicar cambios rápidos, consistentes y automatizados. </a:t>
            </a:r>
            <a:r>
              <a:rPr lang="es-ES" dirty="0" err="1"/>
              <a:t>SDN</a:t>
            </a:r>
            <a:r>
              <a:rPr lang="es-ES" dirty="0"/>
              <a:t> nace precisamente como una respuesta a esa complejidad operacional.</a:t>
            </a:r>
            <a:endParaRPr lang="es-CL" dirty="0"/>
          </a:p>
        </p:txBody>
      </p:sp>
      <p:sp>
        <p:nvSpPr>
          <p:cNvPr id="4" name="Marcador de número de diapositiva 3">
            <a:extLst>
              <a:ext uri="{FF2B5EF4-FFF2-40B4-BE49-F238E27FC236}">
                <a16:creationId xmlns:a16="http://schemas.microsoft.com/office/drawing/2014/main" id="{4F71A081-3549-50EE-273D-1C927EA6514A}"/>
              </a:ext>
            </a:extLst>
          </p:cNvPr>
          <p:cNvSpPr>
            <a:spLocks noGrp="1"/>
          </p:cNvSpPr>
          <p:nvPr>
            <p:ph type="sldNum" sz="quarter" idx="5"/>
          </p:nvPr>
        </p:nvSpPr>
        <p:spPr/>
        <p:txBody>
          <a:bodyPr/>
          <a:lstStyle/>
          <a:p>
            <a:fld id="{235CC6FD-75C5-034E-BC56-691A10C41604}" type="slidenum">
              <a:rPr lang="es-CL" smtClean="0"/>
              <a:t>15</a:t>
            </a:fld>
            <a:endParaRPr lang="es-CL"/>
          </a:p>
        </p:txBody>
      </p:sp>
    </p:spTree>
    <p:extLst>
      <p:ext uri="{BB962C8B-B14F-4D97-AF65-F5344CB8AC3E}">
        <p14:creationId xmlns:p14="http://schemas.microsoft.com/office/powerpoint/2010/main" val="5553381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EF1D22-DDD0-F210-C885-5F664A5EC50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A19CD5B-7C27-EF3F-B84D-EAF61C6CED6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DA0CB14-9D0C-489F-4B6C-AE8908334C55}"/>
              </a:ext>
            </a:extLst>
          </p:cNvPr>
          <p:cNvSpPr>
            <a:spLocks noGrp="1"/>
          </p:cNvSpPr>
          <p:nvPr>
            <p:ph type="body" idx="1"/>
          </p:nvPr>
        </p:nvSpPr>
        <p:spPr/>
        <p:txBody>
          <a:bodyPr/>
          <a:lstStyle/>
          <a:p>
            <a:r>
              <a:rPr lang="es-ES" dirty="0"/>
              <a:t>La virtualización de funciones de red permite desacoplar una función específica del equipo físico donde antes estaba integrada. Esto significa que funciones como firewall, </a:t>
            </a:r>
            <a:r>
              <a:rPr lang="es-ES" dirty="0" err="1"/>
              <a:t>router</a:t>
            </a:r>
            <a:r>
              <a:rPr lang="es-ES" dirty="0"/>
              <a:t> o balanceador pueden ejecutarse como software. Esta idea es clave para comprender por qué las redes modernas son más programables y por qué </a:t>
            </a:r>
            <a:r>
              <a:rPr lang="es-ES" dirty="0" err="1"/>
              <a:t>SDN</a:t>
            </a:r>
            <a:r>
              <a:rPr lang="es-ES" dirty="0"/>
              <a:t> se apoya fuertemente en software.</a:t>
            </a:r>
            <a:endParaRPr lang="es-CL" dirty="0"/>
          </a:p>
        </p:txBody>
      </p:sp>
      <p:sp>
        <p:nvSpPr>
          <p:cNvPr id="4" name="Marcador de número de diapositiva 3">
            <a:extLst>
              <a:ext uri="{FF2B5EF4-FFF2-40B4-BE49-F238E27FC236}">
                <a16:creationId xmlns:a16="http://schemas.microsoft.com/office/drawing/2014/main" id="{E3B9B6FD-4A59-0183-9695-DDF313CC6AFC}"/>
              </a:ext>
            </a:extLst>
          </p:cNvPr>
          <p:cNvSpPr>
            <a:spLocks noGrp="1"/>
          </p:cNvSpPr>
          <p:nvPr>
            <p:ph type="sldNum" sz="quarter" idx="5"/>
          </p:nvPr>
        </p:nvSpPr>
        <p:spPr/>
        <p:txBody>
          <a:bodyPr/>
          <a:lstStyle/>
          <a:p>
            <a:fld id="{235CC6FD-75C5-034E-BC56-691A10C41604}" type="slidenum">
              <a:rPr lang="es-CL" smtClean="0"/>
              <a:t>16</a:t>
            </a:fld>
            <a:endParaRPr lang="es-CL"/>
          </a:p>
        </p:txBody>
      </p:sp>
    </p:spTree>
    <p:extLst>
      <p:ext uri="{BB962C8B-B14F-4D97-AF65-F5344CB8AC3E}">
        <p14:creationId xmlns:p14="http://schemas.microsoft.com/office/powerpoint/2010/main" val="17511276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E9B37B-8021-8672-613B-586A37CD172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84FEB5C-F564-BD29-2F34-F9F2FD6A67D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C1BA8FC-D472-1CB3-B759-E0A9448F3DF9}"/>
              </a:ext>
            </a:extLst>
          </p:cNvPr>
          <p:cNvSpPr>
            <a:spLocks noGrp="1"/>
          </p:cNvSpPr>
          <p:nvPr>
            <p:ph type="body" idx="1"/>
          </p:nvPr>
        </p:nvSpPr>
        <p:spPr/>
        <p:txBody>
          <a:bodyPr/>
          <a:lstStyle/>
          <a:p>
            <a:r>
              <a:rPr lang="es-ES" dirty="0" err="1"/>
              <a:t>SDN</a:t>
            </a:r>
            <a:r>
              <a:rPr lang="es-ES" dirty="0"/>
              <a:t> no aparece para eliminar las redes tradicionales, sino para hacerlas más programables. La idea central es separar la lógica de control del reenvío de datos. Así, una política puede definirse desde software y aplicarse en múltiples dispositivos de forma más consistente y automatizada.</a:t>
            </a:r>
            <a:endParaRPr lang="es-CL" dirty="0"/>
          </a:p>
        </p:txBody>
      </p:sp>
      <p:sp>
        <p:nvSpPr>
          <p:cNvPr id="4" name="Marcador de número de diapositiva 3">
            <a:extLst>
              <a:ext uri="{FF2B5EF4-FFF2-40B4-BE49-F238E27FC236}">
                <a16:creationId xmlns:a16="http://schemas.microsoft.com/office/drawing/2014/main" id="{FF299579-575C-5747-C6AA-C5149BFCE3CC}"/>
              </a:ext>
            </a:extLst>
          </p:cNvPr>
          <p:cNvSpPr>
            <a:spLocks noGrp="1"/>
          </p:cNvSpPr>
          <p:nvPr>
            <p:ph type="sldNum" sz="quarter" idx="5"/>
          </p:nvPr>
        </p:nvSpPr>
        <p:spPr/>
        <p:txBody>
          <a:bodyPr/>
          <a:lstStyle/>
          <a:p>
            <a:fld id="{235CC6FD-75C5-034E-BC56-691A10C41604}" type="slidenum">
              <a:rPr lang="es-CL" smtClean="0"/>
              <a:t>17</a:t>
            </a:fld>
            <a:endParaRPr lang="es-CL"/>
          </a:p>
        </p:txBody>
      </p:sp>
    </p:spTree>
    <p:extLst>
      <p:ext uri="{BB962C8B-B14F-4D97-AF65-F5344CB8AC3E}">
        <p14:creationId xmlns:p14="http://schemas.microsoft.com/office/powerpoint/2010/main" val="27827022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077C67-5506-71E1-E680-3C9577CACF1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AFDAAF9-021E-C854-A780-D40ADCA35D4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545F421-2884-5279-48F5-3D9CF4E79EBE}"/>
              </a:ext>
            </a:extLst>
          </p:cNvPr>
          <p:cNvSpPr>
            <a:spLocks noGrp="1"/>
          </p:cNvSpPr>
          <p:nvPr>
            <p:ph type="body" idx="1"/>
          </p:nvPr>
        </p:nvSpPr>
        <p:spPr/>
        <p:txBody>
          <a:bodyPr/>
          <a:lstStyle/>
          <a:p>
            <a:r>
              <a:rPr lang="es-ES" dirty="0"/>
              <a:t>Esta separación es el núcleo de </a:t>
            </a:r>
            <a:r>
              <a:rPr lang="es-ES" dirty="0" err="1"/>
              <a:t>SDN</a:t>
            </a:r>
            <a:r>
              <a:rPr lang="es-ES" dirty="0"/>
              <a:t>. En una red tradicional, cada equipo contiene su propia lógica de control y de reenvío. En </a:t>
            </a:r>
            <a:r>
              <a:rPr lang="es-ES" dirty="0" err="1"/>
              <a:t>SDN</a:t>
            </a:r>
            <a:r>
              <a:rPr lang="es-ES" dirty="0"/>
              <a:t>, la lógica de control se mueve hacia un controlador, que define reglas. Los switches o </a:t>
            </a:r>
            <a:r>
              <a:rPr lang="es-ES" dirty="0" err="1"/>
              <a:t>routers</a:t>
            </a:r>
            <a:r>
              <a:rPr lang="es-ES" dirty="0"/>
              <a:t> siguen reenviando tráfico, pero lo hacen según instrucciones programadas desde software.</a:t>
            </a:r>
            <a:endParaRPr lang="es-CL" dirty="0"/>
          </a:p>
        </p:txBody>
      </p:sp>
      <p:sp>
        <p:nvSpPr>
          <p:cNvPr id="4" name="Marcador de número de diapositiva 3">
            <a:extLst>
              <a:ext uri="{FF2B5EF4-FFF2-40B4-BE49-F238E27FC236}">
                <a16:creationId xmlns:a16="http://schemas.microsoft.com/office/drawing/2014/main" id="{E1B5266D-643F-B558-7525-E71E40238DFD}"/>
              </a:ext>
            </a:extLst>
          </p:cNvPr>
          <p:cNvSpPr>
            <a:spLocks noGrp="1"/>
          </p:cNvSpPr>
          <p:nvPr>
            <p:ph type="sldNum" sz="quarter" idx="5"/>
          </p:nvPr>
        </p:nvSpPr>
        <p:spPr/>
        <p:txBody>
          <a:bodyPr/>
          <a:lstStyle/>
          <a:p>
            <a:fld id="{235CC6FD-75C5-034E-BC56-691A10C41604}" type="slidenum">
              <a:rPr lang="es-CL" smtClean="0"/>
              <a:t>18</a:t>
            </a:fld>
            <a:endParaRPr lang="es-CL"/>
          </a:p>
        </p:txBody>
      </p:sp>
    </p:spTree>
    <p:extLst>
      <p:ext uri="{BB962C8B-B14F-4D97-AF65-F5344CB8AC3E}">
        <p14:creationId xmlns:p14="http://schemas.microsoft.com/office/powerpoint/2010/main" val="35258535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8DFD12-7E56-5C62-374C-3870A068CC5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5C02F62-AF39-6A09-50F8-34C7386B9CB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82F534D-4C3A-9727-FFE7-ADD2494D5321}"/>
              </a:ext>
            </a:extLst>
          </p:cNvPr>
          <p:cNvSpPr>
            <a:spLocks noGrp="1"/>
          </p:cNvSpPr>
          <p:nvPr>
            <p:ph type="body" idx="1"/>
          </p:nvPr>
        </p:nvSpPr>
        <p:spPr/>
        <p:txBody>
          <a:bodyPr/>
          <a:lstStyle/>
          <a:p>
            <a:r>
              <a:rPr lang="es-ES" dirty="0"/>
              <a:t>Esta separación es el núcleo de </a:t>
            </a:r>
            <a:r>
              <a:rPr lang="es-ES" dirty="0" err="1"/>
              <a:t>SDN</a:t>
            </a:r>
            <a:r>
              <a:rPr lang="es-ES" dirty="0"/>
              <a:t>. En una red tradicional, cada equipo contiene su propia lógica de control y de reenvío. En </a:t>
            </a:r>
            <a:r>
              <a:rPr lang="es-ES" dirty="0" err="1"/>
              <a:t>SDN</a:t>
            </a:r>
            <a:r>
              <a:rPr lang="es-ES" dirty="0"/>
              <a:t>, la lógica de control se mueve hacia un controlador, que define reglas. Los switches o </a:t>
            </a:r>
            <a:r>
              <a:rPr lang="es-ES" dirty="0" err="1"/>
              <a:t>routers</a:t>
            </a:r>
            <a:r>
              <a:rPr lang="es-ES" dirty="0"/>
              <a:t> siguen reenviando tráfico, pero lo hacen según instrucciones programadas desde software.</a:t>
            </a:r>
            <a:endParaRPr lang="es-CL" dirty="0"/>
          </a:p>
        </p:txBody>
      </p:sp>
      <p:sp>
        <p:nvSpPr>
          <p:cNvPr id="4" name="Marcador de número de diapositiva 3">
            <a:extLst>
              <a:ext uri="{FF2B5EF4-FFF2-40B4-BE49-F238E27FC236}">
                <a16:creationId xmlns:a16="http://schemas.microsoft.com/office/drawing/2014/main" id="{DBADEE1A-4AF4-7B2A-B85F-98F67597F279}"/>
              </a:ext>
            </a:extLst>
          </p:cNvPr>
          <p:cNvSpPr>
            <a:spLocks noGrp="1"/>
          </p:cNvSpPr>
          <p:nvPr>
            <p:ph type="sldNum" sz="quarter" idx="5"/>
          </p:nvPr>
        </p:nvSpPr>
        <p:spPr/>
        <p:txBody>
          <a:bodyPr/>
          <a:lstStyle/>
          <a:p>
            <a:fld id="{235CC6FD-75C5-034E-BC56-691A10C41604}" type="slidenum">
              <a:rPr lang="es-CL" smtClean="0"/>
              <a:t>19</a:t>
            </a:fld>
            <a:endParaRPr lang="es-CL"/>
          </a:p>
        </p:txBody>
      </p:sp>
    </p:spTree>
    <p:extLst>
      <p:ext uri="{BB962C8B-B14F-4D97-AF65-F5344CB8AC3E}">
        <p14:creationId xmlns:p14="http://schemas.microsoft.com/office/powerpoint/2010/main" val="11874247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5FA092-9102-A2FF-5FDA-B4028136510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A97EEDC-4B83-1585-134F-50E06F40E5E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26CD6A9-EBFB-4B61-E3CA-A582A55DE7E0}"/>
              </a:ext>
            </a:extLst>
          </p:cNvPr>
          <p:cNvSpPr>
            <a:spLocks noGrp="1"/>
          </p:cNvSpPr>
          <p:nvPr>
            <p:ph type="body" idx="1"/>
          </p:nvPr>
        </p:nvSpPr>
        <p:spPr/>
        <p:txBody>
          <a:bodyPr/>
          <a:lstStyle/>
          <a:p>
            <a:r>
              <a:rPr lang="es-ES" dirty="0"/>
              <a:t>La red tradicional distribuye la inteligencia en los equipos. </a:t>
            </a:r>
            <a:r>
              <a:rPr lang="es-ES" dirty="0" err="1"/>
              <a:t>SDN</a:t>
            </a:r>
            <a:r>
              <a:rPr lang="es-ES" dirty="0"/>
              <a:t> propone separar la lógica de control y administrarla desde software. Esto permite aplicar políticas de forma más uniforme y automatizar cambios. Sin embargo, </a:t>
            </a:r>
            <a:r>
              <a:rPr lang="es-ES" dirty="0" err="1"/>
              <a:t>SDN</a:t>
            </a:r>
            <a:r>
              <a:rPr lang="es-ES" dirty="0"/>
              <a:t> no significa que desaparezca el hardware: los dispositivos siguen ejecutando el reenvío, y en muchos escenarios críticos el hardware especializado sigue siendo necesario.</a:t>
            </a:r>
            <a:endParaRPr lang="es-CL" dirty="0"/>
          </a:p>
        </p:txBody>
      </p:sp>
      <p:sp>
        <p:nvSpPr>
          <p:cNvPr id="4" name="Marcador de número de diapositiva 3">
            <a:extLst>
              <a:ext uri="{FF2B5EF4-FFF2-40B4-BE49-F238E27FC236}">
                <a16:creationId xmlns:a16="http://schemas.microsoft.com/office/drawing/2014/main" id="{E2441D41-2CA4-F9A2-AF3E-7AD9B37ECE0F}"/>
              </a:ext>
            </a:extLst>
          </p:cNvPr>
          <p:cNvSpPr>
            <a:spLocks noGrp="1"/>
          </p:cNvSpPr>
          <p:nvPr>
            <p:ph type="sldNum" sz="quarter" idx="5"/>
          </p:nvPr>
        </p:nvSpPr>
        <p:spPr/>
        <p:txBody>
          <a:bodyPr/>
          <a:lstStyle/>
          <a:p>
            <a:fld id="{235CC6FD-75C5-034E-BC56-691A10C41604}" type="slidenum">
              <a:rPr lang="es-CL" smtClean="0"/>
              <a:t>20</a:t>
            </a:fld>
            <a:endParaRPr lang="es-CL"/>
          </a:p>
        </p:txBody>
      </p:sp>
    </p:spTree>
    <p:extLst>
      <p:ext uri="{BB962C8B-B14F-4D97-AF65-F5344CB8AC3E}">
        <p14:creationId xmlns:p14="http://schemas.microsoft.com/office/powerpoint/2010/main" val="19935320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287C97-1467-3CE6-12AA-A368A08D017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6A6F474-6DB1-D195-46FE-AC7B0015850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71B5ACD-1342-8648-5922-F7D1D07DD364}"/>
              </a:ext>
            </a:extLst>
          </p:cNvPr>
          <p:cNvSpPr>
            <a:spLocks noGrp="1"/>
          </p:cNvSpPr>
          <p:nvPr>
            <p:ph type="body" idx="1"/>
          </p:nvPr>
        </p:nvSpPr>
        <p:spPr/>
        <p:txBody>
          <a:bodyPr/>
          <a:lstStyle/>
          <a:p>
            <a:r>
              <a:rPr lang="es-ES" dirty="0"/>
              <a:t>La evolución hacia </a:t>
            </a:r>
            <a:r>
              <a:rPr lang="es-ES" dirty="0" err="1"/>
              <a:t>SDN</a:t>
            </a:r>
            <a:r>
              <a:rPr lang="es-ES" dirty="0"/>
              <a:t> parte desde redes tradicionales donde cada equipo decide y se configura individualmente. Luego aparece la virtualización, que permite ejecutar funciones de red como software. Finalmente, </a:t>
            </a:r>
            <a:r>
              <a:rPr lang="es-ES" dirty="0" err="1"/>
              <a:t>SDN</a:t>
            </a:r>
            <a:r>
              <a:rPr lang="es-ES" dirty="0"/>
              <a:t> separa el plano de control del plano de datos, permitiendo que un controlador gestione la red de forma centralizada y programable.</a:t>
            </a:r>
            <a:endParaRPr lang="es-CL" dirty="0"/>
          </a:p>
        </p:txBody>
      </p:sp>
      <p:sp>
        <p:nvSpPr>
          <p:cNvPr id="4" name="Marcador de número de diapositiva 3">
            <a:extLst>
              <a:ext uri="{FF2B5EF4-FFF2-40B4-BE49-F238E27FC236}">
                <a16:creationId xmlns:a16="http://schemas.microsoft.com/office/drawing/2014/main" id="{E9A0E9EB-D6FE-E898-6E33-D30CFDB27B96}"/>
              </a:ext>
            </a:extLst>
          </p:cNvPr>
          <p:cNvSpPr>
            <a:spLocks noGrp="1"/>
          </p:cNvSpPr>
          <p:nvPr>
            <p:ph type="sldNum" sz="quarter" idx="5"/>
          </p:nvPr>
        </p:nvSpPr>
        <p:spPr/>
        <p:txBody>
          <a:bodyPr/>
          <a:lstStyle/>
          <a:p>
            <a:fld id="{235CC6FD-75C5-034E-BC56-691A10C41604}" type="slidenum">
              <a:rPr lang="es-CL" smtClean="0"/>
              <a:t>21</a:t>
            </a:fld>
            <a:endParaRPr lang="es-CL"/>
          </a:p>
        </p:txBody>
      </p:sp>
    </p:spTree>
    <p:extLst>
      <p:ext uri="{BB962C8B-B14F-4D97-AF65-F5344CB8AC3E}">
        <p14:creationId xmlns:p14="http://schemas.microsoft.com/office/powerpoint/2010/main" val="64858888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0F2114-E908-A0B4-8C9B-B51C332FEB2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E36316B-8F42-AEE5-8E07-514EE7D68B9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49C5DF7-0ED5-2546-A573-FEDBA2E21A5E}"/>
              </a:ext>
            </a:extLst>
          </p:cNvPr>
          <p:cNvSpPr>
            <a:spLocks noGrp="1"/>
          </p:cNvSpPr>
          <p:nvPr>
            <p:ph type="body" idx="1"/>
          </p:nvPr>
        </p:nvSpPr>
        <p:spPr/>
        <p:txBody>
          <a:bodyPr/>
          <a:lstStyle/>
          <a:p>
            <a:r>
              <a:rPr lang="es-ES" dirty="0"/>
              <a:t>Esta arquitectura resume la lógica de </a:t>
            </a:r>
            <a:r>
              <a:rPr lang="es-ES" dirty="0" err="1"/>
              <a:t>SDN</a:t>
            </a:r>
            <a:r>
              <a:rPr lang="es-ES" dirty="0"/>
              <a:t>. Las aplicaciones expresan políticas o necesidades; el controlador transforma esas políticas en reglas; y los dispositivos del plano de datos ejecutan esas reglas reenviando paquetes. Las interfaces permiten comunicar estas capas.</a:t>
            </a:r>
            <a:endParaRPr lang="es-CL" dirty="0"/>
          </a:p>
        </p:txBody>
      </p:sp>
      <p:sp>
        <p:nvSpPr>
          <p:cNvPr id="4" name="Marcador de número de diapositiva 3">
            <a:extLst>
              <a:ext uri="{FF2B5EF4-FFF2-40B4-BE49-F238E27FC236}">
                <a16:creationId xmlns:a16="http://schemas.microsoft.com/office/drawing/2014/main" id="{E8AD57D7-432B-F9B0-BB66-430FE1F763FE}"/>
              </a:ext>
            </a:extLst>
          </p:cNvPr>
          <p:cNvSpPr>
            <a:spLocks noGrp="1"/>
          </p:cNvSpPr>
          <p:nvPr>
            <p:ph type="sldNum" sz="quarter" idx="5"/>
          </p:nvPr>
        </p:nvSpPr>
        <p:spPr/>
        <p:txBody>
          <a:bodyPr/>
          <a:lstStyle/>
          <a:p>
            <a:fld id="{235CC6FD-75C5-034E-BC56-691A10C41604}" type="slidenum">
              <a:rPr lang="es-CL" smtClean="0"/>
              <a:t>22</a:t>
            </a:fld>
            <a:endParaRPr lang="es-CL"/>
          </a:p>
        </p:txBody>
      </p:sp>
    </p:spTree>
    <p:extLst>
      <p:ext uri="{BB962C8B-B14F-4D97-AF65-F5344CB8AC3E}">
        <p14:creationId xmlns:p14="http://schemas.microsoft.com/office/powerpoint/2010/main" val="123534457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02F167-70B0-AE1C-000E-395568C60EE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B918B0B-23BE-4797-6227-CDEF8453212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615C07B-82B0-220C-CBE4-8B9CC1798F6C}"/>
              </a:ext>
            </a:extLst>
          </p:cNvPr>
          <p:cNvSpPr>
            <a:spLocks noGrp="1"/>
          </p:cNvSpPr>
          <p:nvPr>
            <p:ph type="body" idx="1"/>
          </p:nvPr>
        </p:nvSpPr>
        <p:spPr/>
        <p:txBody>
          <a:bodyPr/>
          <a:lstStyle/>
          <a:p>
            <a:r>
              <a:rPr lang="es-ES" dirty="0"/>
              <a:t>Esta arquitectura resume la lógica de </a:t>
            </a:r>
            <a:r>
              <a:rPr lang="es-ES" dirty="0" err="1"/>
              <a:t>SDN</a:t>
            </a:r>
            <a:r>
              <a:rPr lang="es-ES" dirty="0"/>
              <a:t>. Las aplicaciones expresan políticas o necesidades; el controlador transforma esas políticas en reglas; y los dispositivos del plano de datos ejecutan esas reglas reenviando paquetes. Las interfaces permiten comunicar estas capas.</a:t>
            </a:r>
            <a:endParaRPr lang="es-CL" dirty="0"/>
          </a:p>
        </p:txBody>
      </p:sp>
      <p:sp>
        <p:nvSpPr>
          <p:cNvPr id="4" name="Marcador de número de diapositiva 3">
            <a:extLst>
              <a:ext uri="{FF2B5EF4-FFF2-40B4-BE49-F238E27FC236}">
                <a16:creationId xmlns:a16="http://schemas.microsoft.com/office/drawing/2014/main" id="{2462329D-F8AB-BACA-8F6A-8D06363B126E}"/>
              </a:ext>
            </a:extLst>
          </p:cNvPr>
          <p:cNvSpPr>
            <a:spLocks noGrp="1"/>
          </p:cNvSpPr>
          <p:nvPr>
            <p:ph type="sldNum" sz="quarter" idx="5"/>
          </p:nvPr>
        </p:nvSpPr>
        <p:spPr/>
        <p:txBody>
          <a:bodyPr/>
          <a:lstStyle/>
          <a:p>
            <a:fld id="{235CC6FD-75C5-034E-BC56-691A10C41604}" type="slidenum">
              <a:rPr lang="es-CL" smtClean="0"/>
              <a:t>23</a:t>
            </a:fld>
            <a:endParaRPr lang="es-CL"/>
          </a:p>
        </p:txBody>
      </p:sp>
    </p:spTree>
    <p:extLst>
      <p:ext uri="{BB962C8B-B14F-4D97-AF65-F5344CB8AC3E}">
        <p14:creationId xmlns:p14="http://schemas.microsoft.com/office/powerpoint/2010/main" val="18098679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F4EB25-D72F-25E2-63A4-B15B02D08C4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FE90201-A9FD-D527-FB2E-42D12A7B715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693E720-0A4A-A0B2-08D3-C26CFEF16B55}"/>
              </a:ext>
            </a:extLst>
          </p:cNvPr>
          <p:cNvSpPr>
            <a:spLocks noGrp="1"/>
          </p:cNvSpPr>
          <p:nvPr>
            <p:ph type="body" idx="1"/>
          </p:nvPr>
        </p:nvSpPr>
        <p:spPr/>
        <p:txBody>
          <a:bodyPr/>
          <a:lstStyle/>
          <a:p>
            <a:r>
              <a:rPr lang="es-ES" dirty="0"/>
              <a:t>El controlador </a:t>
            </a:r>
            <a:r>
              <a:rPr lang="es-ES" dirty="0" err="1"/>
              <a:t>SDN</a:t>
            </a:r>
            <a:r>
              <a:rPr lang="es-ES" dirty="0"/>
              <a:t> puede entenderse como el cerebro lógico de la red. No reemplaza físicamente a los switches o </a:t>
            </a:r>
            <a:r>
              <a:rPr lang="es-ES" dirty="0" err="1"/>
              <a:t>routers</a:t>
            </a:r>
            <a:r>
              <a:rPr lang="es-ES" dirty="0"/>
              <a:t>, sino que les entrega reglas para reenviar tráfico. Esto permite aplicar políticas desde un punto central y mantener una visión global de la red</a:t>
            </a:r>
            <a:endParaRPr lang="es-CL" dirty="0"/>
          </a:p>
        </p:txBody>
      </p:sp>
      <p:sp>
        <p:nvSpPr>
          <p:cNvPr id="4" name="Marcador de número de diapositiva 3">
            <a:extLst>
              <a:ext uri="{FF2B5EF4-FFF2-40B4-BE49-F238E27FC236}">
                <a16:creationId xmlns:a16="http://schemas.microsoft.com/office/drawing/2014/main" id="{8802EE35-FAA2-ABCA-4A95-E0CE7B39F0E2}"/>
              </a:ext>
            </a:extLst>
          </p:cNvPr>
          <p:cNvSpPr>
            <a:spLocks noGrp="1"/>
          </p:cNvSpPr>
          <p:nvPr>
            <p:ph type="sldNum" sz="quarter" idx="5"/>
          </p:nvPr>
        </p:nvSpPr>
        <p:spPr/>
        <p:txBody>
          <a:bodyPr/>
          <a:lstStyle/>
          <a:p>
            <a:fld id="{235CC6FD-75C5-034E-BC56-691A10C41604}" type="slidenum">
              <a:rPr lang="es-CL" smtClean="0"/>
              <a:t>24</a:t>
            </a:fld>
            <a:endParaRPr lang="es-CL"/>
          </a:p>
        </p:txBody>
      </p:sp>
    </p:spTree>
    <p:extLst>
      <p:ext uri="{BB962C8B-B14F-4D97-AF65-F5344CB8AC3E}">
        <p14:creationId xmlns:p14="http://schemas.microsoft.com/office/powerpoint/2010/main" val="176624026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1F7005-721D-6A03-75F6-44FF9BEAEFC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62693B2-40D5-DEAE-C933-2281AFA6027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FE2FEC9-0744-47A0-BBC1-64E0F3D48CD8}"/>
              </a:ext>
            </a:extLst>
          </p:cNvPr>
          <p:cNvSpPr>
            <a:spLocks noGrp="1"/>
          </p:cNvSpPr>
          <p:nvPr>
            <p:ph type="body" idx="1"/>
          </p:nvPr>
        </p:nvSpPr>
        <p:spPr/>
        <p:txBody>
          <a:bodyPr/>
          <a:lstStyle/>
          <a:p>
            <a:r>
              <a:rPr lang="es-ES" dirty="0"/>
              <a:t>En </a:t>
            </a:r>
            <a:r>
              <a:rPr lang="es-ES" dirty="0" err="1"/>
              <a:t>SDN</a:t>
            </a:r>
            <a:r>
              <a:rPr lang="es-ES" dirty="0"/>
              <a:t>, las interfaces son esenciales porque conectan las capas. La interfaz norte permite que las aplicaciones expresen lo que quieren que la red haga. La interfaz sur permite que el controlador traduzca esas decisiones en reglas concretas para los dispositivos. </a:t>
            </a:r>
            <a:r>
              <a:rPr lang="es-ES" dirty="0" err="1"/>
              <a:t>OpenFlow</a:t>
            </a:r>
            <a:r>
              <a:rPr lang="es-ES" dirty="0"/>
              <a:t> es uno de los ejemplos más conocidos de interfaz sur</a:t>
            </a:r>
            <a:endParaRPr lang="es-CL" dirty="0"/>
          </a:p>
        </p:txBody>
      </p:sp>
      <p:sp>
        <p:nvSpPr>
          <p:cNvPr id="4" name="Marcador de número de diapositiva 3">
            <a:extLst>
              <a:ext uri="{FF2B5EF4-FFF2-40B4-BE49-F238E27FC236}">
                <a16:creationId xmlns:a16="http://schemas.microsoft.com/office/drawing/2014/main" id="{9410C025-F15B-8F57-B21A-3BAAB60A1EDE}"/>
              </a:ext>
            </a:extLst>
          </p:cNvPr>
          <p:cNvSpPr>
            <a:spLocks noGrp="1"/>
          </p:cNvSpPr>
          <p:nvPr>
            <p:ph type="sldNum" sz="quarter" idx="5"/>
          </p:nvPr>
        </p:nvSpPr>
        <p:spPr/>
        <p:txBody>
          <a:bodyPr/>
          <a:lstStyle/>
          <a:p>
            <a:fld id="{235CC6FD-75C5-034E-BC56-691A10C41604}" type="slidenum">
              <a:rPr lang="es-CL" smtClean="0"/>
              <a:t>25</a:t>
            </a:fld>
            <a:endParaRPr lang="es-CL"/>
          </a:p>
        </p:txBody>
      </p:sp>
    </p:spTree>
    <p:extLst>
      <p:ext uri="{BB962C8B-B14F-4D97-AF65-F5344CB8AC3E}">
        <p14:creationId xmlns:p14="http://schemas.microsoft.com/office/powerpoint/2010/main" val="294275753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97A63A-AF72-8B02-2ACD-E74C89197F6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82F5583-64C7-259D-9DCC-D07F3F6B8C8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6E6E355-93B2-4750-18FC-E145BC267F6A}"/>
              </a:ext>
            </a:extLst>
          </p:cNvPr>
          <p:cNvSpPr>
            <a:spLocks noGrp="1"/>
          </p:cNvSpPr>
          <p:nvPr>
            <p:ph type="body" idx="1"/>
          </p:nvPr>
        </p:nvSpPr>
        <p:spPr/>
        <p:txBody>
          <a:bodyPr/>
          <a:lstStyle/>
          <a:p>
            <a:r>
              <a:rPr lang="es-ES" dirty="0"/>
              <a:t>Las aplicaciones </a:t>
            </a:r>
            <a:r>
              <a:rPr lang="es-ES" dirty="0" err="1"/>
              <a:t>SDN</a:t>
            </a:r>
            <a:r>
              <a:rPr lang="es-ES" dirty="0"/>
              <a:t> son las que entregan valor práctico. No se trata solo de tener un controlador, sino de usarlo para automatizar, segmentar, proteger y optimizar la red. La lógica se define arriba como política, el controlador la traduce y los dispositivos la ejecutan</a:t>
            </a:r>
            <a:endParaRPr lang="es-CL" dirty="0"/>
          </a:p>
        </p:txBody>
      </p:sp>
      <p:sp>
        <p:nvSpPr>
          <p:cNvPr id="4" name="Marcador de número de diapositiva 3">
            <a:extLst>
              <a:ext uri="{FF2B5EF4-FFF2-40B4-BE49-F238E27FC236}">
                <a16:creationId xmlns:a16="http://schemas.microsoft.com/office/drawing/2014/main" id="{492B7096-6EF9-5CA0-271C-04C4595A793F}"/>
              </a:ext>
            </a:extLst>
          </p:cNvPr>
          <p:cNvSpPr>
            <a:spLocks noGrp="1"/>
          </p:cNvSpPr>
          <p:nvPr>
            <p:ph type="sldNum" sz="quarter" idx="5"/>
          </p:nvPr>
        </p:nvSpPr>
        <p:spPr/>
        <p:txBody>
          <a:bodyPr/>
          <a:lstStyle/>
          <a:p>
            <a:fld id="{235CC6FD-75C5-034E-BC56-691A10C41604}" type="slidenum">
              <a:rPr lang="es-CL" smtClean="0"/>
              <a:t>26</a:t>
            </a:fld>
            <a:endParaRPr lang="es-CL"/>
          </a:p>
        </p:txBody>
      </p:sp>
    </p:spTree>
    <p:extLst>
      <p:ext uri="{BB962C8B-B14F-4D97-AF65-F5344CB8AC3E}">
        <p14:creationId xmlns:p14="http://schemas.microsoft.com/office/powerpoint/2010/main" val="35319910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F4709-A454-8EBC-DFE7-42A6F33D398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AB8AB2D-EDB4-69BE-F54E-E89290AC1CA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A10603C-425F-8990-3474-47CC5A88E741}"/>
              </a:ext>
            </a:extLst>
          </p:cNvPr>
          <p:cNvSpPr>
            <a:spLocks noGrp="1"/>
          </p:cNvSpPr>
          <p:nvPr>
            <p:ph type="body" idx="1"/>
          </p:nvPr>
        </p:nvSpPr>
        <p:spPr/>
        <p:txBody>
          <a:bodyPr/>
          <a:lstStyle/>
          <a:p>
            <a:r>
              <a:rPr lang="es-ES" dirty="0"/>
              <a:t>Esta actividad permite integrar todo el módulo: aplicaciones, controlador, interfaces y plano de datos. La idea es que el estudiante vea </a:t>
            </a:r>
            <a:r>
              <a:rPr lang="es-ES" dirty="0" err="1"/>
              <a:t>SDN</a:t>
            </a:r>
            <a:r>
              <a:rPr lang="es-ES" dirty="0"/>
              <a:t> como una arquitectura organizada por capas, no solo como un controlador aislado</a:t>
            </a:r>
            <a:endParaRPr lang="es-CL" dirty="0"/>
          </a:p>
        </p:txBody>
      </p:sp>
      <p:sp>
        <p:nvSpPr>
          <p:cNvPr id="4" name="Marcador de número de diapositiva 3">
            <a:extLst>
              <a:ext uri="{FF2B5EF4-FFF2-40B4-BE49-F238E27FC236}">
                <a16:creationId xmlns:a16="http://schemas.microsoft.com/office/drawing/2014/main" id="{BFD8C4E9-D0D2-16DC-55F6-5E1F7A441F4B}"/>
              </a:ext>
            </a:extLst>
          </p:cNvPr>
          <p:cNvSpPr>
            <a:spLocks noGrp="1"/>
          </p:cNvSpPr>
          <p:nvPr>
            <p:ph type="sldNum" sz="quarter" idx="5"/>
          </p:nvPr>
        </p:nvSpPr>
        <p:spPr/>
        <p:txBody>
          <a:bodyPr/>
          <a:lstStyle/>
          <a:p>
            <a:fld id="{235CC6FD-75C5-034E-BC56-691A10C41604}" type="slidenum">
              <a:rPr lang="es-CL" smtClean="0"/>
              <a:t>27</a:t>
            </a:fld>
            <a:endParaRPr lang="es-CL"/>
          </a:p>
        </p:txBody>
      </p:sp>
    </p:spTree>
    <p:extLst>
      <p:ext uri="{BB962C8B-B14F-4D97-AF65-F5344CB8AC3E}">
        <p14:creationId xmlns:p14="http://schemas.microsoft.com/office/powerpoint/2010/main" val="28206550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AA4DCFF-58D8-97D2-51D3-6268BB6964E5}"/>
              </a:ext>
            </a:extLst>
          </p:cNvPr>
          <p:cNvSpPr>
            <a:spLocks noGrp="1"/>
          </p:cNvSpPr>
          <p:nvPr>
            <p:ph type="ctrTitle"/>
          </p:nvPr>
        </p:nvSpPr>
        <p:spPr>
          <a:xfrm>
            <a:off x="2513013" y="1850860"/>
            <a:ext cx="15078075" cy="3937329"/>
          </a:xfrm>
        </p:spPr>
        <p:txBody>
          <a:bodyPr anchor="b"/>
          <a:lstStyle>
            <a:lvl1pPr algn="ctr">
              <a:defRPr sz="9894"/>
            </a:lvl1pPr>
          </a:lstStyle>
          <a:p>
            <a:r>
              <a:rPr lang="es-MX"/>
              <a:t>Haz clic para modificar el estilo de título del patrón</a:t>
            </a:r>
            <a:endParaRPr lang="es-CL"/>
          </a:p>
        </p:txBody>
      </p:sp>
      <p:sp>
        <p:nvSpPr>
          <p:cNvPr id="3" name="Subtítulo 2">
            <a:extLst>
              <a:ext uri="{FF2B5EF4-FFF2-40B4-BE49-F238E27FC236}">
                <a16:creationId xmlns:a16="http://schemas.microsoft.com/office/drawing/2014/main" id="{55B0821F-352C-1076-2ECE-CDE7AF308798}"/>
              </a:ext>
            </a:extLst>
          </p:cNvPr>
          <p:cNvSpPr>
            <a:spLocks noGrp="1"/>
          </p:cNvSpPr>
          <p:nvPr>
            <p:ph type="subTitle" idx="1"/>
          </p:nvPr>
        </p:nvSpPr>
        <p:spPr>
          <a:xfrm>
            <a:off x="2513013" y="5940028"/>
            <a:ext cx="15078075" cy="2730474"/>
          </a:xfrm>
        </p:spPr>
        <p:txBody>
          <a:bodyPr/>
          <a:lstStyle>
            <a:lvl1pPr marL="0" indent="0" algn="ctr">
              <a:buNone/>
              <a:defRPr sz="3958"/>
            </a:lvl1pPr>
            <a:lvl2pPr marL="753923" indent="0" algn="ctr">
              <a:buNone/>
              <a:defRPr sz="3298"/>
            </a:lvl2pPr>
            <a:lvl3pPr marL="1507846" indent="0" algn="ctr">
              <a:buNone/>
              <a:defRPr sz="2968"/>
            </a:lvl3pPr>
            <a:lvl4pPr marL="2261768" indent="0" algn="ctr">
              <a:buNone/>
              <a:defRPr sz="2638"/>
            </a:lvl4pPr>
            <a:lvl5pPr marL="3015691" indent="0" algn="ctr">
              <a:buNone/>
              <a:defRPr sz="2638"/>
            </a:lvl5pPr>
            <a:lvl6pPr marL="3769614" indent="0" algn="ctr">
              <a:buNone/>
              <a:defRPr sz="2638"/>
            </a:lvl6pPr>
            <a:lvl7pPr marL="4523537" indent="0" algn="ctr">
              <a:buNone/>
              <a:defRPr sz="2638"/>
            </a:lvl7pPr>
            <a:lvl8pPr marL="5277460" indent="0" algn="ctr">
              <a:buNone/>
              <a:defRPr sz="2638"/>
            </a:lvl8pPr>
            <a:lvl9pPr marL="6031382" indent="0" algn="ctr">
              <a:buNone/>
              <a:defRPr sz="2638"/>
            </a:lvl9pPr>
          </a:lstStyle>
          <a:p>
            <a:r>
              <a:rPr lang="es-MX"/>
              <a:t>Haz clic para editar el estilo de subtítulo del patrón</a:t>
            </a:r>
            <a:endParaRPr lang="es-CL"/>
          </a:p>
        </p:txBody>
      </p:sp>
      <p:sp>
        <p:nvSpPr>
          <p:cNvPr id="4" name="Marcador de fecha 3">
            <a:extLst>
              <a:ext uri="{FF2B5EF4-FFF2-40B4-BE49-F238E27FC236}">
                <a16:creationId xmlns:a16="http://schemas.microsoft.com/office/drawing/2014/main" id="{D5FF513E-E201-4345-522F-05D5BDC94E6E}"/>
              </a:ext>
            </a:extLst>
          </p:cNvPr>
          <p:cNvSpPr>
            <a:spLocks noGrp="1"/>
          </p:cNvSpPr>
          <p:nvPr>
            <p:ph type="dt" sz="half" idx="10"/>
          </p:nvPr>
        </p:nvSpPr>
        <p:spPr/>
        <p:txBody>
          <a:bodyPr/>
          <a:lstStyle/>
          <a:p>
            <a:fld id="{1D8BD707-D9CF-40AE-B4C6-C98DA3205C09}" type="datetimeFigureOut">
              <a:rPr lang="en-US" smtClean="0"/>
              <a:t>5/19/2026</a:t>
            </a:fld>
            <a:endParaRPr lang="en-US"/>
          </a:p>
        </p:txBody>
      </p:sp>
      <p:sp>
        <p:nvSpPr>
          <p:cNvPr id="5" name="Marcador de pie de página 4">
            <a:extLst>
              <a:ext uri="{FF2B5EF4-FFF2-40B4-BE49-F238E27FC236}">
                <a16:creationId xmlns:a16="http://schemas.microsoft.com/office/drawing/2014/main" id="{32371351-BD5F-0CBD-6276-4BE74B70A5A0}"/>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62B4A449-F555-EC65-0F1B-0ABB7AA84E3E}"/>
              </a:ext>
            </a:extLst>
          </p:cNvPr>
          <p:cNvSpPr>
            <a:spLocks noGrp="1"/>
          </p:cNvSpPr>
          <p:nvPr>
            <p:ph type="sldNum" sz="quarter" idx="12"/>
          </p:nvPr>
        </p:nvSpPr>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25224830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B535A15-CC56-D4D0-6469-74F8CA91D8D9}"/>
              </a:ext>
            </a:extLst>
          </p:cNvPr>
          <p:cNvSpPr>
            <a:spLocks noGrp="1"/>
          </p:cNvSpPr>
          <p:nvPr>
            <p:ph type="title"/>
          </p:nvPr>
        </p:nvSpPr>
        <p:spPr/>
        <p:txBody>
          <a:bodyPr/>
          <a:lstStyle/>
          <a:p>
            <a:r>
              <a:rPr lang="es-MX"/>
              <a:t>Haz clic para modificar el estilo de título del patrón</a:t>
            </a:r>
            <a:endParaRPr lang="es-CL"/>
          </a:p>
        </p:txBody>
      </p:sp>
      <p:sp>
        <p:nvSpPr>
          <p:cNvPr id="3" name="Marcador de contenido 2">
            <a:extLst>
              <a:ext uri="{FF2B5EF4-FFF2-40B4-BE49-F238E27FC236}">
                <a16:creationId xmlns:a16="http://schemas.microsoft.com/office/drawing/2014/main" id="{3761CDD0-AEA2-E1E1-8449-BEFC90594D48}"/>
              </a:ext>
            </a:extLst>
          </p:cNvPr>
          <p:cNvSpPr>
            <a:spLocks noGrp="1"/>
          </p:cNvSpPr>
          <p:nvPr>
            <p:ph idx="1"/>
          </p:nvPr>
        </p:nvSpPr>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L"/>
          </a:p>
        </p:txBody>
      </p:sp>
      <p:sp>
        <p:nvSpPr>
          <p:cNvPr id="4" name="Marcador de fecha 3">
            <a:extLst>
              <a:ext uri="{FF2B5EF4-FFF2-40B4-BE49-F238E27FC236}">
                <a16:creationId xmlns:a16="http://schemas.microsoft.com/office/drawing/2014/main" id="{7E313E17-511C-62B9-D495-4FA0643416C2}"/>
              </a:ext>
            </a:extLst>
          </p:cNvPr>
          <p:cNvSpPr>
            <a:spLocks noGrp="1"/>
          </p:cNvSpPr>
          <p:nvPr>
            <p:ph type="dt" sz="half" idx="10"/>
          </p:nvPr>
        </p:nvSpPr>
        <p:spPr/>
        <p:txBody>
          <a:bodyPr/>
          <a:lstStyle/>
          <a:p>
            <a:fld id="{1D8BD707-D9CF-40AE-B4C6-C98DA3205C09}" type="datetimeFigureOut">
              <a:rPr lang="en-US" smtClean="0"/>
              <a:t>5/19/2026</a:t>
            </a:fld>
            <a:endParaRPr lang="en-US"/>
          </a:p>
        </p:txBody>
      </p:sp>
      <p:sp>
        <p:nvSpPr>
          <p:cNvPr id="5" name="Marcador de pie de página 4">
            <a:extLst>
              <a:ext uri="{FF2B5EF4-FFF2-40B4-BE49-F238E27FC236}">
                <a16:creationId xmlns:a16="http://schemas.microsoft.com/office/drawing/2014/main" id="{D045FD42-27BC-120C-3AF3-D3D355B05F57}"/>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23ED70BB-D70F-5C80-BEC5-C6A31C94AD80}"/>
              </a:ext>
            </a:extLst>
          </p:cNvPr>
          <p:cNvSpPr>
            <a:spLocks noGrp="1"/>
          </p:cNvSpPr>
          <p:nvPr>
            <p:ph type="sldNum" sz="quarter" idx="12"/>
          </p:nvPr>
        </p:nvSpPr>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4426007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18923E4-E3C8-5760-2CD0-CDF9BFCBF7F1}"/>
              </a:ext>
            </a:extLst>
          </p:cNvPr>
          <p:cNvSpPr>
            <a:spLocks noGrp="1"/>
          </p:cNvSpPr>
          <p:nvPr>
            <p:ph type="title"/>
          </p:nvPr>
        </p:nvSpPr>
        <p:spPr>
          <a:xfrm>
            <a:off x="1371686" y="2819485"/>
            <a:ext cx="17339786" cy="4704375"/>
          </a:xfrm>
        </p:spPr>
        <p:txBody>
          <a:bodyPr anchor="b"/>
          <a:lstStyle>
            <a:lvl1pPr>
              <a:defRPr sz="9894"/>
            </a:lvl1pPr>
          </a:lstStyle>
          <a:p>
            <a:r>
              <a:rPr lang="es-MX"/>
              <a:t>Haz clic para modificar el estilo de título del patrón</a:t>
            </a:r>
            <a:endParaRPr lang="es-CL"/>
          </a:p>
        </p:txBody>
      </p:sp>
      <p:sp>
        <p:nvSpPr>
          <p:cNvPr id="3" name="Marcador de texto 2">
            <a:extLst>
              <a:ext uri="{FF2B5EF4-FFF2-40B4-BE49-F238E27FC236}">
                <a16:creationId xmlns:a16="http://schemas.microsoft.com/office/drawing/2014/main" id="{6F085F8F-91AC-DEDF-BDC7-BE1F89C4C012}"/>
              </a:ext>
            </a:extLst>
          </p:cNvPr>
          <p:cNvSpPr>
            <a:spLocks noGrp="1"/>
          </p:cNvSpPr>
          <p:nvPr>
            <p:ph type="body" idx="1"/>
          </p:nvPr>
        </p:nvSpPr>
        <p:spPr>
          <a:xfrm>
            <a:off x="1371686" y="7568366"/>
            <a:ext cx="17339786" cy="2473919"/>
          </a:xfrm>
        </p:spPr>
        <p:txBody>
          <a:bodyPr/>
          <a:lstStyle>
            <a:lvl1pPr marL="0" indent="0">
              <a:buNone/>
              <a:defRPr sz="3958">
                <a:solidFill>
                  <a:schemeClr val="tx1">
                    <a:tint val="75000"/>
                  </a:schemeClr>
                </a:solidFill>
              </a:defRPr>
            </a:lvl1pPr>
            <a:lvl2pPr marL="753923" indent="0">
              <a:buNone/>
              <a:defRPr sz="3298">
                <a:solidFill>
                  <a:schemeClr val="tx1">
                    <a:tint val="75000"/>
                  </a:schemeClr>
                </a:solidFill>
              </a:defRPr>
            </a:lvl2pPr>
            <a:lvl3pPr marL="1507846" indent="0">
              <a:buNone/>
              <a:defRPr sz="2968">
                <a:solidFill>
                  <a:schemeClr val="tx1">
                    <a:tint val="75000"/>
                  </a:schemeClr>
                </a:solidFill>
              </a:defRPr>
            </a:lvl3pPr>
            <a:lvl4pPr marL="2261768" indent="0">
              <a:buNone/>
              <a:defRPr sz="2638">
                <a:solidFill>
                  <a:schemeClr val="tx1">
                    <a:tint val="75000"/>
                  </a:schemeClr>
                </a:solidFill>
              </a:defRPr>
            </a:lvl4pPr>
            <a:lvl5pPr marL="3015691" indent="0">
              <a:buNone/>
              <a:defRPr sz="2638">
                <a:solidFill>
                  <a:schemeClr val="tx1">
                    <a:tint val="75000"/>
                  </a:schemeClr>
                </a:solidFill>
              </a:defRPr>
            </a:lvl5pPr>
            <a:lvl6pPr marL="3769614" indent="0">
              <a:buNone/>
              <a:defRPr sz="2638">
                <a:solidFill>
                  <a:schemeClr val="tx1">
                    <a:tint val="75000"/>
                  </a:schemeClr>
                </a:solidFill>
              </a:defRPr>
            </a:lvl6pPr>
            <a:lvl7pPr marL="4523537" indent="0">
              <a:buNone/>
              <a:defRPr sz="2638">
                <a:solidFill>
                  <a:schemeClr val="tx1">
                    <a:tint val="75000"/>
                  </a:schemeClr>
                </a:solidFill>
              </a:defRPr>
            </a:lvl7pPr>
            <a:lvl8pPr marL="5277460" indent="0">
              <a:buNone/>
              <a:defRPr sz="2638">
                <a:solidFill>
                  <a:schemeClr val="tx1">
                    <a:tint val="75000"/>
                  </a:schemeClr>
                </a:solidFill>
              </a:defRPr>
            </a:lvl8pPr>
            <a:lvl9pPr marL="6031382" indent="0">
              <a:buNone/>
              <a:defRPr sz="2638">
                <a:solidFill>
                  <a:schemeClr val="tx1">
                    <a:tint val="75000"/>
                  </a:schemeClr>
                </a:solidFill>
              </a:defRPr>
            </a:lvl9pPr>
          </a:lstStyle>
          <a:p>
            <a:pPr lvl="0"/>
            <a:r>
              <a:rPr lang="es-MX"/>
              <a:t>Haga clic para modificar los estilos de texto del patrón</a:t>
            </a:r>
          </a:p>
        </p:txBody>
      </p:sp>
      <p:sp>
        <p:nvSpPr>
          <p:cNvPr id="4" name="Marcador de fecha 3">
            <a:extLst>
              <a:ext uri="{FF2B5EF4-FFF2-40B4-BE49-F238E27FC236}">
                <a16:creationId xmlns:a16="http://schemas.microsoft.com/office/drawing/2014/main" id="{73BA4FA8-08B8-0E66-F01F-B235F110B7C6}"/>
              </a:ext>
            </a:extLst>
          </p:cNvPr>
          <p:cNvSpPr>
            <a:spLocks noGrp="1"/>
          </p:cNvSpPr>
          <p:nvPr>
            <p:ph type="dt" sz="half" idx="10"/>
          </p:nvPr>
        </p:nvSpPr>
        <p:spPr/>
        <p:txBody>
          <a:bodyPr/>
          <a:lstStyle/>
          <a:p>
            <a:fld id="{1D8BD707-D9CF-40AE-B4C6-C98DA3205C09}" type="datetimeFigureOut">
              <a:rPr lang="en-US" smtClean="0"/>
              <a:t>5/19/2026</a:t>
            </a:fld>
            <a:endParaRPr lang="en-US"/>
          </a:p>
        </p:txBody>
      </p:sp>
      <p:sp>
        <p:nvSpPr>
          <p:cNvPr id="5" name="Marcador de pie de página 4">
            <a:extLst>
              <a:ext uri="{FF2B5EF4-FFF2-40B4-BE49-F238E27FC236}">
                <a16:creationId xmlns:a16="http://schemas.microsoft.com/office/drawing/2014/main" id="{A1ACA919-6BF3-42BD-DBC7-09A7CBD6F486}"/>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66715315-E27F-B452-CA46-776C4AE89235}"/>
              </a:ext>
            </a:extLst>
          </p:cNvPr>
          <p:cNvSpPr>
            <a:spLocks noGrp="1"/>
          </p:cNvSpPr>
          <p:nvPr>
            <p:ph type="sldNum" sz="quarter" idx="12"/>
          </p:nvPr>
        </p:nvSpPr>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10141369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698B64B-EBCD-6853-58B8-B2CA0C7D47D9}"/>
              </a:ext>
            </a:extLst>
          </p:cNvPr>
          <p:cNvSpPr>
            <a:spLocks noGrp="1"/>
          </p:cNvSpPr>
          <p:nvPr>
            <p:ph type="title"/>
          </p:nvPr>
        </p:nvSpPr>
        <p:spPr/>
        <p:txBody>
          <a:bodyPr/>
          <a:lstStyle/>
          <a:p>
            <a:r>
              <a:rPr lang="es-MX"/>
              <a:t>Haz clic para modificar el estilo de título del patrón</a:t>
            </a:r>
            <a:endParaRPr lang="es-CL"/>
          </a:p>
        </p:txBody>
      </p:sp>
      <p:sp>
        <p:nvSpPr>
          <p:cNvPr id="3" name="Marcador de contenido 2">
            <a:extLst>
              <a:ext uri="{FF2B5EF4-FFF2-40B4-BE49-F238E27FC236}">
                <a16:creationId xmlns:a16="http://schemas.microsoft.com/office/drawing/2014/main" id="{CADF2E63-4791-D0B1-D362-7EB60DD0D011}"/>
              </a:ext>
            </a:extLst>
          </p:cNvPr>
          <p:cNvSpPr>
            <a:spLocks noGrp="1"/>
          </p:cNvSpPr>
          <p:nvPr>
            <p:ph sz="half" idx="1"/>
          </p:nvPr>
        </p:nvSpPr>
        <p:spPr>
          <a:xfrm>
            <a:off x="1382157" y="3010591"/>
            <a:ext cx="8544243" cy="7175679"/>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L"/>
          </a:p>
        </p:txBody>
      </p:sp>
      <p:sp>
        <p:nvSpPr>
          <p:cNvPr id="4" name="Marcador de contenido 3">
            <a:extLst>
              <a:ext uri="{FF2B5EF4-FFF2-40B4-BE49-F238E27FC236}">
                <a16:creationId xmlns:a16="http://schemas.microsoft.com/office/drawing/2014/main" id="{C718DFB6-1BE9-C5A5-B8E5-C1BF4C301DE2}"/>
              </a:ext>
            </a:extLst>
          </p:cNvPr>
          <p:cNvSpPr>
            <a:spLocks noGrp="1"/>
          </p:cNvSpPr>
          <p:nvPr>
            <p:ph sz="half" idx="2"/>
          </p:nvPr>
        </p:nvSpPr>
        <p:spPr>
          <a:xfrm>
            <a:off x="10177700" y="3010591"/>
            <a:ext cx="8544243" cy="7175679"/>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L"/>
          </a:p>
        </p:txBody>
      </p:sp>
      <p:sp>
        <p:nvSpPr>
          <p:cNvPr id="5" name="Marcador de fecha 4">
            <a:extLst>
              <a:ext uri="{FF2B5EF4-FFF2-40B4-BE49-F238E27FC236}">
                <a16:creationId xmlns:a16="http://schemas.microsoft.com/office/drawing/2014/main" id="{37BC9F7E-0C80-2B3B-50ED-2EA3038F2CE1}"/>
              </a:ext>
            </a:extLst>
          </p:cNvPr>
          <p:cNvSpPr>
            <a:spLocks noGrp="1"/>
          </p:cNvSpPr>
          <p:nvPr>
            <p:ph type="dt" sz="half" idx="10"/>
          </p:nvPr>
        </p:nvSpPr>
        <p:spPr/>
        <p:txBody>
          <a:bodyPr/>
          <a:lstStyle/>
          <a:p>
            <a:fld id="{1D8BD707-D9CF-40AE-B4C6-C98DA3205C09}" type="datetimeFigureOut">
              <a:rPr lang="en-US" smtClean="0"/>
              <a:t>5/19/2026</a:t>
            </a:fld>
            <a:endParaRPr lang="en-US"/>
          </a:p>
        </p:txBody>
      </p:sp>
      <p:sp>
        <p:nvSpPr>
          <p:cNvPr id="6" name="Marcador de pie de página 5">
            <a:extLst>
              <a:ext uri="{FF2B5EF4-FFF2-40B4-BE49-F238E27FC236}">
                <a16:creationId xmlns:a16="http://schemas.microsoft.com/office/drawing/2014/main" id="{8FB1FDDF-62D9-10D0-3A15-E051505E9130}"/>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9530564F-FADB-7B9D-90E1-AF826F8D52E1}"/>
              </a:ext>
            </a:extLst>
          </p:cNvPr>
          <p:cNvSpPr>
            <a:spLocks noGrp="1"/>
          </p:cNvSpPr>
          <p:nvPr>
            <p:ph type="sldNum" sz="quarter" idx="12"/>
          </p:nvPr>
        </p:nvSpPr>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32264738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E89F778-08A9-A6B8-5C93-C5AAB8EAF968}"/>
              </a:ext>
            </a:extLst>
          </p:cNvPr>
          <p:cNvSpPr>
            <a:spLocks noGrp="1"/>
          </p:cNvSpPr>
          <p:nvPr>
            <p:ph type="title"/>
          </p:nvPr>
        </p:nvSpPr>
        <p:spPr>
          <a:xfrm>
            <a:off x="1384776" y="602119"/>
            <a:ext cx="17339786" cy="2185952"/>
          </a:xfrm>
        </p:spPr>
        <p:txBody>
          <a:bodyPr/>
          <a:lstStyle/>
          <a:p>
            <a:r>
              <a:rPr lang="es-MX"/>
              <a:t>Haz clic para modificar el estilo de título del patrón</a:t>
            </a:r>
            <a:endParaRPr lang="es-CL"/>
          </a:p>
        </p:txBody>
      </p:sp>
      <p:sp>
        <p:nvSpPr>
          <p:cNvPr id="3" name="Marcador de texto 2">
            <a:extLst>
              <a:ext uri="{FF2B5EF4-FFF2-40B4-BE49-F238E27FC236}">
                <a16:creationId xmlns:a16="http://schemas.microsoft.com/office/drawing/2014/main" id="{6DB1367A-B26A-422F-D2BD-31866324251D}"/>
              </a:ext>
            </a:extLst>
          </p:cNvPr>
          <p:cNvSpPr>
            <a:spLocks noGrp="1"/>
          </p:cNvSpPr>
          <p:nvPr>
            <p:ph type="body" idx="1"/>
          </p:nvPr>
        </p:nvSpPr>
        <p:spPr>
          <a:xfrm>
            <a:off x="1384776" y="2772362"/>
            <a:ext cx="8504976" cy="1358692"/>
          </a:xfrm>
        </p:spPr>
        <p:txBody>
          <a:bodyPr anchor="b"/>
          <a:lstStyle>
            <a:lvl1pPr marL="0" indent="0">
              <a:buNone/>
              <a:defRPr sz="3958" b="1"/>
            </a:lvl1pPr>
            <a:lvl2pPr marL="753923" indent="0">
              <a:buNone/>
              <a:defRPr sz="3298" b="1"/>
            </a:lvl2pPr>
            <a:lvl3pPr marL="1507846" indent="0">
              <a:buNone/>
              <a:defRPr sz="2968" b="1"/>
            </a:lvl3pPr>
            <a:lvl4pPr marL="2261768" indent="0">
              <a:buNone/>
              <a:defRPr sz="2638" b="1"/>
            </a:lvl4pPr>
            <a:lvl5pPr marL="3015691" indent="0">
              <a:buNone/>
              <a:defRPr sz="2638" b="1"/>
            </a:lvl5pPr>
            <a:lvl6pPr marL="3769614" indent="0">
              <a:buNone/>
              <a:defRPr sz="2638" b="1"/>
            </a:lvl6pPr>
            <a:lvl7pPr marL="4523537" indent="0">
              <a:buNone/>
              <a:defRPr sz="2638" b="1"/>
            </a:lvl7pPr>
            <a:lvl8pPr marL="5277460" indent="0">
              <a:buNone/>
              <a:defRPr sz="2638" b="1"/>
            </a:lvl8pPr>
            <a:lvl9pPr marL="6031382" indent="0">
              <a:buNone/>
              <a:defRPr sz="2638" b="1"/>
            </a:lvl9pPr>
          </a:lstStyle>
          <a:p>
            <a:pPr lvl="0"/>
            <a:r>
              <a:rPr lang="es-MX"/>
              <a:t>Haga clic para modificar los estilos de texto del patrón</a:t>
            </a:r>
          </a:p>
        </p:txBody>
      </p:sp>
      <p:sp>
        <p:nvSpPr>
          <p:cNvPr id="4" name="Marcador de contenido 3">
            <a:extLst>
              <a:ext uri="{FF2B5EF4-FFF2-40B4-BE49-F238E27FC236}">
                <a16:creationId xmlns:a16="http://schemas.microsoft.com/office/drawing/2014/main" id="{A90EB983-DE50-2793-94B1-6282B8FB5EBC}"/>
              </a:ext>
            </a:extLst>
          </p:cNvPr>
          <p:cNvSpPr>
            <a:spLocks noGrp="1"/>
          </p:cNvSpPr>
          <p:nvPr>
            <p:ph sz="half" idx="2"/>
          </p:nvPr>
        </p:nvSpPr>
        <p:spPr>
          <a:xfrm>
            <a:off x="1384776" y="4131054"/>
            <a:ext cx="8504976" cy="6076159"/>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L"/>
          </a:p>
        </p:txBody>
      </p:sp>
      <p:sp>
        <p:nvSpPr>
          <p:cNvPr id="5" name="Marcador de texto 4">
            <a:extLst>
              <a:ext uri="{FF2B5EF4-FFF2-40B4-BE49-F238E27FC236}">
                <a16:creationId xmlns:a16="http://schemas.microsoft.com/office/drawing/2014/main" id="{78D20D19-F20A-717C-BA4D-6B5661EBED5A}"/>
              </a:ext>
            </a:extLst>
          </p:cNvPr>
          <p:cNvSpPr>
            <a:spLocks noGrp="1"/>
          </p:cNvSpPr>
          <p:nvPr>
            <p:ph type="body" sz="quarter" idx="3"/>
          </p:nvPr>
        </p:nvSpPr>
        <p:spPr>
          <a:xfrm>
            <a:off x="10177701" y="2772362"/>
            <a:ext cx="8546861" cy="1358692"/>
          </a:xfrm>
        </p:spPr>
        <p:txBody>
          <a:bodyPr anchor="b"/>
          <a:lstStyle>
            <a:lvl1pPr marL="0" indent="0">
              <a:buNone/>
              <a:defRPr sz="3958" b="1"/>
            </a:lvl1pPr>
            <a:lvl2pPr marL="753923" indent="0">
              <a:buNone/>
              <a:defRPr sz="3298" b="1"/>
            </a:lvl2pPr>
            <a:lvl3pPr marL="1507846" indent="0">
              <a:buNone/>
              <a:defRPr sz="2968" b="1"/>
            </a:lvl3pPr>
            <a:lvl4pPr marL="2261768" indent="0">
              <a:buNone/>
              <a:defRPr sz="2638" b="1"/>
            </a:lvl4pPr>
            <a:lvl5pPr marL="3015691" indent="0">
              <a:buNone/>
              <a:defRPr sz="2638" b="1"/>
            </a:lvl5pPr>
            <a:lvl6pPr marL="3769614" indent="0">
              <a:buNone/>
              <a:defRPr sz="2638" b="1"/>
            </a:lvl6pPr>
            <a:lvl7pPr marL="4523537" indent="0">
              <a:buNone/>
              <a:defRPr sz="2638" b="1"/>
            </a:lvl7pPr>
            <a:lvl8pPr marL="5277460" indent="0">
              <a:buNone/>
              <a:defRPr sz="2638" b="1"/>
            </a:lvl8pPr>
            <a:lvl9pPr marL="6031382" indent="0">
              <a:buNone/>
              <a:defRPr sz="2638" b="1"/>
            </a:lvl9pPr>
          </a:lstStyle>
          <a:p>
            <a:pPr lvl="0"/>
            <a:r>
              <a:rPr lang="es-MX"/>
              <a:t>Haga clic para modificar los estilos de texto del patrón</a:t>
            </a:r>
          </a:p>
        </p:txBody>
      </p:sp>
      <p:sp>
        <p:nvSpPr>
          <p:cNvPr id="6" name="Marcador de contenido 5">
            <a:extLst>
              <a:ext uri="{FF2B5EF4-FFF2-40B4-BE49-F238E27FC236}">
                <a16:creationId xmlns:a16="http://schemas.microsoft.com/office/drawing/2014/main" id="{52562768-89FD-AA2F-EB7A-2C15C13625C1}"/>
              </a:ext>
            </a:extLst>
          </p:cNvPr>
          <p:cNvSpPr>
            <a:spLocks noGrp="1"/>
          </p:cNvSpPr>
          <p:nvPr>
            <p:ph sz="quarter" idx="4"/>
          </p:nvPr>
        </p:nvSpPr>
        <p:spPr>
          <a:xfrm>
            <a:off x="10177701" y="4131054"/>
            <a:ext cx="8546861" cy="6076159"/>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L"/>
          </a:p>
        </p:txBody>
      </p:sp>
      <p:sp>
        <p:nvSpPr>
          <p:cNvPr id="7" name="Marcador de fecha 6">
            <a:extLst>
              <a:ext uri="{FF2B5EF4-FFF2-40B4-BE49-F238E27FC236}">
                <a16:creationId xmlns:a16="http://schemas.microsoft.com/office/drawing/2014/main" id="{C2A6A63F-08A7-06F9-6F36-72AC2E1E9515}"/>
              </a:ext>
            </a:extLst>
          </p:cNvPr>
          <p:cNvSpPr>
            <a:spLocks noGrp="1"/>
          </p:cNvSpPr>
          <p:nvPr>
            <p:ph type="dt" sz="half" idx="10"/>
          </p:nvPr>
        </p:nvSpPr>
        <p:spPr/>
        <p:txBody>
          <a:bodyPr/>
          <a:lstStyle/>
          <a:p>
            <a:fld id="{1D8BD707-D9CF-40AE-B4C6-C98DA3205C09}" type="datetimeFigureOut">
              <a:rPr lang="en-US" smtClean="0"/>
              <a:t>5/19/2026</a:t>
            </a:fld>
            <a:endParaRPr lang="en-US"/>
          </a:p>
        </p:txBody>
      </p:sp>
      <p:sp>
        <p:nvSpPr>
          <p:cNvPr id="8" name="Marcador de pie de página 7">
            <a:extLst>
              <a:ext uri="{FF2B5EF4-FFF2-40B4-BE49-F238E27FC236}">
                <a16:creationId xmlns:a16="http://schemas.microsoft.com/office/drawing/2014/main" id="{C35A53C4-A8EF-EB7C-EA3A-6C78EC4B0E4F}"/>
              </a:ext>
            </a:extLst>
          </p:cNvPr>
          <p:cNvSpPr>
            <a:spLocks noGrp="1"/>
          </p:cNvSpPr>
          <p:nvPr>
            <p:ph type="ftr" sz="quarter" idx="11"/>
          </p:nvPr>
        </p:nvSpPr>
        <p:spPr/>
        <p:txBody>
          <a:bodyPr/>
          <a:lstStyle/>
          <a:p>
            <a:endParaRPr lang="es-CL"/>
          </a:p>
        </p:txBody>
      </p:sp>
      <p:sp>
        <p:nvSpPr>
          <p:cNvPr id="9" name="Marcador de número de diapositiva 8">
            <a:extLst>
              <a:ext uri="{FF2B5EF4-FFF2-40B4-BE49-F238E27FC236}">
                <a16:creationId xmlns:a16="http://schemas.microsoft.com/office/drawing/2014/main" id="{7910B013-DDC7-D0B3-F289-335856F75D21}"/>
              </a:ext>
            </a:extLst>
          </p:cNvPr>
          <p:cNvSpPr>
            <a:spLocks noGrp="1"/>
          </p:cNvSpPr>
          <p:nvPr>
            <p:ph type="sldNum" sz="quarter" idx="12"/>
          </p:nvPr>
        </p:nvSpPr>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40037135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517347E-68C2-47E3-D5CA-088E9958A544}"/>
              </a:ext>
            </a:extLst>
          </p:cNvPr>
          <p:cNvSpPr>
            <a:spLocks noGrp="1"/>
          </p:cNvSpPr>
          <p:nvPr>
            <p:ph type="title"/>
          </p:nvPr>
        </p:nvSpPr>
        <p:spPr/>
        <p:txBody>
          <a:bodyPr/>
          <a:lstStyle/>
          <a:p>
            <a:r>
              <a:rPr lang="es-MX"/>
              <a:t>Haz clic para modificar el estilo de título del patrón</a:t>
            </a:r>
            <a:endParaRPr lang="es-CL"/>
          </a:p>
        </p:txBody>
      </p:sp>
      <p:sp>
        <p:nvSpPr>
          <p:cNvPr id="3" name="Marcador de fecha 2">
            <a:extLst>
              <a:ext uri="{FF2B5EF4-FFF2-40B4-BE49-F238E27FC236}">
                <a16:creationId xmlns:a16="http://schemas.microsoft.com/office/drawing/2014/main" id="{52526359-41CF-4EFB-0CDE-88ABEEC21FD2}"/>
              </a:ext>
            </a:extLst>
          </p:cNvPr>
          <p:cNvSpPr>
            <a:spLocks noGrp="1"/>
          </p:cNvSpPr>
          <p:nvPr>
            <p:ph type="dt" sz="half" idx="10"/>
          </p:nvPr>
        </p:nvSpPr>
        <p:spPr/>
        <p:txBody>
          <a:bodyPr/>
          <a:lstStyle/>
          <a:p>
            <a:fld id="{1D8BD707-D9CF-40AE-B4C6-C98DA3205C09}" type="datetimeFigureOut">
              <a:rPr lang="en-US" smtClean="0"/>
              <a:t>5/19/2026</a:t>
            </a:fld>
            <a:endParaRPr lang="en-US"/>
          </a:p>
        </p:txBody>
      </p:sp>
      <p:sp>
        <p:nvSpPr>
          <p:cNvPr id="4" name="Marcador de pie de página 3">
            <a:extLst>
              <a:ext uri="{FF2B5EF4-FFF2-40B4-BE49-F238E27FC236}">
                <a16:creationId xmlns:a16="http://schemas.microsoft.com/office/drawing/2014/main" id="{CDB796C5-5685-6789-4FBC-3CF567A02944}"/>
              </a:ext>
            </a:extLst>
          </p:cNvPr>
          <p:cNvSpPr>
            <a:spLocks noGrp="1"/>
          </p:cNvSpPr>
          <p:nvPr>
            <p:ph type="ftr" sz="quarter" idx="11"/>
          </p:nvPr>
        </p:nvSpPr>
        <p:spPr/>
        <p:txBody>
          <a:bodyPr/>
          <a:lstStyle/>
          <a:p>
            <a:endParaRPr lang="es-CL"/>
          </a:p>
        </p:txBody>
      </p:sp>
      <p:sp>
        <p:nvSpPr>
          <p:cNvPr id="5" name="Marcador de número de diapositiva 4">
            <a:extLst>
              <a:ext uri="{FF2B5EF4-FFF2-40B4-BE49-F238E27FC236}">
                <a16:creationId xmlns:a16="http://schemas.microsoft.com/office/drawing/2014/main" id="{27E7E3A9-9B64-71CD-9D73-9DC2A402D7AF}"/>
              </a:ext>
            </a:extLst>
          </p:cNvPr>
          <p:cNvSpPr>
            <a:spLocks noGrp="1"/>
          </p:cNvSpPr>
          <p:nvPr>
            <p:ph type="sldNum" sz="quarter" idx="12"/>
          </p:nvPr>
        </p:nvSpPr>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14151900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0686668C-654D-7680-D2F1-5951A5BA383A}"/>
              </a:ext>
            </a:extLst>
          </p:cNvPr>
          <p:cNvSpPr>
            <a:spLocks noGrp="1"/>
          </p:cNvSpPr>
          <p:nvPr>
            <p:ph type="dt" sz="half" idx="10"/>
          </p:nvPr>
        </p:nvSpPr>
        <p:spPr/>
        <p:txBody>
          <a:bodyPr/>
          <a:lstStyle/>
          <a:p>
            <a:fld id="{1D8BD707-D9CF-40AE-B4C6-C98DA3205C09}" type="datetimeFigureOut">
              <a:rPr lang="en-US" smtClean="0"/>
              <a:t>5/19/2026</a:t>
            </a:fld>
            <a:endParaRPr lang="en-US"/>
          </a:p>
        </p:txBody>
      </p:sp>
      <p:sp>
        <p:nvSpPr>
          <p:cNvPr id="3" name="Marcador de pie de página 2">
            <a:extLst>
              <a:ext uri="{FF2B5EF4-FFF2-40B4-BE49-F238E27FC236}">
                <a16:creationId xmlns:a16="http://schemas.microsoft.com/office/drawing/2014/main" id="{C4641BD1-643A-0141-998D-BA2EF4BCA944}"/>
              </a:ext>
            </a:extLst>
          </p:cNvPr>
          <p:cNvSpPr>
            <a:spLocks noGrp="1"/>
          </p:cNvSpPr>
          <p:nvPr>
            <p:ph type="ftr" sz="quarter" idx="11"/>
          </p:nvPr>
        </p:nvSpPr>
        <p:spPr/>
        <p:txBody>
          <a:bodyPr/>
          <a:lstStyle/>
          <a:p>
            <a:endParaRPr lang="es-CL"/>
          </a:p>
        </p:txBody>
      </p:sp>
      <p:sp>
        <p:nvSpPr>
          <p:cNvPr id="4" name="Marcador de número de diapositiva 3">
            <a:extLst>
              <a:ext uri="{FF2B5EF4-FFF2-40B4-BE49-F238E27FC236}">
                <a16:creationId xmlns:a16="http://schemas.microsoft.com/office/drawing/2014/main" id="{1D63F749-E945-0A95-968F-044A4AC32EE4}"/>
              </a:ext>
            </a:extLst>
          </p:cNvPr>
          <p:cNvSpPr>
            <a:spLocks noGrp="1"/>
          </p:cNvSpPr>
          <p:nvPr>
            <p:ph type="sldNum" sz="quarter" idx="12"/>
          </p:nvPr>
        </p:nvSpPr>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14177080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9DDA742-F495-D4AC-270C-DA99995119BE}"/>
              </a:ext>
            </a:extLst>
          </p:cNvPr>
          <p:cNvSpPr>
            <a:spLocks noGrp="1"/>
          </p:cNvSpPr>
          <p:nvPr>
            <p:ph type="title"/>
          </p:nvPr>
        </p:nvSpPr>
        <p:spPr>
          <a:xfrm>
            <a:off x="1384776" y="753957"/>
            <a:ext cx="6484095" cy="2638848"/>
          </a:xfrm>
        </p:spPr>
        <p:txBody>
          <a:bodyPr anchor="b"/>
          <a:lstStyle>
            <a:lvl1pPr>
              <a:defRPr sz="5277"/>
            </a:lvl1pPr>
          </a:lstStyle>
          <a:p>
            <a:r>
              <a:rPr lang="es-MX"/>
              <a:t>Haz clic para modificar el estilo de título del patrón</a:t>
            </a:r>
            <a:endParaRPr lang="es-CL"/>
          </a:p>
        </p:txBody>
      </p:sp>
      <p:sp>
        <p:nvSpPr>
          <p:cNvPr id="3" name="Marcador de contenido 2">
            <a:extLst>
              <a:ext uri="{FF2B5EF4-FFF2-40B4-BE49-F238E27FC236}">
                <a16:creationId xmlns:a16="http://schemas.microsoft.com/office/drawing/2014/main" id="{F477B855-60C9-AC83-44EF-14F710C3993D}"/>
              </a:ext>
            </a:extLst>
          </p:cNvPr>
          <p:cNvSpPr>
            <a:spLocks noGrp="1"/>
          </p:cNvSpPr>
          <p:nvPr>
            <p:ph idx="1"/>
          </p:nvPr>
        </p:nvSpPr>
        <p:spPr>
          <a:xfrm>
            <a:off x="8546861" y="1628338"/>
            <a:ext cx="10177701" cy="8036969"/>
          </a:xfrm>
        </p:spPr>
        <p:txBody>
          <a:bodyPr/>
          <a:lstStyle>
            <a:lvl1pPr>
              <a:defRPr sz="5277"/>
            </a:lvl1pPr>
            <a:lvl2pPr>
              <a:defRPr sz="4617"/>
            </a:lvl2pPr>
            <a:lvl3pPr>
              <a:defRPr sz="3958"/>
            </a:lvl3pPr>
            <a:lvl4pPr>
              <a:defRPr sz="3298"/>
            </a:lvl4pPr>
            <a:lvl5pPr>
              <a:defRPr sz="3298"/>
            </a:lvl5pPr>
            <a:lvl6pPr>
              <a:defRPr sz="3298"/>
            </a:lvl6pPr>
            <a:lvl7pPr>
              <a:defRPr sz="3298"/>
            </a:lvl7pPr>
            <a:lvl8pPr>
              <a:defRPr sz="3298"/>
            </a:lvl8pPr>
            <a:lvl9pPr>
              <a:defRPr sz="3298"/>
            </a:lvl9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L"/>
          </a:p>
        </p:txBody>
      </p:sp>
      <p:sp>
        <p:nvSpPr>
          <p:cNvPr id="4" name="Marcador de texto 3">
            <a:extLst>
              <a:ext uri="{FF2B5EF4-FFF2-40B4-BE49-F238E27FC236}">
                <a16:creationId xmlns:a16="http://schemas.microsoft.com/office/drawing/2014/main" id="{1823DF89-AB5E-D209-90B6-FBB140BD184C}"/>
              </a:ext>
            </a:extLst>
          </p:cNvPr>
          <p:cNvSpPr>
            <a:spLocks noGrp="1"/>
          </p:cNvSpPr>
          <p:nvPr>
            <p:ph type="body" sz="half" idx="2"/>
          </p:nvPr>
        </p:nvSpPr>
        <p:spPr>
          <a:xfrm>
            <a:off x="1384776" y="3392805"/>
            <a:ext cx="6484095" cy="6285591"/>
          </a:xfrm>
        </p:spPr>
        <p:txBody>
          <a:bodyPr/>
          <a:lstStyle>
            <a:lvl1pPr marL="0" indent="0">
              <a:buNone/>
              <a:defRPr sz="2638"/>
            </a:lvl1pPr>
            <a:lvl2pPr marL="753923" indent="0">
              <a:buNone/>
              <a:defRPr sz="2309"/>
            </a:lvl2pPr>
            <a:lvl3pPr marL="1507846" indent="0">
              <a:buNone/>
              <a:defRPr sz="1979"/>
            </a:lvl3pPr>
            <a:lvl4pPr marL="2261768" indent="0">
              <a:buNone/>
              <a:defRPr sz="1649"/>
            </a:lvl4pPr>
            <a:lvl5pPr marL="3015691" indent="0">
              <a:buNone/>
              <a:defRPr sz="1649"/>
            </a:lvl5pPr>
            <a:lvl6pPr marL="3769614" indent="0">
              <a:buNone/>
              <a:defRPr sz="1649"/>
            </a:lvl6pPr>
            <a:lvl7pPr marL="4523537" indent="0">
              <a:buNone/>
              <a:defRPr sz="1649"/>
            </a:lvl7pPr>
            <a:lvl8pPr marL="5277460" indent="0">
              <a:buNone/>
              <a:defRPr sz="1649"/>
            </a:lvl8pPr>
            <a:lvl9pPr marL="6031382" indent="0">
              <a:buNone/>
              <a:defRPr sz="1649"/>
            </a:lvl9pPr>
          </a:lstStyle>
          <a:p>
            <a:pPr lvl="0"/>
            <a:r>
              <a:rPr lang="es-MX"/>
              <a:t>Haga clic para modificar los estilos de texto del patrón</a:t>
            </a:r>
          </a:p>
        </p:txBody>
      </p:sp>
      <p:sp>
        <p:nvSpPr>
          <p:cNvPr id="5" name="Marcador de fecha 4">
            <a:extLst>
              <a:ext uri="{FF2B5EF4-FFF2-40B4-BE49-F238E27FC236}">
                <a16:creationId xmlns:a16="http://schemas.microsoft.com/office/drawing/2014/main" id="{4627FB68-BAF2-FAFC-20C5-50840A80BFD3}"/>
              </a:ext>
            </a:extLst>
          </p:cNvPr>
          <p:cNvSpPr>
            <a:spLocks noGrp="1"/>
          </p:cNvSpPr>
          <p:nvPr>
            <p:ph type="dt" sz="half" idx="10"/>
          </p:nvPr>
        </p:nvSpPr>
        <p:spPr/>
        <p:txBody>
          <a:bodyPr/>
          <a:lstStyle/>
          <a:p>
            <a:fld id="{1D8BD707-D9CF-40AE-B4C6-C98DA3205C09}" type="datetimeFigureOut">
              <a:rPr lang="en-US" smtClean="0"/>
              <a:t>5/19/2026</a:t>
            </a:fld>
            <a:endParaRPr lang="en-US"/>
          </a:p>
        </p:txBody>
      </p:sp>
      <p:sp>
        <p:nvSpPr>
          <p:cNvPr id="6" name="Marcador de pie de página 5">
            <a:extLst>
              <a:ext uri="{FF2B5EF4-FFF2-40B4-BE49-F238E27FC236}">
                <a16:creationId xmlns:a16="http://schemas.microsoft.com/office/drawing/2014/main" id="{80E96347-07C2-617F-DA6B-645148352AF2}"/>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52B3FF74-E26C-3624-C160-FD84EBF2DA61}"/>
              </a:ext>
            </a:extLst>
          </p:cNvPr>
          <p:cNvSpPr>
            <a:spLocks noGrp="1"/>
          </p:cNvSpPr>
          <p:nvPr>
            <p:ph type="sldNum" sz="quarter" idx="12"/>
          </p:nvPr>
        </p:nvSpPr>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8406251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1E3DB23-2B68-8BE6-5BE8-74FB8AC893F3}"/>
              </a:ext>
            </a:extLst>
          </p:cNvPr>
          <p:cNvSpPr>
            <a:spLocks noGrp="1"/>
          </p:cNvSpPr>
          <p:nvPr>
            <p:ph type="title"/>
          </p:nvPr>
        </p:nvSpPr>
        <p:spPr>
          <a:xfrm>
            <a:off x="1384776" y="753957"/>
            <a:ext cx="6484095" cy="2638848"/>
          </a:xfrm>
        </p:spPr>
        <p:txBody>
          <a:bodyPr anchor="b"/>
          <a:lstStyle>
            <a:lvl1pPr>
              <a:defRPr sz="5277"/>
            </a:lvl1pPr>
          </a:lstStyle>
          <a:p>
            <a:r>
              <a:rPr lang="es-MX"/>
              <a:t>Haz clic para modificar el estilo de título del patrón</a:t>
            </a:r>
            <a:endParaRPr lang="es-CL"/>
          </a:p>
        </p:txBody>
      </p:sp>
      <p:sp>
        <p:nvSpPr>
          <p:cNvPr id="3" name="Marcador de posición de imagen 2">
            <a:extLst>
              <a:ext uri="{FF2B5EF4-FFF2-40B4-BE49-F238E27FC236}">
                <a16:creationId xmlns:a16="http://schemas.microsoft.com/office/drawing/2014/main" id="{F212C754-B8E4-3914-A69F-E1B36DCF67FA}"/>
              </a:ext>
            </a:extLst>
          </p:cNvPr>
          <p:cNvSpPr>
            <a:spLocks noGrp="1"/>
          </p:cNvSpPr>
          <p:nvPr>
            <p:ph type="pic" idx="1"/>
          </p:nvPr>
        </p:nvSpPr>
        <p:spPr>
          <a:xfrm>
            <a:off x="8546861" y="1628338"/>
            <a:ext cx="10177701" cy="8036969"/>
          </a:xfrm>
        </p:spPr>
        <p:txBody>
          <a:bodyPr/>
          <a:lstStyle>
            <a:lvl1pPr marL="0" indent="0">
              <a:buNone/>
              <a:defRPr sz="5277"/>
            </a:lvl1pPr>
            <a:lvl2pPr marL="753923" indent="0">
              <a:buNone/>
              <a:defRPr sz="4617"/>
            </a:lvl2pPr>
            <a:lvl3pPr marL="1507846" indent="0">
              <a:buNone/>
              <a:defRPr sz="3958"/>
            </a:lvl3pPr>
            <a:lvl4pPr marL="2261768" indent="0">
              <a:buNone/>
              <a:defRPr sz="3298"/>
            </a:lvl4pPr>
            <a:lvl5pPr marL="3015691" indent="0">
              <a:buNone/>
              <a:defRPr sz="3298"/>
            </a:lvl5pPr>
            <a:lvl6pPr marL="3769614" indent="0">
              <a:buNone/>
              <a:defRPr sz="3298"/>
            </a:lvl6pPr>
            <a:lvl7pPr marL="4523537" indent="0">
              <a:buNone/>
              <a:defRPr sz="3298"/>
            </a:lvl7pPr>
            <a:lvl8pPr marL="5277460" indent="0">
              <a:buNone/>
              <a:defRPr sz="3298"/>
            </a:lvl8pPr>
            <a:lvl9pPr marL="6031382" indent="0">
              <a:buNone/>
              <a:defRPr sz="3298"/>
            </a:lvl9pPr>
          </a:lstStyle>
          <a:p>
            <a:endParaRPr lang="es-CL"/>
          </a:p>
        </p:txBody>
      </p:sp>
      <p:sp>
        <p:nvSpPr>
          <p:cNvPr id="4" name="Marcador de texto 3">
            <a:extLst>
              <a:ext uri="{FF2B5EF4-FFF2-40B4-BE49-F238E27FC236}">
                <a16:creationId xmlns:a16="http://schemas.microsoft.com/office/drawing/2014/main" id="{25A8F03C-2BE0-3A95-F000-ACD6AD1C7C0F}"/>
              </a:ext>
            </a:extLst>
          </p:cNvPr>
          <p:cNvSpPr>
            <a:spLocks noGrp="1"/>
          </p:cNvSpPr>
          <p:nvPr>
            <p:ph type="body" sz="half" idx="2"/>
          </p:nvPr>
        </p:nvSpPr>
        <p:spPr>
          <a:xfrm>
            <a:off x="1384776" y="3392805"/>
            <a:ext cx="6484095" cy="6285591"/>
          </a:xfrm>
        </p:spPr>
        <p:txBody>
          <a:bodyPr/>
          <a:lstStyle>
            <a:lvl1pPr marL="0" indent="0">
              <a:buNone/>
              <a:defRPr sz="2638"/>
            </a:lvl1pPr>
            <a:lvl2pPr marL="753923" indent="0">
              <a:buNone/>
              <a:defRPr sz="2309"/>
            </a:lvl2pPr>
            <a:lvl3pPr marL="1507846" indent="0">
              <a:buNone/>
              <a:defRPr sz="1979"/>
            </a:lvl3pPr>
            <a:lvl4pPr marL="2261768" indent="0">
              <a:buNone/>
              <a:defRPr sz="1649"/>
            </a:lvl4pPr>
            <a:lvl5pPr marL="3015691" indent="0">
              <a:buNone/>
              <a:defRPr sz="1649"/>
            </a:lvl5pPr>
            <a:lvl6pPr marL="3769614" indent="0">
              <a:buNone/>
              <a:defRPr sz="1649"/>
            </a:lvl6pPr>
            <a:lvl7pPr marL="4523537" indent="0">
              <a:buNone/>
              <a:defRPr sz="1649"/>
            </a:lvl7pPr>
            <a:lvl8pPr marL="5277460" indent="0">
              <a:buNone/>
              <a:defRPr sz="1649"/>
            </a:lvl8pPr>
            <a:lvl9pPr marL="6031382" indent="0">
              <a:buNone/>
              <a:defRPr sz="1649"/>
            </a:lvl9pPr>
          </a:lstStyle>
          <a:p>
            <a:pPr lvl="0"/>
            <a:r>
              <a:rPr lang="es-MX"/>
              <a:t>Haga clic para modificar los estilos de texto del patrón</a:t>
            </a:r>
          </a:p>
        </p:txBody>
      </p:sp>
      <p:sp>
        <p:nvSpPr>
          <p:cNvPr id="5" name="Marcador de fecha 4">
            <a:extLst>
              <a:ext uri="{FF2B5EF4-FFF2-40B4-BE49-F238E27FC236}">
                <a16:creationId xmlns:a16="http://schemas.microsoft.com/office/drawing/2014/main" id="{9A51A9BF-B911-5C93-22DE-19FD68991032}"/>
              </a:ext>
            </a:extLst>
          </p:cNvPr>
          <p:cNvSpPr>
            <a:spLocks noGrp="1"/>
          </p:cNvSpPr>
          <p:nvPr>
            <p:ph type="dt" sz="half" idx="10"/>
          </p:nvPr>
        </p:nvSpPr>
        <p:spPr/>
        <p:txBody>
          <a:bodyPr/>
          <a:lstStyle/>
          <a:p>
            <a:fld id="{1D8BD707-D9CF-40AE-B4C6-C98DA3205C09}" type="datetimeFigureOut">
              <a:rPr lang="en-US" smtClean="0"/>
              <a:t>5/19/2026</a:t>
            </a:fld>
            <a:endParaRPr lang="en-US"/>
          </a:p>
        </p:txBody>
      </p:sp>
      <p:sp>
        <p:nvSpPr>
          <p:cNvPr id="6" name="Marcador de pie de página 5">
            <a:extLst>
              <a:ext uri="{FF2B5EF4-FFF2-40B4-BE49-F238E27FC236}">
                <a16:creationId xmlns:a16="http://schemas.microsoft.com/office/drawing/2014/main" id="{BEDF1256-7E86-58E3-6661-FA1D67375CAE}"/>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CF1259D9-D8FC-1B56-BFFA-37357293A55A}"/>
              </a:ext>
            </a:extLst>
          </p:cNvPr>
          <p:cNvSpPr>
            <a:spLocks noGrp="1"/>
          </p:cNvSpPr>
          <p:nvPr>
            <p:ph type="sldNum" sz="quarter" idx="12"/>
          </p:nvPr>
        </p:nvSpPr>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35346111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0406267-7792-D819-1250-3B80F216CD76}"/>
              </a:ext>
            </a:extLst>
          </p:cNvPr>
          <p:cNvSpPr>
            <a:spLocks noGrp="1"/>
          </p:cNvSpPr>
          <p:nvPr>
            <p:ph type="title"/>
          </p:nvPr>
        </p:nvSpPr>
        <p:spPr/>
        <p:txBody>
          <a:bodyPr/>
          <a:lstStyle/>
          <a:p>
            <a:r>
              <a:rPr lang="es-MX"/>
              <a:t>Haz clic para modificar el estilo de título del patrón</a:t>
            </a:r>
            <a:endParaRPr lang="es-CL"/>
          </a:p>
        </p:txBody>
      </p:sp>
      <p:sp>
        <p:nvSpPr>
          <p:cNvPr id="3" name="Marcador de texto vertical 2">
            <a:extLst>
              <a:ext uri="{FF2B5EF4-FFF2-40B4-BE49-F238E27FC236}">
                <a16:creationId xmlns:a16="http://schemas.microsoft.com/office/drawing/2014/main" id="{3C545AC6-7292-773C-7509-D7E1D0B69D17}"/>
              </a:ext>
            </a:extLst>
          </p:cNvPr>
          <p:cNvSpPr>
            <a:spLocks noGrp="1"/>
          </p:cNvSpPr>
          <p:nvPr>
            <p:ph type="body" orient="vert" idx="1"/>
          </p:nvPr>
        </p:nvSpPr>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L"/>
          </a:p>
        </p:txBody>
      </p:sp>
      <p:sp>
        <p:nvSpPr>
          <p:cNvPr id="4" name="Marcador de fecha 3">
            <a:extLst>
              <a:ext uri="{FF2B5EF4-FFF2-40B4-BE49-F238E27FC236}">
                <a16:creationId xmlns:a16="http://schemas.microsoft.com/office/drawing/2014/main" id="{7AC3A385-780F-B272-80CB-E3EE272081C5}"/>
              </a:ext>
            </a:extLst>
          </p:cNvPr>
          <p:cNvSpPr>
            <a:spLocks noGrp="1"/>
          </p:cNvSpPr>
          <p:nvPr>
            <p:ph type="dt" sz="half" idx="10"/>
          </p:nvPr>
        </p:nvSpPr>
        <p:spPr/>
        <p:txBody>
          <a:bodyPr/>
          <a:lstStyle/>
          <a:p>
            <a:fld id="{1D8BD707-D9CF-40AE-B4C6-C98DA3205C09}" type="datetimeFigureOut">
              <a:rPr lang="en-US" smtClean="0"/>
              <a:t>5/19/2026</a:t>
            </a:fld>
            <a:endParaRPr lang="en-US"/>
          </a:p>
        </p:txBody>
      </p:sp>
      <p:sp>
        <p:nvSpPr>
          <p:cNvPr id="5" name="Marcador de pie de página 4">
            <a:extLst>
              <a:ext uri="{FF2B5EF4-FFF2-40B4-BE49-F238E27FC236}">
                <a16:creationId xmlns:a16="http://schemas.microsoft.com/office/drawing/2014/main" id="{FAE7FDF5-4CCA-2A20-13BC-D406ED96A1D6}"/>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EBF13AE1-0243-5662-3E9D-89565B76EF60}"/>
              </a:ext>
            </a:extLst>
          </p:cNvPr>
          <p:cNvSpPr>
            <a:spLocks noGrp="1"/>
          </p:cNvSpPr>
          <p:nvPr>
            <p:ph type="sldNum" sz="quarter" idx="12"/>
          </p:nvPr>
        </p:nvSpPr>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9891056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372016D2-D6B9-D0D7-A956-FC3D8BE03CB3}"/>
              </a:ext>
            </a:extLst>
          </p:cNvPr>
          <p:cNvSpPr>
            <a:spLocks noGrp="1"/>
          </p:cNvSpPr>
          <p:nvPr>
            <p:ph type="title" orient="vert"/>
          </p:nvPr>
        </p:nvSpPr>
        <p:spPr>
          <a:xfrm>
            <a:off x="14386996" y="602118"/>
            <a:ext cx="4334947" cy="9584151"/>
          </a:xfrm>
        </p:spPr>
        <p:txBody>
          <a:bodyPr vert="eaVert"/>
          <a:lstStyle/>
          <a:p>
            <a:r>
              <a:rPr lang="es-MX"/>
              <a:t>Haz clic para modificar el estilo de título del patrón</a:t>
            </a:r>
            <a:endParaRPr lang="es-CL"/>
          </a:p>
        </p:txBody>
      </p:sp>
      <p:sp>
        <p:nvSpPr>
          <p:cNvPr id="3" name="Marcador de texto vertical 2">
            <a:extLst>
              <a:ext uri="{FF2B5EF4-FFF2-40B4-BE49-F238E27FC236}">
                <a16:creationId xmlns:a16="http://schemas.microsoft.com/office/drawing/2014/main" id="{0C84FC73-6922-E6BE-8B37-9A3D83C84D8E}"/>
              </a:ext>
            </a:extLst>
          </p:cNvPr>
          <p:cNvSpPr>
            <a:spLocks noGrp="1"/>
          </p:cNvSpPr>
          <p:nvPr>
            <p:ph type="body" orient="vert" idx="1"/>
          </p:nvPr>
        </p:nvSpPr>
        <p:spPr>
          <a:xfrm>
            <a:off x="1382157" y="602118"/>
            <a:ext cx="12753538" cy="9584151"/>
          </a:xfrm>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L"/>
          </a:p>
        </p:txBody>
      </p:sp>
      <p:sp>
        <p:nvSpPr>
          <p:cNvPr id="4" name="Marcador de fecha 3">
            <a:extLst>
              <a:ext uri="{FF2B5EF4-FFF2-40B4-BE49-F238E27FC236}">
                <a16:creationId xmlns:a16="http://schemas.microsoft.com/office/drawing/2014/main" id="{65029604-4D94-FF99-EACD-68549E65275D}"/>
              </a:ext>
            </a:extLst>
          </p:cNvPr>
          <p:cNvSpPr>
            <a:spLocks noGrp="1"/>
          </p:cNvSpPr>
          <p:nvPr>
            <p:ph type="dt" sz="half" idx="10"/>
          </p:nvPr>
        </p:nvSpPr>
        <p:spPr/>
        <p:txBody>
          <a:bodyPr/>
          <a:lstStyle/>
          <a:p>
            <a:fld id="{1D8BD707-D9CF-40AE-B4C6-C98DA3205C09}" type="datetimeFigureOut">
              <a:rPr lang="en-US" smtClean="0"/>
              <a:t>5/19/2026</a:t>
            </a:fld>
            <a:endParaRPr lang="en-US"/>
          </a:p>
        </p:txBody>
      </p:sp>
      <p:sp>
        <p:nvSpPr>
          <p:cNvPr id="5" name="Marcador de pie de página 4">
            <a:extLst>
              <a:ext uri="{FF2B5EF4-FFF2-40B4-BE49-F238E27FC236}">
                <a16:creationId xmlns:a16="http://schemas.microsoft.com/office/drawing/2014/main" id="{7AB03D43-86E0-0338-2B20-C4B28C452F3B}"/>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FB02D1C4-EEBA-36AC-255B-B421F28F69CB}"/>
              </a:ext>
            </a:extLst>
          </p:cNvPr>
          <p:cNvSpPr>
            <a:spLocks noGrp="1"/>
          </p:cNvSpPr>
          <p:nvPr>
            <p:ph type="sldNum" sz="quarter" idx="12"/>
          </p:nvPr>
        </p:nvSpPr>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19154338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Diapositiva de título">
    <p:spTree>
      <p:nvGrpSpPr>
        <p:cNvPr id="1" name=""/>
        <p:cNvGrpSpPr/>
        <p:nvPr/>
      </p:nvGrpSpPr>
      <p:grpSpPr>
        <a:xfrm>
          <a:off x="0" y="0"/>
          <a:ext cx="0" cy="0"/>
          <a:chOff x="0" y="0"/>
          <a:chExt cx="0" cy="0"/>
        </a:xfrm>
      </p:grpSpPr>
      <p:cxnSp>
        <p:nvCxnSpPr>
          <p:cNvPr id="5" name="Conector recto 4">
            <a:extLst>
              <a:ext uri="{FF2B5EF4-FFF2-40B4-BE49-F238E27FC236}">
                <a16:creationId xmlns:a16="http://schemas.microsoft.com/office/drawing/2014/main" id="{323E6B1A-7AB0-C547-8394-097517D6C818}"/>
              </a:ext>
            </a:extLst>
          </p:cNvPr>
          <p:cNvCxnSpPr>
            <a:cxnSpLocks/>
          </p:cNvCxnSpPr>
          <p:nvPr userDrawn="1"/>
        </p:nvCxnSpPr>
        <p:spPr>
          <a:xfrm flipH="1">
            <a:off x="0" y="10821498"/>
            <a:ext cx="19059478" cy="0"/>
          </a:xfrm>
          <a:prstGeom prst="line">
            <a:avLst/>
          </a:prstGeom>
          <a:ln>
            <a:solidFill>
              <a:schemeClr val="accent4">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3802455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FF454EFA-1F7B-877B-469B-2D764857A419}"/>
              </a:ext>
            </a:extLst>
          </p:cNvPr>
          <p:cNvSpPr>
            <a:spLocks noGrp="1"/>
          </p:cNvSpPr>
          <p:nvPr>
            <p:ph type="title"/>
          </p:nvPr>
        </p:nvSpPr>
        <p:spPr>
          <a:xfrm>
            <a:off x="1382157" y="602119"/>
            <a:ext cx="17339786" cy="2185952"/>
          </a:xfrm>
          <a:prstGeom prst="rect">
            <a:avLst/>
          </a:prstGeom>
        </p:spPr>
        <p:txBody>
          <a:bodyPr vert="horz" lIns="91440" tIns="45720" rIns="91440" bIns="45720" rtlCol="0" anchor="ctr">
            <a:normAutofit/>
          </a:bodyPr>
          <a:lstStyle/>
          <a:p>
            <a:r>
              <a:rPr lang="es-MX"/>
              <a:t>Haz clic para modificar el estilo de título del patrón</a:t>
            </a:r>
            <a:endParaRPr lang="es-CL"/>
          </a:p>
        </p:txBody>
      </p:sp>
      <p:sp>
        <p:nvSpPr>
          <p:cNvPr id="3" name="Marcador de texto 2">
            <a:extLst>
              <a:ext uri="{FF2B5EF4-FFF2-40B4-BE49-F238E27FC236}">
                <a16:creationId xmlns:a16="http://schemas.microsoft.com/office/drawing/2014/main" id="{1E7C16E2-A185-FEA6-7411-8103675A847E}"/>
              </a:ext>
            </a:extLst>
          </p:cNvPr>
          <p:cNvSpPr>
            <a:spLocks noGrp="1"/>
          </p:cNvSpPr>
          <p:nvPr>
            <p:ph type="body" idx="1"/>
          </p:nvPr>
        </p:nvSpPr>
        <p:spPr>
          <a:xfrm>
            <a:off x="1382157" y="3010591"/>
            <a:ext cx="17339786" cy="7175679"/>
          </a:xfrm>
          <a:prstGeom prst="rect">
            <a:avLst/>
          </a:prstGeom>
        </p:spPr>
        <p:txBody>
          <a:bodyPr vert="horz" lIns="91440" tIns="45720" rIns="91440" bIns="45720" rtlCol="0">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L"/>
          </a:p>
        </p:txBody>
      </p:sp>
      <p:sp>
        <p:nvSpPr>
          <p:cNvPr id="4" name="Marcador de fecha 3">
            <a:extLst>
              <a:ext uri="{FF2B5EF4-FFF2-40B4-BE49-F238E27FC236}">
                <a16:creationId xmlns:a16="http://schemas.microsoft.com/office/drawing/2014/main" id="{73021F49-C348-4F08-D8CA-E6E1125C761E}"/>
              </a:ext>
            </a:extLst>
          </p:cNvPr>
          <p:cNvSpPr>
            <a:spLocks noGrp="1"/>
          </p:cNvSpPr>
          <p:nvPr>
            <p:ph type="dt" sz="half" idx="2"/>
          </p:nvPr>
        </p:nvSpPr>
        <p:spPr>
          <a:xfrm>
            <a:off x="1382157" y="10482093"/>
            <a:ext cx="4523423" cy="602118"/>
          </a:xfrm>
          <a:prstGeom prst="rect">
            <a:avLst/>
          </a:prstGeom>
        </p:spPr>
        <p:txBody>
          <a:bodyPr vert="horz" lIns="91440" tIns="45720" rIns="91440" bIns="45720" rtlCol="0" anchor="ctr"/>
          <a:lstStyle>
            <a:lvl1pPr algn="l">
              <a:defRPr sz="1979">
                <a:solidFill>
                  <a:schemeClr val="tx1">
                    <a:tint val="75000"/>
                  </a:schemeClr>
                </a:solidFill>
              </a:defRPr>
            </a:lvl1pPr>
          </a:lstStyle>
          <a:p>
            <a:fld id="{1D8BD707-D9CF-40AE-B4C6-C98DA3205C09}" type="datetimeFigureOut">
              <a:rPr lang="en-US" smtClean="0"/>
              <a:t>5/19/2026</a:t>
            </a:fld>
            <a:endParaRPr lang="en-US"/>
          </a:p>
        </p:txBody>
      </p:sp>
      <p:sp>
        <p:nvSpPr>
          <p:cNvPr id="5" name="Marcador de pie de página 4">
            <a:extLst>
              <a:ext uri="{FF2B5EF4-FFF2-40B4-BE49-F238E27FC236}">
                <a16:creationId xmlns:a16="http://schemas.microsoft.com/office/drawing/2014/main" id="{B71E2BA2-5BAF-A870-FA74-B2B0C7643BE3}"/>
              </a:ext>
            </a:extLst>
          </p:cNvPr>
          <p:cNvSpPr>
            <a:spLocks noGrp="1"/>
          </p:cNvSpPr>
          <p:nvPr>
            <p:ph type="ftr" sz="quarter" idx="3"/>
          </p:nvPr>
        </p:nvSpPr>
        <p:spPr>
          <a:xfrm>
            <a:off x="6659483" y="10482093"/>
            <a:ext cx="6785134" cy="602118"/>
          </a:xfrm>
          <a:prstGeom prst="rect">
            <a:avLst/>
          </a:prstGeom>
        </p:spPr>
        <p:txBody>
          <a:bodyPr vert="horz" lIns="91440" tIns="45720" rIns="91440" bIns="45720" rtlCol="0" anchor="ctr"/>
          <a:lstStyle>
            <a:lvl1pPr algn="ctr">
              <a:defRPr sz="1979">
                <a:solidFill>
                  <a:schemeClr val="tx1">
                    <a:tint val="75000"/>
                  </a:schemeClr>
                </a:solidFill>
              </a:defRPr>
            </a:lvl1pPr>
          </a:lstStyle>
          <a:p>
            <a:endParaRPr lang="es-CL"/>
          </a:p>
        </p:txBody>
      </p:sp>
      <p:sp>
        <p:nvSpPr>
          <p:cNvPr id="6" name="Marcador de número de diapositiva 5">
            <a:extLst>
              <a:ext uri="{FF2B5EF4-FFF2-40B4-BE49-F238E27FC236}">
                <a16:creationId xmlns:a16="http://schemas.microsoft.com/office/drawing/2014/main" id="{926E0C4E-A769-0FA6-B059-676054203232}"/>
              </a:ext>
            </a:extLst>
          </p:cNvPr>
          <p:cNvSpPr>
            <a:spLocks noGrp="1"/>
          </p:cNvSpPr>
          <p:nvPr>
            <p:ph type="sldNum" sz="quarter" idx="4"/>
          </p:nvPr>
        </p:nvSpPr>
        <p:spPr>
          <a:xfrm>
            <a:off x="14198520" y="10482093"/>
            <a:ext cx="4523423" cy="602118"/>
          </a:xfrm>
          <a:prstGeom prst="rect">
            <a:avLst/>
          </a:prstGeom>
        </p:spPr>
        <p:txBody>
          <a:bodyPr vert="horz" lIns="91440" tIns="45720" rIns="91440" bIns="45720" rtlCol="0" anchor="ctr"/>
          <a:lstStyle>
            <a:lvl1pPr algn="r">
              <a:defRPr sz="1979">
                <a:solidFill>
                  <a:schemeClr val="tx1">
                    <a:tint val="75000"/>
                  </a:schemeClr>
                </a:solidFill>
              </a:defRPr>
            </a:lvl1pPr>
          </a:lstStyle>
          <a:p>
            <a:fld id="{B6F15528-21DE-4FAA-801E-634DDDAF4B2B}" type="slidenum">
              <a:rPr lang="es-CL" smtClean="0"/>
              <a:t>‹Nº›</a:t>
            </a:fld>
            <a:endParaRPr lang="es-CL"/>
          </a:p>
        </p:txBody>
      </p:sp>
    </p:spTree>
    <p:extLst>
      <p:ext uri="{BB962C8B-B14F-4D97-AF65-F5344CB8AC3E}">
        <p14:creationId xmlns:p14="http://schemas.microsoft.com/office/powerpoint/2010/main" val="188264041"/>
      </p:ext>
    </p:extLst>
  </p:cSld>
  <p:clrMap bg1="lt1" tx1="dk1" bg2="lt2" tx2="dk2" accent1="accent1" accent2="accent2" accent3="accent3" accent4="accent4" accent5="accent5" accent6="accent6" hlink="hlink" folHlink="folHlink"/>
  <p:sldLayoutIdLst>
    <p:sldLayoutId id="2147485172" r:id="rId1"/>
    <p:sldLayoutId id="2147485173" r:id="rId2"/>
    <p:sldLayoutId id="2147485174" r:id="rId3"/>
    <p:sldLayoutId id="2147485175" r:id="rId4"/>
    <p:sldLayoutId id="2147485176" r:id="rId5"/>
    <p:sldLayoutId id="2147485177" r:id="rId6"/>
    <p:sldLayoutId id="2147485178" r:id="rId7"/>
    <p:sldLayoutId id="2147485179" r:id="rId8"/>
    <p:sldLayoutId id="2147485180" r:id="rId9"/>
    <p:sldLayoutId id="2147485181" r:id="rId10"/>
    <p:sldLayoutId id="2147485182" r:id="rId11"/>
    <p:sldLayoutId id="2147485183" r:id="rId12"/>
  </p:sldLayoutIdLst>
  <p:txStyles>
    <p:titleStyle>
      <a:lvl1pPr algn="l" defTabSz="1507846" rtl="0" eaLnBrk="1" latinLnBrk="0" hangingPunct="1">
        <a:lnSpc>
          <a:spcPct val="90000"/>
        </a:lnSpc>
        <a:spcBef>
          <a:spcPct val="0"/>
        </a:spcBef>
        <a:buNone/>
        <a:defRPr sz="7256" kern="1200">
          <a:solidFill>
            <a:schemeClr val="tx1"/>
          </a:solidFill>
          <a:latin typeface="+mj-lt"/>
          <a:ea typeface="+mj-ea"/>
          <a:cs typeface="+mj-cs"/>
        </a:defRPr>
      </a:lvl1pPr>
    </p:titleStyle>
    <p:bodyStyle>
      <a:lvl1pPr marL="376961" indent="-376961" algn="l" defTabSz="1507846" rtl="0" eaLnBrk="1" latinLnBrk="0" hangingPunct="1">
        <a:lnSpc>
          <a:spcPct val="90000"/>
        </a:lnSpc>
        <a:spcBef>
          <a:spcPts val="1649"/>
        </a:spcBef>
        <a:buFont typeface="Arial" panose="020B0604020202020204" pitchFamily="34" charset="0"/>
        <a:buChar char="•"/>
        <a:defRPr sz="4617" kern="1200">
          <a:solidFill>
            <a:schemeClr val="tx1"/>
          </a:solidFill>
          <a:latin typeface="+mn-lt"/>
          <a:ea typeface="+mn-ea"/>
          <a:cs typeface="+mn-cs"/>
        </a:defRPr>
      </a:lvl1pPr>
      <a:lvl2pPr marL="1130884" indent="-376961" algn="l" defTabSz="1507846" rtl="0" eaLnBrk="1" latinLnBrk="0" hangingPunct="1">
        <a:lnSpc>
          <a:spcPct val="90000"/>
        </a:lnSpc>
        <a:spcBef>
          <a:spcPts val="824"/>
        </a:spcBef>
        <a:buFont typeface="Arial" panose="020B0604020202020204" pitchFamily="34" charset="0"/>
        <a:buChar char="•"/>
        <a:defRPr sz="3958" kern="1200">
          <a:solidFill>
            <a:schemeClr val="tx1"/>
          </a:solidFill>
          <a:latin typeface="+mn-lt"/>
          <a:ea typeface="+mn-ea"/>
          <a:cs typeface="+mn-cs"/>
        </a:defRPr>
      </a:lvl2pPr>
      <a:lvl3pPr marL="1884807" indent="-376961" algn="l" defTabSz="1507846" rtl="0" eaLnBrk="1" latinLnBrk="0" hangingPunct="1">
        <a:lnSpc>
          <a:spcPct val="90000"/>
        </a:lnSpc>
        <a:spcBef>
          <a:spcPts val="824"/>
        </a:spcBef>
        <a:buFont typeface="Arial" panose="020B0604020202020204" pitchFamily="34" charset="0"/>
        <a:buChar char="•"/>
        <a:defRPr sz="3298" kern="1200">
          <a:solidFill>
            <a:schemeClr val="tx1"/>
          </a:solidFill>
          <a:latin typeface="+mn-lt"/>
          <a:ea typeface="+mn-ea"/>
          <a:cs typeface="+mn-cs"/>
        </a:defRPr>
      </a:lvl3pPr>
      <a:lvl4pPr marL="2638730" indent="-376961" algn="l" defTabSz="1507846" rtl="0" eaLnBrk="1" latinLnBrk="0" hangingPunct="1">
        <a:lnSpc>
          <a:spcPct val="90000"/>
        </a:lnSpc>
        <a:spcBef>
          <a:spcPts val="824"/>
        </a:spcBef>
        <a:buFont typeface="Arial" panose="020B0604020202020204" pitchFamily="34" charset="0"/>
        <a:buChar char="•"/>
        <a:defRPr sz="2968" kern="1200">
          <a:solidFill>
            <a:schemeClr val="tx1"/>
          </a:solidFill>
          <a:latin typeface="+mn-lt"/>
          <a:ea typeface="+mn-ea"/>
          <a:cs typeface="+mn-cs"/>
        </a:defRPr>
      </a:lvl4pPr>
      <a:lvl5pPr marL="3392653" indent="-376961" algn="l" defTabSz="1507846" rtl="0" eaLnBrk="1" latinLnBrk="0" hangingPunct="1">
        <a:lnSpc>
          <a:spcPct val="90000"/>
        </a:lnSpc>
        <a:spcBef>
          <a:spcPts val="824"/>
        </a:spcBef>
        <a:buFont typeface="Arial" panose="020B0604020202020204" pitchFamily="34" charset="0"/>
        <a:buChar char="•"/>
        <a:defRPr sz="2968" kern="1200">
          <a:solidFill>
            <a:schemeClr val="tx1"/>
          </a:solidFill>
          <a:latin typeface="+mn-lt"/>
          <a:ea typeface="+mn-ea"/>
          <a:cs typeface="+mn-cs"/>
        </a:defRPr>
      </a:lvl5pPr>
      <a:lvl6pPr marL="4146575" indent="-376961" algn="l" defTabSz="1507846" rtl="0" eaLnBrk="1" latinLnBrk="0" hangingPunct="1">
        <a:lnSpc>
          <a:spcPct val="90000"/>
        </a:lnSpc>
        <a:spcBef>
          <a:spcPts val="824"/>
        </a:spcBef>
        <a:buFont typeface="Arial" panose="020B0604020202020204" pitchFamily="34" charset="0"/>
        <a:buChar char="•"/>
        <a:defRPr sz="2968" kern="1200">
          <a:solidFill>
            <a:schemeClr val="tx1"/>
          </a:solidFill>
          <a:latin typeface="+mn-lt"/>
          <a:ea typeface="+mn-ea"/>
          <a:cs typeface="+mn-cs"/>
        </a:defRPr>
      </a:lvl6pPr>
      <a:lvl7pPr marL="4900498" indent="-376961" algn="l" defTabSz="1507846" rtl="0" eaLnBrk="1" latinLnBrk="0" hangingPunct="1">
        <a:lnSpc>
          <a:spcPct val="90000"/>
        </a:lnSpc>
        <a:spcBef>
          <a:spcPts val="824"/>
        </a:spcBef>
        <a:buFont typeface="Arial" panose="020B0604020202020204" pitchFamily="34" charset="0"/>
        <a:buChar char="•"/>
        <a:defRPr sz="2968" kern="1200">
          <a:solidFill>
            <a:schemeClr val="tx1"/>
          </a:solidFill>
          <a:latin typeface="+mn-lt"/>
          <a:ea typeface="+mn-ea"/>
          <a:cs typeface="+mn-cs"/>
        </a:defRPr>
      </a:lvl7pPr>
      <a:lvl8pPr marL="5654421" indent="-376961" algn="l" defTabSz="1507846" rtl="0" eaLnBrk="1" latinLnBrk="0" hangingPunct="1">
        <a:lnSpc>
          <a:spcPct val="90000"/>
        </a:lnSpc>
        <a:spcBef>
          <a:spcPts val="824"/>
        </a:spcBef>
        <a:buFont typeface="Arial" panose="020B0604020202020204" pitchFamily="34" charset="0"/>
        <a:buChar char="•"/>
        <a:defRPr sz="2968" kern="1200">
          <a:solidFill>
            <a:schemeClr val="tx1"/>
          </a:solidFill>
          <a:latin typeface="+mn-lt"/>
          <a:ea typeface="+mn-ea"/>
          <a:cs typeface="+mn-cs"/>
        </a:defRPr>
      </a:lvl8pPr>
      <a:lvl9pPr marL="6408344" indent="-376961" algn="l" defTabSz="1507846" rtl="0" eaLnBrk="1" latinLnBrk="0" hangingPunct="1">
        <a:lnSpc>
          <a:spcPct val="90000"/>
        </a:lnSpc>
        <a:spcBef>
          <a:spcPts val="824"/>
        </a:spcBef>
        <a:buFont typeface="Arial" panose="020B0604020202020204" pitchFamily="34" charset="0"/>
        <a:buChar char="•"/>
        <a:defRPr sz="2968" kern="1200">
          <a:solidFill>
            <a:schemeClr val="tx1"/>
          </a:solidFill>
          <a:latin typeface="+mn-lt"/>
          <a:ea typeface="+mn-ea"/>
          <a:cs typeface="+mn-cs"/>
        </a:defRPr>
      </a:lvl9pPr>
    </p:bodyStyle>
    <p:otherStyle>
      <a:defPPr>
        <a:defRPr lang="es-CL"/>
      </a:defPPr>
      <a:lvl1pPr marL="0" algn="l" defTabSz="1507846" rtl="0" eaLnBrk="1" latinLnBrk="0" hangingPunct="1">
        <a:defRPr sz="2968" kern="1200">
          <a:solidFill>
            <a:schemeClr val="tx1"/>
          </a:solidFill>
          <a:latin typeface="+mn-lt"/>
          <a:ea typeface="+mn-ea"/>
          <a:cs typeface="+mn-cs"/>
        </a:defRPr>
      </a:lvl1pPr>
      <a:lvl2pPr marL="753923" algn="l" defTabSz="1507846" rtl="0" eaLnBrk="1" latinLnBrk="0" hangingPunct="1">
        <a:defRPr sz="2968" kern="1200">
          <a:solidFill>
            <a:schemeClr val="tx1"/>
          </a:solidFill>
          <a:latin typeface="+mn-lt"/>
          <a:ea typeface="+mn-ea"/>
          <a:cs typeface="+mn-cs"/>
        </a:defRPr>
      </a:lvl2pPr>
      <a:lvl3pPr marL="1507846" algn="l" defTabSz="1507846" rtl="0" eaLnBrk="1" latinLnBrk="0" hangingPunct="1">
        <a:defRPr sz="2968" kern="1200">
          <a:solidFill>
            <a:schemeClr val="tx1"/>
          </a:solidFill>
          <a:latin typeface="+mn-lt"/>
          <a:ea typeface="+mn-ea"/>
          <a:cs typeface="+mn-cs"/>
        </a:defRPr>
      </a:lvl3pPr>
      <a:lvl4pPr marL="2261768" algn="l" defTabSz="1507846" rtl="0" eaLnBrk="1" latinLnBrk="0" hangingPunct="1">
        <a:defRPr sz="2968" kern="1200">
          <a:solidFill>
            <a:schemeClr val="tx1"/>
          </a:solidFill>
          <a:latin typeface="+mn-lt"/>
          <a:ea typeface="+mn-ea"/>
          <a:cs typeface="+mn-cs"/>
        </a:defRPr>
      </a:lvl4pPr>
      <a:lvl5pPr marL="3015691" algn="l" defTabSz="1507846" rtl="0" eaLnBrk="1" latinLnBrk="0" hangingPunct="1">
        <a:defRPr sz="2968" kern="1200">
          <a:solidFill>
            <a:schemeClr val="tx1"/>
          </a:solidFill>
          <a:latin typeface="+mn-lt"/>
          <a:ea typeface="+mn-ea"/>
          <a:cs typeface="+mn-cs"/>
        </a:defRPr>
      </a:lvl5pPr>
      <a:lvl6pPr marL="3769614" algn="l" defTabSz="1507846" rtl="0" eaLnBrk="1" latinLnBrk="0" hangingPunct="1">
        <a:defRPr sz="2968" kern="1200">
          <a:solidFill>
            <a:schemeClr val="tx1"/>
          </a:solidFill>
          <a:latin typeface="+mn-lt"/>
          <a:ea typeface="+mn-ea"/>
          <a:cs typeface="+mn-cs"/>
        </a:defRPr>
      </a:lvl6pPr>
      <a:lvl7pPr marL="4523537" algn="l" defTabSz="1507846" rtl="0" eaLnBrk="1" latinLnBrk="0" hangingPunct="1">
        <a:defRPr sz="2968" kern="1200">
          <a:solidFill>
            <a:schemeClr val="tx1"/>
          </a:solidFill>
          <a:latin typeface="+mn-lt"/>
          <a:ea typeface="+mn-ea"/>
          <a:cs typeface="+mn-cs"/>
        </a:defRPr>
      </a:lvl7pPr>
      <a:lvl8pPr marL="5277460" algn="l" defTabSz="1507846" rtl="0" eaLnBrk="1" latinLnBrk="0" hangingPunct="1">
        <a:defRPr sz="2968" kern="1200">
          <a:solidFill>
            <a:schemeClr val="tx1"/>
          </a:solidFill>
          <a:latin typeface="+mn-lt"/>
          <a:ea typeface="+mn-ea"/>
          <a:cs typeface="+mn-cs"/>
        </a:defRPr>
      </a:lvl8pPr>
      <a:lvl9pPr marL="6031382" algn="l" defTabSz="1507846" rtl="0" eaLnBrk="1" latinLnBrk="0" hangingPunct="1">
        <a:defRPr sz="2968"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12.xml"/><Relationship Id="rId6" Type="http://schemas.openxmlformats.org/officeDocument/2006/relationships/image" Target="../media/image11.png"/><Relationship Id="rId5" Type="http://schemas.openxmlformats.org/officeDocument/2006/relationships/image" Target="../media/image10.jpeg"/><Relationship Id="rId4" Type="http://schemas.openxmlformats.org/officeDocument/2006/relationships/image" Target="../media/image9.jpeg"/></Relationships>
</file>

<file path=ppt/slides/_rels/slide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F61EB7-9429-938F-2206-0C0DF1A1F764}"/>
            </a:ext>
          </a:extLst>
        </p:cNvPr>
        <p:cNvGrpSpPr/>
        <p:nvPr/>
      </p:nvGrpSpPr>
      <p:grpSpPr>
        <a:xfrm>
          <a:off x="0" y="0"/>
          <a:ext cx="0" cy="0"/>
          <a:chOff x="0" y="0"/>
          <a:chExt cx="0" cy="0"/>
        </a:xfrm>
      </p:grpSpPr>
      <p:sp>
        <p:nvSpPr>
          <p:cNvPr id="2" name="1 Título">
            <a:extLst>
              <a:ext uri="{FF2B5EF4-FFF2-40B4-BE49-F238E27FC236}">
                <a16:creationId xmlns:a16="http://schemas.microsoft.com/office/drawing/2014/main" id="{647993BD-1026-BE53-F0BF-6C1E19F33C17}"/>
              </a:ext>
            </a:extLst>
          </p:cNvPr>
          <p:cNvSpPr>
            <a:spLocks noGrp="1"/>
          </p:cNvSpPr>
          <p:nvPr>
            <p:ph type="title"/>
          </p:nvPr>
        </p:nvSpPr>
        <p:spPr/>
        <p:txBody>
          <a:bodyPr/>
          <a:lstStyle/>
          <a:p>
            <a:endParaRPr lang="es-CL" noProof="0" dirty="0"/>
          </a:p>
        </p:txBody>
      </p:sp>
      <p:pic>
        <p:nvPicPr>
          <p:cNvPr id="2050" name="Picture 2" descr="C:\Users\FHidalgoP\Downloads\Diapositiva1_portada3 (1).jpg">
            <a:extLst>
              <a:ext uri="{FF2B5EF4-FFF2-40B4-BE49-F238E27FC236}">
                <a16:creationId xmlns:a16="http://schemas.microsoft.com/office/drawing/2014/main" id="{E2C98402-7C99-52F0-8BAE-9D1EECF056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774162"/>
            <a:ext cx="20112192" cy="11309350"/>
          </a:xfrm>
          <a:prstGeom prst="rect">
            <a:avLst/>
          </a:prstGeom>
          <a:noFill/>
          <a:extLst>
            <a:ext uri="{909E8E84-426E-40DD-AFC4-6F175D3DCCD1}">
              <a14:hiddenFill xmlns:a14="http://schemas.microsoft.com/office/drawing/2010/main">
                <a:solidFill>
                  <a:srgbClr val="FFFFFF"/>
                </a:solidFill>
              </a14:hiddenFill>
            </a:ext>
          </a:extLst>
        </p:spPr>
      </p:pic>
      <p:sp>
        <p:nvSpPr>
          <p:cNvPr id="5" name="object 3">
            <a:extLst>
              <a:ext uri="{FF2B5EF4-FFF2-40B4-BE49-F238E27FC236}">
                <a16:creationId xmlns:a16="http://schemas.microsoft.com/office/drawing/2014/main" id="{F0EEF1A1-EED1-4A80-05D6-1A782B76E8A3}"/>
              </a:ext>
            </a:extLst>
          </p:cNvPr>
          <p:cNvSpPr txBox="1"/>
          <p:nvPr/>
        </p:nvSpPr>
        <p:spPr>
          <a:xfrm>
            <a:off x="831850" y="8161793"/>
            <a:ext cx="18564837" cy="2223813"/>
          </a:xfrm>
          <a:prstGeom prst="rect">
            <a:avLst/>
          </a:prstGeom>
          <a:noFill/>
          <a:effectLst>
            <a:outerShdw blurRad="50800" dist="38100" dir="5400000" algn="t" rotWithShape="0">
              <a:prstClr val="black">
                <a:alpha val="40000"/>
              </a:prstClr>
            </a:outerShdw>
          </a:effectLst>
        </p:spPr>
        <p:txBody>
          <a:bodyPr vert="horz" wrap="square" lIns="0" tIns="349884" rIns="0" bIns="0" rtlCol="0">
            <a:spAutoFit/>
          </a:bodyPr>
          <a:lstStyle/>
          <a:p>
            <a:pPr>
              <a:lnSpc>
                <a:spcPct val="150000"/>
              </a:lnSpc>
            </a:pPr>
            <a:r>
              <a:rPr lang="es-CL" sz="6000" b="1" kern="100" noProof="0" dirty="0">
                <a:solidFill>
                  <a:schemeClr val="bg1"/>
                </a:solidFill>
                <a:highlight>
                  <a:srgbClr val="000000"/>
                </a:highlight>
                <a:latin typeface="Arial" panose="020B0604020202020204" pitchFamily="34" charset="0"/>
                <a:ea typeface="Roboto" panose="02000000000000000000" pitchFamily="2" charset="0"/>
                <a:cs typeface="Arial" panose="020B0604020202020204" pitchFamily="34" charset="0"/>
              </a:rPr>
              <a:t>SISTEMAS DE TRANSMISIÓN</a:t>
            </a:r>
          </a:p>
          <a:p>
            <a:pPr>
              <a:lnSpc>
                <a:spcPct val="150000"/>
              </a:lnSpc>
            </a:pPr>
            <a:r>
              <a:rPr lang="es-CL" sz="2400" b="1" kern="100" noProof="0" dirty="0">
                <a:solidFill>
                  <a:schemeClr val="bg1"/>
                </a:solidFill>
                <a:latin typeface="Arial" panose="020B0604020202020204" pitchFamily="34" charset="0"/>
                <a:ea typeface="Roboto" panose="02000000000000000000" pitchFamily="2" charset="0"/>
                <a:cs typeface="Arial" panose="020B0604020202020204" pitchFamily="34" charset="0"/>
              </a:rPr>
              <a:t>CAP. JACOB BARQUI PÉREZ</a:t>
            </a:r>
          </a:p>
        </p:txBody>
      </p:sp>
      <p:sp>
        <p:nvSpPr>
          <p:cNvPr id="6" name="CuadroTexto 1">
            <a:extLst>
              <a:ext uri="{FF2B5EF4-FFF2-40B4-BE49-F238E27FC236}">
                <a16:creationId xmlns:a16="http://schemas.microsoft.com/office/drawing/2014/main" id="{04A64BD5-A679-1220-6BE4-18316EBEAFEE}"/>
              </a:ext>
            </a:extLst>
          </p:cNvPr>
          <p:cNvSpPr txBox="1"/>
          <p:nvPr/>
        </p:nvSpPr>
        <p:spPr>
          <a:xfrm>
            <a:off x="17637126" y="1937258"/>
            <a:ext cx="2051049" cy="400110"/>
          </a:xfrm>
          <a:prstGeom prst="rect">
            <a:avLst/>
          </a:prstGeom>
          <a:noFill/>
        </p:spPr>
        <p:txBody>
          <a:bodyPr wrap="square" rtlCol="0">
            <a:spAutoFit/>
          </a:bodyPr>
          <a:lstStyle/>
          <a:p>
            <a:pPr algn="ctr"/>
            <a:r>
              <a:rPr lang="es-CL" sz="2000" noProof="0" dirty="0">
                <a:solidFill>
                  <a:schemeClr val="bg1"/>
                </a:solidFill>
                <a:latin typeface="Arial" panose="020B0604020202020204" pitchFamily="34" charset="0"/>
                <a:ea typeface="Roboto" panose="02000000000000000000" pitchFamily="2" charset="0"/>
                <a:cs typeface="Arial" panose="020B0604020202020204" pitchFamily="34" charset="0"/>
              </a:rPr>
              <a:t> </a:t>
            </a:r>
            <a:r>
              <a:rPr lang="es-CL" sz="2000" b="1" noProof="0" dirty="0">
                <a:solidFill>
                  <a:schemeClr val="bg1"/>
                </a:solidFill>
                <a:highlight>
                  <a:srgbClr val="000000"/>
                </a:highlight>
                <a:latin typeface="Arial" panose="020B0604020202020204" pitchFamily="34" charset="0"/>
                <a:ea typeface="Roboto" panose="02000000000000000000" pitchFamily="2" charset="0"/>
                <a:cs typeface="Arial" panose="020B0604020202020204" pitchFamily="34" charset="0"/>
              </a:rPr>
              <a:t>MAY, 2026</a:t>
            </a:r>
          </a:p>
        </p:txBody>
      </p:sp>
      <p:pic>
        <p:nvPicPr>
          <p:cNvPr id="7" name="Imagen 4">
            <a:extLst>
              <a:ext uri="{FF2B5EF4-FFF2-40B4-BE49-F238E27FC236}">
                <a16:creationId xmlns:a16="http://schemas.microsoft.com/office/drawing/2014/main" id="{75267336-5C6F-233B-B307-ACCAAEB6635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928615" y="168276"/>
            <a:ext cx="1468072" cy="1600200"/>
          </a:xfrm>
          <a:prstGeom prst="rect">
            <a:avLst/>
          </a:prstGeom>
        </p:spPr>
      </p:pic>
      <p:pic>
        <p:nvPicPr>
          <p:cNvPr id="13" name="Imagen 12" descr="Logotipo&#10;&#10;El contenido generado por IA puede ser incorrecto.">
            <a:extLst>
              <a:ext uri="{FF2B5EF4-FFF2-40B4-BE49-F238E27FC236}">
                <a16:creationId xmlns:a16="http://schemas.microsoft.com/office/drawing/2014/main" id="{C9712216-5E15-034A-5027-79B61F1C67F6}"/>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20000" contrast="-40000"/>
                    </a14:imgEffect>
                  </a14:imgLayer>
                </a14:imgProps>
              </a:ext>
            </a:extLst>
          </a:blip>
          <a:stretch>
            <a:fillRect/>
          </a:stretch>
        </p:blipFill>
        <p:spPr>
          <a:xfrm>
            <a:off x="15657" y="-366510"/>
            <a:ext cx="1632386" cy="1937258"/>
          </a:xfrm>
          <a:prstGeom prst="rect">
            <a:avLst/>
          </a:prstGeom>
        </p:spPr>
      </p:pic>
    </p:spTree>
    <p:extLst>
      <p:ext uri="{BB962C8B-B14F-4D97-AF65-F5344CB8AC3E}">
        <p14:creationId xmlns:p14="http://schemas.microsoft.com/office/powerpoint/2010/main" val="32784614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8" name="Marcador de contenido 2">
            <a:extLst>
              <a:ext uri="{FF2B5EF4-FFF2-40B4-BE49-F238E27FC236}">
                <a16:creationId xmlns:a16="http://schemas.microsoft.com/office/drawing/2014/main" id="{7181627E-945E-922A-A8C8-DEDA2C7AC933}"/>
              </a:ext>
            </a:extLst>
          </p:cNvPr>
          <p:cNvSpPr txBox="1">
            <a:spLocks/>
          </p:cNvSpPr>
          <p:nvPr/>
        </p:nvSpPr>
        <p:spPr>
          <a:xfrm>
            <a:off x="8375650" y="1507362"/>
            <a:ext cx="10591799" cy="8013237"/>
          </a:xfrm>
          <a:prstGeom prst="rect">
            <a:avLst/>
          </a:prstGeom>
          <a:effectLst/>
        </p:spPr>
        <p:txBody>
          <a:bodyPr vert="horz" lIns="91440" tIns="45720" rIns="91440" bIns="45720" rtlCol="0">
            <a:normAutofit/>
          </a:bodyPr>
          <a:lstStyle>
            <a:lvl1pPr marL="376961" indent="-376961" algn="l" defTabSz="1507846" rtl="0" eaLnBrk="1" latinLnBrk="0" hangingPunct="1">
              <a:lnSpc>
                <a:spcPct val="90000"/>
              </a:lnSpc>
              <a:spcBef>
                <a:spcPts val="1649"/>
              </a:spcBef>
              <a:buFont typeface="Arial" panose="020B0604020202020204" pitchFamily="34" charset="0"/>
              <a:buChar char="•"/>
              <a:defRPr sz="4617" kern="1200">
                <a:solidFill>
                  <a:schemeClr val="tx1"/>
                </a:solidFill>
                <a:latin typeface="+mn-lt"/>
                <a:ea typeface="+mn-ea"/>
                <a:cs typeface="+mn-cs"/>
              </a:defRPr>
            </a:lvl1pPr>
            <a:lvl2pPr marL="1130884" indent="-376961" algn="l" defTabSz="1507846" rtl="0" eaLnBrk="1" latinLnBrk="0" hangingPunct="1">
              <a:lnSpc>
                <a:spcPct val="90000"/>
              </a:lnSpc>
              <a:spcBef>
                <a:spcPts val="824"/>
              </a:spcBef>
              <a:buFont typeface="Arial" panose="020B0604020202020204" pitchFamily="34" charset="0"/>
              <a:buChar char="•"/>
              <a:defRPr sz="3958" kern="1200">
                <a:solidFill>
                  <a:schemeClr val="tx1"/>
                </a:solidFill>
                <a:latin typeface="+mn-lt"/>
                <a:ea typeface="+mn-ea"/>
                <a:cs typeface="+mn-cs"/>
              </a:defRPr>
            </a:lvl2pPr>
            <a:lvl3pPr marL="1884807" indent="-376961" algn="l" defTabSz="1507846" rtl="0" eaLnBrk="1" latinLnBrk="0" hangingPunct="1">
              <a:lnSpc>
                <a:spcPct val="90000"/>
              </a:lnSpc>
              <a:spcBef>
                <a:spcPts val="824"/>
              </a:spcBef>
              <a:buFont typeface="Arial" panose="020B0604020202020204" pitchFamily="34" charset="0"/>
              <a:buChar char="•"/>
              <a:defRPr sz="3298" kern="1200">
                <a:solidFill>
                  <a:schemeClr val="tx1"/>
                </a:solidFill>
                <a:latin typeface="+mn-lt"/>
                <a:ea typeface="+mn-ea"/>
                <a:cs typeface="+mn-cs"/>
              </a:defRPr>
            </a:lvl3pPr>
            <a:lvl4pPr marL="2638730" indent="-376961" algn="l" defTabSz="1507846" rtl="0" eaLnBrk="1" latinLnBrk="0" hangingPunct="1">
              <a:lnSpc>
                <a:spcPct val="90000"/>
              </a:lnSpc>
              <a:spcBef>
                <a:spcPts val="824"/>
              </a:spcBef>
              <a:buFont typeface="Arial" panose="020B0604020202020204" pitchFamily="34" charset="0"/>
              <a:buChar char="•"/>
              <a:defRPr sz="2968" kern="1200">
                <a:solidFill>
                  <a:schemeClr val="tx1"/>
                </a:solidFill>
                <a:latin typeface="+mn-lt"/>
                <a:ea typeface="+mn-ea"/>
                <a:cs typeface="+mn-cs"/>
              </a:defRPr>
            </a:lvl4pPr>
            <a:lvl5pPr marL="3392653" indent="-376961" algn="l" defTabSz="1507846" rtl="0" eaLnBrk="1" latinLnBrk="0" hangingPunct="1">
              <a:lnSpc>
                <a:spcPct val="90000"/>
              </a:lnSpc>
              <a:spcBef>
                <a:spcPts val="824"/>
              </a:spcBef>
              <a:buFont typeface="Arial" panose="020B0604020202020204" pitchFamily="34" charset="0"/>
              <a:buChar char="•"/>
              <a:defRPr sz="2968" kern="1200">
                <a:solidFill>
                  <a:schemeClr val="tx1"/>
                </a:solidFill>
                <a:latin typeface="+mn-lt"/>
                <a:ea typeface="+mn-ea"/>
                <a:cs typeface="+mn-cs"/>
              </a:defRPr>
            </a:lvl5pPr>
            <a:lvl6pPr marL="4146575" indent="-376961" algn="l" defTabSz="1507846" rtl="0" eaLnBrk="1" latinLnBrk="0" hangingPunct="1">
              <a:lnSpc>
                <a:spcPct val="90000"/>
              </a:lnSpc>
              <a:spcBef>
                <a:spcPts val="824"/>
              </a:spcBef>
              <a:buFont typeface="Arial" panose="020B0604020202020204" pitchFamily="34" charset="0"/>
              <a:buChar char="•"/>
              <a:defRPr sz="2968" kern="1200">
                <a:solidFill>
                  <a:schemeClr val="tx1"/>
                </a:solidFill>
                <a:latin typeface="+mn-lt"/>
                <a:ea typeface="+mn-ea"/>
                <a:cs typeface="+mn-cs"/>
              </a:defRPr>
            </a:lvl6pPr>
            <a:lvl7pPr marL="4900498" indent="-376961" algn="l" defTabSz="1507846" rtl="0" eaLnBrk="1" latinLnBrk="0" hangingPunct="1">
              <a:lnSpc>
                <a:spcPct val="90000"/>
              </a:lnSpc>
              <a:spcBef>
                <a:spcPts val="824"/>
              </a:spcBef>
              <a:buFont typeface="Arial" panose="020B0604020202020204" pitchFamily="34" charset="0"/>
              <a:buChar char="•"/>
              <a:defRPr sz="2968" kern="1200">
                <a:solidFill>
                  <a:schemeClr val="tx1"/>
                </a:solidFill>
                <a:latin typeface="+mn-lt"/>
                <a:ea typeface="+mn-ea"/>
                <a:cs typeface="+mn-cs"/>
              </a:defRPr>
            </a:lvl7pPr>
            <a:lvl8pPr marL="5654421" indent="-376961" algn="l" defTabSz="1507846" rtl="0" eaLnBrk="1" latinLnBrk="0" hangingPunct="1">
              <a:lnSpc>
                <a:spcPct val="90000"/>
              </a:lnSpc>
              <a:spcBef>
                <a:spcPts val="824"/>
              </a:spcBef>
              <a:buFont typeface="Arial" panose="020B0604020202020204" pitchFamily="34" charset="0"/>
              <a:buChar char="•"/>
              <a:defRPr sz="2968" kern="1200">
                <a:solidFill>
                  <a:schemeClr val="tx1"/>
                </a:solidFill>
                <a:latin typeface="+mn-lt"/>
                <a:ea typeface="+mn-ea"/>
                <a:cs typeface="+mn-cs"/>
              </a:defRPr>
            </a:lvl8pPr>
            <a:lvl9pPr marL="6408344" indent="-376961" algn="l" defTabSz="1507846" rtl="0" eaLnBrk="1" latinLnBrk="0" hangingPunct="1">
              <a:lnSpc>
                <a:spcPct val="90000"/>
              </a:lnSpc>
              <a:spcBef>
                <a:spcPts val="824"/>
              </a:spcBef>
              <a:buFont typeface="Arial" panose="020B0604020202020204" pitchFamily="34" charset="0"/>
              <a:buChar char="•"/>
              <a:defRPr sz="2968" kern="1200">
                <a:solidFill>
                  <a:schemeClr val="tx1"/>
                </a:solidFill>
                <a:latin typeface="+mn-lt"/>
                <a:ea typeface="+mn-ea"/>
                <a:cs typeface="+mn-cs"/>
              </a:defRPr>
            </a:lvl9pPr>
          </a:lstStyle>
          <a:p>
            <a:pPr marL="514350" indent="-514350">
              <a:buFont typeface="+mj-lt"/>
              <a:buAutoNum type="arabicPeriod"/>
            </a:pPr>
            <a:r>
              <a:rPr lang="es-CL" sz="3200" b="1" noProof="0" dirty="0">
                <a:latin typeface="Atkinson Hyperlegible" pitchFamily="2" charset="77"/>
              </a:rPr>
              <a:t>OBJETIVO DE LA UNIDAD DE APRENDIZAJE.</a:t>
            </a:r>
            <a:endParaRPr lang="es-CL" sz="3200" noProof="0" dirty="0">
              <a:latin typeface="Atkinson Hyperlegible" pitchFamily="2" charset="77"/>
            </a:endParaRPr>
          </a:p>
          <a:p>
            <a:pPr marL="514350" indent="-514350">
              <a:buFont typeface="+mj-lt"/>
              <a:buAutoNum type="arabicPeriod"/>
            </a:pPr>
            <a:r>
              <a:rPr lang="es-ES" sz="3200" b="1" noProof="0" dirty="0">
                <a:latin typeface="Atkinson Hyperlegible" pitchFamily="2" charset="77"/>
              </a:rPr>
              <a:t>ARQUITECTURAS DE REDES DE FIBRA ÓPTICA.</a:t>
            </a:r>
          </a:p>
          <a:p>
            <a:pPr marL="514350" indent="-514350">
              <a:buFont typeface="+mj-lt"/>
              <a:buAutoNum type="arabicPeriod"/>
            </a:pPr>
            <a:r>
              <a:rPr lang="es-ES" sz="3200" b="1" noProof="0" dirty="0">
                <a:latin typeface="Atkinson Hyperlegible" pitchFamily="2" charset="77"/>
              </a:rPr>
              <a:t>PROCESOS Y ALGORITMOS DE RUTEO EN REDES DE FIBRA ÓPTICA.</a:t>
            </a:r>
          </a:p>
          <a:p>
            <a:pPr marL="514350" indent="-514350">
              <a:buFont typeface="+mj-lt"/>
              <a:buAutoNum type="arabicPeriod"/>
            </a:pPr>
            <a:r>
              <a:rPr lang="es-ES" sz="3200" b="1" noProof="0" dirty="0">
                <a:latin typeface="Atkinson Hyperlegible" pitchFamily="2" charset="77"/>
              </a:rPr>
              <a:t>RUTEO WDM. </a:t>
            </a:r>
          </a:p>
          <a:p>
            <a:pPr marL="514350" indent="-514350">
              <a:buFont typeface="+mj-lt"/>
              <a:buAutoNum type="arabicPeriod"/>
            </a:pPr>
            <a:r>
              <a:rPr lang="es-ES" sz="3200" b="1" noProof="0" dirty="0">
                <a:latin typeface="Atkinson Hyperlegible" pitchFamily="2" charset="77"/>
              </a:rPr>
              <a:t>REDES MULTICAPA Y REDES </a:t>
            </a:r>
            <a:r>
              <a:rPr lang="es-ES" sz="3200" b="1" noProof="0" dirty="0" err="1">
                <a:latin typeface="Atkinson Hyperlegible" pitchFamily="2" charset="77"/>
              </a:rPr>
              <a:t>OVERLAY</a:t>
            </a:r>
            <a:r>
              <a:rPr lang="es-ES" sz="3200" b="1" noProof="0" dirty="0">
                <a:latin typeface="Atkinson Hyperlegible" pitchFamily="2" charset="77"/>
              </a:rPr>
              <a:t>.</a:t>
            </a:r>
          </a:p>
          <a:p>
            <a:pPr marL="514350" indent="-514350">
              <a:buFont typeface="+mj-lt"/>
              <a:buAutoNum type="arabicPeriod"/>
            </a:pPr>
            <a:r>
              <a:rPr lang="es-ES" sz="3200" b="1" noProof="0" dirty="0">
                <a:latin typeface="Atkinson Hyperlegible" pitchFamily="2" charset="77"/>
              </a:rPr>
              <a:t>REGENERACIÓN DE SEÑALES. </a:t>
            </a:r>
          </a:p>
          <a:p>
            <a:pPr marL="514350" indent="-514350">
              <a:buFont typeface="+mj-lt"/>
              <a:buAutoNum type="arabicPeriod"/>
            </a:pPr>
            <a:r>
              <a:rPr lang="es-ES" sz="3200" b="1" noProof="0" dirty="0">
                <a:latin typeface="Atkinson Hyperlegible" pitchFamily="2" charset="77"/>
              </a:rPr>
              <a:t>TÉCNICAS Y MÉTODOS DE PROTECCIÓN EN REDES DE FIBRA.</a:t>
            </a:r>
          </a:p>
          <a:p>
            <a:pPr marL="514350" indent="-514350">
              <a:buFont typeface="+mj-lt"/>
              <a:buAutoNum type="arabicPeriod"/>
            </a:pPr>
            <a:r>
              <a:rPr lang="es-ES" sz="3200" b="1" noProof="0" dirty="0">
                <a:latin typeface="Atkinson Hyperlegible" pitchFamily="2" charset="77"/>
              </a:rPr>
              <a:t>RUTEO DINÁMICO EN REDES DE FIBRA ÓPTICA.</a:t>
            </a:r>
          </a:p>
          <a:p>
            <a:pPr marL="514350" indent="-514350">
              <a:buFont typeface="+mj-lt"/>
              <a:buAutoNum type="arabicPeriod"/>
            </a:pPr>
            <a:endParaRPr lang="es-CL" sz="3200" b="1" noProof="0" dirty="0">
              <a:latin typeface="Atkinson Hyperlegible" pitchFamily="2" charset="77"/>
            </a:endParaRPr>
          </a:p>
          <a:p>
            <a:pPr marL="514350" indent="-514350">
              <a:buFont typeface="+mj-lt"/>
              <a:buAutoNum type="arabicPeriod"/>
            </a:pPr>
            <a:endParaRPr lang="es-CL" sz="3200" b="1" noProof="0" dirty="0">
              <a:latin typeface="Atkinson Hyperlegible" pitchFamily="2" charset="77"/>
            </a:endParaRPr>
          </a:p>
          <a:p>
            <a:pPr marL="514350" indent="-514350">
              <a:buFont typeface="+mj-lt"/>
              <a:buAutoNum type="arabicPeriod"/>
            </a:pPr>
            <a:endParaRPr lang="es-CL" sz="3200" b="1" noProof="0" dirty="0">
              <a:latin typeface="Atkinson Hyperlegible" pitchFamily="2" charset="77"/>
            </a:endParaRPr>
          </a:p>
          <a:p>
            <a:pPr marL="0" indent="0">
              <a:buNone/>
            </a:pPr>
            <a:endParaRPr lang="es-CL" sz="3200" b="1" noProof="0" dirty="0">
              <a:latin typeface="Atkinson Hyperlegible" pitchFamily="2" charset="77"/>
            </a:endParaRPr>
          </a:p>
          <a:p>
            <a:pPr marL="0" indent="0">
              <a:buNone/>
            </a:pPr>
            <a:endParaRPr lang="es-CL" sz="3200" b="1" noProof="0" dirty="0">
              <a:latin typeface="Atkinson Hyperlegible" pitchFamily="2" charset="77"/>
            </a:endParaRPr>
          </a:p>
          <a:p>
            <a:pPr marL="0" indent="0">
              <a:buNone/>
            </a:pPr>
            <a:endParaRPr lang="es-CL" sz="3200" b="1" noProof="0" dirty="0">
              <a:latin typeface="Atkinson Hyperlegible" pitchFamily="2" charset="77"/>
            </a:endParaRPr>
          </a:p>
          <a:p>
            <a:pPr marL="0" indent="0">
              <a:buNone/>
            </a:pPr>
            <a:endParaRPr lang="es-CL" sz="3200" b="1" noProof="0" dirty="0">
              <a:latin typeface="Atkinson Hyperlegible" pitchFamily="2" charset="77"/>
            </a:endParaRPr>
          </a:p>
          <a:p>
            <a:pPr marL="0" indent="0">
              <a:buNone/>
            </a:pPr>
            <a:endParaRPr lang="es-CL" sz="3200" b="1" noProof="0" dirty="0">
              <a:latin typeface="Atkinson Hyperlegible" pitchFamily="2" charset="77"/>
            </a:endParaRPr>
          </a:p>
          <a:p>
            <a:pPr marL="0" indent="0">
              <a:buNone/>
            </a:pPr>
            <a:endParaRPr lang="es-CL" sz="2400" noProof="0" dirty="0">
              <a:latin typeface="Atkinson Hyperlegible" pitchFamily="2" charset="77"/>
            </a:endParaRPr>
          </a:p>
          <a:p>
            <a:pPr marL="0" indent="0">
              <a:buNone/>
            </a:pPr>
            <a:endParaRPr lang="es-CL" sz="2400" noProof="0" dirty="0"/>
          </a:p>
          <a:p>
            <a:pPr marL="0" indent="0">
              <a:buNone/>
            </a:pPr>
            <a:endParaRPr lang="es-CL" sz="2400" noProof="0" dirty="0"/>
          </a:p>
          <a:p>
            <a:pPr marL="0" indent="0">
              <a:buNone/>
            </a:pPr>
            <a:endParaRPr lang="es-CL" sz="2400" noProof="0" dirty="0"/>
          </a:p>
          <a:p>
            <a:pPr marL="0" indent="0">
              <a:buFont typeface="Arial" panose="020B0604020202020204" pitchFamily="34" charset="0"/>
              <a:buNone/>
            </a:pPr>
            <a:endParaRPr lang="es-CL" sz="3200" noProof="0" dirty="0"/>
          </a:p>
          <a:p>
            <a:endParaRPr lang="es-CL" sz="3200" noProof="0" dirty="0"/>
          </a:p>
        </p:txBody>
      </p:sp>
      <p:sp>
        <p:nvSpPr>
          <p:cNvPr id="9" name="object 3">
            <a:extLst>
              <a:ext uri="{FF2B5EF4-FFF2-40B4-BE49-F238E27FC236}">
                <a16:creationId xmlns:a16="http://schemas.microsoft.com/office/drawing/2014/main" id="{CF8EB62E-9478-2731-9162-83AA65AA10D2}"/>
              </a:ext>
            </a:extLst>
          </p:cNvPr>
          <p:cNvSpPr txBox="1"/>
          <p:nvPr/>
        </p:nvSpPr>
        <p:spPr>
          <a:xfrm>
            <a:off x="8375650" y="24840"/>
            <a:ext cx="8610595" cy="1482522"/>
          </a:xfrm>
          <a:prstGeom prst="rect">
            <a:avLst/>
          </a:prstGeom>
          <a:noFill/>
        </p:spPr>
        <p:txBody>
          <a:bodyPr vert="horz" wrap="square" lIns="0" tIns="349885" rIns="0" bIns="0" rtlCol="0">
            <a:spAutoFit/>
          </a:bodyPr>
          <a:lstStyle/>
          <a:p>
            <a:pPr>
              <a:lnSpc>
                <a:spcPct val="150000"/>
              </a:lnSpc>
            </a:pPr>
            <a:r>
              <a:rPr lang="es-CL" sz="5400" b="1" kern="100" noProof="0" dirty="0">
                <a:latin typeface="Atkinson Hyperlegible" pitchFamily="2" charset="77"/>
                <a:ea typeface="Calibri" panose="020F0502020204030204" pitchFamily="34" charset="0"/>
                <a:cs typeface="Gotham" pitchFamily="2" charset="0"/>
              </a:rPr>
              <a:t>TEMARIO</a:t>
            </a:r>
            <a:endParaRPr lang="es-CL" sz="5400" b="1" kern="100" noProof="0" dirty="0">
              <a:effectLst/>
              <a:latin typeface="Atkinson Hyperlegible" pitchFamily="2" charset="77"/>
              <a:ea typeface="Calibri" panose="020F0502020204030204" pitchFamily="34" charset="0"/>
              <a:cs typeface="Gotham" pitchFamily="2" charset="0"/>
            </a:endParaRPr>
          </a:p>
        </p:txBody>
      </p:sp>
      <p:cxnSp>
        <p:nvCxnSpPr>
          <p:cNvPr id="10" name="Conector recto 9">
            <a:extLst>
              <a:ext uri="{FF2B5EF4-FFF2-40B4-BE49-F238E27FC236}">
                <a16:creationId xmlns:a16="http://schemas.microsoft.com/office/drawing/2014/main" id="{80913B85-DB62-6753-27C9-B93610CCB519}"/>
              </a:ext>
            </a:extLst>
          </p:cNvPr>
          <p:cNvCxnSpPr>
            <a:cxnSpLocks/>
          </p:cNvCxnSpPr>
          <p:nvPr/>
        </p:nvCxnSpPr>
        <p:spPr>
          <a:xfrm>
            <a:off x="8070850" y="-136525"/>
            <a:ext cx="0" cy="1524000"/>
          </a:xfrm>
          <a:prstGeom prst="line">
            <a:avLst/>
          </a:prstGeom>
          <a:ln w="31750">
            <a:solidFill>
              <a:schemeClr val="tx1"/>
            </a:solidFill>
          </a:ln>
        </p:spPr>
        <p:style>
          <a:lnRef idx="1">
            <a:schemeClr val="dk1"/>
          </a:lnRef>
          <a:fillRef idx="0">
            <a:schemeClr val="dk1"/>
          </a:fillRef>
          <a:effectRef idx="0">
            <a:schemeClr val="dk1"/>
          </a:effectRef>
          <a:fontRef idx="minor">
            <a:schemeClr val="tx1"/>
          </a:fontRef>
        </p:style>
      </p:cxnSp>
      <p:pic>
        <p:nvPicPr>
          <p:cNvPr id="11" name="Picture 2" descr="C:\Users\FHidalgoP\Downloads\WhatsApp Image 2025-03-12 at 14.35.36.jpeg"/>
          <p:cNvPicPr>
            <a:picLocks noChangeAspect="1" noChangeArrowheads="1"/>
          </p:cNvPicPr>
          <p:nvPr/>
        </p:nvPicPr>
        <p:blipFill rotWithShape="1">
          <a:blip r:embed="rId4">
            <a:extLst>
              <a:ext uri="{28A0092B-C50C-407E-A947-70E740481C1C}">
                <a14:useLocalDpi xmlns:a14="http://schemas.microsoft.com/office/drawing/2010/main" val="0"/>
              </a:ext>
            </a:extLst>
          </a:blip>
          <a:srcRect l="21148" r="43683" b="714"/>
          <a:stretch/>
        </p:blipFill>
        <p:spPr bwMode="auto">
          <a:xfrm>
            <a:off x="0" y="0"/>
            <a:ext cx="7308850" cy="104899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36010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a:extLst>
              <a:ext uri="{FF2B5EF4-FFF2-40B4-BE49-F238E27FC236}">
                <a16:creationId xmlns:a16="http://schemas.microsoft.com/office/drawing/2014/main" id="{46BDD0DA-35A7-19FD-C84B-195C6F463A82}"/>
              </a:ext>
            </a:extLst>
          </p:cNvPr>
          <p:cNvSpPr txBox="1"/>
          <p:nvPr/>
        </p:nvSpPr>
        <p:spPr>
          <a:xfrm>
            <a:off x="7766631" y="6036368"/>
            <a:ext cx="4523423" cy="406040"/>
          </a:xfrm>
          <a:prstGeom prst="rect">
            <a:avLst/>
          </a:prstGeom>
          <a:noFill/>
        </p:spPr>
        <p:txBody>
          <a:bodyPr rot="0" spcFirstLastPara="0" vertOverflow="overflow" horzOverflow="overflow" vert="horz" wrap="square" lIns="150781" tIns="75390" rIns="150781" bIns="75390" numCol="1" spcCol="0" rtlCol="0" fromWordArt="0" anchor="t" anchorCtr="0" forceAA="0" compatLnSpc="1">
            <a:prstTxWarp prst="textNoShape">
              <a:avLst/>
            </a:prstTxWarp>
            <a:spAutoFit/>
          </a:bodyPr>
          <a:lstStyle/>
          <a:p>
            <a:pPr algn="just"/>
            <a:endParaRPr lang="es-CL" sz="1649" noProof="0" dirty="0"/>
          </a:p>
        </p:txBody>
      </p:sp>
      <p:sp>
        <p:nvSpPr>
          <p:cNvPr id="2" name="CuadroTexto 1">
            <a:extLst>
              <a:ext uri="{FF2B5EF4-FFF2-40B4-BE49-F238E27FC236}">
                <a16:creationId xmlns:a16="http://schemas.microsoft.com/office/drawing/2014/main" id="{094B6FE4-EB02-E344-53F4-F643E93825FE}"/>
              </a:ext>
            </a:extLst>
          </p:cNvPr>
          <p:cNvSpPr txBox="1"/>
          <p:nvPr/>
        </p:nvSpPr>
        <p:spPr>
          <a:xfrm>
            <a:off x="2598359" y="1294836"/>
            <a:ext cx="16638039" cy="608981"/>
          </a:xfrm>
          <a:prstGeom prst="rect">
            <a:avLst/>
          </a:prstGeom>
          <a:noFill/>
        </p:spPr>
        <p:txBody>
          <a:bodyPr rot="0" spcFirstLastPara="0" vertOverflow="overflow" horzOverflow="overflow" vert="horz" wrap="square" lIns="150781" tIns="75390" rIns="150781" bIns="75390" numCol="1" spcCol="0" rtlCol="0" fromWordArt="0" anchor="t" anchorCtr="0" forceAA="0" compatLnSpc="1">
            <a:prstTxWarp prst="textNoShape">
              <a:avLst/>
            </a:prstTxWarp>
            <a:spAutoFit/>
          </a:bodyPr>
          <a:lstStyle/>
          <a:p>
            <a:endParaRPr lang="es-CL" sz="2968" b="1" noProof="0" dirty="0">
              <a:latin typeface="Calibri"/>
              <a:cs typeface="Calibri"/>
            </a:endParaRPr>
          </a:p>
        </p:txBody>
      </p:sp>
      <p:sp>
        <p:nvSpPr>
          <p:cNvPr id="3" name="object 3">
            <a:extLst>
              <a:ext uri="{FF2B5EF4-FFF2-40B4-BE49-F238E27FC236}">
                <a16:creationId xmlns:a16="http://schemas.microsoft.com/office/drawing/2014/main" id="{E0D695D3-82B4-0843-C646-1FDE68CDAE13}"/>
              </a:ext>
            </a:extLst>
          </p:cNvPr>
          <p:cNvSpPr txBox="1"/>
          <p:nvPr/>
        </p:nvSpPr>
        <p:spPr>
          <a:xfrm>
            <a:off x="1382157" y="-44605"/>
            <a:ext cx="12604775" cy="2179315"/>
          </a:xfrm>
          <a:prstGeom prst="rect">
            <a:avLst/>
          </a:prstGeom>
          <a:noFill/>
        </p:spPr>
        <p:txBody>
          <a:bodyPr vert="horz" wrap="square" lIns="0" tIns="349885" rIns="0" bIns="0" rtlCol="0">
            <a:spAutoFit/>
          </a:bodyPr>
          <a:lstStyle/>
          <a:p>
            <a:pPr>
              <a:lnSpc>
                <a:spcPct val="150000"/>
              </a:lnSpc>
            </a:pPr>
            <a:r>
              <a:rPr lang="es-CL" sz="5400" b="1" noProof="0" dirty="0">
                <a:latin typeface="Atkinson Hyperlegible" pitchFamily="2" charset="77"/>
              </a:rPr>
              <a:t>OBJETIVO DE LA UNIDAD DE APRENDIZAJE </a:t>
            </a:r>
            <a:r>
              <a:rPr lang="es-CL" sz="2800" b="1" kern="100" noProof="0" dirty="0">
                <a:latin typeface="Atkinson Hyperlegible" pitchFamily="2" charset="77"/>
                <a:ea typeface="Calibri" panose="020F0502020204030204" pitchFamily="34" charset="0"/>
              </a:rPr>
              <a:t>OBJETIVO PRINCIPAL</a:t>
            </a:r>
            <a:endParaRPr lang="es-CL" sz="2800" b="1" kern="100" noProof="0" dirty="0">
              <a:effectLst/>
              <a:latin typeface="Atkinson Hyperlegible" pitchFamily="2" charset="77"/>
              <a:ea typeface="Calibri" panose="020F0502020204030204" pitchFamily="34" charset="0"/>
              <a:cs typeface="Gotham" pitchFamily="2" charset="0"/>
            </a:endParaRPr>
          </a:p>
        </p:txBody>
      </p:sp>
      <p:sp>
        <p:nvSpPr>
          <p:cNvPr id="8" name="5 Rectángulo">
            <a:extLst>
              <a:ext uri="{FF2B5EF4-FFF2-40B4-BE49-F238E27FC236}">
                <a16:creationId xmlns:a16="http://schemas.microsoft.com/office/drawing/2014/main" id="{AC5A5358-5A9B-B423-3443-E2F3ABECD712}"/>
              </a:ext>
            </a:extLst>
          </p:cNvPr>
          <p:cNvSpPr/>
          <p:nvPr/>
        </p:nvSpPr>
        <p:spPr>
          <a:xfrm>
            <a:off x="846666" y="3316256"/>
            <a:ext cx="7653867" cy="2909130"/>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wrap="square" lIns="91440" tIns="45720" rIns="91440" bIns="45720" anchor="t">
            <a:spAutoFit/>
          </a:bodyPr>
          <a:lstStyle/>
          <a:p>
            <a:pPr algn="just">
              <a:lnSpc>
                <a:spcPct val="200000"/>
              </a:lnSpc>
              <a:defRPr/>
            </a:pPr>
            <a:r>
              <a:rPr lang="es-CL" sz="3200" b="1" noProof="0" dirty="0">
                <a:effectLst/>
                <a:latin typeface="Atkinson Hyperlegible"/>
                <a:ea typeface="Times New Roman" panose="02020603050405020304" pitchFamily="18" charset="0"/>
              </a:rPr>
              <a:t>Aplicar conocimientos en los distintos medios de transmisión físicos y guiados de </a:t>
            </a:r>
          </a:p>
          <a:p>
            <a:pPr algn="just">
              <a:lnSpc>
                <a:spcPct val="200000"/>
              </a:lnSpc>
              <a:defRPr/>
            </a:pPr>
            <a:r>
              <a:rPr lang="es-CL" sz="3200" b="1" noProof="0" dirty="0">
                <a:effectLst/>
                <a:latin typeface="Atkinson Hyperlegible"/>
                <a:ea typeface="Times New Roman" panose="02020603050405020304" pitchFamily="18" charset="0"/>
              </a:rPr>
              <a:t>redes de transmisión.</a:t>
            </a:r>
            <a:endParaRPr lang="es-CL" sz="3200" b="1" noProof="0" dirty="0">
              <a:latin typeface="Atkinson Hyperlegible"/>
              <a:cs typeface="Times New Roman" pitchFamily="18" charset="0"/>
            </a:endParaRPr>
          </a:p>
        </p:txBody>
      </p:sp>
      <p:pic>
        <p:nvPicPr>
          <p:cNvPr id="2054" name="Picture 6" descr="Cómo funciona un conector de fibra óptica - Exposición - Focc Technology  Co., Ltd">
            <a:extLst>
              <a:ext uri="{FF2B5EF4-FFF2-40B4-BE49-F238E27FC236}">
                <a16:creationId xmlns:a16="http://schemas.microsoft.com/office/drawing/2014/main" id="{0E0CC03A-4C48-3252-B353-458D3BE4D8F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38969" y="2997364"/>
            <a:ext cx="4074634" cy="503415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pic>
        <p:nvPicPr>
          <p:cNvPr id="2056" name="Picture 8" descr="Qué Topologías de Red Existen">
            <a:extLst>
              <a:ext uri="{FF2B5EF4-FFF2-40B4-BE49-F238E27FC236}">
                <a16:creationId xmlns:a16="http://schemas.microsoft.com/office/drawing/2014/main" id="{8F3833C3-0150-146D-7061-E3C3902909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55198" y="3049332"/>
            <a:ext cx="6062274" cy="682005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pic>
        <p:nvPicPr>
          <p:cNvPr id="2058" name="Picture 10" descr="Redes por Medios No Guiados – Herramientas Tecnológicas">
            <a:extLst>
              <a:ext uri="{FF2B5EF4-FFF2-40B4-BE49-F238E27FC236}">
                <a16:creationId xmlns:a16="http://schemas.microsoft.com/office/drawing/2014/main" id="{6B114107-2BA0-8A26-35AF-3B03D636296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7154" y="7416455"/>
            <a:ext cx="6055369" cy="302768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pic>
        <p:nvPicPr>
          <p:cNvPr id="2050" name="Picture 2" descr="tipos-de-cable-red-">
            <a:extLst>
              <a:ext uri="{FF2B5EF4-FFF2-40B4-BE49-F238E27FC236}">
                <a16:creationId xmlns:a16="http://schemas.microsoft.com/office/drawing/2014/main" id="{0DADB60D-8609-A6A6-C7D1-9EF835B2865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99014" y="7383944"/>
            <a:ext cx="3956946" cy="223093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pic>
        <p:nvPicPr>
          <p:cNvPr id="4" name="Imagen 3">
            <a:extLst>
              <a:ext uri="{FF2B5EF4-FFF2-40B4-BE49-F238E27FC236}">
                <a16:creationId xmlns:a16="http://schemas.microsoft.com/office/drawing/2014/main" id="{C8034206-837D-C333-5695-2E829BF0D9B1}"/>
              </a:ext>
            </a:extLst>
          </p:cNvPr>
          <p:cNvPicPr>
            <a:picLocks noChangeAspect="1"/>
          </p:cNvPicPr>
          <p:nvPr/>
        </p:nvPicPr>
        <p:blipFill>
          <a:blip r:embed="rId6"/>
          <a:stretch>
            <a:fillRect/>
          </a:stretch>
        </p:blipFill>
        <p:spPr>
          <a:xfrm>
            <a:off x="8886932" y="2912254"/>
            <a:ext cx="11010014" cy="751903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083726344"/>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xit" presetSubtype="0" fill="hold" nodeType="withEffect">
                                  <p:stCondLst>
                                    <p:cond delay="0"/>
                                  </p:stCondLst>
                                  <p:childTnLst>
                                    <p:set>
                                      <p:cBhvr>
                                        <p:cTn id="8" dur="1" fill="hold">
                                          <p:stCondLst>
                                            <p:cond delay="0"/>
                                          </p:stCondLst>
                                        </p:cTn>
                                        <p:tgtEl>
                                          <p:spTgt spid="2058"/>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205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DE8161-E743-BE49-064B-CB7D07D71B0C}"/>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DE1DF841-C4F9-3803-3EC3-7ADDE2C2B736}"/>
              </a:ext>
            </a:extLst>
          </p:cNvPr>
          <p:cNvSpPr txBox="1"/>
          <p:nvPr/>
        </p:nvSpPr>
        <p:spPr>
          <a:xfrm>
            <a:off x="2598359" y="1294836"/>
            <a:ext cx="16638039" cy="608981"/>
          </a:xfrm>
          <a:prstGeom prst="rect">
            <a:avLst/>
          </a:prstGeom>
          <a:noFill/>
        </p:spPr>
        <p:txBody>
          <a:bodyPr rot="0" spcFirstLastPara="0" vertOverflow="overflow" horzOverflow="overflow" vert="horz" wrap="square" lIns="150781" tIns="75390" rIns="150781" bIns="75390" numCol="1" spcCol="0" rtlCol="0" fromWordArt="0" anchor="t" anchorCtr="0" forceAA="0" compatLnSpc="1">
            <a:prstTxWarp prst="textNoShape">
              <a:avLst/>
            </a:prstTxWarp>
            <a:spAutoFit/>
          </a:bodyPr>
          <a:lstStyle/>
          <a:p>
            <a:endParaRPr lang="es-CL" sz="2968" b="1" noProof="0" dirty="0">
              <a:latin typeface="Calibri"/>
              <a:cs typeface="Calibri"/>
            </a:endParaRPr>
          </a:p>
        </p:txBody>
      </p:sp>
      <p:sp>
        <p:nvSpPr>
          <p:cNvPr id="3" name="object 3">
            <a:extLst>
              <a:ext uri="{FF2B5EF4-FFF2-40B4-BE49-F238E27FC236}">
                <a16:creationId xmlns:a16="http://schemas.microsoft.com/office/drawing/2014/main" id="{77A41CF5-6C7A-894F-1885-A65049BB8B4B}"/>
              </a:ext>
            </a:extLst>
          </p:cNvPr>
          <p:cNvSpPr txBox="1"/>
          <p:nvPr/>
        </p:nvSpPr>
        <p:spPr>
          <a:xfrm>
            <a:off x="1382157" y="-44605"/>
            <a:ext cx="12604775" cy="2179315"/>
          </a:xfrm>
          <a:prstGeom prst="rect">
            <a:avLst/>
          </a:prstGeom>
          <a:noFill/>
        </p:spPr>
        <p:txBody>
          <a:bodyPr vert="horz" wrap="square" lIns="0" tIns="349885" rIns="0" bIns="0" rtlCol="0">
            <a:spAutoFit/>
          </a:bodyPr>
          <a:lstStyle/>
          <a:p>
            <a:pPr>
              <a:lnSpc>
                <a:spcPct val="150000"/>
              </a:lnSpc>
            </a:pPr>
            <a:r>
              <a:rPr lang="es-CL" sz="5400" b="1" noProof="0" dirty="0">
                <a:latin typeface="Atkinson Hyperlegible" pitchFamily="2" charset="77"/>
              </a:rPr>
              <a:t>OBJETIVO DE LA UNIDAD DE APRENDIZAJE </a:t>
            </a:r>
            <a:r>
              <a:rPr lang="es-CL" sz="2800" b="1" kern="100" noProof="0" dirty="0">
                <a:latin typeface="Atkinson Hyperlegible" pitchFamily="2" charset="77"/>
                <a:ea typeface="Calibri" panose="020F0502020204030204" pitchFamily="34" charset="0"/>
              </a:rPr>
              <a:t>TAREA</a:t>
            </a:r>
            <a:endParaRPr lang="es-CL" sz="2800" b="1" kern="100" noProof="0" dirty="0">
              <a:effectLst/>
              <a:latin typeface="Atkinson Hyperlegible" pitchFamily="2" charset="77"/>
              <a:ea typeface="Calibri" panose="020F0502020204030204" pitchFamily="34" charset="0"/>
              <a:cs typeface="Gotham" pitchFamily="2" charset="0"/>
            </a:endParaRPr>
          </a:p>
        </p:txBody>
      </p:sp>
      <p:sp>
        <p:nvSpPr>
          <p:cNvPr id="8" name="5 Rectángulo">
            <a:extLst>
              <a:ext uri="{FF2B5EF4-FFF2-40B4-BE49-F238E27FC236}">
                <a16:creationId xmlns:a16="http://schemas.microsoft.com/office/drawing/2014/main" id="{BB1A79F7-0E03-99C9-7F6F-A149134A742D}"/>
              </a:ext>
            </a:extLst>
          </p:cNvPr>
          <p:cNvSpPr/>
          <p:nvPr/>
        </p:nvSpPr>
        <p:spPr>
          <a:xfrm>
            <a:off x="846666" y="3316256"/>
            <a:ext cx="7653867" cy="2909130"/>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wrap="square" lIns="91440" tIns="45720" rIns="91440" bIns="45720" anchor="t">
            <a:spAutoFit/>
          </a:bodyPr>
          <a:lstStyle/>
          <a:p>
            <a:pPr algn="just">
              <a:lnSpc>
                <a:spcPct val="200000"/>
              </a:lnSpc>
              <a:defRPr/>
            </a:pPr>
            <a:r>
              <a:rPr lang="es-CL" sz="3200" b="1" noProof="0" dirty="0">
                <a:latin typeface="Atkinson Hyperlegible"/>
              </a:rPr>
              <a:t>Analizar sistemas transmisión desde los fundamentos que sustentan las tecnologías de la aplicación militar. </a:t>
            </a:r>
            <a:endParaRPr lang="es-CL" sz="3200" b="1" noProof="0" dirty="0">
              <a:latin typeface="Atkinson Hyperlegible"/>
              <a:cs typeface="Times New Roman" pitchFamily="18" charset="0"/>
            </a:endParaRPr>
          </a:p>
        </p:txBody>
      </p:sp>
      <p:pic>
        <p:nvPicPr>
          <p:cNvPr id="6146" name="Picture 2">
            <a:extLst>
              <a:ext uri="{FF2B5EF4-FFF2-40B4-BE49-F238E27FC236}">
                <a16:creationId xmlns:a16="http://schemas.microsoft.com/office/drawing/2014/main" id="{010472D1-4E4B-226B-3FB0-F6851B1F8C4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99614" y="3243258"/>
            <a:ext cx="8748150" cy="719097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16411829"/>
      </p:ext>
    </p:extLst>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7651B1-2380-EAA3-522C-C9153F803C11}"/>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B00A7AD0-808B-F2F0-1A64-D80879603938}"/>
              </a:ext>
            </a:extLst>
          </p:cNvPr>
          <p:cNvSpPr txBox="1"/>
          <p:nvPr/>
        </p:nvSpPr>
        <p:spPr>
          <a:xfrm>
            <a:off x="2598359" y="1294836"/>
            <a:ext cx="16638039" cy="608981"/>
          </a:xfrm>
          <a:prstGeom prst="rect">
            <a:avLst/>
          </a:prstGeom>
          <a:noFill/>
        </p:spPr>
        <p:txBody>
          <a:bodyPr rot="0" spcFirstLastPara="0" vertOverflow="overflow" horzOverflow="overflow" vert="horz" wrap="square" lIns="150781" tIns="75390" rIns="150781" bIns="75390" numCol="1" spcCol="0" rtlCol="0" fromWordArt="0" anchor="t" anchorCtr="0" forceAA="0" compatLnSpc="1">
            <a:prstTxWarp prst="textNoShape">
              <a:avLst/>
            </a:prstTxWarp>
            <a:spAutoFit/>
          </a:bodyPr>
          <a:lstStyle/>
          <a:p>
            <a:endParaRPr lang="es-CL" sz="2968" b="1" noProof="0" dirty="0">
              <a:latin typeface="Calibri"/>
              <a:cs typeface="Calibri"/>
            </a:endParaRPr>
          </a:p>
        </p:txBody>
      </p:sp>
      <p:sp>
        <p:nvSpPr>
          <p:cNvPr id="3" name="object 3">
            <a:extLst>
              <a:ext uri="{FF2B5EF4-FFF2-40B4-BE49-F238E27FC236}">
                <a16:creationId xmlns:a16="http://schemas.microsoft.com/office/drawing/2014/main" id="{EFDF1386-B050-7714-150D-67856E0AD2D5}"/>
              </a:ext>
            </a:extLst>
          </p:cNvPr>
          <p:cNvSpPr txBox="1"/>
          <p:nvPr/>
        </p:nvSpPr>
        <p:spPr>
          <a:xfrm>
            <a:off x="1382157" y="-44605"/>
            <a:ext cx="12604775" cy="2179315"/>
          </a:xfrm>
          <a:prstGeom prst="rect">
            <a:avLst/>
          </a:prstGeom>
          <a:noFill/>
        </p:spPr>
        <p:txBody>
          <a:bodyPr vert="horz" wrap="square" lIns="0" tIns="349885" rIns="0" bIns="0" rtlCol="0">
            <a:spAutoFit/>
          </a:bodyPr>
          <a:lstStyle/>
          <a:p>
            <a:pPr>
              <a:lnSpc>
                <a:spcPct val="150000"/>
              </a:lnSpc>
            </a:pPr>
            <a:r>
              <a:rPr lang="es-CL" sz="5400" b="1" noProof="0" dirty="0">
                <a:latin typeface="Atkinson Hyperlegible" pitchFamily="2" charset="77"/>
              </a:rPr>
              <a:t>OBJETIVO DE LA UNIDAD DE APRENDIZAJE </a:t>
            </a:r>
            <a:r>
              <a:rPr lang="es-CL" sz="2800" b="1" kern="100" noProof="0" dirty="0">
                <a:latin typeface="Atkinson Hyperlegible" pitchFamily="2" charset="77"/>
                <a:ea typeface="Calibri" panose="020F0502020204030204" pitchFamily="34" charset="0"/>
              </a:rPr>
              <a:t>OBJETIVO PRINCIPAL DE LA CLASE</a:t>
            </a:r>
            <a:endParaRPr lang="es-CL" sz="2800" b="1" kern="100" noProof="0" dirty="0">
              <a:effectLst/>
              <a:latin typeface="Atkinson Hyperlegible" pitchFamily="2" charset="77"/>
              <a:ea typeface="Calibri" panose="020F0502020204030204" pitchFamily="34" charset="0"/>
              <a:cs typeface="Gotham" pitchFamily="2" charset="0"/>
            </a:endParaRPr>
          </a:p>
        </p:txBody>
      </p:sp>
      <p:sp>
        <p:nvSpPr>
          <p:cNvPr id="6" name="5 Rectángulo">
            <a:extLst>
              <a:ext uri="{FF2B5EF4-FFF2-40B4-BE49-F238E27FC236}">
                <a16:creationId xmlns:a16="http://schemas.microsoft.com/office/drawing/2014/main" id="{B0F417D9-033E-D5F5-9726-8037B9002420}"/>
              </a:ext>
            </a:extLst>
          </p:cNvPr>
          <p:cNvSpPr/>
          <p:nvPr/>
        </p:nvSpPr>
        <p:spPr>
          <a:xfrm>
            <a:off x="1696951" y="3474151"/>
            <a:ext cx="17775273" cy="5509200"/>
          </a:xfrm>
          <a:prstGeom prst="rect">
            <a:avLst/>
          </a:prstGeom>
          <a:noFill/>
          <a:effectLst/>
        </p:spPr>
        <p:txBody>
          <a:bodyPr wrap="square" lIns="91440" tIns="45720" rIns="91440" bIns="45720" anchor="t">
            <a:spAutoFit/>
          </a:bodyPr>
          <a:lstStyle/>
          <a:p>
            <a:pPr marL="514350" lvl="0" indent="-514350">
              <a:buFont typeface="+mj-lt"/>
              <a:buAutoNum type="arabicPeriod" startAt="4"/>
            </a:pPr>
            <a:r>
              <a:rPr lang="es-ES" sz="3200" b="1" dirty="0">
                <a:latin typeface="Atkinson Hyperlegible"/>
              </a:rPr>
              <a:t>Redes basadas en software (</a:t>
            </a:r>
            <a:r>
              <a:rPr lang="es-ES" sz="3200" b="1" dirty="0" err="1">
                <a:latin typeface="Atkinson Hyperlegible"/>
              </a:rPr>
              <a:t>SDN</a:t>
            </a:r>
            <a:r>
              <a:rPr lang="es-ES" sz="3200" b="1" dirty="0">
                <a:latin typeface="Atkinson Hyperlegible"/>
              </a:rPr>
              <a:t>).</a:t>
            </a:r>
            <a:endParaRPr lang="es-CL" sz="3200" dirty="0">
              <a:latin typeface="Atkinson Hyperlegible"/>
            </a:endParaRPr>
          </a:p>
          <a:p>
            <a:pPr lvl="1"/>
            <a:r>
              <a:rPr lang="es-ES" sz="3200" dirty="0">
                <a:latin typeface="Atkinson Hyperlegible"/>
              </a:rPr>
              <a:t>4.1. Arquitecturas de redes de conmutación de paquetes IP.</a:t>
            </a:r>
            <a:endParaRPr lang="es-CL" sz="3200" dirty="0">
              <a:latin typeface="Atkinson Hyperlegible"/>
            </a:endParaRPr>
          </a:p>
          <a:p>
            <a:pPr lvl="1"/>
            <a:r>
              <a:rPr lang="es-ES" sz="3200" dirty="0">
                <a:latin typeface="Atkinson Hyperlegible"/>
              </a:rPr>
              <a:t>4.2. Virtualización de las funciones de los nodos de redes.</a:t>
            </a:r>
            <a:endParaRPr lang="es-CL" sz="3200" dirty="0">
              <a:latin typeface="Atkinson Hyperlegible"/>
            </a:endParaRPr>
          </a:p>
          <a:p>
            <a:pPr lvl="1"/>
            <a:r>
              <a:rPr lang="es-ES" sz="3200" dirty="0">
                <a:latin typeface="Atkinson Hyperlegible"/>
              </a:rPr>
              <a:t>4.3. Desarrollo de las Software </a:t>
            </a:r>
            <a:r>
              <a:rPr lang="es-ES" sz="3200" dirty="0" err="1">
                <a:latin typeface="Atkinson Hyperlegible"/>
              </a:rPr>
              <a:t>Defined</a:t>
            </a:r>
            <a:r>
              <a:rPr lang="es-ES" sz="3200" dirty="0">
                <a:latin typeface="Atkinson Hyperlegible"/>
              </a:rPr>
              <a:t> Networks (</a:t>
            </a:r>
            <a:r>
              <a:rPr lang="es-ES" sz="3200" dirty="0" err="1">
                <a:latin typeface="Atkinson Hyperlegible"/>
              </a:rPr>
              <a:t>SDN</a:t>
            </a:r>
            <a:r>
              <a:rPr lang="es-ES" sz="3200" dirty="0">
                <a:latin typeface="Atkinson Hyperlegible"/>
              </a:rPr>
              <a:t>), redes basadas en software.</a:t>
            </a:r>
            <a:endParaRPr lang="es-CL" sz="3200" dirty="0">
              <a:latin typeface="Atkinson Hyperlegible"/>
            </a:endParaRPr>
          </a:p>
          <a:p>
            <a:pPr lvl="1"/>
            <a:r>
              <a:rPr lang="es-ES" sz="3200" dirty="0">
                <a:latin typeface="Atkinson Hyperlegible"/>
              </a:rPr>
              <a:t>4.4. Componentes y funciones de las </a:t>
            </a:r>
            <a:r>
              <a:rPr lang="es-ES" sz="3200" dirty="0" err="1">
                <a:latin typeface="Atkinson Hyperlegible"/>
              </a:rPr>
              <a:t>SDN</a:t>
            </a:r>
            <a:r>
              <a:rPr lang="es-ES" sz="3200" dirty="0">
                <a:latin typeface="Atkinson Hyperlegible"/>
              </a:rPr>
              <a:t>. </a:t>
            </a:r>
            <a:endParaRPr lang="es-CL" sz="3200" dirty="0">
              <a:latin typeface="Atkinson Hyperlegible"/>
            </a:endParaRPr>
          </a:p>
          <a:p>
            <a:pPr lvl="1"/>
            <a:r>
              <a:rPr lang="es-ES" sz="3200" dirty="0">
                <a:latin typeface="Atkinson Hyperlegible"/>
              </a:rPr>
              <a:t>4.5. Aplicaciones de las </a:t>
            </a:r>
            <a:r>
              <a:rPr lang="es-ES" sz="3200" dirty="0" err="1">
                <a:latin typeface="Atkinson Hyperlegible"/>
              </a:rPr>
              <a:t>SDN</a:t>
            </a:r>
            <a:r>
              <a:rPr lang="es-ES" sz="3200" dirty="0">
                <a:latin typeface="Atkinson Hyperlegible"/>
              </a:rPr>
              <a:t>.</a:t>
            </a:r>
            <a:endParaRPr lang="es-CL" sz="3200" dirty="0">
              <a:latin typeface="Atkinson Hyperlegible"/>
            </a:endParaRPr>
          </a:p>
          <a:p>
            <a:pPr lvl="1"/>
            <a:r>
              <a:rPr lang="es-ES" sz="3200" dirty="0">
                <a:latin typeface="Atkinson Hyperlegible"/>
              </a:rPr>
              <a:t>4.6. Suite de protocolos </a:t>
            </a:r>
            <a:r>
              <a:rPr lang="es-ES" sz="3200" dirty="0" err="1">
                <a:latin typeface="Atkinson Hyperlegible"/>
              </a:rPr>
              <a:t>OpenFlow</a:t>
            </a:r>
            <a:r>
              <a:rPr lang="es-ES" sz="3200" dirty="0">
                <a:latin typeface="Atkinson Hyperlegible"/>
              </a:rPr>
              <a:t> y </a:t>
            </a:r>
            <a:r>
              <a:rPr lang="es-ES" sz="3200" dirty="0" err="1">
                <a:latin typeface="Atkinson Hyperlegible"/>
              </a:rPr>
              <a:t>OpenStack</a:t>
            </a:r>
            <a:r>
              <a:rPr lang="es-ES" sz="3200" dirty="0">
                <a:latin typeface="Atkinson Hyperlegible"/>
              </a:rPr>
              <a:t>.</a:t>
            </a:r>
            <a:endParaRPr lang="es-CL" sz="3200" dirty="0">
              <a:latin typeface="Atkinson Hyperlegible"/>
            </a:endParaRPr>
          </a:p>
          <a:p>
            <a:pPr lvl="1"/>
            <a:r>
              <a:rPr lang="es-ES" sz="3200" dirty="0">
                <a:latin typeface="Atkinson Hyperlegible"/>
              </a:rPr>
              <a:t>4.7. Aplicaciones militares de las </a:t>
            </a:r>
            <a:r>
              <a:rPr lang="es-ES" sz="3200" dirty="0" err="1">
                <a:latin typeface="Atkinson Hyperlegible"/>
              </a:rPr>
              <a:t>SDN</a:t>
            </a:r>
            <a:r>
              <a:rPr lang="es-ES" sz="3200" dirty="0">
                <a:latin typeface="Atkinson Hyperlegible"/>
              </a:rPr>
              <a:t>.</a:t>
            </a:r>
            <a:endParaRPr lang="es-CL" sz="3200" dirty="0">
              <a:latin typeface="Atkinson Hyperlegible"/>
            </a:endParaRPr>
          </a:p>
          <a:p>
            <a:pPr lvl="1"/>
            <a:r>
              <a:rPr lang="en-US" sz="3200" dirty="0">
                <a:latin typeface="Atkinson Hyperlegible"/>
              </a:rPr>
              <a:t>4.8. Redes </a:t>
            </a:r>
            <a:r>
              <a:rPr lang="en-US" sz="3200" dirty="0" err="1">
                <a:latin typeface="Atkinson Hyperlegible"/>
              </a:rPr>
              <a:t>móviles</a:t>
            </a:r>
            <a:r>
              <a:rPr lang="en-US" sz="3200" dirty="0">
                <a:latin typeface="Atkinson Hyperlegible"/>
              </a:rPr>
              <a:t> y </a:t>
            </a:r>
            <a:r>
              <a:rPr lang="en-US" sz="3200" dirty="0" err="1">
                <a:latin typeface="Atkinson Hyperlegible"/>
              </a:rPr>
              <a:t>SDN</a:t>
            </a:r>
            <a:r>
              <a:rPr lang="en-US" sz="3200" dirty="0">
                <a:latin typeface="Atkinson Hyperlegible"/>
              </a:rPr>
              <a:t>, </a:t>
            </a:r>
            <a:r>
              <a:rPr lang="en-US" sz="3200" dirty="0" err="1">
                <a:latin typeface="Atkinson Hyperlegible"/>
              </a:rPr>
              <a:t>SDMN</a:t>
            </a:r>
            <a:r>
              <a:rPr lang="en-US" sz="3200" dirty="0">
                <a:latin typeface="Atkinson Hyperlegible"/>
              </a:rPr>
              <a:t>: Software Defined Mobile Networks. </a:t>
            </a:r>
            <a:endParaRPr lang="es-CL" sz="3200" dirty="0">
              <a:latin typeface="Atkinson Hyperlegible"/>
            </a:endParaRPr>
          </a:p>
          <a:p>
            <a:pPr lvl="1"/>
            <a:r>
              <a:rPr lang="es-ES" sz="3200" dirty="0">
                <a:latin typeface="Atkinson Hyperlegible"/>
              </a:rPr>
              <a:t>4.9. Arquitecturas </a:t>
            </a:r>
            <a:r>
              <a:rPr lang="es-ES" sz="3200" dirty="0" err="1">
                <a:latin typeface="Atkinson Hyperlegible"/>
              </a:rPr>
              <a:t>SDMN</a:t>
            </a:r>
            <a:r>
              <a:rPr lang="es-ES" sz="3200" dirty="0">
                <a:latin typeface="Atkinson Hyperlegible"/>
              </a:rPr>
              <a:t>. </a:t>
            </a:r>
            <a:endParaRPr lang="es-CL" sz="3200" dirty="0">
              <a:latin typeface="Atkinson Hyperlegible"/>
            </a:endParaRPr>
          </a:p>
          <a:p>
            <a:pPr lvl="2"/>
            <a:r>
              <a:rPr lang="es-ES" sz="3200" dirty="0">
                <a:latin typeface="Atkinson Hyperlegible"/>
              </a:rPr>
              <a:t>4.9.1 Redes </a:t>
            </a:r>
            <a:r>
              <a:rPr lang="es-ES" sz="3200" dirty="0" err="1">
                <a:latin typeface="Atkinson Hyperlegible"/>
              </a:rPr>
              <a:t>LTE</a:t>
            </a:r>
            <a:r>
              <a:rPr lang="es-ES" sz="3200" dirty="0">
                <a:latin typeface="Atkinson Hyperlegible"/>
              </a:rPr>
              <a:t> e integración de </a:t>
            </a:r>
            <a:r>
              <a:rPr lang="es-ES" sz="3200" dirty="0" err="1">
                <a:latin typeface="Atkinson Hyperlegible"/>
              </a:rPr>
              <a:t>SDMN</a:t>
            </a:r>
            <a:r>
              <a:rPr lang="es-ES" sz="3200" dirty="0">
                <a:latin typeface="Atkinson Hyperlegible"/>
              </a:rPr>
              <a:t>.</a:t>
            </a:r>
            <a:endParaRPr lang="es-CL" sz="3200" dirty="0">
              <a:latin typeface="Atkinson Hyperlegible"/>
            </a:endParaRPr>
          </a:p>
        </p:txBody>
      </p:sp>
      <p:sp>
        <p:nvSpPr>
          <p:cNvPr id="8" name="CuadroTexto 7">
            <a:extLst>
              <a:ext uri="{FF2B5EF4-FFF2-40B4-BE49-F238E27FC236}">
                <a16:creationId xmlns:a16="http://schemas.microsoft.com/office/drawing/2014/main" id="{BFE4BD31-0C5E-EFE9-1AA1-3F00F2CADD93}"/>
              </a:ext>
            </a:extLst>
          </p:cNvPr>
          <p:cNvSpPr txBox="1"/>
          <p:nvPr/>
        </p:nvSpPr>
        <p:spPr>
          <a:xfrm>
            <a:off x="8917065" y="2889315"/>
            <a:ext cx="3113687" cy="707886"/>
          </a:xfrm>
          <a:prstGeom prst="rect">
            <a:avLst/>
          </a:prstGeom>
          <a:noFill/>
        </p:spPr>
        <p:txBody>
          <a:bodyPr wrap="square">
            <a:spAutoFit/>
          </a:bodyPr>
          <a:lstStyle/>
          <a:p>
            <a:r>
              <a:rPr lang="es-CL" sz="4000" b="1" kern="100" noProof="0" dirty="0">
                <a:latin typeface="Atkinson Hyperlegible" pitchFamily="2" charset="77"/>
                <a:ea typeface="Calibri" panose="020F0502020204030204" pitchFamily="34" charset="0"/>
              </a:rPr>
              <a:t>CONTENIDOS</a:t>
            </a:r>
            <a:endParaRPr lang="es-CL" sz="4000" noProof="0" dirty="0"/>
          </a:p>
        </p:txBody>
      </p:sp>
    </p:spTree>
    <p:extLst>
      <p:ext uri="{BB962C8B-B14F-4D97-AF65-F5344CB8AC3E}">
        <p14:creationId xmlns:p14="http://schemas.microsoft.com/office/powerpoint/2010/main" val="523277005"/>
      </p:ext>
    </p:extLst>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2E8D25-85D9-E04C-486C-47D90C11FDDF}"/>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4A0F57B8-3A8B-5EB4-1FE2-C04A71699F61}"/>
              </a:ext>
            </a:extLst>
          </p:cNvPr>
          <p:cNvSpPr txBox="1"/>
          <p:nvPr/>
        </p:nvSpPr>
        <p:spPr>
          <a:xfrm>
            <a:off x="2598359" y="1294836"/>
            <a:ext cx="16638039" cy="608981"/>
          </a:xfrm>
          <a:prstGeom prst="rect">
            <a:avLst/>
          </a:prstGeom>
          <a:noFill/>
        </p:spPr>
        <p:txBody>
          <a:bodyPr rot="0" spcFirstLastPara="0" vertOverflow="overflow" horzOverflow="overflow" vert="horz" wrap="square" lIns="150781" tIns="75390" rIns="150781" bIns="75390" numCol="1" spcCol="0" rtlCol="0" fromWordArt="0" anchor="t" anchorCtr="0" forceAA="0" compatLnSpc="1">
            <a:prstTxWarp prst="textNoShape">
              <a:avLst/>
            </a:prstTxWarp>
            <a:spAutoFit/>
          </a:bodyPr>
          <a:lstStyle/>
          <a:p>
            <a:endParaRPr lang="es-CL" sz="2968" b="1" noProof="0" dirty="0">
              <a:latin typeface="Calibri"/>
              <a:cs typeface="Calibri"/>
            </a:endParaRPr>
          </a:p>
        </p:txBody>
      </p:sp>
      <p:sp>
        <p:nvSpPr>
          <p:cNvPr id="3" name="object 3">
            <a:extLst>
              <a:ext uri="{FF2B5EF4-FFF2-40B4-BE49-F238E27FC236}">
                <a16:creationId xmlns:a16="http://schemas.microsoft.com/office/drawing/2014/main" id="{09290603-0D84-307D-6C66-78F87FE24653}"/>
              </a:ext>
            </a:extLst>
          </p:cNvPr>
          <p:cNvSpPr txBox="1"/>
          <p:nvPr/>
        </p:nvSpPr>
        <p:spPr>
          <a:xfrm>
            <a:off x="1382157" y="-44605"/>
            <a:ext cx="12604775" cy="2179315"/>
          </a:xfrm>
          <a:prstGeom prst="rect">
            <a:avLst/>
          </a:prstGeom>
          <a:noFill/>
        </p:spPr>
        <p:txBody>
          <a:bodyPr vert="horz" wrap="square" lIns="0" tIns="349885" rIns="0" bIns="0" rtlCol="0">
            <a:spAutoFit/>
          </a:bodyPr>
          <a:lstStyle/>
          <a:p>
            <a:pPr>
              <a:lnSpc>
                <a:spcPct val="150000"/>
              </a:lnSpc>
            </a:pPr>
            <a:r>
              <a:rPr lang="es-CL" sz="5400" b="1" noProof="0" dirty="0">
                <a:latin typeface="Atkinson Hyperlegible" pitchFamily="2" charset="77"/>
              </a:rPr>
              <a:t>OBJETIVO DE LA UNIDAD DE APRENDIZAJE </a:t>
            </a:r>
            <a:r>
              <a:rPr lang="es-CL" sz="2800" b="1" kern="100" noProof="0" dirty="0">
                <a:latin typeface="Atkinson Hyperlegible" pitchFamily="2" charset="77"/>
                <a:ea typeface="Calibri" panose="020F0502020204030204" pitchFamily="34" charset="0"/>
              </a:rPr>
              <a:t>OBJETIVO PRINCIPAL DE LA CLASE</a:t>
            </a:r>
            <a:endParaRPr lang="es-CL" sz="2800" b="1" kern="100" noProof="0" dirty="0">
              <a:effectLst/>
              <a:latin typeface="Atkinson Hyperlegible" pitchFamily="2" charset="77"/>
              <a:ea typeface="Calibri" panose="020F0502020204030204" pitchFamily="34" charset="0"/>
              <a:cs typeface="Gotham" pitchFamily="2" charset="0"/>
            </a:endParaRPr>
          </a:p>
        </p:txBody>
      </p:sp>
      <p:sp>
        <p:nvSpPr>
          <p:cNvPr id="7" name="CuadroTexto 6">
            <a:extLst>
              <a:ext uri="{FF2B5EF4-FFF2-40B4-BE49-F238E27FC236}">
                <a16:creationId xmlns:a16="http://schemas.microsoft.com/office/drawing/2014/main" id="{4BF20D85-CAB9-8520-3FEA-7DACC72DF43F}"/>
              </a:ext>
            </a:extLst>
          </p:cNvPr>
          <p:cNvSpPr txBox="1"/>
          <p:nvPr/>
        </p:nvSpPr>
        <p:spPr>
          <a:xfrm>
            <a:off x="6953491" y="2269418"/>
            <a:ext cx="6629539" cy="707886"/>
          </a:xfrm>
          <a:prstGeom prst="rect">
            <a:avLst/>
          </a:prstGeom>
          <a:noFill/>
        </p:spPr>
        <p:txBody>
          <a:bodyPr wrap="square">
            <a:spAutoFit/>
          </a:bodyPr>
          <a:lstStyle/>
          <a:p>
            <a:r>
              <a:rPr lang="es-CL" sz="4000" b="1" kern="100" noProof="0" dirty="0">
                <a:latin typeface="Atkinson Hyperlegible" pitchFamily="2" charset="77"/>
                <a:ea typeface="Calibri" panose="020F0502020204030204" pitchFamily="34" charset="0"/>
              </a:rPr>
              <a:t>INDICADORES DE DESEMPEÑO</a:t>
            </a:r>
            <a:endParaRPr lang="es-CL" sz="4000" noProof="0" dirty="0"/>
          </a:p>
        </p:txBody>
      </p:sp>
      <p:graphicFrame>
        <p:nvGraphicFramePr>
          <p:cNvPr id="5" name="Tabla 4">
            <a:extLst>
              <a:ext uri="{FF2B5EF4-FFF2-40B4-BE49-F238E27FC236}">
                <a16:creationId xmlns:a16="http://schemas.microsoft.com/office/drawing/2014/main" id="{C31C0C65-5FB0-FC55-34FB-3885FAD55A1B}"/>
              </a:ext>
            </a:extLst>
          </p:cNvPr>
          <p:cNvGraphicFramePr>
            <a:graphicFrameLocks noGrp="1"/>
          </p:cNvGraphicFramePr>
          <p:nvPr>
            <p:extLst>
              <p:ext uri="{D42A27DB-BD31-4B8C-83A1-F6EECF244321}">
                <p14:modId xmlns:p14="http://schemas.microsoft.com/office/powerpoint/2010/main" val="3878216274"/>
              </p:ext>
            </p:extLst>
          </p:nvPr>
        </p:nvGraphicFramePr>
        <p:xfrm>
          <a:off x="1528996" y="2951419"/>
          <a:ext cx="17478531" cy="3009900"/>
        </p:xfrm>
        <a:graphic>
          <a:graphicData uri="http://schemas.openxmlformats.org/drawingml/2006/table">
            <a:tbl>
              <a:tblPr/>
              <a:tblGrid>
                <a:gridCol w="17478531">
                  <a:extLst>
                    <a:ext uri="{9D8B030D-6E8A-4147-A177-3AD203B41FA5}">
                      <a16:colId xmlns:a16="http://schemas.microsoft.com/office/drawing/2014/main" val="3873856205"/>
                    </a:ext>
                  </a:extLst>
                </a:gridCol>
              </a:tblGrid>
              <a:tr h="0">
                <a:tc>
                  <a:txBody>
                    <a:bodyPr/>
                    <a:lstStyle/>
                    <a:p>
                      <a:pPr fontAlgn="t">
                        <a:buNone/>
                      </a:pPr>
                      <a:r>
                        <a:rPr lang="es-ES" sz="3200" noProof="0" dirty="0">
                          <a:effectLst/>
                          <a:latin typeface="Atkinson Hyperlegible"/>
                        </a:rPr>
                        <a:t>4.1 Describe el desarrollo de </a:t>
                      </a:r>
                      <a:r>
                        <a:rPr lang="es-ES" sz="3200" noProof="0" dirty="0" err="1">
                          <a:effectLst/>
                          <a:latin typeface="Atkinson Hyperlegible"/>
                        </a:rPr>
                        <a:t>SDN</a:t>
                      </a:r>
                      <a:r>
                        <a:rPr lang="es-ES" sz="3200" noProof="0" dirty="0">
                          <a:effectLst/>
                          <a:latin typeface="Atkinson Hyperlegible"/>
                        </a:rPr>
                        <a:t>, con sus componentes.</a:t>
                      </a:r>
                      <a:endParaRPr lang="es-CL" sz="3200" noProof="0" dirty="0">
                        <a:effectLst/>
                        <a:latin typeface="Atkinson Hyperlegible"/>
                      </a:endParaRPr>
                    </a:p>
                  </a:txBody>
                  <a:tcPr marL="57150" marR="57150" marT="57150" marB="5715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365564622"/>
                  </a:ext>
                </a:extLst>
              </a:tr>
              <a:tr h="0">
                <a:tc>
                  <a:txBody>
                    <a:bodyPr/>
                    <a:lstStyle/>
                    <a:p>
                      <a:pPr fontAlgn="t">
                        <a:buNone/>
                      </a:pPr>
                      <a:r>
                        <a:rPr lang="es-ES" sz="3200" noProof="0" dirty="0">
                          <a:effectLst/>
                          <a:latin typeface="Atkinson Hyperlegible"/>
                        </a:rPr>
                        <a:t>4.2 Aplica el desarrollo del software y sus redes.</a:t>
                      </a:r>
                      <a:endParaRPr lang="es-CL" sz="3200" noProof="0" dirty="0">
                        <a:effectLst/>
                        <a:latin typeface="Atkinson Hyperlegible"/>
                      </a:endParaRPr>
                    </a:p>
                  </a:txBody>
                  <a:tcPr marL="57150" marR="57150" marT="57150" marB="5715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696460708"/>
                  </a:ext>
                </a:extLst>
              </a:tr>
              <a:tr h="0">
                <a:tc>
                  <a:txBody>
                    <a:bodyPr/>
                    <a:lstStyle/>
                    <a:p>
                      <a:pPr fontAlgn="t">
                        <a:buNone/>
                      </a:pPr>
                      <a:r>
                        <a:rPr lang="es-ES" sz="3200" noProof="0" dirty="0">
                          <a:effectLst/>
                          <a:latin typeface="Atkinson Hyperlegible"/>
                        </a:rPr>
                        <a:t>4.3 Define los componentes y sus funciones en redes móviles y </a:t>
                      </a:r>
                      <a:r>
                        <a:rPr lang="es-ES" sz="3200" noProof="0" dirty="0" err="1">
                          <a:effectLst/>
                          <a:latin typeface="Atkinson Hyperlegible"/>
                        </a:rPr>
                        <a:t>SDN</a:t>
                      </a:r>
                      <a:r>
                        <a:rPr lang="es-ES" sz="3200" noProof="0" dirty="0">
                          <a:effectLst/>
                          <a:latin typeface="Atkinson Hyperlegible"/>
                        </a:rPr>
                        <a:t>.</a:t>
                      </a:r>
                      <a:endParaRPr lang="es-CL" sz="3200" noProof="0" dirty="0">
                        <a:effectLst/>
                        <a:latin typeface="Atkinson Hyperlegible"/>
                      </a:endParaRPr>
                    </a:p>
                  </a:txBody>
                  <a:tcPr marL="57150" marR="57150" marT="57150" marB="5715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738544915"/>
                  </a:ext>
                </a:extLst>
              </a:tr>
              <a:tr h="0">
                <a:tc>
                  <a:txBody>
                    <a:bodyPr/>
                    <a:lstStyle/>
                    <a:p>
                      <a:pPr fontAlgn="t">
                        <a:buNone/>
                      </a:pPr>
                      <a:r>
                        <a:rPr lang="es-ES" sz="3200" noProof="0" dirty="0">
                          <a:effectLst/>
                          <a:latin typeface="Atkinson Hyperlegible"/>
                        </a:rPr>
                        <a:t>4.4 Aplica redes móviles</a:t>
                      </a:r>
                      <a:endParaRPr lang="es-CL" sz="3200" noProof="0" dirty="0">
                        <a:effectLst/>
                        <a:latin typeface="Atkinson Hyperlegible"/>
                      </a:endParaRPr>
                    </a:p>
                  </a:txBody>
                  <a:tcPr marL="57150" marR="57150" marT="57150" marB="5715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964994462"/>
                  </a:ext>
                </a:extLst>
              </a:tr>
              <a:tr h="0">
                <a:tc>
                  <a:txBody>
                    <a:bodyPr/>
                    <a:lstStyle/>
                    <a:p>
                      <a:pPr fontAlgn="t">
                        <a:buNone/>
                      </a:pPr>
                      <a:r>
                        <a:rPr lang="es-ES" sz="3200" noProof="0" dirty="0">
                          <a:effectLst/>
                          <a:latin typeface="Atkinson Hyperlegible"/>
                        </a:rPr>
                        <a:t>4.5 Define arquitecturas </a:t>
                      </a:r>
                      <a:r>
                        <a:rPr lang="es-ES" sz="3200" noProof="0" dirty="0" err="1">
                          <a:effectLst/>
                          <a:latin typeface="Atkinson Hyperlegible"/>
                        </a:rPr>
                        <a:t>SDMN</a:t>
                      </a:r>
                      <a:r>
                        <a:rPr lang="es-ES" sz="3200" noProof="0" dirty="0">
                          <a:effectLst/>
                          <a:latin typeface="Atkinson Hyperlegible"/>
                        </a:rPr>
                        <a:t>.</a:t>
                      </a:r>
                      <a:endParaRPr lang="es-CL" sz="3200" noProof="0" dirty="0">
                        <a:effectLst/>
                        <a:latin typeface="Atkinson Hyperlegible"/>
                      </a:endParaRPr>
                    </a:p>
                  </a:txBody>
                  <a:tcPr marL="57150" marR="57150" marT="57150" marB="5715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719676136"/>
                  </a:ext>
                </a:extLst>
              </a:tr>
            </a:tbl>
          </a:graphicData>
        </a:graphic>
      </p:graphicFrame>
    </p:spTree>
    <p:extLst>
      <p:ext uri="{BB962C8B-B14F-4D97-AF65-F5344CB8AC3E}">
        <p14:creationId xmlns:p14="http://schemas.microsoft.com/office/powerpoint/2010/main" val="3820426612"/>
      </p:ext>
    </p:extLst>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21D16AB4-C482-33FC-4A8F-5598C1EBCC33}"/>
            </a:ext>
          </a:extLst>
        </p:cNvPr>
        <p:cNvGrpSpPr/>
        <p:nvPr/>
      </p:nvGrpSpPr>
      <p:grpSpPr>
        <a:xfrm>
          <a:off x="0" y="0"/>
          <a:ext cx="0" cy="0"/>
          <a:chOff x="0" y="0"/>
          <a:chExt cx="0" cy="0"/>
        </a:xfrm>
      </p:grpSpPr>
      <p:cxnSp>
        <p:nvCxnSpPr>
          <p:cNvPr id="9" name="Conector recto 8">
            <a:extLst>
              <a:ext uri="{FF2B5EF4-FFF2-40B4-BE49-F238E27FC236}">
                <a16:creationId xmlns:a16="http://schemas.microsoft.com/office/drawing/2014/main" id="{0E6EB659-C84C-53F1-4337-7EC7F0765F3F}"/>
              </a:ext>
            </a:extLst>
          </p:cNvPr>
          <p:cNvCxnSpPr>
            <a:cxnSpLocks/>
          </p:cNvCxnSpPr>
          <p:nvPr/>
        </p:nvCxnSpPr>
        <p:spPr>
          <a:xfrm>
            <a:off x="679450" y="-136525"/>
            <a:ext cx="0" cy="1524000"/>
          </a:xfrm>
          <a:prstGeom prst="line">
            <a:avLst/>
          </a:prstGeom>
          <a:ln w="31750">
            <a:solidFill>
              <a:schemeClr val="tx1"/>
            </a:solidFill>
          </a:ln>
        </p:spPr>
        <p:style>
          <a:lnRef idx="1">
            <a:schemeClr val="dk1"/>
          </a:lnRef>
          <a:fillRef idx="0">
            <a:schemeClr val="dk1"/>
          </a:fillRef>
          <a:effectRef idx="0">
            <a:schemeClr val="dk1"/>
          </a:effectRef>
          <a:fontRef idx="minor">
            <a:schemeClr val="tx1"/>
          </a:fontRef>
        </p:style>
      </p:cxnSp>
      <p:sp>
        <p:nvSpPr>
          <p:cNvPr id="14" name="object 3">
            <a:extLst>
              <a:ext uri="{FF2B5EF4-FFF2-40B4-BE49-F238E27FC236}">
                <a16:creationId xmlns:a16="http://schemas.microsoft.com/office/drawing/2014/main" id="{42D3F89A-D9F5-C601-8BA7-0AE39010997C}"/>
              </a:ext>
            </a:extLst>
          </p:cNvPr>
          <p:cNvSpPr txBox="1"/>
          <p:nvPr/>
        </p:nvSpPr>
        <p:spPr>
          <a:xfrm>
            <a:off x="1382157" y="-44605"/>
            <a:ext cx="18277439" cy="1030410"/>
          </a:xfrm>
          <a:prstGeom prst="rect">
            <a:avLst/>
          </a:prstGeom>
          <a:noFill/>
        </p:spPr>
        <p:txBody>
          <a:bodyPr vert="horz" wrap="square" lIns="0" tIns="349885" rIns="0" bIns="0" rtlCol="0">
            <a:spAutoFit/>
          </a:bodyPr>
          <a:lstStyle/>
          <a:p>
            <a:r>
              <a:rPr lang="es-CL" sz="4400" b="1" noProof="0" dirty="0">
                <a:latin typeface="Atkinson Hyperlegible" pitchFamily="2" charset="77"/>
              </a:rPr>
              <a:t>ARQUITECTURAS DE REDES DE CONMUTACIÓN DE PAQUETES IP</a:t>
            </a:r>
            <a:endParaRPr lang="es-CL" sz="2800" b="1" kern="100" noProof="0" dirty="0">
              <a:effectLst/>
              <a:latin typeface="Atkinson Hyperlegible" pitchFamily="2" charset="77"/>
              <a:ea typeface="Calibri" panose="020F0502020204030204" pitchFamily="34" charset="0"/>
              <a:cs typeface="Gotham" pitchFamily="2" charset="0"/>
            </a:endParaRPr>
          </a:p>
        </p:txBody>
      </p:sp>
      <p:sp>
        <p:nvSpPr>
          <p:cNvPr id="7" name="CuadroTexto 6">
            <a:extLst>
              <a:ext uri="{FF2B5EF4-FFF2-40B4-BE49-F238E27FC236}">
                <a16:creationId xmlns:a16="http://schemas.microsoft.com/office/drawing/2014/main" id="{6225DB0A-0DC2-A46C-78CE-EB1C42187F7E}"/>
              </a:ext>
            </a:extLst>
          </p:cNvPr>
          <p:cNvSpPr txBox="1"/>
          <p:nvPr/>
        </p:nvSpPr>
        <p:spPr>
          <a:xfrm>
            <a:off x="1382157" y="898721"/>
            <a:ext cx="17055745" cy="707886"/>
          </a:xfrm>
          <a:prstGeom prst="rect">
            <a:avLst/>
          </a:prstGeom>
          <a:noFill/>
        </p:spPr>
        <p:txBody>
          <a:bodyPr wrap="square">
            <a:spAutoFit/>
          </a:bodyPr>
          <a:lstStyle/>
          <a:p>
            <a:r>
              <a:rPr lang="es-ES" sz="4000" dirty="0">
                <a:latin typeface="Atkinson Hyperlegible"/>
              </a:rPr>
              <a:t>¿Qué es una red de conmutación de paquetes IP?</a:t>
            </a:r>
            <a:endParaRPr lang="es-CL" sz="4000" noProof="0" dirty="0">
              <a:latin typeface="Atkinson Hyperlegible"/>
            </a:endParaRPr>
          </a:p>
        </p:txBody>
      </p:sp>
      <p:sp>
        <p:nvSpPr>
          <p:cNvPr id="10" name="CuadroTexto 9">
            <a:extLst>
              <a:ext uri="{FF2B5EF4-FFF2-40B4-BE49-F238E27FC236}">
                <a16:creationId xmlns:a16="http://schemas.microsoft.com/office/drawing/2014/main" id="{741CA54E-2D43-4498-3533-EC30D59E0F8C}"/>
              </a:ext>
            </a:extLst>
          </p:cNvPr>
          <p:cNvSpPr txBox="1"/>
          <p:nvPr/>
        </p:nvSpPr>
        <p:spPr>
          <a:xfrm>
            <a:off x="1234086" y="8579850"/>
            <a:ext cx="8849542" cy="1569660"/>
          </a:xfrm>
          <a:prstGeom prst="rect">
            <a:avLst/>
          </a:prstGeom>
          <a:noFill/>
        </p:spPr>
        <p:txBody>
          <a:bodyPr wrap="square">
            <a:spAutoFit/>
          </a:bodyPr>
          <a:lstStyle/>
          <a:p>
            <a:r>
              <a:rPr lang="es-CL" sz="2400" noProof="0" dirty="0">
                <a:latin typeface="Atkinson Hyperlegible"/>
              </a:rPr>
              <a:t>⚠️ </a:t>
            </a:r>
            <a:r>
              <a:rPr lang="es-CL" sz="2400" b="1" noProof="0" dirty="0">
                <a:latin typeface="Atkinson Hyperlegible"/>
              </a:rPr>
              <a:t>Nota al margen:</a:t>
            </a:r>
          </a:p>
          <a:p>
            <a:r>
              <a:rPr lang="es-CL" sz="2400" b="1" dirty="0" err="1">
                <a:latin typeface="Atkinson Hyperlegible"/>
              </a:rPr>
              <a:t>IETF</a:t>
            </a:r>
            <a:r>
              <a:rPr lang="es-CL" sz="2400" b="1" dirty="0">
                <a:latin typeface="Atkinson Hyperlegible"/>
              </a:rPr>
              <a:t> RFC 8200</a:t>
            </a:r>
            <a:r>
              <a:rPr lang="es-CL" sz="2400" dirty="0">
                <a:latin typeface="Atkinson Hyperlegible"/>
              </a:rPr>
              <a:t> — Internet </a:t>
            </a:r>
            <a:r>
              <a:rPr lang="es-CL" sz="2400" dirty="0" err="1">
                <a:latin typeface="Atkinson Hyperlegible"/>
              </a:rPr>
              <a:t>Protocol</a:t>
            </a:r>
            <a:r>
              <a:rPr lang="es-CL" sz="2400" dirty="0">
                <a:latin typeface="Atkinson Hyperlegible"/>
              </a:rPr>
              <a:t>, </a:t>
            </a:r>
            <a:r>
              <a:rPr lang="es-CL" sz="2400" dirty="0" err="1">
                <a:latin typeface="Atkinson Hyperlegible"/>
              </a:rPr>
              <a:t>Version</a:t>
            </a:r>
            <a:r>
              <a:rPr lang="es-CL" sz="2400" dirty="0">
                <a:latin typeface="Atkinson Hyperlegible"/>
              </a:rPr>
              <a:t> 6 (</a:t>
            </a:r>
            <a:r>
              <a:rPr lang="es-CL" sz="2400" dirty="0" err="1">
                <a:latin typeface="Atkinson Hyperlegible"/>
              </a:rPr>
              <a:t>IPv6</a:t>
            </a:r>
            <a:r>
              <a:rPr lang="es-CL" sz="2400" dirty="0">
                <a:latin typeface="Atkinson Hyperlegible"/>
              </a:rPr>
              <a:t>).</a:t>
            </a:r>
            <a:br>
              <a:rPr lang="es-CL" sz="2400" dirty="0">
                <a:latin typeface="Atkinson Hyperlegible"/>
              </a:rPr>
            </a:br>
            <a:r>
              <a:rPr lang="es-CL" sz="2400" b="1" dirty="0" err="1">
                <a:latin typeface="Atkinson Hyperlegible"/>
              </a:rPr>
              <a:t>IETF</a:t>
            </a:r>
            <a:r>
              <a:rPr lang="es-CL" sz="2400" b="1" dirty="0">
                <a:latin typeface="Atkinson Hyperlegible"/>
              </a:rPr>
              <a:t> RFC 791</a:t>
            </a:r>
            <a:r>
              <a:rPr lang="es-CL" sz="2400" dirty="0">
                <a:latin typeface="Atkinson Hyperlegible"/>
              </a:rPr>
              <a:t> — Internet </a:t>
            </a:r>
            <a:r>
              <a:rPr lang="es-CL" sz="2400" dirty="0" err="1">
                <a:latin typeface="Atkinson Hyperlegible"/>
              </a:rPr>
              <a:t>Protocol</a:t>
            </a:r>
            <a:r>
              <a:rPr lang="es-CL" sz="2400" dirty="0">
                <a:latin typeface="Atkinson Hyperlegible"/>
              </a:rPr>
              <a:t>, </a:t>
            </a:r>
            <a:r>
              <a:rPr lang="es-CL" sz="2400" dirty="0" err="1">
                <a:latin typeface="Atkinson Hyperlegible"/>
              </a:rPr>
              <a:t>IPv4</a:t>
            </a:r>
            <a:r>
              <a:rPr lang="es-CL" sz="2400" dirty="0">
                <a:latin typeface="Atkinson Hyperlegible"/>
              </a:rPr>
              <a:t>.</a:t>
            </a:r>
            <a:br>
              <a:rPr lang="es-CL" sz="2400" dirty="0">
                <a:latin typeface="Atkinson Hyperlegible"/>
              </a:rPr>
            </a:br>
            <a:r>
              <a:rPr lang="es-CL" sz="2400" b="1" dirty="0" err="1">
                <a:latin typeface="Atkinson Hyperlegible"/>
              </a:rPr>
              <a:t>IETF</a:t>
            </a:r>
            <a:r>
              <a:rPr lang="es-CL" sz="2400" b="1" dirty="0">
                <a:latin typeface="Atkinson Hyperlegible"/>
              </a:rPr>
              <a:t> RFC 7426</a:t>
            </a:r>
            <a:r>
              <a:rPr lang="es-CL" sz="2400" dirty="0">
                <a:latin typeface="Atkinson Hyperlegible"/>
              </a:rPr>
              <a:t> — </a:t>
            </a:r>
            <a:r>
              <a:rPr lang="es-CL" sz="2400" dirty="0" err="1">
                <a:latin typeface="Atkinson Hyperlegible"/>
              </a:rPr>
              <a:t>SDN</a:t>
            </a:r>
            <a:r>
              <a:rPr lang="es-CL" sz="2400" dirty="0">
                <a:latin typeface="Atkinson Hyperlegible"/>
              </a:rPr>
              <a:t>: </a:t>
            </a:r>
            <a:r>
              <a:rPr lang="es-CL" sz="2400" dirty="0" err="1">
                <a:latin typeface="Atkinson Hyperlegible"/>
              </a:rPr>
              <a:t>Layers</a:t>
            </a:r>
            <a:r>
              <a:rPr lang="es-CL" sz="2400" dirty="0">
                <a:latin typeface="Atkinson Hyperlegible"/>
              </a:rPr>
              <a:t> and </a:t>
            </a:r>
            <a:r>
              <a:rPr lang="es-CL" sz="2400" dirty="0" err="1">
                <a:latin typeface="Atkinson Hyperlegible"/>
              </a:rPr>
              <a:t>Architecture</a:t>
            </a:r>
            <a:r>
              <a:rPr lang="es-CL" sz="2400" dirty="0">
                <a:latin typeface="Atkinson Hyperlegible"/>
              </a:rPr>
              <a:t> </a:t>
            </a:r>
            <a:r>
              <a:rPr lang="es-CL" sz="2400" dirty="0" err="1">
                <a:latin typeface="Atkinson Hyperlegible"/>
              </a:rPr>
              <a:t>Terminology</a:t>
            </a:r>
            <a:r>
              <a:rPr lang="es-CL" sz="2400" dirty="0">
                <a:latin typeface="Atkinson Hyperlegible"/>
              </a:rPr>
              <a:t>.</a:t>
            </a:r>
            <a:endParaRPr lang="es-CL" sz="2400" noProof="0" dirty="0">
              <a:latin typeface="Atkinson Hyperlegible"/>
            </a:endParaRPr>
          </a:p>
        </p:txBody>
      </p:sp>
      <p:sp>
        <p:nvSpPr>
          <p:cNvPr id="17" name="5 Rectángulo">
            <a:extLst>
              <a:ext uri="{FF2B5EF4-FFF2-40B4-BE49-F238E27FC236}">
                <a16:creationId xmlns:a16="http://schemas.microsoft.com/office/drawing/2014/main" id="{05051C5A-4CE3-5DE6-5256-FDA9935CC352}"/>
              </a:ext>
            </a:extLst>
          </p:cNvPr>
          <p:cNvSpPr/>
          <p:nvPr/>
        </p:nvSpPr>
        <p:spPr>
          <a:xfrm>
            <a:off x="1061209" y="1760004"/>
            <a:ext cx="18598386" cy="1077218"/>
          </a:xfrm>
          <a:prstGeom prst="rect">
            <a:avLst/>
          </a:prstGeom>
          <a:noFill/>
          <a:effectLst/>
        </p:spPr>
        <p:txBody>
          <a:bodyPr wrap="square" lIns="91440" tIns="45720" rIns="91440" bIns="45720" anchor="t">
            <a:spAutoFit/>
          </a:bodyPr>
          <a:lstStyle/>
          <a:p>
            <a:pPr algn="ctr"/>
            <a:r>
              <a:rPr lang="es-ES" sz="3200" dirty="0">
                <a:latin typeface="Atkinson Hyperlegible"/>
              </a:rPr>
              <a:t>Una red de conmutación de paquetes IP transporta información </a:t>
            </a:r>
            <a:r>
              <a:rPr lang="es-ES" sz="3200" b="1" dirty="0">
                <a:latin typeface="Atkinson Hyperlegible"/>
              </a:rPr>
              <a:t>dividiendo los datos en paquetes</a:t>
            </a:r>
            <a:r>
              <a:rPr lang="es-ES" sz="3200" dirty="0">
                <a:latin typeface="Atkinson Hyperlegible"/>
              </a:rPr>
              <a:t>, los cuales viajan por la red desde un origen hasta un destino.</a:t>
            </a:r>
            <a:endParaRPr lang="es-CL" sz="3200" b="1" i="1" noProof="0" dirty="0">
              <a:latin typeface="Atkinson Hyperlegible"/>
            </a:endParaRPr>
          </a:p>
        </p:txBody>
      </p:sp>
      <p:sp>
        <p:nvSpPr>
          <p:cNvPr id="2" name="5 Rectángulo">
            <a:extLst>
              <a:ext uri="{FF2B5EF4-FFF2-40B4-BE49-F238E27FC236}">
                <a16:creationId xmlns:a16="http://schemas.microsoft.com/office/drawing/2014/main" id="{F8193855-A32D-DD17-6CB0-3271EAC97895}"/>
              </a:ext>
            </a:extLst>
          </p:cNvPr>
          <p:cNvSpPr/>
          <p:nvPr/>
        </p:nvSpPr>
        <p:spPr>
          <a:xfrm>
            <a:off x="1603927" y="3515787"/>
            <a:ext cx="18055668" cy="3046988"/>
          </a:xfrm>
          <a:prstGeom prst="rect">
            <a:avLst/>
          </a:prstGeom>
          <a:solidFill>
            <a:schemeClr val="accent1">
              <a:lumMod val="40000"/>
              <a:lumOff val="60000"/>
            </a:schemeClr>
          </a:solidFill>
          <a:effectLst/>
        </p:spPr>
        <p:txBody>
          <a:bodyPr wrap="square" lIns="91440" tIns="45720" rIns="91440" bIns="45720" anchor="t">
            <a:spAutoFit/>
          </a:bodyPr>
          <a:lstStyle/>
          <a:p>
            <a:r>
              <a:rPr lang="es-ES" sz="3200" i="1" dirty="0">
                <a:latin typeface="Atkinson Hyperlegible"/>
              </a:rPr>
              <a:t>La información no viaja como un flujo único, sino dividida en </a:t>
            </a:r>
            <a:r>
              <a:rPr lang="es-ES" sz="3200" b="1" i="1" dirty="0">
                <a:latin typeface="Atkinson Hyperlegible"/>
              </a:rPr>
              <a:t>paquetes IP</a:t>
            </a:r>
            <a:r>
              <a:rPr lang="es-ES" sz="3200" i="1" dirty="0">
                <a:latin typeface="Atkinson Hyperlegible"/>
              </a:rPr>
              <a:t>. </a:t>
            </a:r>
            <a:endParaRPr lang="es-ES" sz="3200" dirty="0"/>
          </a:p>
          <a:p>
            <a:pPr marL="457200" indent="-457200">
              <a:buFont typeface="Arial" panose="020B0604020202020204" pitchFamily="34" charset="0"/>
              <a:buChar char="•"/>
            </a:pPr>
            <a:r>
              <a:rPr lang="es-ES" sz="3200" dirty="0">
                <a:latin typeface="Atkinson Hyperlegible"/>
              </a:rPr>
              <a:t>Cada paquete contiene información de </a:t>
            </a:r>
            <a:r>
              <a:rPr lang="es-ES" sz="3200" b="1" dirty="0">
                <a:latin typeface="Atkinson Hyperlegible"/>
              </a:rPr>
              <a:t>origen</a:t>
            </a:r>
            <a:r>
              <a:rPr lang="es-ES" sz="3200" dirty="0">
                <a:latin typeface="Atkinson Hyperlegible"/>
              </a:rPr>
              <a:t>, </a:t>
            </a:r>
            <a:r>
              <a:rPr lang="es-ES" sz="3200" b="1" dirty="0">
                <a:latin typeface="Atkinson Hyperlegible"/>
              </a:rPr>
              <a:t>destino</a:t>
            </a:r>
            <a:r>
              <a:rPr lang="es-ES" sz="3200" dirty="0">
                <a:latin typeface="Atkinson Hyperlegible"/>
              </a:rPr>
              <a:t> y datos. </a:t>
            </a:r>
          </a:p>
          <a:p>
            <a:pPr marL="457200" indent="-457200">
              <a:buFont typeface="Arial" panose="020B0604020202020204" pitchFamily="34" charset="0"/>
              <a:buChar char="•"/>
            </a:pPr>
            <a:r>
              <a:rPr lang="es-ES" sz="3200" dirty="0">
                <a:latin typeface="Atkinson Hyperlegible"/>
              </a:rPr>
              <a:t>Los paquetes atraviesan distintos </a:t>
            </a:r>
            <a:r>
              <a:rPr lang="es-ES" sz="3200" b="1" dirty="0">
                <a:latin typeface="Atkinson Hyperlegible"/>
              </a:rPr>
              <a:t>nodos de red</a:t>
            </a:r>
            <a:r>
              <a:rPr lang="es-ES" sz="3200" dirty="0">
                <a:latin typeface="Atkinson Hyperlegible"/>
              </a:rPr>
              <a:t>. </a:t>
            </a:r>
          </a:p>
          <a:p>
            <a:pPr marL="457200" indent="-457200">
              <a:buFont typeface="Arial" panose="020B0604020202020204" pitchFamily="34" charset="0"/>
              <a:buChar char="•"/>
            </a:pPr>
            <a:r>
              <a:rPr lang="es-ES" sz="3200" dirty="0">
                <a:latin typeface="Atkinson Hyperlegible"/>
              </a:rPr>
              <a:t>Cada nodo toma decisiones para reenviar el paquete hacia el destino. </a:t>
            </a:r>
          </a:p>
          <a:p>
            <a:pPr marL="457200" indent="-457200">
              <a:buFont typeface="Arial" panose="020B0604020202020204" pitchFamily="34" charset="0"/>
              <a:buChar char="•"/>
            </a:pPr>
            <a:r>
              <a:rPr lang="es-ES" sz="3200" dirty="0">
                <a:latin typeface="Atkinson Hyperlegible"/>
              </a:rPr>
              <a:t>Distintos paquetes pueden tomar rutas diferentes, según el estado de la red. </a:t>
            </a:r>
          </a:p>
          <a:p>
            <a:pPr marL="457200" indent="-457200">
              <a:buFont typeface="Arial" panose="020B0604020202020204" pitchFamily="34" charset="0"/>
              <a:buChar char="•"/>
            </a:pPr>
            <a:r>
              <a:rPr lang="es-ES" sz="3200" dirty="0">
                <a:latin typeface="Atkinson Hyperlegible"/>
              </a:rPr>
              <a:t>La red IP tradicional funciona con decisiones distribuidas en </a:t>
            </a:r>
            <a:r>
              <a:rPr lang="es-ES" sz="3200" dirty="0" err="1">
                <a:latin typeface="Atkinson Hyperlegible"/>
              </a:rPr>
              <a:t>routers</a:t>
            </a:r>
            <a:r>
              <a:rPr lang="es-ES" sz="3200" dirty="0">
                <a:latin typeface="Atkinson Hyperlegible"/>
              </a:rPr>
              <a:t> y switches.</a:t>
            </a:r>
          </a:p>
        </p:txBody>
      </p:sp>
      <p:sp>
        <p:nvSpPr>
          <p:cNvPr id="3" name="5 Rectángulo">
            <a:extLst>
              <a:ext uri="{FF2B5EF4-FFF2-40B4-BE49-F238E27FC236}">
                <a16:creationId xmlns:a16="http://schemas.microsoft.com/office/drawing/2014/main" id="{687558C7-6692-AED9-2722-C804A50C6A54}"/>
              </a:ext>
            </a:extLst>
          </p:cNvPr>
          <p:cNvSpPr/>
          <p:nvPr/>
        </p:nvSpPr>
        <p:spPr>
          <a:xfrm>
            <a:off x="8874176" y="9092758"/>
            <a:ext cx="11001435" cy="1077218"/>
          </a:xfrm>
          <a:prstGeom prst="rect">
            <a:avLst/>
          </a:prstGeom>
          <a:noFill/>
          <a:effectLst/>
        </p:spPr>
        <p:txBody>
          <a:bodyPr wrap="square" lIns="91440" tIns="45720" rIns="91440" bIns="45720" anchor="t">
            <a:spAutoFit/>
          </a:bodyPr>
          <a:lstStyle/>
          <a:p>
            <a:pPr algn="ctr"/>
            <a:r>
              <a:rPr lang="es-ES" sz="3200" b="1" dirty="0">
                <a:latin typeface="Atkinson Hyperlegible"/>
              </a:rPr>
              <a:t>En una red IP, el tráfico se mueve mediante paquetes que son reenviados nodo a nodo hasta llegar al destino.</a:t>
            </a:r>
            <a:endParaRPr lang="es-CL" sz="3200" b="1" i="1" noProof="0" dirty="0">
              <a:latin typeface="Atkinson Hyperlegible"/>
            </a:endParaRPr>
          </a:p>
        </p:txBody>
      </p:sp>
    </p:spTree>
    <p:extLst>
      <p:ext uri="{BB962C8B-B14F-4D97-AF65-F5344CB8AC3E}">
        <p14:creationId xmlns:p14="http://schemas.microsoft.com/office/powerpoint/2010/main" val="20486737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8BAF2410-F990-C22C-491C-B7D3AC56FD53}"/>
            </a:ext>
          </a:extLst>
        </p:cNvPr>
        <p:cNvGrpSpPr/>
        <p:nvPr/>
      </p:nvGrpSpPr>
      <p:grpSpPr>
        <a:xfrm>
          <a:off x="0" y="0"/>
          <a:ext cx="0" cy="0"/>
          <a:chOff x="0" y="0"/>
          <a:chExt cx="0" cy="0"/>
        </a:xfrm>
      </p:grpSpPr>
      <p:cxnSp>
        <p:nvCxnSpPr>
          <p:cNvPr id="9" name="Conector recto 8">
            <a:extLst>
              <a:ext uri="{FF2B5EF4-FFF2-40B4-BE49-F238E27FC236}">
                <a16:creationId xmlns:a16="http://schemas.microsoft.com/office/drawing/2014/main" id="{380C1D4C-E88E-79F4-D1B0-7B233CD07AB7}"/>
              </a:ext>
            </a:extLst>
          </p:cNvPr>
          <p:cNvCxnSpPr>
            <a:cxnSpLocks/>
          </p:cNvCxnSpPr>
          <p:nvPr/>
        </p:nvCxnSpPr>
        <p:spPr>
          <a:xfrm>
            <a:off x="679450" y="-136525"/>
            <a:ext cx="0" cy="1524000"/>
          </a:xfrm>
          <a:prstGeom prst="line">
            <a:avLst/>
          </a:prstGeom>
          <a:ln w="31750">
            <a:solidFill>
              <a:schemeClr val="tx1"/>
            </a:solidFill>
          </a:ln>
        </p:spPr>
        <p:style>
          <a:lnRef idx="1">
            <a:schemeClr val="dk1"/>
          </a:lnRef>
          <a:fillRef idx="0">
            <a:schemeClr val="dk1"/>
          </a:fillRef>
          <a:effectRef idx="0">
            <a:schemeClr val="dk1"/>
          </a:effectRef>
          <a:fontRef idx="minor">
            <a:schemeClr val="tx1"/>
          </a:fontRef>
        </p:style>
      </p:cxnSp>
      <p:sp>
        <p:nvSpPr>
          <p:cNvPr id="14" name="object 3">
            <a:extLst>
              <a:ext uri="{FF2B5EF4-FFF2-40B4-BE49-F238E27FC236}">
                <a16:creationId xmlns:a16="http://schemas.microsoft.com/office/drawing/2014/main" id="{391C86FE-3F34-BE44-8AEF-8AEFD4E94383}"/>
              </a:ext>
            </a:extLst>
          </p:cNvPr>
          <p:cNvSpPr txBox="1"/>
          <p:nvPr/>
        </p:nvSpPr>
        <p:spPr>
          <a:xfrm>
            <a:off x="1382157" y="-44605"/>
            <a:ext cx="18277439" cy="1030410"/>
          </a:xfrm>
          <a:prstGeom prst="rect">
            <a:avLst/>
          </a:prstGeom>
          <a:noFill/>
        </p:spPr>
        <p:txBody>
          <a:bodyPr vert="horz" wrap="square" lIns="0" tIns="349885" rIns="0" bIns="0" rtlCol="0">
            <a:spAutoFit/>
          </a:bodyPr>
          <a:lstStyle/>
          <a:p>
            <a:r>
              <a:rPr lang="es-CL" sz="4400" b="1" noProof="0" dirty="0">
                <a:latin typeface="Atkinson Hyperlegible" pitchFamily="2" charset="77"/>
              </a:rPr>
              <a:t>ARQUITECTURAS DE REDES DE CONMUTACIÓN DE PAQUETES IP</a:t>
            </a:r>
            <a:endParaRPr lang="es-CL" sz="2800" b="1" kern="100" noProof="0" dirty="0">
              <a:effectLst/>
              <a:latin typeface="Atkinson Hyperlegible" pitchFamily="2" charset="77"/>
              <a:ea typeface="Calibri" panose="020F0502020204030204" pitchFamily="34" charset="0"/>
              <a:cs typeface="Gotham" pitchFamily="2" charset="0"/>
            </a:endParaRPr>
          </a:p>
        </p:txBody>
      </p:sp>
      <p:sp>
        <p:nvSpPr>
          <p:cNvPr id="7" name="CuadroTexto 6">
            <a:extLst>
              <a:ext uri="{FF2B5EF4-FFF2-40B4-BE49-F238E27FC236}">
                <a16:creationId xmlns:a16="http://schemas.microsoft.com/office/drawing/2014/main" id="{1BEF35F6-0B65-4723-BC86-02C28EF99678}"/>
              </a:ext>
            </a:extLst>
          </p:cNvPr>
          <p:cNvSpPr txBox="1"/>
          <p:nvPr/>
        </p:nvSpPr>
        <p:spPr>
          <a:xfrm>
            <a:off x="1382157" y="898721"/>
            <a:ext cx="17055745" cy="707886"/>
          </a:xfrm>
          <a:prstGeom prst="rect">
            <a:avLst/>
          </a:prstGeom>
          <a:noFill/>
        </p:spPr>
        <p:txBody>
          <a:bodyPr wrap="square">
            <a:spAutoFit/>
          </a:bodyPr>
          <a:lstStyle/>
          <a:p>
            <a:r>
              <a:rPr lang="es-ES" sz="4000" dirty="0">
                <a:latin typeface="Atkinson Hyperlegible"/>
              </a:rPr>
              <a:t>Elementos básicos de una red IP: nodos, enlaces, paquetes y rutas</a:t>
            </a:r>
            <a:endParaRPr lang="es-CL" sz="4000" noProof="0" dirty="0">
              <a:latin typeface="Atkinson Hyperlegible"/>
            </a:endParaRPr>
          </a:p>
        </p:txBody>
      </p:sp>
      <p:sp>
        <p:nvSpPr>
          <p:cNvPr id="10" name="CuadroTexto 9">
            <a:extLst>
              <a:ext uri="{FF2B5EF4-FFF2-40B4-BE49-F238E27FC236}">
                <a16:creationId xmlns:a16="http://schemas.microsoft.com/office/drawing/2014/main" id="{B7766AE2-8F3A-A4AE-1A56-6E35D3D22484}"/>
              </a:ext>
            </a:extLst>
          </p:cNvPr>
          <p:cNvSpPr txBox="1"/>
          <p:nvPr/>
        </p:nvSpPr>
        <p:spPr>
          <a:xfrm>
            <a:off x="679450" y="8336725"/>
            <a:ext cx="8849542" cy="1938992"/>
          </a:xfrm>
          <a:prstGeom prst="rect">
            <a:avLst/>
          </a:prstGeom>
          <a:noFill/>
        </p:spPr>
        <p:txBody>
          <a:bodyPr wrap="square">
            <a:spAutoFit/>
          </a:bodyPr>
          <a:lstStyle/>
          <a:p>
            <a:r>
              <a:rPr lang="es-CL" sz="2400" noProof="0" dirty="0">
                <a:latin typeface="Atkinson Hyperlegible"/>
              </a:rPr>
              <a:t>⚠️ </a:t>
            </a:r>
            <a:r>
              <a:rPr lang="es-CL" sz="2400" b="1" noProof="0" dirty="0">
                <a:latin typeface="Atkinson Hyperlegible"/>
              </a:rPr>
              <a:t>Nota al margen:</a:t>
            </a:r>
          </a:p>
          <a:p>
            <a:pPr marL="342900" indent="-342900">
              <a:buFont typeface="Arial" panose="020B0604020202020204" pitchFamily="34" charset="0"/>
              <a:buChar char="•"/>
            </a:pPr>
            <a:r>
              <a:rPr lang="es-ES" sz="2400" b="1" dirty="0">
                <a:latin typeface="Atkinson Hyperlegible"/>
              </a:rPr>
              <a:t>Cada paquete IP contiene información que permite a los nodos decidir hacia dónde reenviarlo</a:t>
            </a:r>
            <a:r>
              <a:rPr lang="es-CL" sz="2400" b="1" dirty="0">
                <a:latin typeface="Atkinson Hyperlegible"/>
              </a:rPr>
              <a:t>.</a:t>
            </a:r>
          </a:p>
          <a:p>
            <a:pPr marL="342900" indent="-342900">
              <a:buFont typeface="Arial" panose="020B0604020202020204" pitchFamily="34" charset="0"/>
              <a:buChar char="•"/>
            </a:pPr>
            <a:r>
              <a:rPr lang="es-ES" sz="2400" b="1" dirty="0">
                <a:latin typeface="Atkinson Hyperlegible"/>
              </a:rPr>
              <a:t>La red IP funciona como un sistema de nodos y enlaces donde los paquetes avanzan salto a salto hasta llegar al destino.</a:t>
            </a:r>
            <a:endParaRPr lang="es-CL" sz="2400" b="1" noProof="0" dirty="0">
              <a:latin typeface="Atkinson Hyperlegible"/>
            </a:endParaRPr>
          </a:p>
        </p:txBody>
      </p:sp>
      <p:sp>
        <p:nvSpPr>
          <p:cNvPr id="17" name="5 Rectángulo">
            <a:extLst>
              <a:ext uri="{FF2B5EF4-FFF2-40B4-BE49-F238E27FC236}">
                <a16:creationId xmlns:a16="http://schemas.microsoft.com/office/drawing/2014/main" id="{EACAFF68-50CF-154C-F964-6A26F7DB6AB7}"/>
              </a:ext>
            </a:extLst>
          </p:cNvPr>
          <p:cNvSpPr/>
          <p:nvPr/>
        </p:nvSpPr>
        <p:spPr>
          <a:xfrm>
            <a:off x="1061209" y="1760004"/>
            <a:ext cx="18598386" cy="1077218"/>
          </a:xfrm>
          <a:prstGeom prst="rect">
            <a:avLst/>
          </a:prstGeom>
          <a:noFill/>
          <a:effectLst/>
        </p:spPr>
        <p:txBody>
          <a:bodyPr wrap="square" lIns="91440" tIns="45720" rIns="91440" bIns="45720" anchor="t">
            <a:spAutoFit/>
          </a:bodyPr>
          <a:lstStyle/>
          <a:p>
            <a:pPr algn="ctr"/>
            <a:r>
              <a:rPr lang="es-ES" sz="3200" dirty="0">
                <a:latin typeface="Atkinson Hyperlegible"/>
              </a:rPr>
              <a:t>Una red IP está formada por dispositivos interconectados que reenvían paquetes desde un origen hasta un destino.</a:t>
            </a:r>
            <a:endParaRPr lang="es-CL" sz="3200" b="1" i="1" noProof="0" dirty="0">
              <a:latin typeface="Atkinson Hyperlegible"/>
            </a:endParaRPr>
          </a:p>
        </p:txBody>
      </p:sp>
      <p:graphicFrame>
        <p:nvGraphicFramePr>
          <p:cNvPr id="4" name="Tabla 3">
            <a:extLst>
              <a:ext uri="{FF2B5EF4-FFF2-40B4-BE49-F238E27FC236}">
                <a16:creationId xmlns:a16="http://schemas.microsoft.com/office/drawing/2014/main" id="{4A4A1555-CD5C-A108-85EE-F8B58871379C}"/>
              </a:ext>
            </a:extLst>
          </p:cNvPr>
          <p:cNvGraphicFramePr>
            <a:graphicFrameLocks noGrp="1"/>
          </p:cNvGraphicFramePr>
          <p:nvPr>
            <p:extLst>
              <p:ext uri="{D42A27DB-BD31-4B8C-83A1-F6EECF244321}">
                <p14:modId xmlns:p14="http://schemas.microsoft.com/office/powerpoint/2010/main" val="2126131858"/>
              </p:ext>
            </p:extLst>
          </p:nvPr>
        </p:nvGraphicFramePr>
        <p:xfrm>
          <a:off x="1899118" y="3292023"/>
          <a:ext cx="16922568" cy="3383280"/>
        </p:xfrm>
        <a:graphic>
          <a:graphicData uri="http://schemas.openxmlformats.org/drawingml/2006/table">
            <a:tbl>
              <a:tblPr>
                <a:tableStyleId>{616DA210-FB5B-4158-B5E0-FEB733F419BA}</a:tableStyleId>
              </a:tblPr>
              <a:tblGrid>
                <a:gridCol w="4387755">
                  <a:extLst>
                    <a:ext uri="{9D8B030D-6E8A-4147-A177-3AD203B41FA5}">
                      <a16:colId xmlns:a16="http://schemas.microsoft.com/office/drawing/2014/main" val="2545270042"/>
                    </a:ext>
                  </a:extLst>
                </a:gridCol>
                <a:gridCol w="6893957">
                  <a:extLst>
                    <a:ext uri="{9D8B030D-6E8A-4147-A177-3AD203B41FA5}">
                      <a16:colId xmlns:a16="http://schemas.microsoft.com/office/drawing/2014/main" val="3369546710"/>
                    </a:ext>
                  </a:extLst>
                </a:gridCol>
                <a:gridCol w="5640856">
                  <a:extLst>
                    <a:ext uri="{9D8B030D-6E8A-4147-A177-3AD203B41FA5}">
                      <a16:colId xmlns:a16="http://schemas.microsoft.com/office/drawing/2014/main" val="47351136"/>
                    </a:ext>
                  </a:extLst>
                </a:gridCol>
              </a:tblGrid>
              <a:tr h="0">
                <a:tc>
                  <a:txBody>
                    <a:bodyPr/>
                    <a:lstStyle/>
                    <a:p>
                      <a:pPr algn="ctr">
                        <a:buNone/>
                      </a:pPr>
                      <a:r>
                        <a:rPr lang="es-CL" sz="3200" dirty="0">
                          <a:latin typeface="Atkinson Hyperlegible"/>
                        </a:rPr>
                        <a:t>Elemento</a:t>
                      </a:r>
                    </a:p>
                  </a:txBody>
                  <a:tcPr anchor="ctr"/>
                </a:tc>
                <a:tc>
                  <a:txBody>
                    <a:bodyPr/>
                    <a:lstStyle/>
                    <a:p>
                      <a:pPr algn="ctr">
                        <a:buNone/>
                      </a:pPr>
                      <a:r>
                        <a:rPr lang="es-CL" sz="3200">
                          <a:latin typeface="Atkinson Hyperlegible"/>
                        </a:rPr>
                        <a:t>Definición</a:t>
                      </a:r>
                    </a:p>
                  </a:txBody>
                  <a:tcPr anchor="ctr"/>
                </a:tc>
                <a:tc>
                  <a:txBody>
                    <a:bodyPr/>
                    <a:lstStyle/>
                    <a:p>
                      <a:pPr algn="ctr">
                        <a:buNone/>
                      </a:pPr>
                      <a:r>
                        <a:rPr lang="es-CL" sz="3200">
                          <a:latin typeface="Atkinson Hyperlegible"/>
                        </a:rPr>
                        <a:t>Ejemplo</a:t>
                      </a:r>
                    </a:p>
                  </a:txBody>
                  <a:tcPr anchor="ctr"/>
                </a:tc>
                <a:extLst>
                  <a:ext uri="{0D108BD9-81ED-4DB2-BD59-A6C34878D82A}">
                    <a16:rowId xmlns:a16="http://schemas.microsoft.com/office/drawing/2014/main" val="4227553283"/>
                  </a:ext>
                </a:extLst>
              </a:tr>
              <a:tr h="0">
                <a:tc>
                  <a:txBody>
                    <a:bodyPr/>
                    <a:lstStyle/>
                    <a:p>
                      <a:pPr algn="ctr">
                        <a:buNone/>
                      </a:pPr>
                      <a:r>
                        <a:rPr lang="es-CL" sz="3200" b="1" dirty="0">
                          <a:latin typeface="Atkinson Hyperlegible"/>
                        </a:rPr>
                        <a:t>Nodo</a:t>
                      </a:r>
                      <a:endParaRPr lang="es-CL" sz="3200" dirty="0">
                        <a:latin typeface="Atkinson Hyperlegible"/>
                      </a:endParaRPr>
                    </a:p>
                  </a:txBody>
                  <a:tcPr anchor="ctr"/>
                </a:tc>
                <a:tc>
                  <a:txBody>
                    <a:bodyPr/>
                    <a:lstStyle/>
                    <a:p>
                      <a:pPr algn="ctr">
                        <a:buNone/>
                      </a:pPr>
                      <a:r>
                        <a:rPr lang="es-ES" sz="3200" dirty="0">
                          <a:latin typeface="Atkinson Hyperlegible"/>
                        </a:rPr>
                        <a:t>Dispositivo que participa en la red</a:t>
                      </a:r>
                    </a:p>
                  </a:txBody>
                  <a:tcPr anchor="ctr"/>
                </a:tc>
                <a:tc>
                  <a:txBody>
                    <a:bodyPr/>
                    <a:lstStyle/>
                    <a:p>
                      <a:pPr algn="ctr">
                        <a:buNone/>
                      </a:pPr>
                      <a:r>
                        <a:rPr lang="es-CL" sz="3200">
                          <a:latin typeface="Atkinson Hyperlegible"/>
                        </a:rPr>
                        <a:t>Router, switch, servidor</a:t>
                      </a:r>
                    </a:p>
                  </a:txBody>
                  <a:tcPr anchor="ctr"/>
                </a:tc>
                <a:extLst>
                  <a:ext uri="{0D108BD9-81ED-4DB2-BD59-A6C34878D82A}">
                    <a16:rowId xmlns:a16="http://schemas.microsoft.com/office/drawing/2014/main" val="576938962"/>
                  </a:ext>
                </a:extLst>
              </a:tr>
              <a:tr h="0">
                <a:tc>
                  <a:txBody>
                    <a:bodyPr/>
                    <a:lstStyle/>
                    <a:p>
                      <a:pPr algn="ctr">
                        <a:buNone/>
                      </a:pPr>
                      <a:r>
                        <a:rPr lang="es-CL" sz="3200" b="1">
                          <a:latin typeface="Atkinson Hyperlegible"/>
                        </a:rPr>
                        <a:t>Enlace</a:t>
                      </a:r>
                      <a:endParaRPr lang="es-CL" sz="3200">
                        <a:latin typeface="Atkinson Hyperlegible"/>
                      </a:endParaRPr>
                    </a:p>
                  </a:txBody>
                  <a:tcPr anchor="ctr"/>
                </a:tc>
                <a:tc>
                  <a:txBody>
                    <a:bodyPr/>
                    <a:lstStyle/>
                    <a:p>
                      <a:pPr algn="ctr">
                        <a:buNone/>
                      </a:pPr>
                      <a:r>
                        <a:rPr lang="es-CL" sz="3200">
                          <a:latin typeface="Atkinson Hyperlegible"/>
                        </a:rPr>
                        <a:t>Conexión entre dos nodos</a:t>
                      </a:r>
                    </a:p>
                  </a:txBody>
                  <a:tcPr anchor="ctr"/>
                </a:tc>
                <a:tc>
                  <a:txBody>
                    <a:bodyPr/>
                    <a:lstStyle/>
                    <a:p>
                      <a:pPr algn="ctr">
                        <a:buNone/>
                      </a:pPr>
                      <a:r>
                        <a:rPr lang="es-CL" sz="3200">
                          <a:latin typeface="Atkinson Hyperlegible"/>
                        </a:rPr>
                        <a:t>Cable, fibra, radioenlace</a:t>
                      </a:r>
                    </a:p>
                  </a:txBody>
                  <a:tcPr anchor="ctr"/>
                </a:tc>
                <a:extLst>
                  <a:ext uri="{0D108BD9-81ED-4DB2-BD59-A6C34878D82A}">
                    <a16:rowId xmlns:a16="http://schemas.microsoft.com/office/drawing/2014/main" val="608227609"/>
                  </a:ext>
                </a:extLst>
              </a:tr>
              <a:tr h="0">
                <a:tc>
                  <a:txBody>
                    <a:bodyPr/>
                    <a:lstStyle/>
                    <a:p>
                      <a:pPr algn="ctr">
                        <a:buNone/>
                      </a:pPr>
                      <a:r>
                        <a:rPr lang="es-CL" sz="3200" b="1">
                          <a:latin typeface="Atkinson Hyperlegible"/>
                        </a:rPr>
                        <a:t>Paquete IP</a:t>
                      </a:r>
                      <a:endParaRPr lang="es-CL" sz="3200">
                        <a:latin typeface="Atkinson Hyperlegible"/>
                      </a:endParaRPr>
                    </a:p>
                  </a:txBody>
                  <a:tcPr anchor="ctr"/>
                </a:tc>
                <a:tc>
                  <a:txBody>
                    <a:bodyPr/>
                    <a:lstStyle/>
                    <a:p>
                      <a:pPr algn="ctr">
                        <a:buNone/>
                      </a:pPr>
                      <a:r>
                        <a:rPr lang="es-ES" sz="3200" dirty="0">
                          <a:latin typeface="Atkinson Hyperlegible"/>
                        </a:rPr>
                        <a:t>Unidad de información que viaja por la red</a:t>
                      </a:r>
                    </a:p>
                  </a:txBody>
                  <a:tcPr anchor="ctr"/>
                </a:tc>
                <a:tc>
                  <a:txBody>
                    <a:bodyPr/>
                    <a:lstStyle/>
                    <a:p>
                      <a:pPr algn="ctr">
                        <a:buNone/>
                      </a:pPr>
                      <a:r>
                        <a:rPr lang="es-CL" sz="3200">
                          <a:latin typeface="Atkinson Hyperlegible"/>
                        </a:rPr>
                        <a:t>Datos + direcciones</a:t>
                      </a:r>
                    </a:p>
                  </a:txBody>
                  <a:tcPr anchor="ctr"/>
                </a:tc>
                <a:extLst>
                  <a:ext uri="{0D108BD9-81ED-4DB2-BD59-A6C34878D82A}">
                    <a16:rowId xmlns:a16="http://schemas.microsoft.com/office/drawing/2014/main" val="2931253214"/>
                  </a:ext>
                </a:extLst>
              </a:tr>
              <a:tr h="0">
                <a:tc>
                  <a:txBody>
                    <a:bodyPr/>
                    <a:lstStyle/>
                    <a:p>
                      <a:pPr algn="ctr">
                        <a:buNone/>
                      </a:pPr>
                      <a:r>
                        <a:rPr lang="es-CL" sz="3200" b="1">
                          <a:latin typeface="Atkinson Hyperlegible"/>
                        </a:rPr>
                        <a:t>Ruta</a:t>
                      </a:r>
                      <a:endParaRPr lang="es-CL" sz="3200">
                        <a:latin typeface="Atkinson Hyperlegible"/>
                      </a:endParaRPr>
                    </a:p>
                  </a:txBody>
                  <a:tcPr anchor="ctr"/>
                </a:tc>
                <a:tc>
                  <a:txBody>
                    <a:bodyPr/>
                    <a:lstStyle/>
                    <a:p>
                      <a:pPr algn="ctr">
                        <a:buNone/>
                      </a:pPr>
                      <a:r>
                        <a:rPr lang="es-ES" sz="3200" dirty="0">
                          <a:latin typeface="Atkinson Hyperlegible"/>
                        </a:rPr>
                        <a:t>Camino que sigue un paquete</a:t>
                      </a:r>
                    </a:p>
                  </a:txBody>
                  <a:tcPr anchor="ctr"/>
                </a:tc>
                <a:tc>
                  <a:txBody>
                    <a:bodyPr/>
                    <a:lstStyle/>
                    <a:p>
                      <a:pPr algn="ctr">
                        <a:buNone/>
                      </a:pPr>
                      <a:r>
                        <a:rPr lang="es-CL" sz="3200" dirty="0">
                          <a:latin typeface="Atkinson Hyperlegible"/>
                        </a:rPr>
                        <a:t>Origen → </a:t>
                      </a:r>
                      <a:r>
                        <a:rPr lang="es-CL" sz="3200" dirty="0" err="1">
                          <a:latin typeface="Atkinson Hyperlegible"/>
                        </a:rPr>
                        <a:t>routers</a:t>
                      </a:r>
                      <a:r>
                        <a:rPr lang="es-CL" sz="3200" dirty="0">
                          <a:latin typeface="Atkinson Hyperlegible"/>
                        </a:rPr>
                        <a:t> → destino</a:t>
                      </a:r>
                    </a:p>
                  </a:txBody>
                  <a:tcPr anchor="ctr"/>
                </a:tc>
                <a:extLst>
                  <a:ext uri="{0D108BD9-81ED-4DB2-BD59-A6C34878D82A}">
                    <a16:rowId xmlns:a16="http://schemas.microsoft.com/office/drawing/2014/main" val="3530611320"/>
                  </a:ext>
                </a:extLst>
              </a:tr>
            </a:tbl>
          </a:graphicData>
        </a:graphic>
      </p:graphicFrame>
    </p:spTree>
    <p:extLst>
      <p:ext uri="{BB962C8B-B14F-4D97-AF65-F5344CB8AC3E}">
        <p14:creationId xmlns:p14="http://schemas.microsoft.com/office/powerpoint/2010/main" val="38609417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889A1820-7103-3FE2-3D11-C53C6D745BBD}"/>
            </a:ext>
          </a:extLst>
        </p:cNvPr>
        <p:cNvGrpSpPr/>
        <p:nvPr/>
      </p:nvGrpSpPr>
      <p:grpSpPr>
        <a:xfrm>
          <a:off x="0" y="0"/>
          <a:ext cx="0" cy="0"/>
          <a:chOff x="0" y="0"/>
          <a:chExt cx="0" cy="0"/>
        </a:xfrm>
      </p:grpSpPr>
      <p:cxnSp>
        <p:nvCxnSpPr>
          <p:cNvPr id="9" name="Conector recto 8">
            <a:extLst>
              <a:ext uri="{FF2B5EF4-FFF2-40B4-BE49-F238E27FC236}">
                <a16:creationId xmlns:a16="http://schemas.microsoft.com/office/drawing/2014/main" id="{7C297B7F-E9D7-CF52-AF2F-30FD6C4AF224}"/>
              </a:ext>
            </a:extLst>
          </p:cNvPr>
          <p:cNvCxnSpPr>
            <a:cxnSpLocks/>
          </p:cNvCxnSpPr>
          <p:nvPr/>
        </p:nvCxnSpPr>
        <p:spPr>
          <a:xfrm>
            <a:off x="679450" y="-136525"/>
            <a:ext cx="0" cy="1524000"/>
          </a:xfrm>
          <a:prstGeom prst="line">
            <a:avLst/>
          </a:prstGeom>
          <a:ln w="31750">
            <a:solidFill>
              <a:schemeClr val="tx1"/>
            </a:solidFill>
          </a:ln>
        </p:spPr>
        <p:style>
          <a:lnRef idx="1">
            <a:schemeClr val="dk1"/>
          </a:lnRef>
          <a:fillRef idx="0">
            <a:schemeClr val="dk1"/>
          </a:fillRef>
          <a:effectRef idx="0">
            <a:schemeClr val="dk1"/>
          </a:effectRef>
          <a:fontRef idx="minor">
            <a:schemeClr val="tx1"/>
          </a:fontRef>
        </p:style>
      </p:cxnSp>
      <p:sp>
        <p:nvSpPr>
          <p:cNvPr id="14" name="object 3">
            <a:extLst>
              <a:ext uri="{FF2B5EF4-FFF2-40B4-BE49-F238E27FC236}">
                <a16:creationId xmlns:a16="http://schemas.microsoft.com/office/drawing/2014/main" id="{AB1CD86E-3C7F-904B-BE08-5F0F049AED9E}"/>
              </a:ext>
            </a:extLst>
          </p:cNvPr>
          <p:cNvSpPr txBox="1"/>
          <p:nvPr/>
        </p:nvSpPr>
        <p:spPr>
          <a:xfrm>
            <a:off x="1382157" y="-44605"/>
            <a:ext cx="18277439" cy="1030410"/>
          </a:xfrm>
          <a:prstGeom prst="rect">
            <a:avLst/>
          </a:prstGeom>
          <a:noFill/>
        </p:spPr>
        <p:txBody>
          <a:bodyPr vert="horz" wrap="square" lIns="0" tIns="349885" rIns="0" bIns="0" rtlCol="0">
            <a:spAutoFit/>
          </a:bodyPr>
          <a:lstStyle/>
          <a:p>
            <a:r>
              <a:rPr lang="es-CL" sz="4400" b="1" noProof="0" dirty="0">
                <a:latin typeface="Atkinson Hyperlegible" pitchFamily="2" charset="77"/>
              </a:rPr>
              <a:t>ARQUITECTURAS DE REDES DE CONMUTACIÓN DE PAQUETES IP</a:t>
            </a:r>
            <a:endParaRPr lang="es-CL" sz="2800" b="1" kern="100" noProof="0" dirty="0">
              <a:effectLst/>
              <a:latin typeface="Atkinson Hyperlegible" pitchFamily="2" charset="77"/>
              <a:ea typeface="Calibri" panose="020F0502020204030204" pitchFamily="34" charset="0"/>
              <a:cs typeface="Gotham" pitchFamily="2" charset="0"/>
            </a:endParaRPr>
          </a:p>
        </p:txBody>
      </p:sp>
      <p:sp>
        <p:nvSpPr>
          <p:cNvPr id="7" name="CuadroTexto 6">
            <a:extLst>
              <a:ext uri="{FF2B5EF4-FFF2-40B4-BE49-F238E27FC236}">
                <a16:creationId xmlns:a16="http://schemas.microsoft.com/office/drawing/2014/main" id="{A0C2CC6F-98C7-0930-FAEA-3F5751EE5B47}"/>
              </a:ext>
            </a:extLst>
          </p:cNvPr>
          <p:cNvSpPr txBox="1"/>
          <p:nvPr/>
        </p:nvSpPr>
        <p:spPr>
          <a:xfrm>
            <a:off x="1382157" y="898721"/>
            <a:ext cx="17055745" cy="707886"/>
          </a:xfrm>
          <a:prstGeom prst="rect">
            <a:avLst/>
          </a:prstGeom>
          <a:noFill/>
        </p:spPr>
        <p:txBody>
          <a:bodyPr wrap="square">
            <a:spAutoFit/>
          </a:bodyPr>
          <a:lstStyle/>
          <a:p>
            <a:r>
              <a:rPr lang="es-ES" sz="4000" dirty="0">
                <a:latin typeface="Atkinson Hyperlegible"/>
              </a:rPr>
              <a:t>¿Qué es una red de conmutación de paquetes IP?</a:t>
            </a:r>
            <a:endParaRPr lang="es-CL" sz="4000" noProof="0" dirty="0">
              <a:latin typeface="Atkinson Hyperlegible"/>
            </a:endParaRPr>
          </a:p>
        </p:txBody>
      </p:sp>
      <p:pic>
        <p:nvPicPr>
          <p:cNvPr id="5" name="Imagen 4">
            <a:extLst>
              <a:ext uri="{FF2B5EF4-FFF2-40B4-BE49-F238E27FC236}">
                <a16:creationId xmlns:a16="http://schemas.microsoft.com/office/drawing/2014/main" id="{9D12D930-9977-7A97-4DF4-786CE698E2F7}"/>
              </a:ext>
            </a:extLst>
          </p:cNvPr>
          <p:cNvPicPr>
            <a:picLocks noChangeAspect="1"/>
          </p:cNvPicPr>
          <p:nvPr/>
        </p:nvPicPr>
        <p:blipFill>
          <a:blip r:embed="rId4"/>
          <a:stretch>
            <a:fillRect/>
          </a:stretch>
        </p:blipFill>
        <p:spPr>
          <a:xfrm>
            <a:off x="148603" y="104931"/>
            <a:ext cx="19522851" cy="10714649"/>
          </a:xfrm>
          <a:prstGeom prst="rect">
            <a:avLst/>
          </a:prstGeom>
        </p:spPr>
      </p:pic>
    </p:spTree>
    <p:extLst>
      <p:ext uri="{BB962C8B-B14F-4D97-AF65-F5344CB8AC3E}">
        <p14:creationId xmlns:p14="http://schemas.microsoft.com/office/powerpoint/2010/main" val="32889995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EBC0CD75-6FE2-CA04-36D0-20960978BBC1}"/>
            </a:ext>
          </a:extLst>
        </p:cNvPr>
        <p:cNvGrpSpPr/>
        <p:nvPr/>
      </p:nvGrpSpPr>
      <p:grpSpPr>
        <a:xfrm>
          <a:off x="0" y="0"/>
          <a:ext cx="0" cy="0"/>
          <a:chOff x="0" y="0"/>
          <a:chExt cx="0" cy="0"/>
        </a:xfrm>
      </p:grpSpPr>
      <p:cxnSp>
        <p:nvCxnSpPr>
          <p:cNvPr id="9" name="Conector recto 8">
            <a:extLst>
              <a:ext uri="{FF2B5EF4-FFF2-40B4-BE49-F238E27FC236}">
                <a16:creationId xmlns:a16="http://schemas.microsoft.com/office/drawing/2014/main" id="{E27E09BD-E788-08FD-5C6E-55BB4BCDF909}"/>
              </a:ext>
            </a:extLst>
          </p:cNvPr>
          <p:cNvCxnSpPr>
            <a:cxnSpLocks/>
          </p:cNvCxnSpPr>
          <p:nvPr/>
        </p:nvCxnSpPr>
        <p:spPr>
          <a:xfrm>
            <a:off x="679450" y="-136525"/>
            <a:ext cx="0" cy="1524000"/>
          </a:xfrm>
          <a:prstGeom prst="line">
            <a:avLst/>
          </a:prstGeom>
          <a:ln w="31750">
            <a:solidFill>
              <a:schemeClr val="tx1"/>
            </a:solidFill>
          </a:ln>
        </p:spPr>
        <p:style>
          <a:lnRef idx="1">
            <a:schemeClr val="dk1"/>
          </a:lnRef>
          <a:fillRef idx="0">
            <a:schemeClr val="dk1"/>
          </a:fillRef>
          <a:effectRef idx="0">
            <a:schemeClr val="dk1"/>
          </a:effectRef>
          <a:fontRef idx="minor">
            <a:schemeClr val="tx1"/>
          </a:fontRef>
        </p:style>
      </p:cxnSp>
      <p:sp>
        <p:nvSpPr>
          <p:cNvPr id="14" name="object 3">
            <a:extLst>
              <a:ext uri="{FF2B5EF4-FFF2-40B4-BE49-F238E27FC236}">
                <a16:creationId xmlns:a16="http://schemas.microsoft.com/office/drawing/2014/main" id="{190F9F87-CDB5-932A-3FFA-57A8D24CA785}"/>
              </a:ext>
            </a:extLst>
          </p:cNvPr>
          <p:cNvSpPr txBox="1"/>
          <p:nvPr/>
        </p:nvSpPr>
        <p:spPr>
          <a:xfrm>
            <a:off x="1382157" y="-44605"/>
            <a:ext cx="18277439" cy="1030410"/>
          </a:xfrm>
          <a:prstGeom prst="rect">
            <a:avLst/>
          </a:prstGeom>
          <a:noFill/>
        </p:spPr>
        <p:txBody>
          <a:bodyPr vert="horz" wrap="square" lIns="0" tIns="349885" rIns="0" bIns="0" rtlCol="0">
            <a:spAutoFit/>
          </a:bodyPr>
          <a:lstStyle/>
          <a:p>
            <a:r>
              <a:rPr lang="es-CL" sz="4400" b="1" noProof="0" dirty="0">
                <a:latin typeface="Atkinson Hyperlegible" pitchFamily="2" charset="77"/>
              </a:rPr>
              <a:t>ARQUITECTURAS DE REDES DE CONMUTACIÓN DE PAQUETES IP</a:t>
            </a:r>
            <a:endParaRPr lang="es-CL" sz="2800" b="1" kern="100" noProof="0" dirty="0">
              <a:effectLst/>
              <a:latin typeface="Atkinson Hyperlegible" pitchFamily="2" charset="77"/>
              <a:ea typeface="Calibri" panose="020F0502020204030204" pitchFamily="34" charset="0"/>
              <a:cs typeface="Gotham" pitchFamily="2" charset="0"/>
            </a:endParaRPr>
          </a:p>
        </p:txBody>
      </p:sp>
      <p:sp>
        <p:nvSpPr>
          <p:cNvPr id="7" name="CuadroTexto 6">
            <a:extLst>
              <a:ext uri="{FF2B5EF4-FFF2-40B4-BE49-F238E27FC236}">
                <a16:creationId xmlns:a16="http://schemas.microsoft.com/office/drawing/2014/main" id="{B5116706-26B2-B5C3-AD3D-DADA8AB7B976}"/>
              </a:ext>
            </a:extLst>
          </p:cNvPr>
          <p:cNvSpPr txBox="1"/>
          <p:nvPr/>
        </p:nvSpPr>
        <p:spPr>
          <a:xfrm>
            <a:off x="1382157" y="898721"/>
            <a:ext cx="17055745" cy="707886"/>
          </a:xfrm>
          <a:prstGeom prst="rect">
            <a:avLst/>
          </a:prstGeom>
          <a:noFill/>
        </p:spPr>
        <p:txBody>
          <a:bodyPr wrap="square">
            <a:spAutoFit/>
          </a:bodyPr>
          <a:lstStyle/>
          <a:p>
            <a:r>
              <a:rPr lang="es-ES" sz="4000" dirty="0">
                <a:latin typeface="Atkinson Hyperlegible"/>
              </a:rPr>
              <a:t>Conmutación vs enrutamiento</a:t>
            </a:r>
            <a:endParaRPr lang="es-CL" sz="4000" noProof="0" dirty="0">
              <a:latin typeface="Atkinson Hyperlegible"/>
            </a:endParaRPr>
          </a:p>
        </p:txBody>
      </p:sp>
      <p:sp>
        <p:nvSpPr>
          <p:cNvPr id="10" name="CuadroTexto 9">
            <a:extLst>
              <a:ext uri="{FF2B5EF4-FFF2-40B4-BE49-F238E27FC236}">
                <a16:creationId xmlns:a16="http://schemas.microsoft.com/office/drawing/2014/main" id="{B3DEE47E-C6B8-D7DE-851F-B0F7343EB18B}"/>
              </a:ext>
            </a:extLst>
          </p:cNvPr>
          <p:cNvSpPr txBox="1"/>
          <p:nvPr/>
        </p:nvSpPr>
        <p:spPr>
          <a:xfrm>
            <a:off x="1234086" y="8579850"/>
            <a:ext cx="8849542" cy="1569660"/>
          </a:xfrm>
          <a:prstGeom prst="rect">
            <a:avLst/>
          </a:prstGeom>
          <a:noFill/>
        </p:spPr>
        <p:txBody>
          <a:bodyPr wrap="square">
            <a:spAutoFit/>
          </a:bodyPr>
          <a:lstStyle/>
          <a:p>
            <a:r>
              <a:rPr lang="es-CL" sz="2400" noProof="0" dirty="0">
                <a:latin typeface="Atkinson Hyperlegible"/>
              </a:rPr>
              <a:t>⚠️ </a:t>
            </a:r>
            <a:r>
              <a:rPr lang="es-CL" sz="2400" b="1" noProof="0" dirty="0">
                <a:latin typeface="Atkinson Hyperlegible"/>
              </a:rPr>
              <a:t>Nota al margen:</a:t>
            </a:r>
          </a:p>
          <a:p>
            <a:r>
              <a:rPr lang="es-CL" sz="2400" b="1" dirty="0" err="1">
                <a:latin typeface="Atkinson Hyperlegible"/>
              </a:rPr>
              <a:t>IETF</a:t>
            </a:r>
            <a:r>
              <a:rPr lang="es-CL" sz="2400" b="1" dirty="0">
                <a:latin typeface="Atkinson Hyperlegible"/>
              </a:rPr>
              <a:t> RFC 8200</a:t>
            </a:r>
            <a:r>
              <a:rPr lang="es-CL" sz="2400" dirty="0">
                <a:latin typeface="Atkinson Hyperlegible"/>
              </a:rPr>
              <a:t> — Internet </a:t>
            </a:r>
            <a:r>
              <a:rPr lang="es-CL" sz="2400" dirty="0" err="1">
                <a:latin typeface="Atkinson Hyperlegible"/>
              </a:rPr>
              <a:t>Protocol</a:t>
            </a:r>
            <a:r>
              <a:rPr lang="es-CL" sz="2400" dirty="0">
                <a:latin typeface="Atkinson Hyperlegible"/>
              </a:rPr>
              <a:t>, </a:t>
            </a:r>
            <a:r>
              <a:rPr lang="es-CL" sz="2400" dirty="0" err="1">
                <a:latin typeface="Atkinson Hyperlegible"/>
              </a:rPr>
              <a:t>Version</a:t>
            </a:r>
            <a:r>
              <a:rPr lang="es-CL" sz="2400" dirty="0">
                <a:latin typeface="Atkinson Hyperlegible"/>
              </a:rPr>
              <a:t> 6 (</a:t>
            </a:r>
            <a:r>
              <a:rPr lang="es-CL" sz="2400" dirty="0" err="1">
                <a:latin typeface="Atkinson Hyperlegible"/>
              </a:rPr>
              <a:t>IPv6</a:t>
            </a:r>
            <a:r>
              <a:rPr lang="es-CL" sz="2400" dirty="0">
                <a:latin typeface="Atkinson Hyperlegible"/>
              </a:rPr>
              <a:t>).</a:t>
            </a:r>
            <a:br>
              <a:rPr lang="es-CL" sz="2400" dirty="0">
                <a:latin typeface="Atkinson Hyperlegible"/>
              </a:rPr>
            </a:br>
            <a:r>
              <a:rPr lang="es-CL" sz="2400" b="1" dirty="0" err="1">
                <a:latin typeface="Atkinson Hyperlegible"/>
              </a:rPr>
              <a:t>IETF</a:t>
            </a:r>
            <a:r>
              <a:rPr lang="es-CL" sz="2400" b="1" dirty="0">
                <a:latin typeface="Atkinson Hyperlegible"/>
              </a:rPr>
              <a:t> RFC 791</a:t>
            </a:r>
            <a:r>
              <a:rPr lang="es-CL" sz="2400" dirty="0">
                <a:latin typeface="Atkinson Hyperlegible"/>
              </a:rPr>
              <a:t> — Internet </a:t>
            </a:r>
            <a:r>
              <a:rPr lang="es-CL" sz="2400" dirty="0" err="1">
                <a:latin typeface="Atkinson Hyperlegible"/>
              </a:rPr>
              <a:t>Protocol</a:t>
            </a:r>
            <a:r>
              <a:rPr lang="es-CL" sz="2400" dirty="0">
                <a:latin typeface="Atkinson Hyperlegible"/>
              </a:rPr>
              <a:t>, </a:t>
            </a:r>
            <a:r>
              <a:rPr lang="es-CL" sz="2400" dirty="0" err="1">
                <a:latin typeface="Atkinson Hyperlegible"/>
              </a:rPr>
              <a:t>IPv4</a:t>
            </a:r>
            <a:r>
              <a:rPr lang="es-CL" sz="2400" dirty="0">
                <a:latin typeface="Atkinson Hyperlegible"/>
              </a:rPr>
              <a:t>.</a:t>
            </a:r>
            <a:br>
              <a:rPr lang="es-CL" sz="2400" dirty="0">
                <a:latin typeface="Atkinson Hyperlegible"/>
              </a:rPr>
            </a:br>
            <a:r>
              <a:rPr lang="es-CL" sz="2400" b="1" dirty="0" err="1">
                <a:latin typeface="Atkinson Hyperlegible"/>
              </a:rPr>
              <a:t>IETF</a:t>
            </a:r>
            <a:r>
              <a:rPr lang="es-CL" sz="2400" b="1" dirty="0">
                <a:latin typeface="Atkinson Hyperlegible"/>
              </a:rPr>
              <a:t> RFC 7426</a:t>
            </a:r>
            <a:r>
              <a:rPr lang="es-CL" sz="2400" dirty="0">
                <a:latin typeface="Atkinson Hyperlegible"/>
              </a:rPr>
              <a:t> — </a:t>
            </a:r>
            <a:r>
              <a:rPr lang="es-CL" sz="2400" dirty="0" err="1">
                <a:latin typeface="Atkinson Hyperlegible"/>
              </a:rPr>
              <a:t>SDN</a:t>
            </a:r>
            <a:r>
              <a:rPr lang="es-CL" sz="2400" dirty="0">
                <a:latin typeface="Atkinson Hyperlegible"/>
              </a:rPr>
              <a:t>: </a:t>
            </a:r>
            <a:r>
              <a:rPr lang="es-CL" sz="2400" dirty="0" err="1">
                <a:latin typeface="Atkinson Hyperlegible"/>
              </a:rPr>
              <a:t>Layers</a:t>
            </a:r>
            <a:r>
              <a:rPr lang="es-CL" sz="2400" dirty="0">
                <a:latin typeface="Atkinson Hyperlegible"/>
              </a:rPr>
              <a:t> and </a:t>
            </a:r>
            <a:r>
              <a:rPr lang="es-CL" sz="2400" dirty="0" err="1">
                <a:latin typeface="Atkinson Hyperlegible"/>
              </a:rPr>
              <a:t>Architecture</a:t>
            </a:r>
            <a:r>
              <a:rPr lang="es-CL" sz="2400" dirty="0">
                <a:latin typeface="Atkinson Hyperlegible"/>
              </a:rPr>
              <a:t> </a:t>
            </a:r>
            <a:r>
              <a:rPr lang="es-CL" sz="2400" dirty="0" err="1">
                <a:latin typeface="Atkinson Hyperlegible"/>
              </a:rPr>
              <a:t>Terminology</a:t>
            </a:r>
            <a:r>
              <a:rPr lang="es-CL" sz="2400" dirty="0">
                <a:latin typeface="Atkinson Hyperlegible"/>
              </a:rPr>
              <a:t>.</a:t>
            </a:r>
            <a:endParaRPr lang="es-CL" sz="2400" noProof="0" dirty="0">
              <a:latin typeface="Atkinson Hyperlegible"/>
            </a:endParaRPr>
          </a:p>
        </p:txBody>
      </p:sp>
      <p:sp>
        <p:nvSpPr>
          <p:cNvPr id="17" name="5 Rectángulo">
            <a:extLst>
              <a:ext uri="{FF2B5EF4-FFF2-40B4-BE49-F238E27FC236}">
                <a16:creationId xmlns:a16="http://schemas.microsoft.com/office/drawing/2014/main" id="{6E576008-D77D-F4C2-3CDA-A8D15965DA73}"/>
              </a:ext>
            </a:extLst>
          </p:cNvPr>
          <p:cNvSpPr/>
          <p:nvPr/>
        </p:nvSpPr>
        <p:spPr>
          <a:xfrm>
            <a:off x="1061209" y="1760004"/>
            <a:ext cx="18598386" cy="1077218"/>
          </a:xfrm>
          <a:prstGeom prst="rect">
            <a:avLst/>
          </a:prstGeom>
          <a:noFill/>
          <a:effectLst/>
        </p:spPr>
        <p:txBody>
          <a:bodyPr wrap="square" lIns="91440" tIns="45720" rIns="91440" bIns="45720" anchor="t">
            <a:spAutoFit/>
          </a:bodyPr>
          <a:lstStyle/>
          <a:p>
            <a:pPr algn="ctr"/>
            <a:r>
              <a:rPr lang="es-ES" sz="3200" dirty="0">
                <a:latin typeface="Atkinson Hyperlegible"/>
              </a:rPr>
              <a:t>En una red IP, los equipos toman decisiones para mover paquetes desde el origen hasta el destino.</a:t>
            </a:r>
            <a:br>
              <a:rPr lang="es-ES" sz="3200" dirty="0">
                <a:latin typeface="Atkinson Hyperlegible"/>
              </a:rPr>
            </a:br>
            <a:r>
              <a:rPr lang="es-ES" sz="3200" dirty="0">
                <a:latin typeface="Atkinson Hyperlegible"/>
              </a:rPr>
              <a:t>Estas decisiones pueden ocurrir a nivel de </a:t>
            </a:r>
            <a:r>
              <a:rPr lang="es-ES" sz="3200" b="1" dirty="0">
                <a:latin typeface="Atkinson Hyperlegible"/>
              </a:rPr>
              <a:t>conmutación</a:t>
            </a:r>
            <a:r>
              <a:rPr lang="es-ES" sz="3200" dirty="0">
                <a:latin typeface="Atkinson Hyperlegible"/>
              </a:rPr>
              <a:t> o de </a:t>
            </a:r>
            <a:r>
              <a:rPr lang="es-ES" sz="3200" b="1" dirty="0">
                <a:latin typeface="Atkinson Hyperlegible"/>
              </a:rPr>
              <a:t>enrutamiento</a:t>
            </a:r>
            <a:r>
              <a:rPr lang="es-ES" sz="3200" dirty="0">
                <a:latin typeface="Atkinson Hyperlegible"/>
              </a:rPr>
              <a:t>.</a:t>
            </a:r>
            <a:endParaRPr lang="es-CL" sz="3200" b="1" i="1" noProof="0" dirty="0">
              <a:latin typeface="Atkinson Hyperlegible"/>
            </a:endParaRPr>
          </a:p>
        </p:txBody>
      </p:sp>
      <p:sp>
        <p:nvSpPr>
          <p:cNvPr id="2" name="5 Rectángulo">
            <a:extLst>
              <a:ext uri="{FF2B5EF4-FFF2-40B4-BE49-F238E27FC236}">
                <a16:creationId xmlns:a16="http://schemas.microsoft.com/office/drawing/2014/main" id="{8457961D-DB9C-5F20-1943-41AA55D66468}"/>
              </a:ext>
            </a:extLst>
          </p:cNvPr>
          <p:cNvSpPr/>
          <p:nvPr/>
        </p:nvSpPr>
        <p:spPr>
          <a:xfrm>
            <a:off x="679450" y="3002880"/>
            <a:ext cx="9903605" cy="4524315"/>
          </a:xfrm>
          <a:prstGeom prst="rect">
            <a:avLst/>
          </a:prstGeom>
          <a:solidFill>
            <a:schemeClr val="accent1">
              <a:lumMod val="40000"/>
              <a:lumOff val="60000"/>
            </a:schemeClr>
          </a:solidFill>
          <a:effectLst/>
        </p:spPr>
        <p:txBody>
          <a:bodyPr wrap="square" lIns="91440" tIns="45720" rIns="91440" bIns="45720" anchor="t">
            <a:spAutoFit/>
          </a:bodyPr>
          <a:lstStyle/>
          <a:p>
            <a:r>
              <a:rPr lang="es-ES" sz="3200" b="1" dirty="0">
                <a:latin typeface="Atkinson Hyperlegible"/>
              </a:rPr>
              <a:t>Conmutación</a:t>
            </a:r>
          </a:p>
          <a:p>
            <a:pPr marL="457200" indent="-457200">
              <a:buFont typeface="Arial" panose="020B0604020202020204" pitchFamily="34" charset="0"/>
              <a:buChar char="•"/>
            </a:pPr>
            <a:r>
              <a:rPr lang="es-ES" sz="3200" dirty="0">
                <a:latin typeface="Atkinson Hyperlegible"/>
              </a:rPr>
              <a:t>Opera principalmente dentro de una </a:t>
            </a:r>
            <a:r>
              <a:rPr lang="es-ES" sz="3200" b="1" dirty="0">
                <a:latin typeface="Atkinson Hyperlegible"/>
              </a:rPr>
              <a:t>red local</a:t>
            </a:r>
            <a:r>
              <a:rPr lang="es-ES" sz="3200" dirty="0">
                <a:latin typeface="Atkinson Hyperlegible"/>
              </a:rPr>
              <a:t>. </a:t>
            </a:r>
          </a:p>
          <a:p>
            <a:pPr marL="457200" indent="-457200">
              <a:buFont typeface="Arial" panose="020B0604020202020204" pitchFamily="34" charset="0"/>
              <a:buChar char="•"/>
            </a:pPr>
            <a:r>
              <a:rPr lang="es-ES" sz="3200" dirty="0">
                <a:latin typeface="Atkinson Hyperlegible"/>
              </a:rPr>
              <a:t>Reenvía tramas entre dispositivos conectados a una misma red. </a:t>
            </a:r>
          </a:p>
          <a:p>
            <a:pPr marL="457200" indent="-457200">
              <a:buFont typeface="Arial" panose="020B0604020202020204" pitchFamily="34" charset="0"/>
              <a:buChar char="•"/>
            </a:pPr>
            <a:r>
              <a:rPr lang="es-ES" sz="3200" dirty="0">
                <a:latin typeface="Atkinson Hyperlegible"/>
              </a:rPr>
              <a:t>Utiliza tablas internas para decidir por qué puerto enviar el tráfico. </a:t>
            </a:r>
          </a:p>
          <a:p>
            <a:pPr marL="457200" indent="-457200">
              <a:buFont typeface="Arial" panose="020B0604020202020204" pitchFamily="34" charset="0"/>
              <a:buChar char="•"/>
            </a:pPr>
            <a:r>
              <a:rPr lang="es-ES" sz="3200" dirty="0">
                <a:latin typeface="Atkinson Hyperlegible"/>
              </a:rPr>
              <a:t>Es común en </a:t>
            </a:r>
            <a:r>
              <a:rPr lang="es-ES" sz="3200" b="1" dirty="0">
                <a:latin typeface="Atkinson Hyperlegible"/>
              </a:rPr>
              <a:t>switches</a:t>
            </a:r>
            <a:r>
              <a:rPr lang="es-ES" sz="3200" dirty="0">
                <a:latin typeface="Atkinson Hyperlegible"/>
              </a:rPr>
              <a:t>. </a:t>
            </a:r>
          </a:p>
          <a:p>
            <a:pPr marL="457200" indent="-457200">
              <a:buFont typeface="Arial" panose="020B0604020202020204" pitchFamily="34" charset="0"/>
              <a:buChar char="•"/>
            </a:pPr>
            <a:r>
              <a:rPr lang="es-ES" sz="3200" dirty="0">
                <a:latin typeface="Atkinson Hyperlegible"/>
              </a:rPr>
              <a:t>Se asocia al movimiento eficiente del tráfico dentro de una LAN.</a:t>
            </a:r>
          </a:p>
        </p:txBody>
      </p:sp>
      <p:sp>
        <p:nvSpPr>
          <p:cNvPr id="4" name="5 Rectángulo">
            <a:extLst>
              <a:ext uri="{FF2B5EF4-FFF2-40B4-BE49-F238E27FC236}">
                <a16:creationId xmlns:a16="http://schemas.microsoft.com/office/drawing/2014/main" id="{90CE6A9D-B0B9-C675-42A1-0351B6FE588E}"/>
              </a:ext>
            </a:extLst>
          </p:cNvPr>
          <p:cNvSpPr/>
          <p:nvPr/>
        </p:nvSpPr>
        <p:spPr>
          <a:xfrm>
            <a:off x="10691049" y="2990619"/>
            <a:ext cx="8361542" cy="4031873"/>
          </a:xfrm>
          <a:prstGeom prst="rect">
            <a:avLst/>
          </a:prstGeom>
          <a:solidFill>
            <a:schemeClr val="accent2">
              <a:lumMod val="40000"/>
              <a:lumOff val="60000"/>
            </a:schemeClr>
          </a:solidFill>
          <a:effectLst/>
        </p:spPr>
        <p:txBody>
          <a:bodyPr wrap="square" lIns="91440" tIns="45720" rIns="91440" bIns="45720" anchor="t">
            <a:spAutoFit/>
          </a:bodyPr>
          <a:lstStyle/>
          <a:p>
            <a:r>
              <a:rPr lang="es-ES" sz="3200" b="1" dirty="0">
                <a:latin typeface="Atkinson Hyperlegible"/>
              </a:rPr>
              <a:t>Enrutamiento</a:t>
            </a:r>
          </a:p>
          <a:p>
            <a:pPr marL="457200" indent="-457200">
              <a:buFont typeface="Arial" panose="020B0604020202020204" pitchFamily="34" charset="0"/>
              <a:buChar char="•"/>
            </a:pPr>
            <a:r>
              <a:rPr lang="es-ES" sz="3200" dirty="0">
                <a:latin typeface="Atkinson Hyperlegible"/>
              </a:rPr>
              <a:t>Permite comunicar </a:t>
            </a:r>
            <a:r>
              <a:rPr lang="es-ES" sz="3200" b="1" dirty="0">
                <a:latin typeface="Atkinson Hyperlegible"/>
              </a:rPr>
              <a:t>redes distintas</a:t>
            </a:r>
            <a:r>
              <a:rPr lang="es-ES" sz="3200" dirty="0">
                <a:latin typeface="Atkinson Hyperlegible"/>
              </a:rPr>
              <a:t>. </a:t>
            </a:r>
          </a:p>
          <a:p>
            <a:pPr marL="457200" indent="-457200">
              <a:buFont typeface="Arial" panose="020B0604020202020204" pitchFamily="34" charset="0"/>
              <a:buChar char="•"/>
            </a:pPr>
            <a:r>
              <a:rPr lang="es-ES" sz="3200" dirty="0">
                <a:latin typeface="Atkinson Hyperlegible"/>
              </a:rPr>
              <a:t>Decide el camino que seguirá un paquete IP hacia otra red. </a:t>
            </a:r>
          </a:p>
          <a:p>
            <a:pPr marL="457200" indent="-457200">
              <a:buFont typeface="Arial" panose="020B0604020202020204" pitchFamily="34" charset="0"/>
              <a:buChar char="•"/>
            </a:pPr>
            <a:r>
              <a:rPr lang="es-ES" sz="3200" dirty="0">
                <a:latin typeface="Atkinson Hyperlegible"/>
              </a:rPr>
              <a:t>Utiliza tablas de rutas y métricas. </a:t>
            </a:r>
          </a:p>
          <a:p>
            <a:pPr marL="457200" indent="-457200">
              <a:buFont typeface="Arial" panose="020B0604020202020204" pitchFamily="34" charset="0"/>
              <a:buChar char="•"/>
            </a:pPr>
            <a:r>
              <a:rPr lang="es-ES" sz="3200" dirty="0">
                <a:latin typeface="Atkinson Hyperlegible"/>
              </a:rPr>
              <a:t>Es común en </a:t>
            </a:r>
            <a:r>
              <a:rPr lang="es-ES" sz="3200" b="1" dirty="0" err="1">
                <a:latin typeface="Atkinson Hyperlegible"/>
              </a:rPr>
              <a:t>routers</a:t>
            </a:r>
            <a:r>
              <a:rPr lang="es-ES" sz="3200" dirty="0">
                <a:latin typeface="Atkinson Hyperlegible"/>
              </a:rPr>
              <a:t>. </a:t>
            </a:r>
          </a:p>
          <a:p>
            <a:pPr marL="457200" indent="-457200">
              <a:buFont typeface="Arial" panose="020B0604020202020204" pitchFamily="34" charset="0"/>
              <a:buChar char="•"/>
            </a:pPr>
            <a:r>
              <a:rPr lang="es-ES" sz="3200" dirty="0">
                <a:latin typeface="Atkinson Hyperlegible"/>
              </a:rPr>
              <a:t>Se asocia a la selección de caminos entre redes.</a:t>
            </a:r>
          </a:p>
        </p:txBody>
      </p:sp>
    </p:spTree>
    <p:extLst>
      <p:ext uri="{BB962C8B-B14F-4D97-AF65-F5344CB8AC3E}">
        <p14:creationId xmlns:p14="http://schemas.microsoft.com/office/powerpoint/2010/main" val="30178024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3F80856B-9FCD-B48B-4A99-898AD0524AA8}"/>
            </a:ext>
          </a:extLst>
        </p:cNvPr>
        <p:cNvGrpSpPr/>
        <p:nvPr/>
      </p:nvGrpSpPr>
      <p:grpSpPr>
        <a:xfrm>
          <a:off x="0" y="0"/>
          <a:ext cx="0" cy="0"/>
          <a:chOff x="0" y="0"/>
          <a:chExt cx="0" cy="0"/>
        </a:xfrm>
      </p:grpSpPr>
      <p:cxnSp>
        <p:nvCxnSpPr>
          <p:cNvPr id="9" name="Conector recto 8">
            <a:extLst>
              <a:ext uri="{FF2B5EF4-FFF2-40B4-BE49-F238E27FC236}">
                <a16:creationId xmlns:a16="http://schemas.microsoft.com/office/drawing/2014/main" id="{46D48603-4AC7-28E1-200B-70224E79E6CB}"/>
              </a:ext>
            </a:extLst>
          </p:cNvPr>
          <p:cNvCxnSpPr>
            <a:cxnSpLocks/>
          </p:cNvCxnSpPr>
          <p:nvPr/>
        </p:nvCxnSpPr>
        <p:spPr>
          <a:xfrm>
            <a:off x="679450" y="-136525"/>
            <a:ext cx="0" cy="1524000"/>
          </a:xfrm>
          <a:prstGeom prst="line">
            <a:avLst/>
          </a:prstGeom>
          <a:ln w="31750">
            <a:solidFill>
              <a:schemeClr val="tx1"/>
            </a:solidFill>
          </a:ln>
        </p:spPr>
        <p:style>
          <a:lnRef idx="1">
            <a:schemeClr val="dk1"/>
          </a:lnRef>
          <a:fillRef idx="0">
            <a:schemeClr val="dk1"/>
          </a:fillRef>
          <a:effectRef idx="0">
            <a:schemeClr val="dk1"/>
          </a:effectRef>
          <a:fontRef idx="minor">
            <a:schemeClr val="tx1"/>
          </a:fontRef>
        </p:style>
      </p:cxnSp>
      <p:sp>
        <p:nvSpPr>
          <p:cNvPr id="14" name="object 3">
            <a:extLst>
              <a:ext uri="{FF2B5EF4-FFF2-40B4-BE49-F238E27FC236}">
                <a16:creationId xmlns:a16="http://schemas.microsoft.com/office/drawing/2014/main" id="{D080DB26-3F18-A4F8-4557-12AD30C25CEC}"/>
              </a:ext>
            </a:extLst>
          </p:cNvPr>
          <p:cNvSpPr txBox="1"/>
          <p:nvPr/>
        </p:nvSpPr>
        <p:spPr>
          <a:xfrm>
            <a:off x="1382157" y="-44605"/>
            <a:ext cx="18277439" cy="1030410"/>
          </a:xfrm>
          <a:prstGeom prst="rect">
            <a:avLst/>
          </a:prstGeom>
          <a:noFill/>
        </p:spPr>
        <p:txBody>
          <a:bodyPr vert="horz" wrap="square" lIns="0" tIns="349885" rIns="0" bIns="0" rtlCol="0">
            <a:spAutoFit/>
          </a:bodyPr>
          <a:lstStyle/>
          <a:p>
            <a:r>
              <a:rPr lang="es-CL" sz="4400" b="1" noProof="0" dirty="0">
                <a:latin typeface="Atkinson Hyperlegible" pitchFamily="2" charset="77"/>
              </a:rPr>
              <a:t>ARQUITECTURAS DE REDES DE CONMUTACIÓN DE PAQUETES IP</a:t>
            </a:r>
            <a:endParaRPr lang="es-CL" sz="2800" b="1" kern="100" noProof="0" dirty="0">
              <a:effectLst/>
              <a:latin typeface="Atkinson Hyperlegible" pitchFamily="2" charset="77"/>
              <a:ea typeface="Calibri" panose="020F0502020204030204" pitchFamily="34" charset="0"/>
              <a:cs typeface="Gotham" pitchFamily="2" charset="0"/>
            </a:endParaRPr>
          </a:p>
        </p:txBody>
      </p:sp>
      <p:pic>
        <p:nvPicPr>
          <p:cNvPr id="3" name="Imagen 2">
            <a:extLst>
              <a:ext uri="{FF2B5EF4-FFF2-40B4-BE49-F238E27FC236}">
                <a16:creationId xmlns:a16="http://schemas.microsoft.com/office/drawing/2014/main" id="{281338DB-935E-5ED3-09A1-0F08D735EF30}"/>
              </a:ext>
            </a:extLst>
          </p:cNvPr>
          <p:cNvPicPr>
            <a:picLocks noChangeAspect="1"/>
          </p:cNvPicPr>
          <p:nvPr/>
        </p:nvPicPr>
        <p:blipFill>
          <a:blip r:embed="rId4"/>
          <a:stretch>
            <a:fillRect/>
          </a:stretch>
        </p:blipFill>
        <p:spPr>
          <a:xfrm>
            <a:off x="444504" y="985805"/>
            <a:ext cx="18908946" cy="9753600"/>
          </a:xfrm>
          <a:prstGeom prst="rect">
            <a:avLst/>
          </a:prstGeom>
        </p:spPr>
      </p:pic>
    </p:spTree>
    <p:extLst>
      <p:ext uri="{BB962C8B-B14F-4D97-AF65-F5344CB8AC3E}">
        <p14:creationId xmlns:p14="http://schemas.microsoft.com/office/powerpoint/2010/main" val="37580784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5AB812BE-F1F9-70F4-6956-15B5EFAA5402}"/>
            </a:ext>
          </a:extLst>
        </p:cNvPr>
        <p:cNvGrpSpPr/>
        <p:nvPr/>
      </p:nvGrpSpPr>
      <p:grpSpPr>
        <a:xfrm>
          <a:off x="0" y="0"/>
          <a:ext cx="0" cy="0"/>
          <a:chOff x="0" y="0"/>
          <a:chExt cx="0" cy="0"/>
        </a:xfrm>
      </p:grpSpPr>
      <p:cxnSp>
        <p:nvCxnSpPr>
          <p:cNvPr id="9" name="Conector recto 8">
            <a:extLst>
              <a:ext uri="{FF2B5EF4-FFF2-40B4-BE49-F238E27FC236}">
                <a16:creationId xmlns:a16="http://schemas.microsoft.com/office/drawing/2014/main" id="{D0A9F3BB-CCDE-81BF-5B97-8C201CC9560A}"/>
              </a:ext>
            </a:extLst>
          </p:cNvPr>
          <p:cNvCxnSpPr>
            <a:cxnSpLocks/>
          </p:cNvCxnSpPr>
          <p:nvPr/>
        </p:nvCxnSpPr>
        <p:spPr>
          <a:xfrm>
            <a:off x="679450" y="-136525"/>
            <a:ext cx="0" cy="1524000"/>
          </a:xfrm>
          <a:prstGeom prst="line">
            <a:avLst/>
          </a:prstGeom>
          <a:ln w="31750">
            <a:solidFill>
              <a:schemeClr val="tx1"/>
            </a:solidFill>
          </a:ln>
        </p:spPr>
        <p:style>
          <a:lnRef idx="1">
            <a:schemeClr val="dk1"/>
          </a:lnRef>
          <a:fillRef idx="0">
            <a:schemeClr val="dk1"/>
          </a:fillRef>
          <a:effectRef idx="0">
            <a:schemeClr val="dk1"/>
          </a:effectRef>
          <a:fontRef idx="minor">
            <a:schemeClr val="tx1"/>
          </a:fontRef>
        </p:style>
      </p:cxnSp>
      <p:sp>
        <p:nvSpPr>
          <p:cNvPr id="14" name="object 3">
            <a:extLst>
              <a:ext uri="{FF2B5EF4-FFF2-40B4-BE49-F238E27FC236}">
                <a16:creationId xmlns:a16="http://schemas.microsoft.com/office/drawing/2014/main" id="{0A14D22B-8E32-6D39-0ACD-CDD52ADFF627}"/>
              </a:ext>
            </a:extLst>
          </p:cNvPr>
          <p:cNvSpPr txBox="1"/>
          <p:nvPr/>
        </p:nvSpPr>
        <p:spPr>
          <a:xfrm>
            <a:off x="1382157" y="-44605"/>
            <a:ext cx="18277439" cy="1030410"/>
          </a:xfrm>
          <a:prstGeom prst="rect">
            <a:avLst/>
          </a:prstGeom>
          <a:noFill/>
        </p:spPr>
        <p:txBody>
          <a:bodyPr vert="horz" wrap="square" lIns="0" tIns="349885" rIns="0" bIns="0" rtlCol="0">
            <a:spAutoFit/>
          </a:bodyPr>
          <a:lstStyle/>
          <a:p>
            <a:r>
              <a:rPr lang="es-CL" sz="4400" b="1" noProof="0" dirty="0">
                <a:latin typeface="Atkinson Hyperlegible" pitchFamily="2" charset="77"/>
              </a:rPr>
              <a:t>ARQUITECTURAS DE REDES DE CONMUTACIÓN DE PAQUETES IP</a:t>
            </a:r>
            <a:endParaRPr lang="es-CL" sz="2800" b="1" kern="100" noProof="0" dirty="0">
              <a:effectLst/>
              <a:latin typeface="Atkinson Hyperlegible" pitchFamily="2" charset="77"/>
              <a:ea typeface="Calibri" panose="020F0502020204030204" pitchFamily="34" charset="0"/>
              <a:cs typeface="Gotham" pitchFamily="2" charset="0"/>
            </a:endParaRPr>
          </a:p>
        </p:txBody>
      </p:sp>
      <p:sp>
        <p:nvSpPr>
          <p:cNvPr id="7" name="CuadroTexto 6">
            <a:extLst>
              <a:ext uri="{FF2B5EF4-FFF2-40B4-BE49-F238E27FC236}">
                <a16:creationId xmlns:a16="http://schemas.microsoft.com/office/drawing/2014/main" id="{6FC1998F-4C8C-F3EF-F503-521CB45D7FF9}"/>
              </a:ext>
            </a:extLst>
          </p:cNvPr>
          <p:cNvSpPr txBox="1"/>
          <p:nvPr/>
        </p:nvSpPr>
        <p:spPr>
          <a:xfrm>
            <a:off x="1382157" y="898721"/>
            <a:ext cx="17055745" cy="707886"/>
          </a:xfrm>
          <a:prstGeom prst="rect">
            <a:avLst/>
          </a:prstGeom>
          <a:noFill/>
        </p:spPr>
        <p:txBody>
          <a:bodyPr wrap="square">
            <a:spAutoFit/>
          </a:bodyPr>
          <a:lstStyle/>
          <a:p>
            <a:r>
              <a:rPr lang="es-ES" sz="4000" dirty="0">
                <a:latin typeface="Atkinson Hyperlegible"/>
              </a:rPr>
              <a:t>Arquitectura tradicional distribuida en redes IP</a:t>
            </a:r>
            <a:endParaRPr lang="es-CL" sz="4000" noProof="0" dirty="0">
              <a:latin typeface="Atkinson Hyperlegible"/>
            </a:endParaRPr>
          </a:p>
        </p:txBody>
      </p:sp>
      <p:sp>
        <p:nvSpPr>
          <p:cNvPr id="10" name="CuadroTexto 9">
            <a:extLst>
              <a:ext uri="{FF2B5EF4-FFF2-40B4-BE49-F238E27FC236}">
                <a16:creationId xmlns:a16="http://schemas.microsoft.com/office/drawing/2014/main" id="{52618EDB-2386-5EB2-2CB7-37A63750F293}"/>
              </a:ext>
            </a:extLst>
          </p:cNvPr>
          <p:cNvSpPr txBox="1"/>
          <p:nvPr/>
        </p:nvSpPr>
        <p:spPr>
          <a:xfrm>
            <a:off x="514559" y="9210300"/>
            <a:ext cx="8849542" cy="1200329"/>
          </a:xfrm>
          <a:prstGeom prst="rect">
            <a:avLst/>
          </a:prstGeom>
          <a:noFill/>
        </p:spPr>
        <p:txBody>
          <a:bodyPr wrap="square">
            <a:spAutoFit/>
          </a:bodyPr>
          <a:lstStyle/>
          <a:p>
            <a:r>
              <a:rPr lang="es-CL" sz="2400" noProof="0" dirty="0">
                <a:latin typeface="Atkinson Hyperlegible"/>
              </a:rPr>
              <a:t>⚠️ </a:t>
            </a:r>
            <a:r>
              <a:rPr lang="es-CL" sz="2400" b="1" noProof="0" dirty="0">
                <a:latin typeface="Atkinson Hyperlegible"/>
              </a:rPr>
              <a:t>Nota al margen:</a:t>
            </a:r>
          </a:p>
          <a:p>
            <a:r>
              <a:rPr lang="es-ES" sz="2400" b="1" dirty="0">
                <a:latin typeface="Atkinson Hyperlegible"/>
              </a:rPr>
              <a:t>Las redes tradicionales funcionan con inteligencia distribuida; </a:t>
            </a:r>
            <a:r>
              <a:rPr lang="es-ES" sz="2400" b="1" dirty="0" err="1">
                <a:latin typeface="Atkinson Hyperlegible"/>
              </a:rPr>
              <a:t>SDN</a:t>
            </a:r>
            <a:r>
              <a:rPr lang="es-ES" sz="2400" b="1" dirty="0">
                <a:latin typeface="Atkinson Hyperlegible"/>
              </a:rPr>
              <a:t> surge para mejorar control, automatización y visibilidad.</a:t>
            </a:r>
            <a:endParaRPr lang="es-CL" sz="2400" b="1" noProof="0" dirty="0">
              <a:latin typeface="Atkinson Hyperlegible"/>
            </a:endParaRPr>
          </a:p>
        </p:txBody>
      </p:sp>
      <p:sp>
        <p:nvSpPr>
          <p:cNvPr id="17" name="5 Rectángulo">
            <a:extLst>
              <a:ext uri="{FF2B5EF4-FFF2-40B4-BE49-F238E27FC236}">
                <a16:creationId xmlns:a16="http://schemas.microsoft.com/office/drawing/2014/main" id="{912B5B62-DE37-F7D4-E4F9-684A8802CEDC}"/>
              </a:ext>
            </a:extLst>
          </p:cNvPr>
          <p:cNvSpPr/>
          <p:nvPr/>
        </p:nvSpPr>
        <p:spPr>
          <a:xfrm>
            <a:off x="1061209" y="1760004"/>
            <a:ext cx="18598386" cy="1077218"/>
          </a:xfrm>
          <a:prstGeom prst="rect">
            <a:avLst/>
          </a:prstGeom>
          <a:noFill/>
          <a:effectLst/>
        </p:spPr>
        <p:txBody>
          <a:bodyPr wrap="square" lIns="91440" tIns="45720" rIns="91440" bIns="45720" anchor="t">
            <a:spAutoFit/>
          </a:bodyPr>
          <a:lstStyle/>
          <a:p>
            <a:pPr algn="ctr"/>
            <a:r>
              <a:rPr lang="es-ES" sz="3200" dirty="0">
                <a:latin typeface="Atkinson Hyperlegible"/>
              </a:rPr>
              <a:t>En una red IP tradicional, cada dispositivo de red toma decisiones de forma </a:t>
            </a:r>
            <a:r>
              <a:rPr lang="es-ES" sz="3200" b="1" dirty="0">
                <a:latin typeface="Atkinson Hyperlegible"/>
              </a:rPr>
              <a:t>local</a:t>
            </a:r>
            <a:r>
              <a:rPr lang="es-ES" sz="3200" dirty="0">
                <a:latin typeface="Atkinson Hyperlegible"/>
              </a:rPr>
              <a:t>, utilizando su propia tabla de conmutación o enrutamiento.</a:t>
            </a:r>
            <a:endParaRPr lang="es-CL" sz="3200" b="1" i="1" noProof="0" dirty="0">
              <a:latin typeface="Atkinson Hyperlegible"/>
            </a:endParaRPr>
          </a:p>
        </p:txBody>
      </p:sp>
      <p:sp>
        <p:nvSpPr>
          <p:cNvPr id="2" name="5 Rectángulo">
            <a:extLst>
              <a:ext uri="{FF2B5EF4-FFF2-40B4-BE49-F238E27FC236}">
                <a16:creationId xmlns:a16="http://schemas.microsoft.com/office/drawing/2014/main" id="{19D5583C-6C4E-9901-161E-A09A42E13633}"/>
              </a:ext>
            </a:extLst>
          </p:cNvPr>
          <p:cNvSpPr/>
          <p:nvPr/>
        </p:nvSpPr>
        <p:spPr>
          <a:xfrm>
            <a:off x="679450" y="3002880"/>
            <a:ext cx="9903605" cy="6001643"/>
          </a:xfrm>
          <a:prstGeom prst="rect">
            <a:avLst/>
          </a:prstGeom>
          <a:solidFill>
            <a:schemeClr val="accent1">
              <a:lumMod val="40000"/>
              <a:lumOff val="60000"/>
            </a:schemeClr>
          </a:solidFill>
          <a:effectLst/>
        </p:spPr>
        <p:txBody>
          <a:bodyPr wrap="square" lIns="91440" tIns="45720" rIns="91440" bIns="45720" anchor="t">
            <a:spAutoFit/>
          </a:bodyPr>
          <a:lstStyle/>
          <a:p>
            <a:r>
              <a:rPr lang="es-ES" sz="3200" b="1" dirty="0">
                <a:latin typeface="Atkinson Hyperlegible"/>
              </a:rPr>
              <a:t>Características principales</a:t>
            </a:r>
          </a:p>
          <a:p>
            <a:pPr marL="457200" indent="-457200">
              <a:buFont typeface="Arial" panose="020B0604020202020204" pitchFamily="34" charset="0"/>
              <a:buChar char="•"/>
            </a:pPr>
            <a:r>
              <a:rPr lang="es-ES" sz="3200" dirty="0">
                <a:latin typeface="Atkinson Hyperlegible"/>
              </a:rPr>
              <a:t>Cada </a:t>
            </a:r>
            <a:r>
              <a:rPr lang="es-ES" sz="3200" dirty="0" err="1">
                <a:latin typeface="Atkinson Hyperlegible"/>
              </a:rPr>
              <a:t>router</a:t>
            </a:r>
            <a:r>
              <a:rPr lang="es-ES" sz="3200" dirty="0">
                <a:latin typeface="Atkinson Hyperlegible"/>
              </a:rPr>
              <a:t> o switch mantiene su propia información de estado. </a:t>
            </a:r>
          </a:p>
          <a:p>
            <a:pPr marL="457200" indent="-457200">
              <a:buFont typeface="Arial" panose="020B0604020202020204" pitchFamily="34" charset="0"/>
              <a:buChar char="•"/>
            </a:pPr>
            <a:r>
              <a:rPr lang="es-ES" sz="3200" dirty="0">
                <a:latin typeface="Atkinson Hyperlegible"/>
              </a:rPr>
              <a:t>Las decisiones de reenvío se toman dentro de cada equipo. </a:t>
            </a:r>
          </a:p>
          <a:p>
            <a:pPr marL="457200" indent="-457200">
              <a:buFont typeface="Arial" panose="020B0604020202020204" pitchFamily="34" charset="0"/>
              <a:buChar char="•"/>
            </a:pPr>
            <a:r>
              <a:rPr lang="es-ES" sz="3200" dirty="0">
                <a:latin typeface="Atkinson Hyperlegible"/>
              </a:rPr>
              <a:t>La configuración suele realizarse equipo por equipo. </a:t>
            </a:r>
          </a:p>
          <a:p>
            <a:pPr marL="457200" indent="-457200">
              <a:buFont typeface="Arial" panose="020B0604020202020204" pitchFamily="34" charset="0"/>
              <a:buChar char="•"/>
            </a:pPr>
            <a:r>
              <a:rPr lang="es-ES" sz="3200" dirty="0">
                <a:latin typeface="Atkinson Hyperlegible"/>
              </a:rPr>
              <a:t>Los protocolos de red permiten intercambiar información entre nodos. </a:t>
            </a:r>
          </a:p>
          <a:p>
            <a:pPr marL="457200" indent="-457200">
              <a:buFont typeface="Arial" panose="020B0604020202020204" pitchFamily="34" charset="0"/>
              <a:buChar char="•"/>
            </a:pPr>
            <a:r>
              <a:rPr lang="es-ES" sz="3200" dirty="0">
                <a:latin typeface="Atkinson Hyperlegible"/>
              </a:rPr>
              <a:t>La inteligencia de la red está distribuida en múltiples dispositivos. </a:t>
            </a:r>
          </a:p>
          <a:p>
            <a:pPr marL="457200" indent="-457200">
              <a:buFont typeface="Arial" panose="020B0604020202020204" pitchFamily="34" charset="0"/>
              <a:buChar char="•"/>
            </a:pPr>
            <a:r>
              <a:rPr lang="es-ES" sz="3200" dirty="0">
                <a:latin typeface="Atkinson Hyperlegible"/>
              </a:rPr>
              <a:t>Esto permite autonomía, pero dificulta la gestión centralizada.</a:t>
            </a:r>
          </a:p>
        </p:txBody>
      </p:sp>
      <p:sp>
        <p:nvSpPr>
          <p:cNvPr id="4" name="5 Rectángulo">
            <a:extLst>
              <a:ext uri="{FF2B5EF4-FFF2-40B4-BE49-F238E27FC236}">
                <a16:creationId xmlns:a16="http://schemas.microsoft.com/office/drawing/2014/main" id="{D78E3840-F9EB-467E-ACF9-4C3C2A4BFECA}"/>
              </a:ext>
            </a:extLst>
          </p:cNvPr>
          <p:cNvSpPr/>
          <p:nvPr/>
        </p:nvSpPr>
        <p:spPr>
          <a:xfrm>
            <a:off x="10691049" y="2990619"/>
            <a:ext cx="8361542" cy="2554545"/>
          </a:xfrm>
          <a:prstGeom prst="rect">
            <a:avLst/>
          </a:prstGeom>
          <a:solidFill>
            <a:schemeClr val="accent6">
              <a:lumMod val="20000"/>
              <a:lumOff val="80000"/>
            </a:schemeClr>
          </a:solidFill>
          <a:effectLst/>
        </p:spPr>
        <p:txBody>
          <a:bodyPr wrap="square" lIns="91440" tIns="45720" rIns="91440" bIns="45720" anchor="t">
            <a:spAutoFit/>
          </a:bodyPr>
          <a:lstStyle/>
          <a:p>
            <a:r>
              <a:rPr lang="es-ES" sz="3200" b="1" dirty="0">
                <a:latin typeface="Atkinson Hyperlegible"/>
              </a:rPr>
              <a:t>Ventajas</a:t>
            </a:r>
          </a:p>
          <a:p>
            <a:pPr marL="457200" indent="-457200">
              <a:buFont typeface="Arial" panose="020B0604020202020204" pitchFamily="34" charset="0"/>
              <a:buChar char="•"/>
            </a:pPr>
            <a:r>
              <a:rPr lang="es-ES" sz="3200" dirty="0">
                <a:latin typeface="Atkinson Hyperlegible"/>
              </a:rPr>
              <a:t>Alta autonomía de los equipos. </a:t>
            </a:r>
          </a:p>
          <a:p>
            <a:pPr marL="457200" indent="-457200">
              <a:buFont typeface="Arial" panose="020B0604020202020204" pitchFamily="34" charset="0"/>
              <a:buChar char="•"/>
            </a:pPr>
            <a:r>
              <a:rPr lang="es-ES" sz="3200" dirty="0">
                <a:latin typeface="Atkinson Hyperlegible"/>
              </a:rPr>
              <a:t>Funcionamiento distribuido. </a:t>
            </a:r>
          </a:p>
          <a:p>
            <a:pPr marL="457200" indent="-457200">
              <a:buFont typeface="Arial" panose="020B0604020202020204" pitchFamily="34" charset="0"/>
              <a:buChar char="•"/>
            </a:pPr>
            <a:r>
              <a:rPr lang="es-ES" sz="3200" dirty="0">
                <a:latin typeface="Atkinson Hyperlegible"/>
              </a:rPr>
              <a:t>Escalabilidad histórica de Internet. </a:t>
            </a:r>
          </a:p>
          <a:p>
            <a:pPr marL="457200" indent="-457200">
              <a:buFont typeface="Arial" panose="020B0604020202020204" pitchFamily="34" charset="0"/>
              <a:buChar char="•"/>
            </a:pPr>
            <a:r>
              <a:rPr lang="es-ES" sz="3200" dirty="0">
                <a:latin typeface="Atkinson Hyperlegible"/>
              </a:rPr>
              <a:t>No depende de un único controlador central.</a:t>
            </a:r>
          </a:p>
        </p:txBody>
      </p:sp>
      <p:sp>
        <p:nvSpPr>
          <p:cNvPr id="3" name="5 Rectángulo">
            <a:extLst>
              <a:ext uri="{FF2B5EF4-FFF2-40B4-BE49-F238E27FC236}">
                <a16:creationId xmlns:a16="http://schemas.microsoft.com/office/drawing/2014/main" id="{5D056622-994D-48BC-AB81-775DEFEE4501}"/>
              </a:ext>
            </a:extLst>
          </p:cNvPr>
          <p:cNvSpPr/>
          <p:nvPr/>
        </p:nvSpPr>
        <p:spPr>
          <a:xfrm>
            <a:off x="10691049" y="5764187"/>
            <a:ext cx="8361542" cy="4524315"/>
          </a:xfrm>
          <a:prstGeom prst="rect">
            <a:avLst/>
          </a:prstGeom>
          <a:solidFill>
            <a:schemeClr val="accent4">
              <a:lumMod val="40000"/>
              <a:lumOff val="60000"/>
            </a:schemeClr>
          </a:solidFill>
          <a:effectLst/>
        </p:spPr>
        <p:txBody>
          <a:bodyPr wrap="square" lIns="91440" tIns="45720" rIns="91440" bIns="45720" anchor="t">
            <a:spAutoFit/>
          </a:bodyPr>
          <a:lstStyle/>
          <a:p>
            <a:r>
              <a:rPr lang="es-ES" sz="3200" b="1" dirty="0">
                <a:latin typeface="Atkinson Hyperlegible"/>
              </a:rPr>
              <a:t>Limitaciones</a:t>
            </a:r>
          </a:p>
          <a:p>
            <a:pPr marL="457200" indent="-457200">
              <a:buFont typeface="Arial" panose="020B0604020202020204" pitchFamily="34" charset="0"/>
              <a:buChar char="•"/>
            </a:pPr>
            <a:r>
              <a:rPr lang="es-ES" sz="3200" dirty="0">
                <a:latin typeface="Atkinson Hyperlegible"/>
              </a:rPr>
              <a:t>Configuración manual más compleja. </a:t>
            </a:r>
          </a:p>
          <a:p>
            <a:pPr marL="457200" indent="-457200">
              <a:buFont typeface="Arial" panose="020B0604020202020204" pitchFamily="34" charset="0"/>
              <a:buChar char="•"/>
            </a:pPr>
            <a:r>
              <a:rPr lang="es-ES" sz="3200" dirty="0">
                <a:latin typeface="Atkinson Hyperlegible"/>
              </a:rPr>
              <a:t>Cambios lentos cuando existen muchos equipos. </a:t>
            </a:r>
          </a:p>
          <a:p>
            <a:pPr marL="457200" indent="-457200">
              <a:buFont typeface="Arial" panose="020B0604020202020204" pitchFamily="34" charset="0"/>
              <a:buChar char="•"/>
            </a:pPr>
            <a:r>
              <a:rPr lang="es-ES" sz="3200" dirty="0">
                <a:latin typeface="Atkinson Hyperlegible"/>
              </a:rPr>
              <a:t>Políticas difíciles de aplicar de forma uniforme. </a:t>
            </a:r>
          </a:p>
          <a:p>
            <a:pPr marL="457200" indent="-457200">
              <a:buFont typeface="Arial" panose="020B0604020202020204" pitchFamily="34" charset="0"/>
              <a:buChar char="•"/>
            </a:pPr>
            <a:r>
              <a:rPr lang="es-ES" sz="3200" dirty="0">
                <a:latin typeface="Atkinson Hyperlegible"/>
              </a:rPr>
              <a:t>Menor visibilidad centralizada. </a:t>
            </a:r>
          </a:p>
          <a:p>
            <a:pPr marL="457200" indent="-457200">
              <a:buFont typeface="Arial" panose="020B0604020202020204" pitchFamily="34" charset="0"/>
              <a:buChar char="•"/>
            </a:pPr>
            <a:r>
              <a:rPr lang="es-ES" sz="3200" dirty="0">
                <a:latin typeface="Atkinson Hyperlegible"/>
              </a:rPr>
              <a:t>Mayor posibilidad de errores de configuración.</a:t>
            </a:r>
          </a:p>
        </p:txBody>
      </p:sp>
    </p:spTree>
    <p:extLst>
      <p:ext uri="{BB962C8B-B14F-4D97-AF65-F5344CB8AC3E}">
        <p14:creationId xmlns:p14="http://schemas.microsoft.com/office/powerpoint/2010/main" val="28768827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5E1597EC-09C5-A732-4DF9-7E5A48571F02}"/>
            </a:ext>
          </a:extLst>
        </p:cNvPr>
        <p:cNvGrpSpPr/>
        <p:nvPr/>
      </p:nvGrpSpPr>
      <p:grpSpPr>
        <a:xfrm>
          <a:off x="0" y="0"/>
          <a:ext cx="0" cy="0"/>
          <a:chOff x="0" y="0"/>
          <a:chExt cx="0" cy="0"/>
        </a:xfrm>
      </p:grpSpPr>
      <p:cxnSp>
        <p:nvCxnSpPr>
          <p:cNvPr id="9" name="Conector recto 8">
            <a:extLst>
              <a:ext uri="{FF2B5EF4-FFF2-40B4-BE49-F238E27FC236}">
                <a16:creationId xmlns:a16="http://schemas.microsoft.com/office/drawing/2014/main" id="{15F20E30-CC15-16F5-B81D-7ED58B43E1D6}"/>
              </a:ext>
            </a:extLst>
          </p:cNvPr>
          <p:cNvCxnSpPr>
            <a:cxnSpLocks/>
          </p:cNvCxnSpPr>
          <p:nvPr/>
        </p:nvCxnSpPr>
        <p:spPr>
          <a:xfrm>
            <a:off x="679450" y="-136525"/>
            <a:ext cx="0" cy="1524000"/>
          </a:xfrm>
          <a:prstGeom prst="line">
            <a:avLst/>
          </a:prstGeom>
          <a:ln w="31750">
            <a:solidFill>
              <a:schemeClr val="tx1"/>
            </a:solidFill>
          </a:ln>
        </p:spPr>
        <p:style>
          <a:lnRef idx="1">
            <a:schemeClr val="dk1"/>
          </a:lnRef>
          <a:fillRef idx="0">
            <a:schemeClr val="dk1"/>
          </a:fillRef>
          <a:effectRef idx="0">
            <a:schemeClr val="dk1"/>
          </a:effectRef>
          <a:fontRef idx="minor">
            <a:schemeClr val="tx1"/>
          </a:fontRef>
        </p:style>
      </p:cxnSp>
      <p:sp>
        <p:nvSpPr>
          <p:cNvPr id="14" name="object 3">
            <a:extLst>
              <a:ext uri="{FF2B5EF4-FFF2-40B4-BE49-F238E27FC236}">
                <a16:creationId xmlns:a16="http://schemas.microsoft.com/office/drawing/2014/main" id="{3FB24F3D-DCB7-1A8D-D4F7-8FF47389DED4}"/>
              </a:ext>
            </a:extLst>
          </p:cNvPr>
          <p:cNvSpPr txBox="1"/>
          <p:nvPr/>
        </p:nvSpPr>
        <p:spPr>
          <a:xfrm>
            <a:off x="1382157" y="-44605"/>
            <a:ext cx="18277439" cy="1030410"/>
          </a:xfrm>
          <a:prstGeom prst="rect">
            <a:avLst/>
          </a:prstGeom>
          <a:noFill/>
        </p:spPr>
        <p:txBody>
          <a:bodyPr vert="horz" wrap="square" lIns="0" tIns="349885" rIns="0" bIns="0" rtlCol="0">
            <a:spAutoFit/>
          </a:bodyPr>
          <a:lstStyle/>
          <a:p>
            <a:r>
              <a:rPr lang="es-CL" sz="4400" b="1" noProof="0" dirty="0">
                <a:latin typeface="Atkinson Hyperlegible" pitchFamily="2" charset="77"/>
              </a:rPr>
              <a:t>ARQUITECTURAS DE REDES DE CONMUTACIÓN DE PAQUETES IP</a:t>
            </a:r>
            <a:endParaRPr lang="es-CL" sz="2800" b="1" kern="100" noProof="0" dirty="0">
              <a:effectLst/>
              <a:latin typeface="Atkinson Hyperlegible" pitchFamily="2" charset="77"/>
              <a:ea typeface="Calibri" panose="020F0502020204030204" pitchFamily="34" charset="0"/>
              <a:cs typeface="Gotham" pitchFamily="2" charset="0"/>
            </a:endParaRPr>
          </a:p>
        </p:txBody>
      </p:sp>
      <p:sp>
        <p:nvSpPr>
          <p:cNvPr id="7" name="CuadroTexto 6">
            <a:extLst>
              <a:ext uri="{FF2B5EF4-FFF2-40B4-BE49-F238E27FC236}">
                <a16:creationId xmlns:a16="http://schemas.microsoft.com/office/drawing/2014/main" id="{5FE1EE9F-A66B-C8F6-A31E-416EE1EEF6CF}"/>
              </a:ext>
            </a:extLst>
          </p:cNvPr>
          <p:cNvSpPr txBox="1"/>
          <p:nvPr/>
        </p:nvSpPr>
        <p:spPr>
          <a:xfrm>
            <a:off x="1382157" y="898721"/>
            <a:ext cx="17055745" cy="707886"/>
          </a:xfrm>
          <a:prstGeom prst="rect">
            <a:avLst/>
          </a:prstGeom>
          <a:noFill/>
        </p:spPr>
        <p:txBody>
          <a:bodyPr wrap="square">
            <a:spAutoFit/>
          </a:bodyPr>
          <a:lstStyle/>
          <a:p>
            <a:r>
              <a:rPr lang="es-ES" sz="4000" dirty="0">
                <a:latin typeface="Atkinson Hyperlegible"/>
              </a:rPr>
              <a:t>Actividad formativa: mapa de red IP</a:t>
            </a:r>
            <a:endParaRPr lang="es-CL" sz="4000" noProof="0" dirty="0">
              <a:latin typeface="Atkinson Hyperlegible"/>
            </a:endParaRPr>
          </a:p>
        </p:txBody>
      </p:sp>
      <p:sp>
        <p:nvSpPr>
          <p:cNvPr id="2" name="5 Rectángulo">
            <a:extLst>
              <a:ext uri="{FF2B5EF4-FFF2-40B4-BE49-F238E27FC236}">
                <a16:creationId xmlns:a16="http://schemas.microsoft.com/office/drawing/2014/main" id="{8484E6E4-9FC4-0306-A1A2-D189CFE735D6}"/>
              </a:ext>
            </a:extLst>
          </p:cNvPr>
          <p:cNvSpPr/>
          <p:nvPr/>
        </p:nvSpPr>
        <p:spPr>
          <a:xfrm>
            <a:off x="2136420" y="1966779"/>
            <a:ext cx="15547218" cy="3539430"/>
          </a:xfrm>
          <a:prstGeom prst="rect">
            <a:avLst/>
          </a:prstGeom>
          <a:solidFill>
            <a:schemeClr val="accent1">
              <a:lumMod val="40000"/>
              <a:lumOff val="60000"/>
            </a:schemeClr>
          </a:solidFill>
          <a:effectLst/>
        </p:spPr>
        <p:txBody>
          <a:bodyPr wrap="square" lIns="91440" tIns="45720" rIns="91440" bIns="45720" anchor="t">
            <a:spAutoFit/>
          </a:bodyPr>
          <a:lstStyle/>
          <a:p>
            <a:r>
              <a:rPr lang="es-ES" sz="3200" b="1" dirty="0">
                <a:latin typeface="Atkinson Hyperlegible"/>
              </a:rPr>
              <a:t>Instrucciones</a:t>
            </a:r>
          </a:p>
          <a:p>
            <a:pPr marL="514350" indent="-514350">
              <a:buFont typeface="+mj-lt"/>
              <a:buAutoNum type="arabicPeriod"/>
            </a:pPr>
            <a:r>
              <a:rPr lang="es-ES" sz="3200" dirty="0">
                <a:latin typeface="Atkinson Hyperlegible"/>
              </a:rPr>
              <a:t>En parejas o grupos pequeños, diseñen un esquema simple de red IP y respondan:</a:t>
            </a:r>
          </a:p>
          <a:p>
            <a:pPr marL="514350" indent="-514350">
              <a:buFont typeface="+mj-lt"/>
              <a:buAutoNum type="arabicPeriod"/>
            </a:pPr>
            <a:r>
              <a:rPr lang="es-ES" sz="3200" dirty="0">
                <a:latin typeface="Atkinson Hyperlegible"/>
              </a:rPr>
              <a:t>Identifique los </a:t>
            </a:r>
            <a:r>
              <a:rPr lang="es-ES" sz="3200" b="1" dirty="0">
                <a:latin typeface="Atkinson Hyperlegible"/>
              </a:rPr>
              <a:t>nodos</a:t>
            </a:r>
            <a:r>
              <a:rPr lang="es-ES" sz="3200" dirty="0">
                <a:latin typeface="Atkinson Hyperlegible"/>
              </a:rPr>
              <a:t> de la red. </a:t>
            </a:r>
          </a:p>
          <a:p>
            <a:pPr marL="514350" indent="-514350">
              <a:buFont typeface="+mj-lt"/>
              <a:buAutoNum type="arabicPeriod"/>
            </a:pPr>
            <a:r>
              <a:rPr lang="es-ES" sz="3200" dirty="0">
                <a:latin typeface="Atkinson Hyperlegible"/>
              </a:rPr>
              <a:t>Identifique los </a:t>
            </a:r>
            <a:r>
              <a:rPr lang="es-ES" sz="3200" b="1" dirty="0">
                <a:latin typeface="Atkinson Hyperlegible"/>
              </a:rPr>
              <a:t>enlaces</a:t>
            </a:r>
            <a:r>
              <a:rPr lang="es-ES" sz="3200" dirty="0">
                <a:latin typeface="Atkinson Hyperlegible"/>
              </a:rPr>
              <a:t> entre nodos. </a:t>
            </a:r>
          </a:p>
          <a:p>
            <a:pPr marL="514350" indent="-514350">
              <a:buFont typeface="+mj-lt"/>
              <a:buAutoNum type="arabicPeriod"/>
            </a:pPr>
            <a:r>
              <a:rPr lang="es-ES" sz="3200" dirty="0">
                <a:latin typeface="Atkinson Hyperlegible"/>
              </a:rPr>
              <a:t>Dibuje el recorrido de un </a:t>
            </a:r>
            <a:r>
              <a:rPr lang="es-ES" sz="3200" b="1" dirty="0">
                <a:latin typeface="Atkinson Hyperlegible"/>
              </a:rPr>
              <a:t>paquete IP</a:t>
            </a:r>
            <a:r>
              <a:rPr lang="es-ES" sz="3200" dirty="0">
                <a:latin typeface="Atkinson Hyperlegible"/>
              </a:rPr>
              <a:t> desde origen a destino. </a:t>
            </a:r>
          </a:p>
          <a:p>
            <a:pPr marL="514350" indent="-514350">
              <a:buFont typeface="+mj-lt"/>
              <a:buAutoNum type="arabicPeriod"/>
            </a:pPr>
            <a:r>
              <a:rPr lang="es-ES" sz="3200" dirty="0">
                <a:latin typeface="Atkinson Hyperlegible"/>
              </a:rPr>
              <a:t>Proponga una </a:t>
            </a:r>
            <a:r>
              <a:rPr lang="es-ES" sz="3200" b="1" dirty="0">
                <a:latin typeface="Atkinson Hyperlegible"/>
              </a:rPr>
              <a:t>ruta alternativa</a:t>
            </a:r>
            <a:r>
              <a:rPr lang="es-ES" sz="3200" dirty="0">
                <a:latin typeface="Atkinson Hyperlegible"/>
              </a:rPr>
              <a:t> si falla un enlace. </a:t>
            </a:r>
          </a:p>
          <a:p>
            <a:pPr marL="514350" indent="-514350">
              <a:buFont typeface="+mj-lt"/>
              <a:buAutoNum type="arabicPeriod"/>
            </a:pPr>
            <a:r>
              <a:rPr lang="es-ES" sz="3200" dirty="0">
                <a:latin typeface="Atkinson Hyperlegible"/>
              </a:rPr>
              <a:t>Indique qué equipo cumple función de </a:t>
            </a:r>
            <a:r>
              <a:rPr lang="es-ES" sz="3200" b="1" dirty="0">
                <a:latin typeface="Atkinson Hyperlegible"/>
              </a:rPr>
              <a:t>conmutación</a:t>
            </a:r>
            <a:r>
              <a:rPr lang="es-ES" sz="3200" dirty="0">
                <a:latin typeface="Atkinson Hyperlegible"/>
              </a:rPr>
              <a:t> y cuál de </a:t>
            </a:r>
            <a:r>
              <a:rPr lang="es-ES" sz="3200" b="1" dirty="0">
                <a:latin typeface="Atkinson Hyperlegible"/>
              </a:rPr>
              <a:t>enrutamiento</a:t>
            </a:r>
            <a:r>
              <a:rPr lang="es-ES" sz="3200" dirty="0">
                <a:latin typeface="Atkinson Hyperlegible"/>
              </a:rPr>
              <a:t>.</a:t>
            </a:r>
          </a:p>
        </p:txBody>
      </p:sp>
      <p:sp>
        <p:nvSpPr>
          <p:cNvPr id="3" name="5 Rectángulo">
            <a:extLst>
              <a:ext uri="{FF2B5EF4-FFF2-40B4-BE49-F238E27FC236}">
                <a16:creationId xmlns:a16="http://schemas.microsoft.com/office/drawing/2014/main" id="{C5E9BA05-2A39-45AF-B91A-21CCBECD57BA}"/>
              </a:ext>
            </a:extLst>
          </p:cNvPr>
          <p:cNvSpPr/>
          <p:nvPr/>
        </p:nvSpPr>
        <p:spPr>
          <a:xfrm>
            <a:off x="3627417" y="5866381"/>
            <a:ext cx="12849266" cy="3539430"/>
          </a:xfrm>
          <a:prstGeom prst="rect">
            <a:avLst/>
          </a:prstGeom>
          <a:solidFill>
            <a:schemeClr val="accent4">
              <a:lumMod val="40000"/>
              <a:lumOff val="60000"/>
            </a:schemeClr>
          </a:solidFill>
          <a:effectLst/>
        </p:spPr>
        <p:txBody>
          <a:bodyPr wrap="square" lIns="91440" tIns="45720" rIns="91440" bIns="45720" anchor="t">
            <a:spAutoFit/>
          </a:bodyPr>
          <a:lstStyle/>
          <a:p>
            <a:r>
              <a:rPr lang="es-ES" sz="3200" b="1" dirty="0">
                <a:latin typeface="Atkinson Hyperlegible"/>
              </a:rPr>
              <a:t>Escenario</a:t>
            </a:r>
          </a:p>
          <a:p>
            <a:pPr marL="457200" indent="-457200">
              <a:buFont typeface="Arial" panose="020B0604020202020204" pitchFamily="34" charset="0"/>
              <a:buChar char="•"/>
            </a:pPr>
            <a:r>
              <a:rPr lang="es-ES" sz="3200" dirty="0">
                <a:latin typeface="Atkinson Hyperlegible"/>
              </a:rPr>
              <a:t>Una oficina necesita conectar:</a:t>
            </a:r>
          </a:p>
          <a:p>
            <a:pPr marL="457200" indent="-457200">
              <a:buFont typeface="Arial" panose="020B0604020202020204" pitchFamily="34" charset="0"/>
              <a:buChar char="•"/>
            </a:pPr>
            <a:r>
              <a:rPr lang="es-ES" sz="3200" dirty="0">
                <a:latin typeface="Atkinson Hyperlegible"/>
              </a:rPr>
              <a:t>5 computadores de usuario. </a:t>
            </a:r>
          </a:p>
          <a:p>
            <a:pPr marL="457200" indent="-457200">
              <a:buFont typeface="Arial" panose="020B0604020202020204" pitchFamily="34" charset="0"/>
              <a:buChar char="•"/>
            </a:pPr>
            <a:r>
              <a:rPr lang="es-ES" sz="3200" dirty="0">
                <a:latin typeface="Atkinson Hyperlegible"/>
              </a:rPr>
              <a:t>4 switch de acceso. </a:t>
            </a:r>
          </a:p>
          <a:p>
            <a:pPr marL="457200" indent="-457200">
              <a:buFont typeface="Arial" panose="020B0604020202020204" pitchFamily="34" charset="0"/>
              <a:buChar char="•"/>
            </a:pPr>
            <a:r>
              <a:rPr lang="es-ES" sz="3200" dirty="0">
                <a:latin typeface="Atkinson Hyperlegible"/>
              </a:rPr>
              <a:t>2 </a:t>
            </a:r>
            <a:r>
              <a:rPr lang="es-ES" sz="3200" dirty="0" err="1">
                <a:latin typeface="Atkinson Hyperlegible"/>
              </a:rPr>
              <a:t>routers</a:t>
            </a:r>
            <a:r>
              <a:rPr lang="es-ES" sz="3200" dirty="0">
                <a:latin typeface="Atkinson Hyperlegible"/>
              </a:rPr>
              <a:t>. </a:t>
            </a:r>
          </a:p>
          <a:p>
            <a:pPr marL="457200" indent="-457200">
              <a:buFont typeface="Arial" panose="020B0604020202020204" pitchFamily="34" charset="0"/>
              <a:buChar char="•"/>
            </a:pPr>
            <a:r>
              <a:rPr lang="es-ES" sz="3200" dirty="0">
                <a:latin typeface="Atkinson Hyperlegible"/>
              </a:rPr>
              <a:t>1 servidor remoto. </a:t>
            </a:r>
          </a:p>
          <a:p>
            <a:pPr marL="457200" indent="-457200">
              <a:buFont typeface="Arial" panose="020B0604020202020204" pitchFamily="34" charset="0"/>
              <a:buChar char="•"/>
            </a:pPr>
            <a:r>
              <a:rPr lang="es-ES" sz="3200" dirty="0">
                <a:latin typeface="Atkinson Hyperlegible"/>
              </a:rPr>
              <a:t>El tráfico debe viajar desde un usuario hacia el servidor.</a:t>
            </a:r>
          </a:p>
        </p:txBody>
      </p:sp>
    </p:spTree>
    <p:extLst>
      <p:ext uri="{BB962C8B-B14F-4D97-AF65-F5344CB8AC3E}">
        <p14:creationId xmlns:p14="http://schemas.microsoft.com/office/powerpoint/2010/main" val="40273297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D6BAFEB7-89F0-FBAD-30AC-1E4EDA207B1E}"/>
            </a:ext>
          </a:extLst>
        </p:cNvPr>
        <p:cNvGrpSpPr/>
        <p:nvPr/>
      </p:nvGrpSpPr>
      <p:grpSpPr>
        <a:xfrm>
          <a:off x="0" y="0"/>
          <a:ext cx="0" cy="0"/>
          <a:chOff x="0" y="0"/>
          <a:chExt cx="0" cy="0"/>
        </a:xfrm>
      </p:grpSpPr>
      <p:cxnSp>
        <p:nvCxnSpPr>
          <p:cNvPr id="9" name="Conector recto 8">
            <a:extLst>
              <a:ext uri="{FF2B5EF4-FFF2-40B4-BE49-F238E27FC236}">
                <a16:creationId xmlns:a16="http://schemas.microsoft.com/office/drawing/2014/main" id="{5444509F-3565-03DC-FC4A-D60918282E34}"/>
              </a:ext>
            </a:extLst>
          </p:cNvPr>
          <p:cNvCxnSpPr>
            <a:cxnSpLocks/>
          </p:cNvCxnSpPr>
          <p:nvPr/>
        </p:nvCxnSpPr>
        <p:spPr>
          <a:xfrm>
            <a:off x="679450" y="-136525"/>
            <a:ext cx="0" cy="1524000"/>
          </a:xfrm>
          <a:prstGeom prst="line">
            <a:avLst/>
          </a:prstGeom>
          <a:ln w="31750">
            <a:solidFill>
              <a:schemeClr val="tx1"/>
            </a:solidFill>
          </a:ln>
        </p:spPr>
        <p:style>
          <a:lnRef idx="1">
            <a:schemeClr val="dk1"/>
          </a:lnRef>
          <a:fillRef idx="0">
            <a:schemeClr val="dk1"/>
          </a:fillRef>
          <a:effectRef idx="0">
            <a:schemeClr val="dk1"/>
          </a:effectRef>
          <a:fontRef idx="minor">
            <a:schemeClr val="tx1"/>
          </a:fontRef>
        </p:style>
      </p:cxnSp>
      <p:sp>
        <p:nvSpPr>
          <p:cNvPr id="14" name="object 3">
            <a:extLst>
              <a:ext uri="{FF2B5EF4-FFF2-40B4-BE49-F238E27FC236}">
                <a16:creationId xmlns:a16="http://schemas.microsoft.com/office/drawing/2014/main" id="{FFDF7436-5574-618A-7986-3283876C4699}"/>
              </a:ext>
            </a:extLst>
          </p:cNvPr>
          <p:cNvSpPr txBox="1"/>
          <p:nvPr/>
        </p:nvSpPr>
        <p:spPr>
          <a:xfrm>
            <a:off x="1382157" y="-44605"/>
            <a:ext cx="18277439" cy="1030410"/>
          </a:xfrm>
          <a:prstGeom prst="rect">
            <a:avLst/>
          </a:prstGeom>
          <a:noFill/>
        </p:spPr>
        <p:txBody>
          <a:bodyPr vert="horz" wrap="square" lIns="0" tIns="349885" rIns="0" bIns="0" rtlCol="0">
            <a:spAutoFit/>
          </a:bodyPr>
          <a:lstStyle/>
          <a:p>
            <a:r>
              <a:rPr lang="es-ES" sz="4400" b="1" noProof="0" dirty="0">
                <a:latin typeface="Atkinson Hyperlegible" pitchFamily="2" charset="77"/>
              </a:rPr>
              <a:t>VIRTUALIZACIÓN DE FUNCIONES Y DESARROLLO DE </a:t>
            </a:r>
            <a:r>
              <a:rPr lang="es-ES" sz="4400" b="1" noProof="0" dirty="0" err="1">
                <a:latin typeface="Atkinson Hyperlegible" pitchFamily="2" charset="77"/>
              </a:rPr>
              <a:t>SDN</a:t>
            </a:r>
            <a:endParaRPr lang="es-CL" sz="2800" b="1" kern="100" noProof="0" dirty="0">
              <a:effectLst/>
              <a:latin typeface="Atkinson Hyperlegible" pitchFamily="2" charset="77"/>
              <a:ea typeface="Calibri" panose="020F0502020204030204" pitchFamily="34" charset="0"/>
              <a:cs typeface="Gotham" pitchFamily="2" charset="0"/>
            </a:endParaRPr>
          </a:p>
        </p:txBody>
      </p:sp>
      <p:sp>
        <p:nvSpPr>
          <p:cNvPr id="7" name="CuadroTexto 6">
            <a:extLst>
              <a:ext uri="{FF2B5EF4-FFF2-40B4-BE49-F238E27FC236}">
                <a16:creationId xmlns:a16="http://schemas.microsoft.com/office/drawing/2014/main" id="{D6BE660B-2F61-2D2A-633F-E2E39C9FB9A9}"/>
              </a:ext>
            </a:extLst>
          </p:cNvPr>
          <p:cNvSpPr txBox="1"/>
          <p:nvPr/>
        </p:nvSpPr>
        <p:spPr>
          <a:xfrm>
            <a:off x="1382157" y="898721"/>
            <a:ext cx="17055745" cy="707886"/>
          </a:xfrm>
          <a:prstGeom prst="rect">
            <a:avLst/>
          </a:prstGeom>
          <a:noFill/>
        </p:spPr>
        <p:txBody>
          <a:bodyPr wrap="square">
            <a:spAutoFit/>
          </a:bodyPr>
          <a:lstStyle/>
          <a:p>
            <a:r>
              <a:rPr lang="es-ES" sz="4000" dirty="0">
                <a:latin typeface="Atkinson Hyperlegible"/>
              </a:rPr>
              <a:t>Limitaciones de la red tradicional</a:t>
            </a:r>
            <a:endParaRPr lang="es-CL" sz="4000" noProof="0" dirty="0">
              <a:latin typeface="Atkinson Hyperlegible"/>
            </a:endParaRPr>
          </a:p>
        </p:txBody>
      </p:sp>
      <p:sp>
        <p:nvSpPr>
          <p:cNvPr id="10" name="CuadroTexto 9">
            <a:extLst>
              <a:ext uri="{FF2B5EF4-FFF2-40B4-BE49-F238E27FC236}">
                <a16:creationId xmlns:a16="http://schemas.microsoft.com/office/drawing/2014/main" id="{907CBF23-7837-469D-4B68-44EEC4755635}"/>
              </a:ext>
            </a:extLst>
          </p:cNvPr>
          <p:cNvSpPr txBox="1"/>
          <p:nvPr/>
        </p:nvSpPr>
        <p:spPr>
          <a:xfrm>
            <a:off x="1234086" y="8579850"/>
            <a:ext cx="8849542" cy="1569660"/>
          </a:xfrm>
          <a:prstGeom prst="rect">
            <a:avLst/>
          </a:prstGeom>
          <a:noFill/>
        </p:spPr>
        <p:txBody>
          <a:bodyPr wrap="square">
            <a:spAutoFit/>
          </a:bodyPr>
          <a:lstStyle/>
          <a:p>
            <a:r>
              <a:rPr lang="es-CL" sz="2400" noProof="0" dirty="0">
                <a:latin typeface="Atkinson Hyperlegible"/>
              </a:rPr>
              <a:t>⚠️ </a:t>
            </a:r>
            <a:r>
              <a:rPr lang="es-CL" sz="2400" b="1" noProof="0" dirty="0">
                <a:latin typeface="Atkinson Hyperlegible"/>
              </a:rPr>
              <a:t>Nota al margen:</a:t>
            </a:r>
          </a:p>
          <a:p>
            <a:r>
              <a:rPr lang="es-CL" sz="2400" b="1" dirty="0" err="1">
                <a:latin typeface="Atkinson Hyperlegible"/>
              </a:rPr>
              <a:t>IETF</a:t>
            </a:r>
            <a:r>
              <a:rPr lang="es-CL" sz="2400" b="1" dirty="0">
                <a:latin typeface="Atkinson Hyperlegible"/>
              </a:rPr>
              <a:t> RFC 7426</a:t>
            </a:r>
            <a:r>
              <a:rPr lang="es-CL" sz="2400" dirty="0">
                <a:latin typeface="Atkinson Hyperlegible"/>
              </a:rPr>
              <a:t> — </a:t>
            </a:r>
            <a:r>
              <a:rPr lang="es-CL" sz="2400" dirty="0" err="1">
                <a:latin typeface="Atkinson Hyperlegible"/>
              </a:rPr>
              <a:t>SDN</a:t>
            </a:r>
            <a:r>
              <a:rPr lang="es-CL" sz="2400" dirty="0">
                <a:latin typeface="Atkinson Hyperlegible"/>
              </a:rPr>
              <a:t>: </a:t>
            </a:r>
            <a:r>
              <a:rPr lang="es-CL" sz="2400" dirty="0" err="1">
                <a:latin typeface="Atkinson Hyperlegible"/>
              </a:rPr>
              <a:t>Layers</a:t>
            </a:r>
            <a:r>
              <a:rPr lang="es-CL" sz="2400" dirty="0">
                <a:latin typeface="Atkinson Hyperlegible"/>
              </a:rPr>
              <a:t> and </a:t>
            </a:r>
            <a:r>
              <a:rPr lang="es-CL" sz="2400" dirty="0" err="1">
                <a:latin typeface="Atkinson Hyperlegible"/>
              </a:rPr>
              <a:t>Architecture</a:t>
            </a:r>
            <a:r>
              <a:rPr lang="es-CL" sz="2400" dirty="0">
                <a:latin typeface="Atkinson Hyperlegible"/>
              </a:rPr>
              <a:t> </a:t>
            </a:r>
            <a:r>
              <a:rPr lang="es-CL" sz="2400" dirty="0" err="1">
                <a:latin typeface="Atkinson Hyperlegible"/>
              </a:rPr>
              <a:t>Terminology</a:t>
            </a:r>
            <a:r>
              <a:rPr lang="es-CL" sz="2400" dirty="0">
                <a:latin typeface="Atkinson Hyperlegible"/>
              </a:rPr>
              <a:t>.</a:t>
            </a:r>
            <a:br>
              <a:rPr lang="es-CL" sz="2400" dirty="0">
                <a:latin typeface="Atkinson Hyperlegible"/>
              </a:rPr>
            </a:br>
            <a:r>
              <a:rPr lang="es-CL" sz="2400" b="1" dirty="0" err="1">
                <a:latin typeface="Atkinson Hyperlegible"/>
              </a:rPr>
              <a:t>ONF</a:t>
            </a:r>
            <a:r>
              <a:rPr lang="es-CL" sz="2400" b="1" dirty="0">
                <a:latin typeface="Atkinson Hyperlegible"/>
              </a:rPr>
              <a:t> </a:t>
            </a:r>
            <a:r>
              <a:rPr lang="es-CL" sz="2400" b="1" dirty="0" err="1">
                <a:latin typeface="Atkinson Hyperlegible"/>
              </a:rPr>
              <a:t>OpenFlow</a:t>
            </a:r>
            <a:r>
              <a:rPr lang="es-CL" sz="2400" b="1" dirty="0">
                <a:latin typeface="Atkinson Hyperlegible"/>
              </a:rPr>
              <a:t> Switch </a:t>
            </a:r>
            <a:r>
              <a:rPr lang="es-CL" sz="2400" b="1" dirty="0" err="1">
                <a:latin typeface="Atkinson Hyperlegible"/>
              </a:rPr>
              <a:t>Specification</a:t>
            </a:r>
            <a:r>
              <a:rPr lang="es-CL" sz="2400" dirty="0">
                <a:latin typeface="Atkinson Hyperlegible"/>
              </a:rPr>
              <a:t> — interfaz controlador–switch.</a:t>
            </a:r>
            <a:br>
              <a:rPr lang="es-CL" sz="2400" dirty="0">
                <a:latin typeface="Atkinson Hyperlegible"/>
              </a:rPr>
            </a:br>
            <a:r>
              <a:rPr lang="es-CL" sz="2400" b="1" dirty="0" err="1">
                <a:latin typeface="Atkinson Hyperlegible"/>
              </a:rPr>
              <a:t>OpenStack</a:t>
            </a:r>
            <a:r>
              <a:rPr lang="es-CL" sz="2400" b="1" dirty="0">
                <a:latin typeface="Atkinson Hyperlegible"/>
              </a:rPr>
              <a:t> </a:t>
            </a:r>
            <a:r>
              <a:rPr lang="es-CL" sz="2400" b="1" dirty="0" err="1">
                <a:latin typeface="Atkinson Hyperlegible"/>
              </a:rPr>
              <a:t>Documentation</a:t>
            </a:r>
            <a:r>
              <a:rPr lang="es-CL" sz="2400" dirty="0">
                <a:latin typeface="Atkinson Hyperlegible"/>
              </a:rPr>
              <a:t> — infraestructura </a:t>
            </a:r>
            <a:r>
              <a:rPr lang="es-CL" sz="2400" dirty="0" err="1">
                <a:latin typeface="Atkinson Hyperlegible"/>
              </a:rPr>
              <a:t>cloud</a:t>
            </a:r>
            <a:r>
              <a:rPr lang="es-CL" sz="2400" dirty="0">
                <a:latin typeface="Atkinson Hyperlegible"/>
              </a:rPr>
              <a:t> y virtualización.</a:t>
            </a:r>
            <a:endParaRPr lang="es-CL" sz="2400" noProof="0" dirty="0">
              <a:latin typeface="Atkinson Hyperlegible"/>
            </a:endParaRPr>
          </a:p>
        </p:txBody>
      </p:sp>
      <p:sp>
        <p:nvSpPr>
          <p:cNvPr id="17" name="5 Rectángulo">
            <a:extLst>
              <a:ext uri="{FF2B5EF4-FFF2-40B4-BE49-F238E27FC236}">
                <a16:creationId xmlns:a16="http://schemas.microsoft.com/office/drawing/2014/main" id="{6D6A875F-ADC5-724D-F89F-7B6E8BECB3F1}"/>
              </a:ext>
            </a:extLst>
          </p:cNvPr>
          <p:cNvSpPr/>
          <p:nvPr/>
        </p:nvSpPr>
        <p:spPr>
          <a:xfrm>
            <a:off x="1061209" y="1760004"/>
            <a:ext cx="18598386" cy="1077218"/>
          </a:xfrm>
          <a:prstGeom prst="rect">
            <a:avLst/>
          </a:prstGeom>
          <a:noFill/>
          <a:effectLst/>
        </p:spPr>
        <p:txBody>
          <a:bodyPr wrap="square" lIns="91440" tIns="45720" rIns="91440" bIns="45720" anchor="t">
            <a:spAutoFit/>
          </a:bodyPr>
          <a:lstStyle/>
          <a:p>
            <a:pPr algn="ctr"/>
            <a:r>
              <a:rPr lang="es-ES" sz="3200" dirty="0">
                <a:latin typeface="Atkinson Hyperlegible"/>
              </a:rPr>
              <a:t>En una red tradicional, la inteligencia de control está distribuida en múltiples equipos, lo que puede dificultar la administración, automatización y aplicación uniforme de políticas.</a:t>
            </a:r>
            <a:endParaRPr lang="es-CL" sz="3200" b="1" i="1" noProof="0" dirty="0">
              <a:latin typeface="Atkinson Hyperlegible"/>
            </a:endParaRPr>
          </a:p>
        </p:txBody>
      </p:sp>
      <p:sp>
        <p:nvSpPr>
          <p:cNvPr id="2" name="5 Rectángulo">
            <a:extLst>
              <a:ext uri="{FF2B5EF4-FFF2-40B4-BE49-F238E27FC236}">
                <a16:creationId xmlns:a16="http://schemas.microsoft.com/office/drawing/2014/main" id="{AD8B96FC-F056-B834-734B-84F94868603C}"/>
              </a:ext>
            </a:extLst>
          </p:cNvPr>
          <p:cNvSpPr/>
          <p:nvPr/>
        </p:nvSpPr>
        <p:spPr>
          <a:xfrm>
            <a:off x="1332568" y="3189003"/>
            <a:ext cx="18055668" cy="3539430"/>
          </a:xfrm>
          <a:prstGeom prst="rect">
            <a:avLst/>
          </a:prstGeom>
          <a:solidFill>
            <a:schemeClr val="accent4">
              <a:lumMod val="40000"/>
              <a:lumOff val="60000"/>
            </a:schemeClr>
          </a:solidFill>
          <a:effectLst/>
        </p:spPr>
        <p:txBody>
          <a:bodyPr wrap="square" lIns="91440" tIns="45720" rIns="91440" bIns="45720" anchor="t">
            <a:spAutoFit/>
          </a:bodyPr>
          <a:lstStyle/>
          <a:p>
            <a:r>
              <a:rPr lang="es-ES" sz="3200" b="1" dirty="0">
                <a:latin typeface="Atkinson Hyperlegible"/>
              </a:rPr>
              <a:t>Limitaciones principales</a:t>
            </a:r>
          </a:p>
          <a:p>
            <a:pPr marL="457200" indent="-457200">
              <a:buFont typeface="Arial" panose="020B0604020202020204" pitchFamily="34" charset="0"/>
              <a:buChar char="•"/>
            </a:pPr>
            <a:r>
              <a:rPr lang="es-ES" sz="3200" b="1" dirty="0">
                <a:latin typeface="Atkinson Hyperlegible"/>
              </a:rPr>
              <a:t>Configuración equipo por equipo:</a:t>
            </a:r>
            <a:r>
              <a:rPr lang="es-ES" sz="3200" dirty="0">
                <a:latin typeface="Atkinson Hyperlegible"/>
              </a:rPr>
              <a:t> cada </a:t>
            </a:r>
            <a:r>
              <a:rPr lang="es-ES" sz="3200" dirty="0" err="1">
                <a:latin typeface="Atkinson Hyperlegible"/>
              </a:rPr>
              <a:t>router</a:t>
            </a:r>
            <a:r>
              <a:rPr lang="es-ES" sz="3200" dirty="0">
                <a:latin typeface="Atkinson Hyperlegible"/>
              </a:rPr>
              <a:t>, switch o firewall se administra individualmente. </a:t>
            </a:r>
          </a:p>
          <a:p>
            <a:pPr marL="457200" indent="-457200">
              <a:buFont typeface="Arial" panose="020B0604020202020204" pitchFamily="34" charset="0"/>
              <a:buChar char="•"/>
            </a:pPr>
            <a:r>
              <a:rPr lang="es-ES" sz="3200" b="1" dirty="0">
                <a:latin typeface="Atkinson Hyperlegible"/>
              </a:rPr>
              <a:t>Cambios lentos:</a:t>
            </a:r>
            <a:r>
              <a:rPr lang="es-ES" sz="3200" dirty="0">
                <a:latin typeface="Atkinson Hyperlegible"/>
              </a:rPr>
              <a:t> modificar una política puede requerir intervenir muchos dispositivos. </a:t>
            </a:r>
          </a:p>
          <a:p>
            <a:pPr marL="457200" indent="-457200">
              <a:buFont typeface="Arial" panose="020B0604020202020204" pitchFamily="34" charset="0"/>
              <a:buChar char="•"/>
            </a:pPr>
            <a:r>
              <a:rPr lang="es-ES" sz="3200" b="1" dirty="0">
                <a:latin typeface="Atkinson Hyperlegible"/>
              </a:rPr>
              <a:t>Mayor riesgo de error humano:</a:t>
            </a:r>
            <a:r>
              <a:rPr lang="es-ES" sz="3200" dirty="0">
                <a:latin typeface="Atkinson Hyperlegible"/>
              </a:rPr>
              <a:t> configuraciones inconsistentes pueden afectar el servicio. </a:t>
            </a:r>
          </a:p>
          <a:p>
            <a:pPr marL="457200" indent="-457200">
              <a:buFont typeface="Arial" panose="020B0604020202020204" pitchFamily="34" charset="0"/>
              <a:buChar char="•"/>
            </a:pPr>
            <a:r>
              <a:rPr lang="es-ES" sz="3200" b="1" dirty="0">
                <a:latin typeface="Atkinson Hyperlegible"/>
              </a:rPr>
              <a:t>Baja automatización:</a:t>
            </a:r>
            <a:r>
              <a:rPr lang="es-ES" sz="3200" dirty="0">
                <a:latin typeface="Atkinson Hyperlegible"/>
              </a:rPr>
              <a:t> muchas tareas dependen de procedimientos manuales. </a:t>
            </a:r>
          </a:p>
          <a:p>
            <a:pPr marL="457200" indent="-457200">
              <a:buFont typeface="Arial" panose="020B0604020202020204" pitchFamily="34" charset="0"/>
              <a:buChar char="•"/>
            </a:pPr>
            <a:r>
              <a:rPr lang="es-ES" sz="3200" b="1" dirty="0">
                <a:latin typeface="Atkinson Hyperlegible"/>
              </a:rPr>
              <a:t>Visibilidad fragmentada:</a:t>
            </a:r>
            <a:r>
              <a:rPr lang="es-ES" sz="3200" dirty="0">
                <a:latin typeface="Atkinson Hyperlegible"/>
              </a:rPr>
              <a:t> cada equipo entrega una parte de la información de red. </a:t>
            </a:r>
          </a:p>
          <a:p>
            <a:pPr marL="457200" indent="-457200">
              <a:buFont typeface="Arial" panose="020B0604020202020204" pitchFamily="34" charset="0"/>
              <a:buChar char="•"/>
            </a:pPr>
            <a:r>
              <a:rPr lang="es-ES" sz="3200" b="1" dirty="0">
                <a:latin typeface="Atkinson Hyperlegible"/>
              </a:rPr>
              <a:t>Escalabilidad operativa limitada:</a:t>
            </a:r>
            <a:r>
              <a:rPr lang="es-ES" sz="3200" dirty="0">
                <a:latin typeface="Atkinson Hyperlegible"/>
              </a:rPr>
              <a:t> mientras más crece la red, más difícil se vuelve gestionarla.</a:t>
            </a:r>
          </a:p>
        </p:txBody>
      </p:sp>
      <p:sp>
        <p:nvSpPr>
          <p:cNvPr id="3" name="5 Rectángulo">
            <a:extLst>
              <a:ext uri="{FF2B5EF4-FFF2-40B4-BE49-F238E27FC236}">
                <a16:creationId xmlns:a16="http://schemas.microsoft.com/office/drawing/2014/main" id="{3202251C-BA06-E2DE-5E90-9AA7394F5F65}"/>
              </a:ext>
            </a:extLst>
          </p:cNvPr>
          <p:cNvSpPr/>
          <p:nvPr/>
        </p:nvSpPr>
        <p:spPr>
          <a:xfrm>
            <a:off x="8844195" y="7687299"/>
            <a:ext cx="11001435" cy="1569660"/>
          </a:xfrm>
          <a:prstGeom prst="rect">
            <a:avLst/>
          </a:prstGeom>
          <a:noFill/>
          <a:effectLst/>
        </p:spPr>
        <p:txBody>
          <a:bodyPr wrap="square" lIns="91440" tIns="45720" rIns="91440" bIns="45720" anchor="t">
            <a:spAutoFit/>
          </a:bodyPr>
          <a:lstStyle/>
          <a:p>
            <a:pPr algn="ctr"/>
            <a:r>
              <a:rPr lang="es-ES" sz="3200" b="1" dirty="0">
                <a:latin typeface="Atkinson Hyperlegible"/>
              </a:rPr>
              <a:t>La red tradicional funciona, pero su operación puede volverse compleja cuando se requiere rapidez, automatización y control centralizado.</a:t>
            </a:r>
            <a:endParaRPr lang="es-CL" sz="3200" b="1" i="1" noProof="0" dirty="0">
              <a:latin typeface="Atkinson Hyperlegible"/>
            </a:endParaRPr>
          </a:p>
        </p:txBody>
      </p:sp>
    </p:spTree>
    <p:extLst>
      <p:ext uri="{BB962C8B-B14F-4D97-AF65-F5344CB8AC3E}">
        <p14:creationId xmlns:p14="http://schemas.microsoft.com/office/powerpoint/2010/main" val="14529039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099DE67B-5809-7B4B-8503-35443EEA212E}"/>
            </a:ext>
          </a:extLst>
        </p:cNvPr>
        <p:cNvGrpSpPr/>
        <p:nvPr/>
      </p:nvGrpSpPr>
      <p:grpSpPr>
        <a:xfrm>
          <a:off x="0" y="0"/>
          <a:ext cx="0" cy="0"/>
          <a:chOff x="0" y="0"/>
          <a:chExt cx="0" cy="0"/>
        </a:xfrm>
      </p:grpSpPr>
      <p:cxnSp>
        <p:nvCxnSpPr>
          <p:cNvPr id="9" name="Conector recto 8">
            <a:extLst>
              <a:ext uri="{FF2B5EF4-FFF2-40B4-BE49-F238E27FC236}">
                <a16:creationId xmlns:a16="http://schemas.microsoft.com/office/drawing/2014/main" id="{AA8E9B8F-8258-A939-2879-55BB9A108DEC}"/>
              </a:ext>
            </a:extLst>
          </p:cNvPr>
          <p:cNvCxnSpPr>
            <a:cxnSpLocks/>
          </p:cNvCxnSpPr>
          <p:nvPr/>
        </p:nvCxnSpPr>
        <p:spPr>
          <a:xfrm>
            <a:off x="679450" y="-136525"/>
            <a:ext cx="0" cy="1524000"/>
          </a:xfrm>
          <a:prstGeom prst="line">
            <a:avLst/>
          </a:prstGeom>
          <a:ln w="31750">
            <a:solidFill>
              <a:schemeClr val="tx1"/>
            </a:solidFill>
          </a:ln>
        </p:spPr>
        <p:style>
          <a:lnRef idx="1">
            <a:schemeClr val="dk1"/>
          </a:lnRef>
          <a:fillRef idx="0">
            <a:schemeClr val="dk1"/>
          </a:fillRef>
          <a:effectRef idx="0">
            <a:schemeClr val="dk1"/>
          </a:effectRef>
          <a:fontRef idx="minor">
            <a:schemeClr val="tx1"/>
          </a:fontRef>
        </p:style>
      </p:cxnSp>
      <p:sp>
        <p:nvSpPr>
          <p:cNvPr id="14" name="object 3">
            <a:extLst>
              <a:ext uri="{FF2B5EF4-FFF2-40B4-BE49-F238E27FC236}">
                <a16:creationId xmlns:a16="http://schemas.microsoft.com/office/drawing/2014/main" id="{0557FBB7-E200-2A24-E516-C25BB71A7823}"/>
              </a:ext>
            </a:extLst>
          </p:cNvPr>
          <p:cNvSpPr txBox="1"/>
          <p:nvPr/>
        </p:nvSpPr>
        <p:spPr>
          <a:xfrm>
            <a:off x="1382157" y="-44605"/>
            <a:ext cx="18277439" cy="1030410"/>
          </a:xfrm>
          <a:prstGeom prst="rect">
            <a:avLst/>
          </a:prstGeom>
          <a:noFill/>
        </p:spPr>
        <p:txBody>
          <a:bodyPr vert="horz" wrap="square" lIns="0" tIns="349885" rIns="0" bIns="0" rtlCol="0">
            <a:spAutoFit/>
          </a:bodyPr>
          <a:lstStyle/>
          <a:p>
            <a:r>
              <a:rPr lang="es-ES" sz="4400" b="1" noProof="0" dirty="0">
                <a:latin typeface="Atkinson Hyperlegible" pitchFamily="2" charset="77"/>
              </a:rPr>
              <a:t>VIRTUALIZACIÓN DE FUNCIONES Y DESARROLLO DE </a:t>
            </a:r>
            <a:r>
              <a:rPr lang="es-ES" sz="4400" b="1" noProof="0" dirty="0" err="1">
                <a:latin typeface="Atkinson Hyperlegible" pitchFamily="2" charset="77"/>
              </a:rPr>
              <a:t>SDN</a:t>
            </a:r>
            <a:endParaRPr lang="es-CL" sz="2800" b="1" kern="100" noProof="0" dirty="0">
              <a:effectLst/>
              <a:latin typeface="Atkinson Hyperlegible" pitchFamily="2" charset="77"/>
              <a:ea typeface="Calibri" panose="020F0502020204030204" pitchFamily="34" charset="0"/>
              <a:cs typeface="Gotham" pitchFamily="2" charset="0"/>
            </a:endParaRPr>
          </a:p>
        </p:txBody>
      </p:sp>
      <p:pic>
        <p:nvPicPr>
          <p:cNvPr id="5" name="Imagen 4">
            <a:extLst>
              <a:ext uri="{FF2B5EF4-FFF2-40B4-BE49-F238E27FC236}">
                <a16:creationId xmlns:a16="http://schemas.microsoft.com/office/drawing/2014/main" id="{AD4796C3-59FB-6C81-9C0E-C339732A160B}"/>
              </a:ext>
            </a:extLst>
          </p:cNvPr>
          <p:cNvPicPr>
            <a:picLocks noChangeAspect="1"/>
          </p:cNvPicPr>
          <p:nvPr/>
        </p:nvPicPr>
        <p:blipFill>
          <a:blip r:embed="rId4"/>
          <a:stretch>
            <a:fillRect/>
          </a:stretch>
        </p:blipFill>
        <p:spPr>
          <a:xfrm>
            <a:off x="124241" y="178268"/>
            <a:ext cx="19855617" cy="11131082"/>
          </a:xfrm>
          <a:prstGeom prst="rect">
            <a:avLst/>
          </a:prstGeom>
        </p:spPr>
      </p:pic>
    </p:spTree>
    <p:extLst>
      <p:ext uri="{BB962C8B-B14F-4D97-AF65-F5344CB8AC3E}">
        <p14:creationId xmlns:p14="http://schemas.microsoft.com/office/powerpoint/2010/main" val="27576867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E905CD86-3D21-73EC-4C04-62F99C421012}"/>
            </a:ext>
          </a:extLst>
        </p:cNvPr>
        <p:cNvGrpSpPr/>
        <p:nvPr/>
      </p:nvGrpSpPr>
      <p:grpSpPr>
        <a:xfrm>
          <a:off x="0" y="0"/>
          <a:ext cx="0" cy="0"/>
          <a:chOff x="0" y="0"/>
          <a:chExt cx="0" cy="0"/>
        </a:xfrm>
      </p:grpSpPr>
      <p:cxnSp>
        <p:nvCxnSpPr>
          <p:cNvPr id="9" name="Conector recto 8">
            <a:extLst>
              <a:ext uri="{FF2B5EF4-FFF2-40B4-BE49-F238E27FC236}">
                <a16:creationId xmlns:a16="http://schemas.microsoft.com/office/drawing/2014/main" id="{ABA62012-3B21-B427-4220-7D9EBEFCD283}"/>
              </a:ext>
            </a:extLst>
          </p:cNvPr>
          <p:cNvCxnSpPr>
            <a:cxnSpLocks/>
          </p:cNvCxnSpPr>
          <p:nvPr/>
        </p:nvCxnSpPr>
        <p:spPr>
          <a:xfrm>
            <a:off x="679450" y="-136525"/>
            <a:ext cx="0" cy="1524000"/>
          </a:xfrm>
          <a:prstGeom prst="line">
            <a:avLst/>
          </a:prstGeom>
          <a:ln w="31750">
            <a:solidFill>
              <a:schemeClr val="tx1"/>
            </a:solidFill>
          </a:ln>
        </p:spPr>
        <p:style>
          <a:lnRef idx="1">
            <a:schemeClr val="dk1"/>
          </a:lnRef>
          <a:fillRef idx="0">
            <a:schemeClr val="dk1"/>
          </a:fillRef>
          <a:effectRef idx="0">
            <a:schemeClr val="dk1"/>
          </a:effectRef>
          <a:fontRef idx="minor">
            <a:schemeClr val="tx1"/>
          </a:fontRef>
        </p:style>
      </p:cxnSp>
      <p:sp>
        <p:nvSpPr>
          <p:cNvPr id="14" name="object 3">
            <a:extLst>
              <a:ext uri="{FF2B5EF4-FFF2-40B4-BE49-F238E27FC236}">
                <a16:creationId xmlns:a16="http://schemas.microsoft.com/office/drawing/2014/main" id="{24EBB669-8C6F-CDBB-AE14-6E838CDADE5D}"/>
              </a:ext>
            </a:extLst>
          </p:cNvPr>
          <p:cNvSpPr txBox="1"/>
          <p:nvPr/>
        </p:nvSpPr>
        <p:spPr>
          <a:xfrm>
            <a:off x="1382157" y="-44605"/>
            <a:ext cx="18277439" cy="1030410"/>
          </a:xfrm>
          <a:prstGeom prst="rect">
            <a:avLst/>
          </a:prstGeom>
          <a:noFill/>
        </p:spPr>
        <p:txBody>
          <a:bodyPr vert="horz" wrap="square" lIns="0" tIns="349885" rIns="0" bIns="0" rtlCol="0">
            <a:spAutoFit/>
          </a:bodyPr>
          <a:lstStyle/>
          <a:p>
            <a:r>
              <a:rPr lang="es-ES" sz="4400" b="1" noProof="0" dirty="0">
                <a:latin typeface="Atkinson Hyperlegible" pitchFamily="2" charset="77"/>
              </a:rPr>
              <a:t>VIRTUALIZACIÓN DE FUNCIONES Y DESARROLLO DE </a:t>
            </a:r>
            <a:r>
              <a:rPr lang="es-ES" sz="4400" b="1" noProof="0" dirty="0" err="1">
                <a:latin typeface="Atkinson Hyperlegible" pitchFamily="2" charset="77"/>
              </a:rPr>
              <a:t>SDN</a:t>
            </a:r>
            <a:endParaRPr lang="es-CL" sz="2800" b="1" kern="100" noProof="0" dirty="0">
              <a:effectLst/>
              <a:latin typeface="Atkinson Hyperlegible" pitchFamily="2" charset="77"/>
              <a:ea typeface="Calibri" panose="020F0502020204030204" pitchFamily="34" charset="0"/>
              <a:cs typeface="Gotham" pitchFamily="2" charset="0"/>
            </a:endParaRPr>
          </a:p>
        </p:txBody>
      </p:sp>
      <p:sp>
        <p:nvSpPr>
          <p:cNvPr id="7" name="CuadroTexto 6">
            <a:extLst>
              <a:ext uri="{FF2B5EF4-FFF2-40B4-BE49-F238E27FC236}">
                <a16:creationId xmlns:a16="http://schemas.microsoft.com/office/drawing/2014/main" id="{5CA89EC3-9E77-308F-DD29-EB844D34094D}"/>
              </a:ext>
            </a:extLst>
          </p:cNvPr>
          <p:cNvSpPr txBox="1"/>
          <p:nvPr/>
        </p:nvSpPr>
        <p:spPr>
          <a:xfrm>
            <a:off x="1382157" y="898721"/>
            <a:ext cx="17055745" cy="707886"/>
          </a:xfrm>
          <a:prstGeom prst="rect">
            <a:avLst/>
          </a:prstGeom>
          <a:noFill/>
        </p:spPr>
        <p:txBody>
          <a:bodyPr wrap="square">
            <a:spAutoFit/>
          </a:bodyPr>
          <a:lstStyle/>
          <a:p>
            <a:r>
              <a:rPr lang="es-ES" sz="4000" dirty="0">
                <a:latin typeface="Atkinson Hyperlegible"/>
              </a:rPr>
              <a:t>Virtualización de funciones de red</a:t>
            </a:r>
            <a:endParaRPr lang="es-CL" sz="4000" noProof="0" dirty="0">
              <a:latin typeface="Atkinson Hyperlegible"/>
            </a:endParaRPr>
          </a:p>
        </p:txBody>
      </p:sp>
      <p:sp>
        <p:nvSpPr>
          <p:cNvPr id="10" name="CuadroTexto 9">
            <a:extLst>
              <a:ext uri="{FF2B5EF4-FFF2-40B4-BE49-F238E27FC236}">
                <a16:creationId xmlns:a16="http://schemas.microsoft.com/office/drawing/2014/main" id="{344ABD69-7197-0918-9610-08DCE6AF3DE5}"/>
              </a:ext>
            </a:extLst>
          </p:cNvPr>
          <p:cNvSpPr txBox="1"/>
          <p:nvPr/>
        </p:nvSpPr>
        <p:spPr>
          <a:xfrm>
            <a:off x="172074" y="9549346"/>
            <a:ext cx="6036144" cy="830997"/>
          </a:xfrm>
          <a:prstGeom prst="rect">
            <a:avLst/>
          </a:prstGeom>
          <a:noFill/>
        </p:spPr>
        <p:txBody>
          <a:bodyPr wrap="square">
            <a:spAutoFit/>
          </a:bodyPr>
          <a:lstStyle/>
          <a:p>
            <a:r>
              <a:rPr lang="es-CL" sz="2400" noProof="0" dirty="0">
                <a:latin typeface="Atkinson Hyperlegible"/>
              </a:rPr>
              <a:t>⚠️ </a:t>
            </a:r>
            <a:r>
              <a:rPr lang="es-CL" sz="2400" b="1" noProof="0" dirty="0">
                <a:latin typeface="Atkinson Hyperlegible"/>
              </a:rPr>
              <a:t>Nota al margen:</a:t>
            </a:r>
          </a:p>
          <a:p>
            <a:r>
              <a:rPr lang="es-ES" sz="2400" b="1" dirty="0">
                <a:latin typeface="Atkinson Hyperlegible"/>
              </a:rPr>
              <a:t>ETSI </a:t>
            </a:r>
            <a:r>
              <a:rPr lang="es-ES" sz="2400" b="1" dirty="0" err="1">
                <a:latin typeface="Atkinson Hyperlegible"/>
              </a:rPr>
              <a:t>NFV</a:t>
            </a:r>
            <a:r>
              <a:rPr lang="es-ES" sz="2400" dirty="0">
                <a:latin typeface="Atkinson Hyperlegible"/>
              </a:rPr>
              <a:t> — virtualización de funciones de red.</a:t>
            </a:r>
            <a:endParaRPr lang="es-CL" sz="2400" noProof="0" dirty="0">
              <a:latin typeface="Atkinson Hyperlegible"/>
            </a:endParaRPr>
          </a:p>
        </p:txBody>
      </p:sp>
      <p:sp>
        <p:nvSpPr>
          <p:cNvPr id="17" name="5 Rectángulo">
            <a:extLst>
              <a:ext uri="{FF2B5EF4-FFF2-40B4-BE49-F238E27FC236}">
                <a16:creationId xmlns:a16="http://schemas.microsoft.com/office/drawing/2014/main" id="{88FBCA91-946E-F17D-4A38-4FEAB47A1564}"/>
              </a:ext>
            </a:extLst>
          </p:cNvPr>
          <p:cNvSpPr/>
          <p:nvPr/>
        </p:nvSpPr>
        <p:spPr>
          <a:xfrm>
            <a:off x="1061209" y="1760004"/>
            <a:ext cx="18598386" cy="1077218"/>
          </a:xfrm>
          <a:prstGeom prst="rect">
            <a:avLst/>
          </a:prstGeom>
          <a:noFill/>
          <a:effectLst/>
        </p:spPr>
        <p:txBody>
          <a:bodyPr wrap="square" lIns="91440" tIns="45720" rIns="91440" bIns="45720" anchor="t">
            <a:spAutoFit/>
          </a:bodyPr>
          <a:lstStyle/>
          <a:p>
            <a:pPr algn="ctr"/>
            <a:r>
              <a:rPr lang="es-ES" sz="3200" dirty="0">
                <a:latin typeface="Atkinson Hyperlegible"/>
              </a:rPr>
              <a:t>La </a:t>
            </a:r>
            <a:r>
              <a:rPr lang="es-ES" sz="3200" b="1" dirty="0">
                <a:latin typeface="Atkinson Hyperlegible"/>
              </a:rPr>
              <a:t>virtualización de funciones de red</a:t>
            </a:r>
            <a:r>
              <a:rPr lang="es-ES" sz="3200" dirty="0">
                <a:latin typeface="Atkinson Hyperlegible"/>
              </a:rPr>
              <a:t> permite que funciones tradicionalmente ejecutadas por equipos físicos dedicados puedan implementarse como </a:t>
            </a:r>
            <a:r>
              <a:rPr lang="es-ES" sz="3200" b="1" dirty="0">
                <a:latin typeface="Atkinson Hyperlegible"/>
              </a:rPr>
              <a:t>software</a:t>
            </a:r>
            <a:r>
              <a:rPr lang="es-ES" sz="3200" dirty="0">
                <a:latin typeface="Atkinson Hyperlegible"/>
              </a:rPr>
              <a:t> sobre infraestructura computacional.</a:t>
            </a:r>
            <a:endParaRPr lang="es-CL" sz="3200" b="1" i="1" noProof="0" dirty="0">
              <a:latin typeface="Atkinson Hyperlegible"/>
            </a:endParaRPr>
          </a:p>
        </p:txBody>
      </p:sp>
      <p:sp>
        <p:nvSpPr>
          <p:cNvPr id="2" name="5 Rectángulo">
            <a:extLst>
              <a:ext uri="{FF2B5EF4-FFF2-40B4-BE49-F238E27FC236}">
                <a16:creationId xmlns:a16="http://schemas.microsoft.com/office/drawing/2014/main" id="{A9C50542-33A7-390D-BA7A-BC76DD4961EF}"/>
              </a:ext>
            </a:extLst>
          </p:cNvPr>
          <p:cNvSpPr/>
          <p:nvPr/>
        </p:nvSpPr>
        <p:spPr>
          <a:xfrm>
            <a:off x="1234086" y="2990619"/>
            <a:ext cx="6156065" cy="4031873"/>
          </a:xfrm>
          <a:prstGeom prst="rect">
            <a:avLst/>
          </a:prstGeom>
          <a:solidFill>
            <a:schemeClr val="accent4">
              <a:lumMod val="40000"/>
              <a:lumOff val="60000"/>
            </a:schemeClr>
          </a:solidFill>
          <a:effectLst/>
        </p:spPr>
        <p:txBody>
          <a:bodyPr wrap="square" lIns="91440" tIns="45720" rIns="91440" bIns="45720" anchor="t">
            <a:spAutoFit/>
          </a:bodyPr>
          <a:lstStyle/>
          <a:p>
            <a:r>
              <a:rPr lang="es-ES" sz="3200" b="1" dirty="0">
                <a:latin typeface="Atkinson Hyperlegible"/>
              </a:rPr>
              <a:t>Funciones que pueden virtualizarse</a:t>
            </a:r>
          </a:p>
          <a:p>
            <a:pPr marL="457200" indent="-457200">
              <a:buFont typeface="Arial" panose="020B0604020202020204" pitchFamily="34" charset="0"/>
              <a:buChar char="•"/>
            </a:pPr>
            <a:r>
              <a:rPr lang="es-ES" sz="3200" dirty="0" err="1">
                <a:latin typeface="Atkinson Hyperlegible"/>
              </a:rPr>
              <a:t>Router</a:t>
            </a:r>
            <a:r>
              <a:rPr lang="es-ES" sz="3200" dirty="0">
                <a:latin typeface="Atkinson Hyperlegible"/>
              </a:rPr>
              <a:t> virtual </a:t>
            </a:r>
          </a:p>
          <a:p>
            <a:pPr marL="457200" indent="-457200">
              <a:buFont typeface="Arial" panose="020B0604020202020204" pitchFamily="34" charset="0"/>
              <a:buChar char="•"/>
            </a:pPr>
            <a:r>
              <a:rPr lang="es-ES" sz="3200" dirty="0">
                <a:latin typeface="Atkinson Hyperlegible"/>
              </a:rPr>
              <a:t>Firewall virtual </a:t>
            </a:r>
          </a:p>
          <a:p>
            <a:pPr marL="457200" indent="-457200">
              <a:buFont typeface="Arial" panose="020B0604020202020204" pitchFamily="34" charset="0"/>
              <a:buChar char="•"/>
            </a:pPr>
            <a:r>
              <a:rPr lang="es-ES" sz="3200" dirty="0">
                <a:latin typeface="Atkinson Hyperlegible"/>
              </a:rPr>
              <a:t>Balanceador de carga </a:t>
            </a:r>
          </a:p>
          <a:p>
            <a:pPr marL="457200" indent="-457200">
              <a:buFont typeface="Arial" panose="020B0604020202020204" pitchFamily="34" charset="0"/>
              <a:buChar char="•"/>
            </a:pPr>
            <a:r>
              <a:rPr lang="es-ES" sz="3200" dirty="0">
                <a:latin typeface="Atkinson Hyperlegible"/>
              </a:rPr>
              <a:t>NAT </a:t>
            </a:r>
          </a:p>
          <a:p>
            <a:pPr marL="457200" indent="-457200">
              <a:buFont typeface="Arial" panose="020B0604020202020204" pitchFamily="34" charset="0"/>
              <a:buChar char="•"/>
            </a:pPr>
            <a:r>
              <a:rPr lang="es-ES" sz="3200" dirty="0">
                <a:latin typeface="Atkinson Hyperlegible"/>
              </a:rPr>
              <a:t>VPN </a:t>
            </a:r>
          </a:p>
          <a:p>
            <a:pPr marL="457200" indent="-457200">
              <a:buFont typeface="Arial" panose="020B0604020202020204" pitchFamily="34" charset="0"/>
              <a:buChar char="•"/>
            </a:pPr>
            <a:r>
              <a:rPr lang="es-ES" sz="3200" dirty="0">
                <a:latin typeface="Atkinson Hyperlegible"/>
              </a:rPr>
              <a:t>Monitorización y gestión </a:t>
            </a:r>
          </a:p>
          <a:p>
            <a:pPr marL="457200" indent="-457200">
              <a:buFont typeface="Arial" panose="020B0604020202020204" pitchFamily="34" charset="0"/>
              <a:buChar char="•"/>
            </a:pPr>
            <a:r>
              <a:rPr lang="es-ES" sz="3200" dirty="0">
                <a:latin typeface="Atkinson Hyperlegible"/>
              </a:rPr>
              <a:t>Control de políticas de red </a:t>
            </a:r>
          </a:p>
        </p:txBody>
      </p:sp>
      <p:pic>
        <p:nvPicPr>
          <p:cNvPr id="15" name="Imagen 14">
            <a:extLst>
              <a:ext uri="{FF2B5EF4-FFF2-40B4-BE49-F238E27FC236}">
                <a16:creationId xmlns:a16="http://schemas.microsoft.com/office/drawing/2014/main" id="{A5FC7EA5-FEE0-A677-C107-C46D1639632E}"/>
              </a:ext>
            </a:extLst>
          </p:cNvPr>
          <p:cNvPicPr>
            <a:picLocks noChangeAspect="1"/>
          </p:cNvPicPr>
          <p:nvPr/>
        </p:nvPicPr>
        <p:blipFill>
          <a:blip r:embed="rId4"/>
          <a:stretch>
            <a:fillRect/>
          </a:stretch>
        </p:blipFill>
        <p:spPr>
          <a:xfrm>
            <a:off x="7585023" y="2990619"/>
            <a:ext cx="12519077" cy="7540856"/>
          </a:xfrm>
          <a:prstGeom prst="rect">
            <a:avLst/>
          </a:prstGeom>
        </p:spPr>
      </p:pic>
    </p:spTree>
    <p:extLst>
      <p:ext uri="{BB962C8B-B14F-4D97-AF65-F5344CB8AC3E}">
        <p14:creationId xmlns:p14="http://schemas.microsoft.com/office/powerpoint/2010/main" val="31934963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5B4D5761-E500-D743-9439-362A4DC3660C}"/>
            </a:ext>
          </a:extLst>
        </p:cNvPr>
        <p:cNvGrpSpPr/>
        <p:nvPr/>
      </p:nvGrpSpPr>
      <p:grpSpPr>
        <a:xfrm>
          <a:off x="0" y="0"/>
          <a:ext cx="0" cy="0"/>
          <a:chOff x="0" y="0"/>
          <a:chExt cx="0" cy="0"/>
        </a:xfrm>
      </p:grpSpPr>
      <p:cxnSp>
        <p:nvCxnSpPr>
          <p:cNvPr id="9" name="Conector recto 8">
            <a:extLst>
              <a:ext uri="{FF2B5EF4-FFF2-40B4-BE49-F238E27FC236}">
                <a16:creationId xmlns:a16="http://schemas.microsoft.com/office/drawing/2014/main" id="{A993880E-E453-E474-809A-752AA1ED7E76}"/>
              </a:ext>
            </a:extLst>
          </p:cNvPr>
          <p:cNvCxnSpPr>
            <a:cxnSpLocks/>
          </p:cNvCxnSpPr>
          <p:nvPr/>
        </p:nvCxnSpPr>
        <p:spPr>
          <a:xfrm>
            <a:off x="679450" y="-136525"/>
            <a:ext cx="0" cy="1524000"/>
          </a:xfrm>
          <a:prstGeom prst="line">
            <a:avLst/>
          </a:prstGeom>
          <a:ln w="31750">
            <a:solidFill>
              <a:schemeClr val="tx1"/>
            </a:solidFill>
          </a:ln>
        </p:spPr>
        <p:style>
          <a:lnRef idx="1">
            <a:schemeClr val="dk1"/>
          </a:lnRef>
          <a:fillRef idx="0">
            <a:schemeClr val="dk1"/>
          </a:fillRef>
          <a:effectRef idx="0">
            <a:schemeClr val="dk1"/>
          </a:effectRef>
          <a:fontRef idx="minor">
            <a:schemeClr val="tx1"/>
          </a:fontRef>
        </p:style>
      </p:cxnSp>
      <p:sp>
        <p:nvSpPr>
          <p:cNvPr id="14" name="object 3">
            <a:extLst>
              <a:ext uri="{FF2B5EF4-FFF2-40B4-BE49-F238E27FC236}">
                <a16:creationId xmlns:a16="http://schemas.microsoft.com/office/drawing/2014/main" id="{4F9C180C-C1DB-B837-920F-CF3B4BDF42E1}"/>
              </a:ext>
            </a:extLst>
          </p:cNvPr>
          <p:cNvSpPr txBox="1"/>
          <p:nvPr/>
        </p:nvSpPr>
        <p:spPr>
          <a:xfrm>
            <a:off x="1382157" y="-44605"/>
            <a:ext cx="18277439" cy="1030410"/>
          </a:xfrm>
          <a:prstGeom prst="rect">
            <a:avLst/>
          </a:prstGeom>
          <a:noFill/>
        </p:spPr>
        <p:txBody>
          <a:bodyPr vert="horz" wrap="square" lIns="0" tIns="349885" rIns="0" bIns="0" rtlCol="0">
            <a:spAutoFit/>
          </a:bodyPr>
          <a:lstStyle/>
          <a:p>
            <a:r>
              <a:rPr lang="es-ES" sz="4400" b="1" dirty="0">
                <a:latin typeface="Atkinson Hyperlegible"/>
              </a:rPr>
              <a:t>DESARROLLO DE LAS </a:t>
            </a:r>
            <a:r>
              <a:rPr lang="es-ES" sz="4400" b="1" dirty="0" err="1">
                <a:latin typeface="Atkinson Hyperlegible"/>
              </a:rPr>
              <a:t>SDN</a:t>
            </a:r>
            <a:r>
              <a:rPr lang="es-ES" sz="4400" b="1" dirty="0">
                <a:latin typeface="Atkinson Hyperlegible"/>
              </a:rPr>
              <a:t>: REDES BASADAS EN SOFTWARE</a:t>
            </a:r>
            <a:endParaRPr lang="es-CL" sz="2800" b="1" kern="100" noProof="0" dirty="0">
              <a:effectLst/>
              <a:latin typeface="Atkinson Hyperlegible"/>
              <a:ea typeface="Calibri" panose="020F0502020204030204" pitchFamily="34" charset="0"/>
              <a:cs typeface="Gotham" pitchFamily="2" charset="0"/>
            </a:endParaRPr>
          </a:p>
        </p:txBody>
      </p:sp>
      <p:sp>
        <p:nvSpPr>
          <p:cNvPr id="7" name="CuadroTexto 6">
            <a:extLst>
              <a:ext uri="{FF2B5EF4-FFF2-40B4-BE49-F238E27FC236}">
                <a16:creationId xmlns:a16="http://schemas.microsoft.com/office/drawing/2014/main" id="{6A8E8672-24E5-58C2-101B-F5FDB3396872}"/>
              </a:ext>
            </a:extLst>
          </p:cNvPr>
          <p:cNvSpPr txBox="1"/>
          <p:nvPr/>
        </p:nvSpPr>
        <p:spPr>
          <a:xfrm>
            <a:off x="1382157" y="898721"/>
            <a:ext cx="17055745" cy="707886"/>
          </a:xfrm>
          <a:prstGeom prst="rect">
            <a:avLst/>
          </a:prstGeom>
          <a:noFill/>
        </p:spPr>
        <p:txBody>
          <a:bodyPr wrap="square">
            <a:spAutoFit/>
          </a:bodyPr>
          <a:lstStyle/>
          <a:p>
            <a:r>
              <a:rPr lang="es-ES" sz="4000" dirty="0">
                <a:latin typeface="Atkinson Hyperlegible"/>
              </a:rPr>
              <a:t>Limitaciones de la red tradicional</a:t>
            </a:r>
            <a:endParaRPr lang="es-CL" sz="4000" noProof="0" dirty="0">
              <a:latin typeface="Atkinson Hyperlegible"/>
            </a:endParaRPr>
          </a:p>
        </p:txBody>
      </p:sp>
      <p:sp>
        <p:nvSpPr>
          <p:cNvPr id="10" name="CuadroTexto 9">
            <a:extLst>
              <a:ext uri="{FF2B5EF4-FFF2-40B4-BE49-F238E27FC236}">
                <a16:creationId xmlns:a16="http://schemas.microsoft.com/office/drawing/2014/main" id="{2C9DD465-BC51-8739-7423-A23CCB388E69}"/>
              </a:ext>
            </a:extLst>
          </p:cNvPr>
          <p:cNvSpPr txBox="1"/>
          <p:nvPr/>
        </p:nvSpPr>
        <p:spPr>
          <a:xfrm>
            <a:off x="148345" y="8861435"/>
            <a:ext cx="8849542" cy="1569660"/>
          </a:xfrm>
          <a:prstGeom prst="rect">
            <a:avLst/>
          </a:prstGeom>
          <a:noFill/>
        </p:spPr>
        <p:txBody>
          <a:bodyPr wrap="square">
            <a:spAutoFit/>
          </a:bodyPr>
          <a:lstStyle/>
          <a:p>
            <a:r>
              <a:rPr lang="es-CL" sz="2400" noProof="0" dirty="0">
                <a:latin typeface="Atkinson Hyperlegible"/>
              </a:rPr>
              <a:t>⚠️ </a:t>
            </a:r>
            <a:r>
              <a:rPr lang="es-CL" sz="2400" b="1" noProof="0" dirty="0">
                <a:latin typeface="Atkinson Hyperlegible"/>
              </a:rPr>
              <a:t>Nota al margen:</a:t>
            </a:r>
          </a:p>
          <a:p>
            <a:r>
              <a:rPr lang="es-CL" sz="2400" b="1" dirty="0" err="1">
                <a:latin typeface="Atkinson Hyperlegible"/>
              </a:rPr>
              <a:t>IETF</a:t>
            </a:r>
            <a:r>
              <a:rPr lang="es-CL" sz="2400" b="1" dirty="0">
                <a:latin typeface="Atkinson Hyperlegible"/>
              </a:rPr>
              <a:t> RFC 7426</a:t>
            </a:r>
            <a:r>
              <a:rPr lang="es-CL" sz="2400" dirty="0">
                <a:latin typeface="Atkinson Hyperlegible"/>
              </a:rPr>
              <a:t> — </a:t>
            </a:r>
            <a:r>
              <a:rPr lang="es-CL" sz="2400" dirty="0" err="1">
                <a:latin typeface="Atkinson Hyperlegible"/>
              </a:rPr>
              <a:t>SDN</a:t>
            </a:r>
            <a:r>
              <a:rPr lang="es-CL" sz="2400" dirty="0">
                <a:latin typeface="Atkinson Hyperlegible"/>
              </a:rPr>
              <a:t>: </a:t>
            </a:r>
            <a:r>
              <a:rPr lang="es-CL" sz="2400" dirty="0" err="1">
                <a:latin typeface="Atkinson Hyperlegible"/>
              </a:rPr>
              <a:t>Layers</a:t>
            </a:r>
            <a:r>
              <a:rPr lang="es-CL" sz="2400" dirty="0">
                <a:latin typeface="Atkinson Hyperlegible"/>
              </a:rPr>
              <a:t> and </a:t>
            </a:r>
            <a:r>
              <a:rPr lang="es-CL" sz="2400" dirty="0" err="1">
                <a:latin typeface="Atkinson Hyperlegible"/>
              </a:rPr>
              <a:t>Architecture</a:t>
            </a:r>
            <a:r>
              <a:rPr lang="es-CL" sz="2400" dirty="0">
                <a:latin typeface="Atkinson Hyperlegible"/>
              </a:rPr>
              <a:t> </a:t>
            </a:r>
            <a:r>
              <a:rPr lang="es-CL" sz="2400" dirty="0" err="1">
                <a:latin typeface="Atkinson Hyperlegible"/>
              </a:rPr>
              <a:t>Terminology</a:t>
            </a:r>
            <a:r>
              <a:rPr lang="es-CL" sz="2400" dirty="0">
                <a:latin typeface="Atkinson Hyperlegible"/>
              </a:rPr>
              <a:t>.</a:t>
            </a:r>
            <a:br>
              <a:rPr lang="es-CL" sz="2400" dirty="0">
                <a:latin typeface="Atkinson Hyperlegible"/>
              </a:rPr>
            </a:br>
            <a:r>
              <a:rPr lang="es-CL" sz="2400" b="1" dirty="0" err="1">
                <a:latin typeface="Atkinson Hyperlegible"/>
              </a:rPr>
              <a:t>ONF</a:t>
            </a:r>
            <a:r>
              <a:rPr lang="es-CL" sz="2400" b="1" dirty="0">
                <a:latin typeface="Atkinson Hyperlegible"/>
              </a:rPr>
              <a:t> </a:t>
            </a:r>
            <a:r>
              <a:rPr lang="es-CL" sz="2400" b="1" dirty="0" err="1">
                <a:latin typeface="Atkinson Hyperlegible"/>
              </a:rPr>
              <a:t>OpenFlow</a:t>
            </a:r>
            <a:r>
              <a:rPr lang="es-CL" sz="2400" b="1" dirty="0">
                <a:latin typeface="Atkinson Hyperlegible"/>
              </a:rPr>
              <a:t> Switch </a:t>
            </a:r>
            <a:r>
              <a:rPr lang="es-CL" sz="2400" b="1" dirty="0" err="1">
                <a:latin typeface="Atkinson Hyperlegible"/>
              </a:rPr>
              <a:t>Specification</a:t>
            </a:r>
            <a:r>
              <a:rPr lang="es-CL" sz="2400" dirty="0">
                <a:latin typeface="Atkinson Hyperlegible"/>
              </a:rPr>
              <a:t> — interfaz controlador–switch.</a:t>
            </a:r>
            <a:br>
              <a:rPr lang="es-CL" sz="2400" dirty="0">
                <a:latin typeface="Atkinson Hyperlegible"/>
              </a:rPr>
            </a:br>
            <a:r>
              <a:rPr lang="es-CL" sz="2400" b="1" dirty="0" err="1">
                <a:latin typeface="Atkinson Hyperlegible"/>
              </a:rPr>
              <a:t>OpenStack</a:t>
            </a:r>
            <a:r>
              <a:rPr lang="es-CL" sz="2400" b="1" dirty="0">
                <a:latin typeface="Atkinson Hyperlegible"/>
              </a:rPr>
              <a:t> </a:t>
            </a:r>
            <a:r>
              <a:rPr lang="es-CL" sz="2400" b="1" dirty="0" err="1">
                <a:latin typeface="Atkinson Hyperlegible"/>
              </a:rPr>
              <a:t>Documentation</a:t>
            </a:r>
            <a:r>
              <a:rPr lang="es-CL" sz="2400" dirty="0">
                <a:latin typeface="Atkinson Hyperlegible"/>
              </a:rPr>
              <a:t> — infraestructura </a:t>
            </a:r>
            <a:r>
              <a:rPr lang="es-CL" sz="2400" dirty="0" err="1">
                <a:latin typeface="Atkinson Hyperlegible"/>
              </a:rPr>
              <a:t>cloud</a:t>
            </a:r>
            <a:r>
              <a:rPr lang="es-CL" sz="2400" dirty="0">
                <a:latin typeface="Atkinson Hyperlegible"/>
              </a:rPr>
              <a:t> y virtualización.</a:t>
            </a:r>
            <a:endParaRPr lang="es-CL" sz="2400" noProof="0" dirty="0">
              <a:latin typeface="Atkinson Hyperlegible"/>
            </a:endParaRPr>
          </a:p>
        </p:txBody>
      </p:sp>
      <p:sp>
        <p:nvSpPr>
          <p:cNvPr id="17" name="5 Rectángulo">
            <a:extLst>
              <a:ext uri="{FF2B5EF4-FFF2-40B4-BE49-F238E27FC236}">
                <a16:creationId xmlns:a16="http://schemas.microsoft.com/office/drawing/2014/main" id="{B8CE4424-5711-486E-723C-6DFCDEBDA423}"/>
              </a:ext>
            </a:extLst>
          </p:cNvPr>
          <p:cNvSpPr/>
          <p:nvPr/>
        </p:nvSpPr>
        <p:spPr>
          <a:xfrm>
            <a:off x="1061209" y="1760004"/>
            <a:ext cx="18598386" cy="1077218"/>
          </a:xfrm>
          <a:prstGeom prst="rect">
            <a:avLst/>
          </a:prstGeom>
          <a:noFill/>
          <a:effectLst/>
        </p:spPr>
        <p:txBody>
          <a:bodyPr wrap="square" lIns="91440" tIns="45720" rIns="91440" bIns="45720" anchor="t">
            <a:spAutoFit/>
          </a:bodyPr>
          <a:lstStyle/>
          <a:p>
            <a:pPr algn="ctr"/>
            <a:r>
              <a:rPr lang="es-ES" sz="3200" dirty="0">
                <a:latin typeface="Atkinson Hyperlegible"/>
              </a:rPr>
              <a:t>Las </a:t>
            </a:r>
            <a:r>
              <a:rPr lang="es-ES" sz="3200" b="1" dirty="0" err="1">
                <a:latin typeface="Atkinson Hyperlegible"/>
              </a:rPr>
              <a:t>SDN</a:t>
            </a:r>
            <a:r>
              <a:rPr lang="es-ES" sz="3200" b="1" dirty="0">
                <a:latin typeface="Atkinson Hyperlegible"/>
              </a:rPr>
              <a:t> (Software </a:t>
            </a:r>
            <a:r>
              <a:rPr lang="es-ES" sz="3200" b="1" dirty="0" err="1">
                <a:latin typeface="Atkinson Hyperlegible"/>
              </a:rPr>
              <a:t>Defined</a:t>
            </a:r>
            <a:r>
              <a:rPr lang="es-ES" sz="3200" b="1" dirty="0">
                <a:latin typeface="Atkinson Hyperlegible"/>
              </a:rPr>
              <a:t> Networks)</a:t>
            </a:r>
            <a:r>
              <a:rPr lang="es-ES" sz="3200" dirty="0">
                <a:latin typeface="Atkinson Hyperlegible"/>
              </a:rPr>
              <a:t> surgen como respuesta a la necesidad de redes más </a:t>
            </a:r>
            <a:r>
              <a:rPr lang="es-ES" sz="3200" b="1" dirty="0">
                <a:latin typeface="Atkinson Hyperlegible"/>
              </a:rPr>
              <a:t>programables, automatizables y centralizadas en su control</a:t>
            </a:r>
            <a:r>
              <a:rPr lang="es-ES" sz="3200" dirty="0">
                <a:latin typeface="Atkinson Hyperlegible"/>
              </a:rPr>
              <a:t>.</a:t>
            </a:r>
            <a:endParaRPr lang="es-CL" sz="3200" b="1" i="1" noProof="0" dirty="0">
              <a:latin typeface="Atkinson Hyperlegible"/>
            </a:endParaRPr>
          </a:p>
        </p:txBody>
      </p:sp>
      <p:sp>
        <p:nvSpPr>
          <p:cNvPr id="2" name="5 Rectángulo">
            <a:extLst>
              <a:ext uri="{FF2B5EF4-FFF2-40B4-BE49-F238E27FC236}">
                <a16:creationId xmlns:a16="http://schemas.microsoft.com/office/drawing/2014/main" id="{D52169BF-52FB-04F3-AEE7-435153B9E9A3}"/>
              </a:ext>
            </a:extLst>
          </p:cNvPr>
          <p:cNvSpPr/>
          <p:nvPr/>
        </p:nvSpPr>
        <p:spPr>
          <a:xfrm>
            <a:off x="148345" y="2891363"/>
            <a:ext cx="8261137" cy="4031873"/>
          </a:xfrm>
          <a:prstGeom prst="rect">
            <a:avLst/>
          </a:prstGeom>
          <a:solidFill>
            <a:schemeClr val="accent6">
              <a:lumMod val="20000"/>
              <a:lumOff val="80000"/>
            </a:schemeClr>
          </a:solidFill>
          <a:effectLst/>
        </p:spPr>
        <p:txBody>
          <a:bodyPr wrap="square" lIns="91440" tIns="45720" rIns="91440" bIns="45720" anchor="t">
            <a:spAutoFit/>
          </a:bodyPr>
          <a:lstStyle/>
          <a:p>
            <a:r>
              <a:rPr lang="es-ES" sz="3200" b="1" dirty="0">
                <a:latin typeface="Atkinson Hyperlegible"/>
              </a:rPr>
              <a:t>¿Qué problema buscan resolver?</a:t>
            </a:r>
          </a:p>
          <a:p>
            <a:pPr marL="457200" indent="-457200">
              <a:buFont typeface="Arial" panose="020B0604020202020204" pitchFamily="34" charset="0"/>
              <a:buChar char="•"/>
            </a:pPr>
            <a:r>
              <a:rPr lang="es-ES" sz="3200" dirty="0">
                <a:latin typeface="Atkinson Hyperlegible"/>
              </a:rPr>
              <a:t>Configuración manual en múltiples equipos. </a:t>
            </a:r>
          </a:p>
          <a:p>
            <a:pPr marL="457200" indent="-457200">
              <a:buFont typeface="Arial" panose="020B0604020202020204" pitchFamily="34" charset="0"/>
              <a:buChar char="•"/>
            </a:pPr>
            <a:r>
              <a:rPr lang="es-ES" sz="3200" dirty="0">
                <a:latin typeface="Atkinson Hyperlegible"/>
              </a:rPr>
              <a:t>Baja flexibilidad ante cambios rápidos. </a:t>
            </a:r>
          </a:p>
          <a:p>
            <a:pPr marL="457200" indent="-457200">
              <a:buFont typeface="Arial" panose="020B0604020202020204" pitchFamily="34" charset="0"/>
              <a:buChar char="•"/>
            </a:pPr>
            <a:r>
              <a:rPr lang="es-ES" sz="3200" dirty="0">
                <a:latin typeface="Atkinson Hyperlegible"/>
              </a:rPr>
              <a:t>Dificultad para aplicar políticas uniformes. </a:t>
            </a:r>
          </a:p>
          <a:p>
            <a:pPr marL="457200" indent="-457200">
              <a:buFont typeface="Arial" panose="020B0604020202020204" pitchFamily="34" charset="0"/>
              <a:buChar char="•"/>
            </a:pPr>
            <a:r>
              <a:rPr lang="es-ES" sz="3200" dirty="0">
                <a:latin typeface="Atkinson Hyperlegible"/>
              </a:rPr>
              <a:t>Falta de visibilidad centralizada. </a:t>
            </a:r>
          </a:p>
          <a:p>
            <a:pPr marL="457200" indent="-457200">
              <a:buFont typeface="Arial" panose="020B0604020202020204" pitchFamily="34" charset="0"/>
              <a:buChar char="•"/>
            </a:pPr>
            <a:r>
              <a:rPr lang="es-ES" sz="3200" dirty="0">
                <a:latin typeface="Atkinson Hyperlegible"/>
              </a:rPr>
              <a:t>Dependencia fuerte de hardware específico. </a:t>
            </a:r>
          </a:p>
          <a:p>
            <a:pPr marL="457200" indent="-457200">
              <a:buFont typeface="Arial" panose="020B0604020202020204" pitchFamily="34" charset="0"/>
              <a:buChar char="•"/>
            </a:pPr>
            <a:r>
              <a:rPr lang="es-ES" sz="3200" dirty="0">
                <a:latin typeface="Atkinson Hyperlegible"/>
              </a:rPr>
              <a:t>Crecimiento de redes </a:t>
            </a:r>
            <a:r>
              <a:rPr lang="es-ES" sz="3200" dirty="0" err="1">
                <a:latin typeface="Atkinson Hyperlegible"/>
              </a:rPr>
              <a:t>cloud</a:t>
            </a:r>
            <a:r>
              <a:rPr lang="es-ES" sz="3200" dirty="0">
                <a:latin typeface="Atkinson Hyperlegible"/>
              </a:rPr>
              <a:t>, data centers y servicios dinámicos.</a:t>
            </a:r>
          </a:p>
        </p:txBody>
      </p:sp>
      <p:sp>
        <p:nvSpPr>
          <p:cNvPr id="3" name="5 Rectángulo">
            <a:extLst>
              <a:ext uri="{FF2B5EF4-FFF2-40B4-BE49-F238E27FC236}">
                <a16:creationId xmlns:a16="http://schemas.microsoft.com/office/drawing/2014/main" id="{034BECBC-85E8-3B7B-4482-8CF4AEB7D978}"/>
              </a:ext>
            </a:extLst>
          </p:cNvPr>
          <p:cNvSpPr/>
          <p:nvPr/>
        </p:nvSpPr>
        <p:spPr>
          <a:xfrm>
            <a:off x="317634" y="7502632"/>
            <a:ext cx="10042768" cy="1077218"/>
          </a:xfrm>
          <a:prstGeom prst="rect">
            <a:avLst/>
          </a:prstGeom>
          <a:noFill/>
          <a:effectLst/>
        </p:spPr>
        <p:txBody>
          <a:bodyPr wrap="square" lIns="91440" tIns="45720" rIns="91440" bIns="45720" anchor="t">
            <a:spAutoFit/>
          </a:bodyPr>
          <a:lstStyle/>
          <a:p>
            <a:pPr algn="ctr"/>
            <a:r>
              <a:rPr lang="es-ES" sz="3200" b="1" dirty="0" err="1">
                <a:latin typeface="Atkinson Hyperlegible"/>
              </a:rPr>
              <a:t>SDN</a:t>
            </a:r>
            <a:r>
              <a:rPr lang="es-ES" sz="3200" b="1" dirty="0">
                <a:latin typeface="Atkinson Hyperlegible"/>
              </a:rPr>
              <a:t> permite controlar la red mediante software, separando la lógica de decisión del reenvío de paquetes.</a:t>
            </a:r>
            <a:endParaRPr lang="es-CL" sz="3200" b="1" i="1" noProof="0" dirty="0">
              <a:latin typeface="Atkinson Hyperlegible"/>
            </a:endParaRPr>
          </a:p>
        </p:txBody>
      </p:sp>
      <p:sp>
        <p:nvSpPr>
          <p:cNvPr id="5" name="CuadroTexto 4">
            <a:extLst>
              <a:ext uri="{FF2B5EF4-FFF2-40B4-BE49-F238E27FC236}">
                <a16:creationId xmlns:a16="http://schemas.microsoft.com/office/drawing/2014/main" id="{AA76F831-3D61-B059-396D-71C6B056E17B}"/>
              </a:ext>
            </a:extLst>
          </p:cNvPr>
          <p:cNvSpPr txBox="1"/>
          <p:nvPr/>
        </p:nvSpPr>
        <p:spPr>
          <a:xfrm>
            <a:off x="12144857" y="6750727"/>
            <a:ext cx="4968094" cy="3108543"/>
          </a:xfrm>
          <a:prstGeom prst="rect">
            <a:avLst/>
          </a:prstGeom>
          <a:solidFill>
            <a:schemeClr val="accent3">
              <a:lumMod val="20000"/>
              <a:lumOff val="80000"/>
            </a:schemeClr>
          </a:solidFill>
        </p:spPr>
        <p:txBody>
          <a:bodyPr wrap="square">
            <a:spAutoFit/>
          </a:bodyPr>
          <a:lstStyle/>
          <a:p>
            <a:pPr algn="ctr"/>
            <a:r>
              <a:rPr lang="es-CL" sz="2800" b="1" dirty="0">
                <a:ln w="0"/>
                <a:effectLst>
                  <a:outerShdw blurRad="38100" dist="19050" dir="2700000" algn="tl" rotWithShape="0">
                    <a:schemeClr val="dk1">
                      <a:alpha val="40000"/>
                    </a:schemeClr>
                  </a:outerShdw>
                </a:effectLst>
                <a:latin typeface="Atkinson Hyperlegible"/>
              </a:rPr>
              <a:t>Red tradicional</a:t>
            </a:r>
          </a:p>
          <a:p>
            <a:pPr algn="ctr"/>
            <a:r>
              <a:rPr lang="es-CL" sz="2800" b="1" dirty="0">
                <a:ln w="0"/>
                <a:effectLst>
                  <a:outerShdw blurRad="38100" dist="19050" dir="2700000" algn="tl" rotWithShape="0">
                    <a:schemeClr val="dk1">
                      <a:alpha val="40000"/>
                    </a:schemeClr>
                  </a:outerShdw>
                </a:effectLst>
                <a:latin typeface="Atkinson Hyperlegible"/>
              </a:rPr>
              <a:t>      ↓</a:t>
            </a:r>
          </a:p>
          <a:p>
            <a:pPr algn="ctr"/>
            <a:r>
              <a:rPr lang="es-CL" sz="2800" b="1" dirty="0">
                <a:ln w="0"/>
                <a:effectLst>
                  <a:outerShdw blurRad="38100" dist="19050" dir="2700000" algn="tl" rotWithShape="0">
                    <a:schemeClr val="dk1">
                      <a:alpha val="40000"/>
                    </a:schemeClr>
                  </a:outerShdw>
                </a:effectLst>
                <a:latin typeface="Atkinson Hyperlegible"/>
              </a:rPr>
              <a:t>Virtualización de funciones</a:t>
            </a:r>
          </a:p>
          <a:p>
            <a:pPr algn="ctr"/>
            <a:r>
              <a:rPr lang="es-CL" sz="2800" b="1" dirty="0">
                <a:ln w="0"/>
                <a:effectLst>
                  <a:outerShdw blurRad="38100" dist="19050" dir="2700000" algn="tl" rotWithShape="0">
                    <a:schemeClr val="dk1">
                      <a:alpha val="40000"/>
                    </a:schemeClr>
                  </a:outerShdw>
                </a:effectLst>
                <a:latin typeface="Atkinson Hyperlegible"/>
              </a:rPr>
              <a:t>      ↓</a:t>
            </a:r>
          </a:p>
          <a:p>
            <a:pPr algn="ctr"/>
            <a:r>
              <a:rPr lang="es-CL" sz="2800" b="1" dirty="0">
                <a:ln w="0"/>
                <a:effectLst>
                  <a:outerShdw blurRad="38100" dist="19050" dir="2700000" algn="tl" rotWithShape="0">
                    <a:schemeClr val="dk1">
                      <a:alpha val="40000"/>
                    </a:schemeClr>
                  </a:outerShdw>
                </a:effectLst>
                <a:latin typeface="Atkinson Hyperlegible"/>
              </a:rPr>
              <a:t>Separación control / datos</a:t>
            </a:r>
          </a:p>
          <a:p>
            <a:pPr algn="ctr"/>
            <a:r>
              <a:rPr lang="es-CL" sz="2800" b="1" dirty="0">
                <a:ln w="0"/>
                <a:effectLst>
                  <a:outerShdw blurRad="38100" dist="19050" dir="2700000" algn="tl" rotWithShape="0">
                    <a:schemeClr val="dk1">
                      <a:alpha val="40000"/>
                    </a:schemeClr>
                  </a:outerShdw>
                </a:effectLst>
                <a:latin typeface="Atkinson Hyperlegible"/>
              </a:rPr>
              <a:t>      ↓</a:t>
            </a:r>
          </a:p>
          <a:p>
            <a:pPr algn="ctr"/>
            <a:r>
              <a:rPr lang="es-CL" sz="2800" b="1" dirty="0">
                <a:ln w="0"/>
                <a:effectLst>
                  <a:outerShdw blurRad="38100" dist="19050" dir="2700000" algn="tl" rotWithShape="0">
                    <a:schemeClr val="dk1">
                      <a:alpha val="40000"/>
                    </a:schemeClr>
                  </a:outerShdw>
                </a:effectLst>
                <a:latin typeface="Atkinson Hyperlegible"/>
              </a:rPr>
              <a:t>Red definida por software (</a:t>
            </a:r>
            <a:r>
              <a:rPr lang="es-CL" sz="2800" b="1" dirty="0" err="1">
                <a:ln w="0"/>
                <a:effectLst>
                  <a:outerShdw blurRad="38100" dist="19050" dir="2700000" algn="tl" rotWithShape="0">
                    <a:schemeClr val="dk1">
                      <a:alpha val="40000"/>
                    </a:schemeClr>
                  </a:outerShdw>
                </a:effectLst>
                <a:latin typeface="Atkinson Hyperlegible"/>
              </a:rPr>
              <a:t>SDN</a:t>
            </a:r>
            <a:r>
              <a:rPr lang="es-CL" sz="2000" b="1" dirty="0">
                <a:ln w="0"/>
                <a:effectLst>
                  <a:outerShdw blurRad="38100" dist="19050" dir="2700000" algn="tl" rotWithShape="0">
                    <a:schemeClr val="dk1">
                      <a:alpha val="40000"/>
                    </a:schemeClr>
                  </a:outerShdw>
                </a:effectLst>
                <a:latin typeface="Atkinson Hyperlegible"/>
              </a:rPr>
              <a:t>)</a:t>
            </a:r>
          </a:p>
        </p:txBody>
      </p:sp>
      <p:graphicFrame>
        <p:nvGraphicFramePr>
          <p:cNvPr id="6" name="Tabla 5">
            <a:extLst>
              <a:ext uri="{FF2B5EF4-FFF2-40B4-BE49-F238E27FC236}">
                <a16:creationId xmlns:a16="http://schemas.microsoft.com/office/drawing/2014/main" id="{ACD9A548-6686-37A7-D4FB-CE79044ED682}"/>
              </a:ext>
            </a:extLst>
          </p:cNvPr>
          <p:cNvGraphicFramePr>
            <a:graphicFrameLocks noGrp="1"/>
          </p:cNvGraphicFramePr>
          <p:nvPr>
            <p:extLst>
              <p:ext uri="{D42A27DB-BD31-4B8C-83A1-F6EECF244321}">
                <p14:modId xmlns:p14="http://schemas.microsoft.com/office/powerpoint/2010/main" val="3159176094"/>
              </p:ext>
            </p:extLst>
          </p:nvPr>
        </p:nvGraphicFramePr>
        <p:xfrm>
          <a:off x="8649857" y="2924004"/>
          <a:ext cx="11009738" cy="3535680"/>
        </p:xfrm>
        <a:graphic>
          <a:graphicData uri="http://schemas.openxmlformats.org/drawingml/2006/table">
            <a:tbl>
              <a:tblPr>
                <a:tableStyleId>{793D81CF-94F2-401A-BA57-92F5A7B2D0C5}</a:tableStyleId>
              </a:tblPr>
              <a:tblGrid>
                <a:gridCol w="5504869">
                  <a:extLst>
                    <a:ext uri="{9D8B030D-6E8A-4147-A177-3AD203B41FA5}">
                      <a16:colId xmlns:a16="http://schemas.microsoft.com/office/drawing/2014/main" val="367681567"/>
                    </a:ext>
                  </a:extLst>
                </a:gridCol>
                <a:gridCol w="5504869">
                  <a:extLst>
                    <a:ext uri="{9D8B030D-6E8A-4147-A177-3AD203B41FA5}">
                      <a16:colId xmlns:a16="http://schemas.microsoft.com/office/drawing/2014/main" val="2526925335"/>
                    </a:ext>
                  </a:extLst>
                </a:gridCol>
              </a:tblGrid>
              <a:tr h="463080">
                <a:tc>
                  <a:txBody>
                    <a:bodyPr/>
                    <a:lstStyle/>
                    <a:p>
                      <a:pPr algn="ctr">
                        <a:buNone/>
                      </a:pPr>
                      <a:r>
                        <a:rPr lang="es-CL" sz="2800" b="1" dirty="0">
                          <a:latin typeface="Atkinson Hyperlegible"/>
                        </a:rPr>
                        <a:t>Red tradicional</a:t>
                      </a:r>
                    </a:p>
                  </a:txBody>
                  <a:tcPr anchor="ctr"/>
                </a:tc>
                <a:tc>
                  <a:txBody>
                    <a:bodyPr/>
                    <a:lstStyle/>
                    <a:p>
                      <a:pPr algn="ctr">
                        <a:buNone/>
                      </a:pPr>
                      <a:r>
                        <a:rPr lang="es-CL" sz="2800" b="1">
                          <a:latin typeface="Atkinson Hyperlegible"/>
                        </a:rPr>
                        <a:t>Red SDN</a:t>
                      </a:r>
                    </a:p>
                  </a:txBody>
                  <a:tcPr anchor="ctr"/>
                </a:tc>
                <a:extLst>
                  <a:ext uri="{0D108BD9-81ED-4DB2-BD59-A6C34878D82A}">
                    <a16:rowId xmlns:a16="http://schemas.microsoft.com/office/drawing/2014/main" val="1240240422"/>
                  </a:ext>
                </a:extLst>
              </a:tr>
              <a:tr h="811275">
                <a:tc>
                  <a:txBody>
                    <a:bodyPr/>
                    <a:lstStyle/>
                    <a:p>
                      <a:pPr algn="ctr">
                        <a:buNone/>
                      </a:pPr>
                      <a:r>
                        <a:rPr lang="es-CL" sz="2800" b="1" dirty="0">
                          <a:latin typeface="Atkinson Hyperlegible"/>
                        </a:rPr>
                        <a:t>Cada equipo decide localmente</a:t>
                      </a:r>
                    </a:p>
                  </a:txBody>
                  <a:tcPr anchor="ctr"/>
                </a:tc>
                <a:tc>
                  <a:txBody>
                    <a:bodyPr/>
                    <a:lstStyle/>
                    <a:p>
                      <a:pPr algn="ctr">
                        <a:buNone/>
                      </a:pPr>
                      <a:r>
                        <a:rPr lang="es-ES" sz="2800" b="1">
                          <a:latin typeface="Atkinson Hyperlegible"/>
                        </a:rPr>
                        <a:t>El control puede ser centralizado lógicamente</a:t>
                      </a:r>
                    </a:p>
                  </a:txBody>
                  <a:tcPr anchor="ctr"/>
                </a:tc>
                <a:extLst>
                  <a:ext uri="{0D108BD9-81ED-4DB2-BD59-A6C34878D82A}">
                    <a16:rowId xmlns:a16="http://schemas.microsoft.com/office/drawing/2014/main" val="613349181"/>
                  </a:ext>
                </a:extLst>
              </a:tr>
              <a:tr h="458547">
                <a:tc>
                  <a:txBody>
                    <a:bodyPr/>
                    <a:lstStyle/>
                    <a:p>
                      <a:pPr algn="ctr">
                        <a:buNone/>
                      </a:pPr>
                      <a:r>
                        <a:rPr lang="es-CL" sz="2800" b="1" dirty="0">
                          <a:latin typeface="Atkinson Hyperlegible"/>
                        </a:rPr>
                        <a:t>Configuración equipo por equipo</a:t>
                      </a:r>
                    </a:p>
                  </a:txBody>
                  <a:tcPr anchor="ctr"/>
                </a:tc>
                <a:tc>
                  <a:txBody>
                    <a:bodyPr/>
                    <a:lstStyle/>
                    <a:p>
                      <a:pPr algn="ctr">
                        <a:buNone/>
                      </a:pPr>
                      <a:r>
                        <a:rPr lang="es-CL" sz="2800" b="1">
                          <a:latin typeface="Atkinson Hyperlegible"/>
                        </a:rPr>
                        <a:t>Políticas aplicadas desde software</a:t>
                      </a:r>
                    </a:p>
                  </a:txBody>
                  <a:tcPr anchor="ctr"/>
                </a:tc>
                <a:extLst>
                  <a:ext uri="{0D108BD9-81ED-4DB2-BD59-A6C34878D82A}">
                    <a16:rowId xmlns:a16="http://schemas.microsoft.com/office/drawing/2014/main" val="2349669848"/>
                  </a:ext>
                </a:extLst>
              </a:tr>
              <a:tr h="458547">
                <a:tc>
                  <a:txBody>
                    <a:bodyPr/>
                    <a:lstStyle/>
                    <a:p>
                      <a:pPr algn="ctr">
                        <a:buNone/>
                      </a:pPr>
                      <a:r>
                        <a:rPr lang="es-CL" sz="2800" b="1" dirty="0">
                          <a:latin typeface="Atkinson Hyperlegible"/>
                        </a:rPr>
                        <a:t>Cambios manuales</a:t>
                      </a:r>
                    </a:p>
                  </a:txBody>
                  <a:tcPr anchor="ctr"/>
                </a:tc>
                <a:tc>
                  <a:txBody>
                    <a:bodyPr/>
                    <a:lstStyle/>
                    <a:p>
                      <a:pPr algn="ctr">
                        <a:buNone/>
                      </a:pPr>
                      <a:r>
                        <a:rPr lang="es-CL" sz="2800" b="1">
                          <a:latin typeface="Atkinson Hyperlegible"/>
                        </a:rPr>
                        <a:t>Automatización y programación</a:t>
                      </a:r>
                    </a:p>
                  </a:txBody>
                  <a:tcPr anchor="ctr"/>
                </a:tc>
                <a:extLst>
                  <a:ext uri="{0D108BD9-81ED-4DB2-BD59-A6C34878D82A}">
                    <a16:rowId xmlns:a16="http://schemas.microsoft.com/office/drawing/2014/main" val="441959316"/>
                  </a:ext>
                </a:extLst>
              </a:tr>
              <a:tr h="458547">
                <a:tc>
                  <a:txBody>
                    <a:bodyPr/>
                    <a:lstStyle/>
                    <a:p>
                      <a:pPr algn="ctr">
                        <a:buNone/>
                      </a:pPr>
                      <a:r>
                        <a:rPr lang="es-CL" sz="2800" b="1">
                          <a:latin typeface="Atkinson Hyperlegible"/>
                        </a:rPr>
                        <a:t>Visibilidad fragmentada</a:t>
                      </a:r>
                    </a:p>
                  </a:txBody>
                  <a:tcPr anchor="ctr"/>
                </a:tc>
                <a:tc>
                  <a:txBody>
                    <a:bodyPr/>
                    <a:lstStyle/>
                    <a:p>
                      <a:pPr algn="ctr">
                        <a:buNone/>
                      </a:pPr>
                      <a:r>
                        <a:rPr lang="es-ES" sz="2800" b="1">
                          <a:latin typeface="Atkinson Hyperlegible"/>
                        </a:rPr>
                        <a:t>Visión más global de la red</a:t>
                      </a:r>
                    </a:p>
                  </a:txBody>
                  <a:tcPr anchor="ctr"/>
                </a:tc>
                <a:extLst>
                  <a:ext uri="{0D108BD9-81ED-4DB2-BD59-A6C34878D82A}">
                    <a16:rowId xmlns:a16="http://schemas.microsoft.com/office/drawing/2014/main" val="2107549743"/>
                  </a:ext>
                </a:extLst>
              </a:tr>
              <a:tr h="458547">
                <a:tc>
                  <a:txBody>
                    <a:bodyPr/>
                    <a:lstStyle/>
                    <a:p>
                      <a:pPr algn="ctr">
                        <a:buNone/>
                      </a:pPr>
                      <a:r>
                        <a:rPr lang="es-CL" sz="2800" b="1" dirty="0">
                          <a:latin typeface="Atkinson Hyperlegible"/>
                        </a:rPr>
                        <a:t>Hardware con lógica integrada</a:t>
                      </a:r>
                    </a:p>
                  </a:txBody>
                  <a:tcPr anchor="ctr"/>
                </a:tc>
                <a:tc>
                  <a:txBody>
                    <a:bodyPr/>
                    <a:lstStyle/>
                    <a:p>
                      <a:pPr algn="ctr">
                        <a:buNone/>
                      </a:pPr>
                      <a:r>
                        <a:rPr lang="es-ES" sz="2800" b="1" dirty="0">
                          <a:latin typeface="Atkinson Hyperlegible"/>
                        </a:rPr>
                        <a:t>Separación entre control y reenvío</a:t>
                      </a:r>
                    </a:p>
                  </a:txBody>
                  <a:tcPr anchor="ctr"/>
                </a:tc>
                <a:extLst>
                  <a:ext uri="{0D108BD9-81ED-4DB2-BD59-A6C34878D82A}">
                    <a16:rowId xmlns:a16="http://schemas.microsoft.com/office/drawing/2014/main" val="3752610823"/>
                  </a:ext>
                </a:extLst>
              </a:tr>
            </a:tbl>
          </a:graphicData>
        </a:graphic>
      </p:graphicFrame>
    </p:spTree>
    <p:extLst>
      <p:ext uri="{BB962C8B-B14F-4D97-AF65-F5344CB8AC3E}">
        <p14:creationId xmlns:p14="http://schemas.microsoft.com/office/powerpoint/2010/main" val="10460345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64519E1D-F4C7-5957-C1E1-2F32D53A012B}"/>
            </a:ext>
          </a:extLst>
        </p:cNvPr>
        <p:cNvGrpSpPr/>
        <p:nvPr/>
      </p:nvGrpSpPr>
      <p:grpSpPr>
        <a:xfrm>
          <a:off x="0" y="0"/>
          <a:ext cx="0" cy="0"/>
          <a:chOff x="0" y="0"/>
          <a:chExt cx="0" cy="0"/>
        </a:xfrm>
      </p:grpSpPr>
      <p:cxnSp>
        <p:nvCxnSpPr>
          <p:cNvPr id="9" name="Conector recto 8">
            <a:extLst>
              <a:ext uri="{FF2B5EF4-FFF2-40B4-BE49-F238E27FC236}">
                <a16:creationId xmlns:a16="http://schemas.microsoft.com/office/drawing/2014/main" id="{D6B6F5A0-0A59-E32E-84A1-3586F85A9332}"/>
              </a:ext>
            </a:extLst>
          </p:cNvPr>
          <p:cNvCxnSpPr>
            <a:cxnSpLocks/>
          </p:cNvCxnSpPr>
          <p:nvPr/>
        </p:nvCxnSpPr>
        <p:spPr>
          <a:xfrm>
            <a:off x="679450" y="-136525"/>
            <a:ext cx="0" cy="1524000"/>
          </a:xfrm>
          <a:prstGeom prst="line">
            <a:avLst/>
          </a:prstGeom>
          <a:ln w="31750">
            <a:solidFill>
              <a:schemeClr val="tx1"/>
            </a:solidFill>
          </a:ln>
        </p:spPr>
        <p:style>
          <a:lnRef idx="1">
            <a:schemeClr val="dk1"/>
          </a:lnRef>
          <a:fillRef idx="0">
            <a:schemeClr val="dk1"/>
          </a:fillRef>
          <a:effectRef idx="0">
            <a:schemeClr val="dk1"/>
          </a:effectRef>
          <a:fontRef idx="minor">
            <a:schemeClr val="tx1"/>
          </a:fontRef>
        </p:style>
      </p:cxnSp>
      <p:sp>
        <p:nvSpPr>
          <p:cNvPr id="14" name="object 3">
            <a:extLst>
              <a:ext uri="{FF2B5EF4-FFF2-40B4-BE49-F238E27FC236}">
                <a16:creationId xmlns:a16="http://schemas.microsoft.com/office/drawing/2014/main" id="{3E157BD9-CB89-9B3B-A0DF-A3D52CCB80A7}"/>
              </a:ext>
            </a:extLst>
          </p:cNvPr>
          <p:cNvSpPr txBox="1"/>
          <p:nvPr/>
        </p:nvSpPr>
        <p:spPr>
          <a:xfrm>
            <a:off x="1382157" y="-44605"/>
            <a:ext cx="18277439" cy="1030410"/>
          </a:xfrm>
          <a:prstGeom prst="rect">
            <a:avLst/>
          </a:prstGeom>
          <a:noFill/>
        </p:spPr>
        <p:txBody>
          <a:bodyPr vert="horz" wrap="square" lIns="0" tIns="349885" rIns="0" bIns="0" rtlCol="0">
            <a:spAutoFit/>
          </a:bodyPr>
          <a:lstStyle/>
          <a:p>
            <a:r>
              <a:rPr lang="es-ES" sz="4400" b="1" dirty="0">
                <a:latin typeface="Atkinson Hyperlegible"/>
              </a:rPr>
              <a:t>DESARROLLO DE LAS </a:t>
            </a:r>
            <a:r>
              <a:rPr lang="es-ES" sz="4400" b="1" dirty="0" err="1">
                <a:latin typeface="Atkinson Hyperlegible"/>
              </a:rPr>
              <a:t>SDN</a:t>
            </a:r>
            <a:r>
              <a:rPr lang="es-ES" sz="4400" b="1" dirty="0">
                <a:latin typeface="Atkinson Hyperlegible"/>
              </a:rPr>
              <a:t>: REDES BASADAS EN SOFTWARE</a:t>
            </a:r>
            <a:endParaRPr lang="es-CL" sz="2800" b="1" kern="100" noProof="0" dirty="0">
              <a:effectLst/>
              <a:latin typeface="Atkinson Hyperlegible"/>
              <a:ea typeface="Calibri" panose="020F0502020204030204" pitchFamily="34" charset="0"/>
              <a:cs typeface="Gotham" pitchFamily="2" charset="0"/>
            </a:endParaRPr>
          </a:p>
        </p:txBody>
      </p:sp>
      <p:sp>
        <p:nvSpPr>
          <p:cNvPr id="7" name="CuadroTexto 6">
            <a:extLst>
              <a:ext uri="{FF2B5EF4-FFF2-40B4-BE49-F238E27FC236}">
                <a16:creationId xmlns:a16="http://schemas.microsoft.com/office/drawing/2014/main" id="{8D08D87E-A3D7-B2CF-1250-3B2953B53305}"/>
              </a:ext>
            </a:extLst>
          </p:cNvPr>
          <p:cNvSpPr txBox="1"/>
          <p:nvPr/>
        </p:nvSpPr>
        <p:spPr>
          <a:xfrm>
            <a:off x="1382157" y="898721"/>
            <a:ext cx="17055745" cy="707886"/>
          </a:xfrm>
          <a:prstGeom prst="rect">
            <a:avLst/>
          </a:prstGeom>
          <a:noFill/>
        </p:spPr>
        <p:txBody>
          <a:bodyPr wrap="square">
            <a:spAutoFit/>
          </a:bodyPr>
          <a:lstStyle/>
          <a:p>
            <a:r>
              <a:rPr lang="es-ES" sz="4000" dirty="0">
                <a:latin typeface="Atkinson Hyperlegible"/>
              </a:rPr>
              <a:t>Separación entre plano de control y plano de datos</a:t>
            </a:r>
            <a:endParaRPr lang="es-CL" sz="4000" noProof="0" dirty="0">
              <a:latin typeface="Atkinson Hyperlegible"/>
            </a:endParaRPr>
          </a:p>
        </p:txBody>
      </p:sp>
      <p:sp>
        <p:nvSpPr>
          <p:cNvPr id="10" name="CuadroTexto 9">
            <a:extLst>
              <a:ext uri="{FF2B5EF4-FFF2-40B4-BE49-F238E27FC236}">
                <a16:creationId xmlns:a16="http://schemas.microsoft.com/office/drawing/2014/main" id="{2B6CE93D-056D-F5BF-AD00-565FF62C314A}"/>
              </a:ext>
            </a:extLst>
          </p:cNvPr>
          <p:cNvSpPr txBox="1"/>
          <p:nvPr/>
        </p:nvSpPr>
        <p:spPr>
          <a:xfrm>
            <a:off x="148345" y="8861435"/>
            <a:ext cx="8849542" cy="1569660"/>
          </a:xfrm>
          <a:prstGeom prst="rect">
            <a:avLst/>
          </a:prstGeom>
          <a:noFill/>
        </p:spPr>
        <p:txBody>
          <a:bodyPr wrap="square">
            <a:spAutoFit/>
          </a:bodyPr>
          <a:lstStyle/>
          <a:p>
            <a:r>
              <a:rPr lang="es-CL" sz="2400" noProof="0" dirty="0">
                <a:latin typeface="Atkinson Hyperlegible"/>
              </a:rPr>
              <a:t>⚠️ </a:t>
            </a:r>
            <a:r>
              <a:rPr lang="es-CL" sz="2400" b="1" noProof="0" dirty="0">
                <a:latin typeface="Atkinson Hyperlegible"/>
              </a:rPr>
              <a:t>Nota al margen:</a:t>
            </a:r>
          </a:p>
          <a:p>
            <a:r>
              <a:rPr lang="es-CL" sz="2400" b="1" dirty="0" err="1">
                <a:latin typeface="Atkinson Hyperlegible"/>
              </a:rPr>
              <a:t>IETF</a:t>
            </a:r>
            <a:r>
              <a:rPr lang="es-CL" sz="2400" b="1" dirty="0">
                <a:latin typeface="Atkinson Hyperlegible"/>
              </a:rPr>
              <a:t> RFC 7426</a:t>
            </a:r>
            <a:r>
              <a:rPr lang="es-CL" sz="2400" dirty="0">
                <a:latin typeface="Atkinson Hyperlegible"/>
              </a:rPr>
              <a:t> — </a:t>
            </a:r>
            <a:r>
              <a:rPr lang="es-CL" sz="2400" dirty="0" err="1">
                <a:latin typeface="Atkinson Hyperlegible"/>
              </a:rPr>
              <a:t>SDN</a:t>
            </a:r>
            <a:r>
              <a:rPr lang="es-CL" sz="2400" dirty="0">
                <a:latin typeface="Atkinson Hyperlegible"/>
              </a:rPr>
              <a:t>: </a:t>
            </a:r>
            <a:r>
              <a:rPr lang="es-CL" sz="2400" dirty="0" err="1">
                <a:latin typeface="Atkinson Hyperlegible"/>
              </a:rPr>
              <a:t>Layers</a:t>
            </a:r>
            <a:r>
              <a:rPr lang="es-CL" sz="2400" dirty="0">
                <a:latin typeface="Atkinson Hyperlegible"/>
              </a:rPr>
              <a:t> and </a:t>
            </a:r>
            <a:r>
              <a:rPr lang="es-CL" sz="2400" dirty="0" err="1">
                <a:latin typeface="Atkinson Hyperlegible"/>
              </a:rPr>
              <a:t>Architecture</a:t>
            </a:r>
            <a:r>
              <a:rPr lang="es-CL" sz="2400" dirty="0">
                <a:latin typeface="Atkinson Hyperlegible"/>
              </a:rPr>
              <a:t> </a:t>
            </a:r>
            <a:r>
              <a:rPr lang="es-CL" sz="2400" dirty="0" err="1">
                <a:latin typeface="Atkinson Hyperlegible"/>
              </a:rPr>
              <a:t>Terminology</a:t>
            </a:r>
            <a:r>
              <a:rPr lang="es-CL" sz="2400" dirty="0">
                <a:latin typeface="Atkinson Hyperlegible"/>
              </a:rPr>
              <a:t>.</a:t>
            </a:r>
            <a:br>
              <a:rPr lang="es-CL" sz="2400" dirty="0">
                <a:latin typeface="Atkinson Hyperlegible"/>
              </a:rPr>
            </a:br>
            <a:r>
              <a:rPr lang="es-CL" sz="2400" b="1" dirty="0" err="1">
                <a:latin typeface="Atkinson Hyperlegible"/>
              </a:rPr>
              <a:t>ONF</a:t>
            </a:r>
            <a:r>
              <a:rPr lang="es-CL" sz="2400" b="1" dirty="0">
                <a:latin typeface="Atkinson Hyperlegible"/>
              </a:rPr>
              <a:t> </a:t>
            </a:r>
            <a:r>
              <a:rPr lang="es-CL" sz="2400" b="1" dirty="0" err="1">
                <a:latin typeface="Atkinson Hyperlegible"/>
              </a:rPr>
              <a:t>OpenFlow</a:t>
            </a:r>
            <a:r>
              <a:rPr lang="es-CL" sz="2400" b="1" dirty="0">
                <a:latin typeface="Atkinson Hyperlegible"/>
              </a:rPr>
              <a:t> Switch </a:t>
            </a:r>
            <a:r>
              <a:rPr lang="es-CL" sz="2400" b="1" dirty="0" err="1">
                <a:latin typeface="Atkinson Hyperlegible"/>
              </a:rPr>
              <a:t>Specification</a:t>
            </a:r>
            <a:r>
              <a:rPr lang="es-CL" sz="2400" dirty="0">
                <a:latin typeface="Atkinson Hyperlegible"/>
              </a:rPr>
              <a:t> — interfaz controlador–switch.</a:t>
            </a:r>
            <a:br>
              <a:rPr lang="es-CL" sz="2400" dirty="0">
                <a:latin typeface="Atkinson Hyperlegible"/>
              </a:rPr>
            </a:br>
            <a:r>
              <a:rPr lang="es-CL" sz="2400" b="1" dirty="0" err="1">
                <a:latin typeface="Atkinson Hyperlegible"/>
              </a:rPr>
              <a:t>OpenStack</a:t>
            </a:r>
            <a:r>
              <a:rPr lang="es-CL" sz="2400" b="1" dirty="0">
                <a:latin typeface="Atkinson Hyperlegible"/>
              </a:rPr>
              <a:t> </a:t>
            </a:r>
            <a:r>
              <a:rPr lang="es-CL" sz="2400" b="1" dirty="0" err="1">
                <a:latin typeface="Atkinson Hyperlegible"/>
              </a:rPr>
              <a:t>Documentation</a:t>
            </a:r>
            <a:r>
              <a:rPr lang="es-CL" sz="2400" dirty="0">
                <a:latin typeface="Atkinson Hyperlegible"/>
              </a:rPr>
              <a:t> — infraestructura </a:t>
            </a:r>
            <a:r>
              <a:rPr lang="es-CL" sz="2400" dirty="0" err="1">
                <a:latin typeface="Atkinson Hyperlegible"/>
              </a:rPr>
              <a:t>cloud</a:t>
            </a:r>
            <a:r>
              <a:rPr lang="es-CL" sz="2400" dirty="0">
                <a:latin typeface="Atkinson Hyperlegible"/>
              </a:rPr>
              <a:t> y virtualización.</a:t>
            </a:r>
            <a:endParaRPr lang="es-CL" sz="2400" noProof="0" dirty="0">
              <a:latin typeface="Atkinson Hyperlegible"/>
            </a:endParaRPr>
          </a:p>
        </p:txBody>
      </p:sp>
      <p:sp>
        <p:nvSpPr>
          <p:cNvPr id="17" name="5 Rectángulo">
            <a:extLst>
              <a:ext uri="{FF2B5EF4-FFF2-40B4-BE49-F238E27FC236}">
                <a16:creationId xmlns:a16="http://schemas.microsoft.com/office/drawing/2014/main" id="{AAB0F6AB-2A9E-60A5-4C3A-6865646B70CB}"/>
              </a:ext>
            </a:extLst>
          </p:cNvPr>
          <p:cNvSpPr/>
          <p:nvPr/>
        </p:nvSpPr>
        <p:spPr>
          <a:xfrm>
            <a:off x="1061209" y="1760004"/>
            <a:ext cx="18598386" cy="1077218"/>
          </a:xfrm>
          <a:prstGeom prst="rect">
            <a:avLst/>
          </a:prstGeom>
          <a:noFill/>
          <a:effectLst/>
        </p:spPr>
        <p:txBody>
          <a:bodyPr wrap="square" lIns="91440" tIns="45720" rIns="91440" bIns="45720" anchor="t">
            <a:spAutoFit/>
          </a:bodyPr>
          <a:lstStyle/>
          <a:p>
            <a:pPr algn="ctr"/>
            <a:r>
              <a:rPr lang="es-ES" sz="3200" dirty="0">
                <a:latin typeface="Atkinson Hyperlegible"/>
              </a:rPr>
              <a:t>En una red basada en software, se separa la función de </a:t>
            </a:r>
            <a:r>
              <a:rPr lang="es-ES" sz="3200" b="1" dirty="0">
                <a:latin typeface="Atkinson Hyperlegible"/>
              </a:rPr>
              <a:t>decidir</a:t>
            </a:r>
            <a:r>
              <a:rPr lang="es-ES" sz="3200" dirty="0">
                <a:latin typeface="Atkinson Hyperlegible"/>
              </a:rPr>
              <a:t> cómo debe comportarse la red de la función de </a:t>
            </a:r>
            <a:r>
              <a:rPr lang="es-ES" sz="3200" b="1" dirty="0">
                <a:latin typeface="Atkinson Hyperlegible"/>
              </a:rPr>
              <a:t>reenviar</a:t>
            </a:r>
            <a:r>
              <a:rPr lang="es-ES" sz="3200" dirty="0">
                <a:latin typeface="Atkinson Hyperlegible"/>
              </a:rPr>
              <a:t> el tráfico.</a:t>
            </a:r>
            <a:endParaRPr lang="es-CL" sz="3200" b="1" i="1" noProof="0" dirty="0">
              <a:latin typeface="Atkinson Hyperlegible"/>
            </a:endParaRPr>
          </a:p>
        </p:txBody>
      </p:sp>
      <p:sp>
        <p:nvSpPr>
          <p:cNvPr id="2" name="5 Rectángulo">
            <a:extLst>
              <a:ext uri="{FF2B5EF4-FFF2-40B4-BE49-F238E27FC236}">
                <a16:creationId xmlns:a16="http://schemas.microsoft.com/office/drawing/2014/main" id="{1506DD3E-2284-C57A-81DC-B128C75EEA9E}"/>
              </a:ext>
            </a:extLst>
          </p:cNvPr>
          <p:cNvSpPr/>
          <p:nvPr/>
        </p:nvSpPr>
        <p:spPr>
          <a:xfrm>
            <a:off x="1648892" y="2904615"/>
            <a:ext cx="8261137" cy="5016758"/>
          </a:xfrm>
          <a:prstGeom prst="rect">
            <a:avLst/>
          </a:prstGeom>
          <a:solidFill>
            <a:schemeClr val="accent2">
              <a:lumMod val="40000"/>
              <a:lumOff val="60000"/>
            </a:schemeClr>
          </a:solidFill>
          <a:effectLst/>
        </p:spPr>
        <p:txBody>
          <a:bodyPr wrap="square" lIns="91440" tIns="45720" rIns="91440" bIns="45720" anchor="t">
            <a:spAutoFit/>
          </a:bodyPr>
          <a:lstStyle/>
          <a:p>
            <a:r>
              <a:rPr lang="es-ES" sz="3200" b="1" dirty="0">
                <a:latin typeface="Atkinson Hyperlegible"/>
              </a:rPr>
              <a:t>Plano de control</a:t>
            </a:r>
          </a:p>
          <a:p>
            <a:pPr marL="457200" indent="-457200">
              <a:buFont typeface="Arial" panose="020B0604020202020204" pitchFamily="34" charset="0"/>
              <a:buChar char="•"/>
            </a:pPr>
            <a:r>
              <a:rPr lang="es-ES" sz="3200" dirty="0">
                <a:latin typeface="Atkinson Hyperlegible"/>
              </a:rPr>
              <a:t>El </a:t>
            </a:r>
            <a:r>
              <a:rPr lang="es-ES" sz="3200" b="1" dirty="0">
                <a:latin typeface="Atkinson Hyperlegible"/>
              </a:rPr>
              <a:t>plano de control</a:t>
            </a:r>
            <a:r>
              <a:rPr lang="es-ES" sz="3200" dirty="0">
                <a:latin typeface="Atkinson Hyperlegible"/>
              </a:rPr>
              <a:t> se encarga de tomar decisiones sobre la red.</a:t>
            </a:r>
          </a:p>
          <a:p>
            <a:pPr marL="457200" indent="-457200">
              <a:buFont typeface="Arial" panose="020B0604020202020204" pitchFamily="34" charset="0"/>
              <a:buChar char="•"/>
            </a:pPr>
            <a:r>
              <a:rPr lang="es-ES" sz="3200" dirty="0">
                <a:latin typeface="Atkinson Hyperlegible"/>
              </a:rPr>
              <a:t>Incluye funciones como:</a:t>
            </a:r>
          </a:p>
          <a:p>
            <a:pPr marL="457200" indent="-457200">
              <a:buFont typeface="Arial" panose="020B0604020202020204" pitchFamily="34" charset="0"/>
              <a:buChar char="•"/>
            </a:pPr>
            <a:r>
              <a:rPr lang="es-ES" sz="3200" dirty="0">
                <a:latin typeface="Atkinson Hyperlegible"/>
              </a:rPr>
              <a:t>Definir políticas de tráfico. </a:t>
            </a:r>
          </a:p>
          <a:p>
            <a:pPr marL="457200" indent="-457200">
              <a:buFont typeface="Arial" panose="020B0604020202020204" pitchFamily="34" charset="0"/>
              <a:buChar char="•"/>
            </a:pPr>
            <a:r>
              <a:rPr lang="es-ES" sz="3200" dirty="0">
                <a:latin typeface="Atkinson Hyperlegible"/>
              </a:rPr>
              <a:t>Calcular o seleccionar rutas. </a:t>
            </a:r>
          </a:p>
          <a:p>
            <a:pPr marL="457200" indent="-457200">
              <a:buFont typeface="Arial" panose="020B0604020202020204" pitchFamily="34" charset="0"/>
              <a:buChar char="•"/>
            </a:pPr>
            <a:r>
              <a:rPr lang="es-ES" sz="3200" dirty="0">
                <a:latin typeface="Atkinson Hyperlegible"/>
              </a:rPr>
              <a:t>Aplicar reglas de seguridad. </a:t>
            </a:r>
          </a:p>
          <a:p>
            <a:pPr marL="457200" indent="-457200">
              <a:buFont typeface="Arial" panose="020B0604020202020204" pitchFamily="34" charset="0"/>
              <a:buChar char="•"/>
            </a:pPr>
            <a:r>
              <a:rPr lang="es-ES" sz="3200" dirty="0">
                <a:latin typeface="Atkinson Hyperlegible"/>
              </a:rPr>
              <a:t>Gestionar prioridades de servicio. </a:t>
            </a:r>
          </a:p>
          <a:p>
            <a:pPr marL="457200" indent="-457200">
              <a:buFont typeface="Arial" panose="020B0604020202020204" pitchFamily="34" charset="0"/>
              <a:buChar char="•"/>
            </a:pPr>
            <a:r>
              <a:rPr lang="es-ES" sz="3200" dirty="0">
                <a:latin typeface="Atkinson Hyperlegible"/>
              </a:rPr>
              <a:t>Programar el comportamiento de los dispositivos.</a:t>
            </a:r>
          </a:p>
        </p:txBody>
      </p:sp>
      <p:sp>
        <p:nvSpPr>
          <p:cNvPr id="3" name="5 Rectángulo">
            <a:extLst>
              <a:ext uri="{FF2B5EF4-FFF2-40B4-BE49-F238E27FC236}">
                <a16:creationId xmlns:a16="http://schemas.microsoft.com/office/drawing/2014/main" id="{D42102EC-DD99-A5AF-3F12-A0BB9143EFEE}"/>
              </a:ext>
            </a:extLst>
          </p:cNvPr>
          <p:cNvSpPr/>
          <p:nvPr/>
        </p:nvSpPr>
        <p:spPr>
          <a:xfrm>
            <a:off x="9506605" y="8569047"/>
            <a:ext cx="10042768" cy="1077218"/>
          </a:xfrm>
          <a:prstGeom prst="rect">
            <a:avLst/>
          </a:prstGeom>
          <a:noFill/>
          <a:effectLst/>
        </p:spPr>
        <p:txBody>
          <a:bodyPr wrap="square" lIns="91440" tIns="45720" rIns="91440" bIns="45720" anchor="t">
            <a:spAutoFit/>
          </a:bodyPr>
          <a:lstStyle/>
          <a:p>
            <a:pPr algn="ctr"/>
            <a:r>
              <a:rPr lang="es-ES" sz="3200" b="1" dirty="0">
                <a:latin typeface="Atkinson Hyperlegible"/>
              </a:rPr>
              <a:t>En </a:t>
            </a:r>
            <a:r>
              <a:rPr lang="es-ES" sz="3200" b="1" dirty="0" err="1">
                <a:latin typeface="Atkinson Hyperlegible"/>
              </a:rPr>
              <a:t>SDN</a:t>
            </a:r>
            <a:r>
              <a:rPr lang="es-ES" sz="3200" b="1" dirty="0">
                <a:latin typeface="Atkinson Hyperlegible"/>
              </a:rPr>
              <a:t>, el control se centraliza lógicamente en software, mientras los dispositivos ejecutan reglas de reenvío.</a:t>
            </a:r>
            <a:endParaRPr lang="es-CL" sz="3200" b="1" i="1" noProof="0" dirty="0">
              <a:latin typeface="Atkinson Hyperlegible"/>
            </a:endParaRPr>
          </a:p>
        </p:txBody>
      </p:sp>
      <p:sp>
        <p:nvSpPr>
          <p:cNvPr id="11" name="5 Rectángulo">
            <a:extLst>
              <a:ext uri="{FF2B5EF4-FFF2-40B4-BE49-F238E27FC236}">
                <a16:creationId xmlns:a16="http://schemas.microsoft.com/office/drawing/2014/main" id="{B424698C-10C1-0199-1389-0192AAD734B5}"/>
              </a:ext>
            </a:extLst>
          </p:cNvPr>
          <p:cNvSpPr/>
          <p:nvPr/>
        </p:nvSpPr>
        <p:spPr>
          <a:xfrm>
            <a:off x="10397420" y="2891363"/>
            <a:ext cx="8261137" cy="5016758"/>
          </a:xfrm>
          <a:prstGeom prst="rect">
            <a:avLst/>
          </a:prstGeom>
          <a:solidFill>
            <a:schemeClr val="accent6">
              <a:lumMod val="40000"/>
              <a:lumOff val="60000"/>
            </a:schemeClr>
          </a:solidFill>
          <a:effectLst/>
        </p:spPr>
        <p:txBody>
          <a:bodyPr wrap="square" lIns="91440" tIns="45720" rIns="91440" bIns="45720" anchor="t">
            <a:spAutoFit/>
          </a:bodyPr>
          <a:lstStyle/>
          <a:p>
            <a:r>
              <a:rPr lang="es-ES" sz="3200" b="1" dirty="0">
                <a:latin typeface="Atkinson Hyperlegible"/>
              </a:rPr>
              <a:t>Plano de datos</a:t>
            </a:r>
          </a:p>
          <a:p>
            <a:pPr marL="457200" indent="-457200">
              <a:buFont typeface="Arial" panose="020B0604020202020204" pitchFamily="34" charset="0"/>
              <a:buChar char="•"/>
            </a:pPr>
            <a:r>
              <a:rPr lang="es-ES" sz="3200" dirty="0">
                <a:latin typeface="Atkinson Hyperlegible"/>
              </a:rPr>
              <a:t>El </a:t>
            </a:r>
            <a:r>
              <a:rPr lang="es-ES" sz="3200" b="1" dirty="0">
                <a:latin typeface="Atkinson Hyperlegible"/>
              </a:rPr>
              <a:t>plano de datos</a:t>
            </a:r>
            <a:r>
              <a:rPr lang="es-ES" sz="3200" dirty="0">
                <a:latin typeface="Atkinson Hyperlegible"/>
              </a:rPr>
              <a:t> ejecuta las decisiones del plano de control.</a:t>
            </a:r>
          </a:p>
          <a:p>
            <a:pPr marL="457200" indent="-457200">
              <a:buFont typeface="Arial" panose="020B0604020202020204" pitchFamily="34" charset="0"/>
              <a:buChar char="•"/>
            </a:pPr>
            <a:r>
              <a:rPr lang="es-ES" sz="3200" dirty="0">
                <a:latin typeface="Atkinson Hyperlegible"/>
              </a:rPr>
              <a:t>Incluye funciones como:</a:t>
            </a:r>
          </a:p>
          <a:p>
            <a:pPr marL="457200" indent="-457200">
              <a:buFont typeface="Arial" panose="020B0604020202020204" pitchFamily="34" charset="0"/>
              <a:buChar char="•"/>
            </a:pPr>
            <a:r>
              <a:rPr lang="es-ES" sz="3200" dirty="0">
                <a:latin typeface="Atkinson Hyperlegible"/>
              </a:rPr>
              <a:t>Reenviar paquetes. </a:t>
            </a:r>
          </a:p>
          <a:p>
            <a:pPr marL="457200" indent="-457200">
              <a:buFont typeface="Arial" panose="020B0604020202020204" pitchFamily="34" charset="0"/>
              <a:buChar char="•"/>
            </a:pPr>
            <a:r>
              <a:rPr lang="es-ES" sz="3200" dirty="0">
                <a:latin typeface="Atkinson Hyperlegible"/>
              </a:rPr>
              <a:t>Aplicar reglas de flujo. </a:t>
            </a:r>
          </a:p>
          <a:p>
            <a:pPr marL="457200" indent="-457200">
              <a:buFont typeface="Arial" panose="020B0604020202020204" pitchFamily="34" charset="0"/>
              <a:buChar char="•"/>
            </a:pPr>
            <a:r>
              <a:rPr lang="es-ES" sz="3200" dirty="0">
                <a:latin typeface="Atkinson Hyperlegible"/>
              </a:rPr>
              <a:t>Filtrar o permitir tráfico. </a:t>
            </a:r>
          </a:p>
          <a:p>
            <a:pPr marL="457200" indent="-457200">
              <a:buFont typeface="Arial" panose="020B0604020202020204" pitchFamily="34" charset="0"/>
              <a:buChar char="•"/>
            </a:pPr>
            <a:r>
              <a:rPr lang="es-ES" sz="3200" dirty="0">
                <a:latin typeface="Atkinson Hyperlegible"/>
              </a:rPr>
              <a:t>Marcar o priorizar paquetes. </a:t>
            </a:r>
          </a:p>
          <a:p>
            <a:pPr marL="457200" indent="-457200">
              <a:buFont typeface="Arial" panose="020B0604020202020204" pitchFamily="34" charset="0"/>
              <a:buChar char="•"/>
            </a:pPr>
            <a:r>
              <a:rPr lang="es-ES" sz="3200" dirty="0">
                <a:latin typeface="Atkinson Hyperlegible"/>
              </a:rPr>
              <a:t>Ejecutar instrucciones recibidas desde el controlador.</a:t>
            </a:r>
          </a:p>
        </p:txBody>
      </p:sp>
    </p:spTree>
    <p:extLst>
      <p:ext uri="{BB962C8B-B14F-4D97-AF65-F5344CB8AC3E}">
        <p14:creationId xmlns:p14="http://schemas.microsoft.com/office/powerpoint/2010/main" val="23883838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2855435A-BE42-D818-58F8-6971622971C6}"/>
            </a:ext>
          </a:extLst>
        </p:cNvPr>
        <p:cNvGrpSpPr/>
        <p:nvPr/>
      </p:nvGrpSpPr>
      <p:grpSpPr>
        <a:xfrm>
          <a:off x="0" y="0"/>
          <a:ext cx="0" cy="0"/>
          <a:chOff x="0" y="0"/>
          <a:chExt cx="0" cy="0"/>
        </a:xfrm>
      </p:grpSpPr>
      <p:cxnSp>
        <p:nvCxnSpPr>
          <p:cNvPr id="9" name="Conector recto 8">
            <a:extLst>
              <a:ext uri="{FF2B5EF4-FFF2-40B4-BE49-F238E27FC236}">
                <a16:creationId xmlns:a16="http://schemas.microsoft.com/office/drawing/2014/main" id="{D1B17808-E21F-53EC-3746-54877008DDDC}"/>
              </a:ext>
            </a:extLst>
          </p:cNvPr>
          <p:cNvCxnSpPr>
            <a:cxnSpLocks/>
          </p:cNvCxnSpPr>
          <p:nvPr/>
        </p:nvCxnSpPr>
        <p:spPr>
          <a:xfrm>
            <a:off x="679450" y="-136525"/>
            <a:ext cx="0" cy="1524000"/>
          </a:xfrm>
          <a:prstGeom prst="line">
            <a:avLst/>
          </a:prstGeom>
          <a:ln w="31750">
            <a:solidFill>
              <a:schemeClr val="tx1"/>
            </a:solidFill>
          </a:ln>
        </p:spPr>
        <p:style>
          <a:lnRef idx="1">
            <a:schemeClr val="dk1"/>
          </a:lnRef>
          <a:fillRef idx="0">
            <a:schemeClr val="dk1"/>
          </a:fillRef>
          <a:effectRef idx="0">
            <a:schemeClr val="dk1"/>
          </a:effectRef>
          <a:fontRef idx="minor">
            <a:schemeClr val="tx1"/>
          </a:fontRef>
        </p:style>
      </p:cxnSp>
      <p:sp>
        <p:nvSpPr>
          <p:cNvPr id="14" name="object 3">
            <a:extLst>
              <a:ext uri="{FF2B5EF4-FFF2-40B4-BE49-F238E27FC236}">
                <a16:creationId xmlns:a16="http://schemas.microsoft.com/office/drawing/2014/main" id="{74B9CC30-E311-B318-BA2B-2EAF21B1FCF2}"/>
              </a:ext>
            </a:extLst>
          </p:cNvPr>
          <p:cNvSpPr txBox="1"/>
          <p:nvPr/>
        </p:nvSpPr>
        <p:spPr>
          <a:xfrm>
            <a:off x="1382157" y="-44605"/>
            <a:ext cx="18277439" cy="1030410"/>
          </a:xfrm>
          <a:prstGeom prst="rect">
            <a:avLst/>
          </a:prstGeom>
          <a:noFill/>
        </p:spPr>
        <p:txBody>
          <a:bodyPr vert="horz" wrap="square" lIns="0" tIns="349885" rIns="0" bIns="0" rtlCol="0">
            <a:spAutoFit/>
          </a:bodyPr>
          <a:lstStyle/>
          <a:p>
            <a:r>
              <a:rPr lang="es-ES" sz="4400" b="1" dirty="0">
                <a:latin typeface="Atkinson Hyperlegible"/>
              </a:rPr>
              <a:t>DESARROLLO DE LAS </a:t>
            </a:r>
            <a:r>
              <a:rPr lang="es-ES" sz="4400" b="1" dirty="0" err="1">
                <a:latin typeface="Atkinson Hyperlegible"/>
              </a:rPr>
              <a:t>SDN</a:t>
            </a:r>
            <a:r>
              <a:rPr lang="es-ES" sz="4400" b="1" dirty="0">
                <a:latin typeface="Atkinson Hyperlegible"/>
              </a:rPr>
              <a:t>: REDES BASADAS EN SOFTWARE</a:t>
            </a:r>
            <a:endParaRPr lang="es-CL" sz="2800" b="1" kern="100" noProof="0" dirty="0">
              <a:effectLst/>
              <a:latin typeface="Atkinson Hyperlegible"/>
              <a:ea typeface="Calibri" panose="020F0502020204030204" pitchFamily="34" charset="0"/>
              <a:cs typeface="Gotham" pitchFamily="2" charset="0"/>
            </a:endParaRPr>
          </a:p>
        </p:txBody>
      </p:sp>
      <p:sp>
        <p:nvSpPr>
          <p:cNvPr id="7" name="CuadroTexto 6">
            <a:extLst>
              <a:ext uri="{FF2B5EF4-FFF2-40B4-BE49-F238E27FC236}">
                <a16:creationId xmlns:a16="http://schemas.microsoft.com/office/drawing/2014/main" id="{DE21527D-47BD-5298-1578-4A87246BDAEF}"/>
              </a:ext>
            </a:extLst>
          </p:cNvPr>
          <p:cNvSpPr txBox="1"/>
          <p:nvPr/>
        </p:nvSpPr>
        <p:spPr>
          <a:xfrm>
            <a:off x="1382157" y="898721"/>
            <a:ext cx="17055745" cy="707886"/>
          </a:xfrm>
          <a:prstGeom prst="rect">
            <a:avLst/>
          </a:prstGeom>
          <a:noFill/>
        </p:spPr>
        <p:txBody>
          <a:bodyPr wrap="square">
            <a:spAutoFit/>
          </a:bodyPr>
          <a:lstStyle/>
          <a:p>
            <a:r>
              <a:rPr lang="es-ES" sz="4000" dirty="0">
                <a:latin typeface="Atkinson Hyperlegible"/>
              </a:rPr>
              <a:t>Separación entre plano de control y plano de datos</a:t>
            </a:r>
            <a:endParaRPr lang="es-CL" sz="4000" noProof="0" dirty="0">
              <a:latin typeface="Atkinson Hyperlegible"/>
            </a:endParaRPr>
          </a:p>
        </p:txBody>
      </p:sp>
      <p:pic>
        <p:nvPicPr>
          <p:cNvPr id="5" name="Imagen 4">
            <a:extLst>
              <a:ext uri="{FF2B5EF4-FFF2-40B4-BE49-F238E27FC236}">
                <a16:creationId xmlns:a16="http://schemas.microsoft.com/office/drawing/2014/main" id="{F43765D2-7E5D-7E8D-54F9-FFB2FC3D27DA}"/>
              </a:ext>
            </a:extLst>
          </p:cNvPr>
          <p:cNvPicPr>
            <a:picLocks noChangeAspect="1"/>
          </p:cNvPicPr>
          <p:nvPr/>
        </p:nvPicPr>
        <p:blipFill>
          <a:blip r:embed="rId4"/>
          <a:stretch>
            <a:fillRect/>
          </a:stretch>
        </p:blipFill>
        <p:spPr>
          <a:xfrm>
            <a:off x="492069" y="164892"/>
            <a:ext cx="19167527" cy="10583056"/>
          </a:xfrm>
          <a:prstGeom prst="rect">
            <a:avLst/>
          </a:prstGeom>
        </p:spPr>
      </p:pic>
    </p:spTree>
    <p:extLst>
      <p:ext uri="{BB962C8B-B14F-4D97-AF65-F5344CB8AC3E}">
        <p14:creationId xmlns:p14="http://schemas.microsoft.com/office/powerpoint/2010/main" val="41734240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B63BECB3-18D6-2DA7-5988-9480C284AB4D}"/>
            </a:ext>
          </a:extLst>
        </p:cNvPr>
        <p:cNvGrpSpPr/>
        <p:nvPr/>
      </p:nvGrpSpPr>
      <p:grpSpPr>
        <a:xfrm>
          <a:off x="0" y="0"/>
          <a:ext cx="0" cy="0"/>
          <a:chOff x="0" y="0"/>
          <a:chExt cx="0" cy="0"/>
        </a:xfrm>
      </p:grpSpPr>
      <p:cxnSp>
        <p:nvCxnSpPr>
          <p:cNvPr id="9" name="Conector recto 8">
            <a:extLst>
              <a:ext uri="{FF2B5EF4-FFF2-40B4-BE49-F238E27FC236}">
                <a16:creationId xmlns:a16="http://schemas.microsoft.com/office/drawing/2014/main" id="{AFDDA7EA-D190-C3C0-8B1A-51FF8FA5F1AA}"/>
              </a:ext>
            </a:extLst>
          </p:cNvPr>
          <p:cNvCxnSpPr>
            <a:cxnSpLocks/>
          </p:cNvCxnSpPr>
          <p:nvPr/>
        </p:nvCxnSpPr>
        <p:spPr>
          <a:xfrm>
            <a:off x="679450" y="-136525"/>
            <a:ext cx="0" cy="1524000"/>
          </a:xfrm>
          <a:prstGeom prst="line">
            <a:avLst/>
          </a:prstGeom>
          <a:ln w="31750">
            <a:solidFill>
              <a:schemeClr val="tx1"/>
            </a:solidFill>
          </a:ln>
        </p:spPr>
        <p:style>
          <a:lnRef idx="1">
            <a:schemeClr val="dk1"/>
          </a:lnRef>
          <a:fillRef idx="0">
            <a:schemeClr val="dk1"/>
          </a:fillRef>
          <a:effectRef idx="0">
            <a:schemeClr val="dk1"/>
          </a:effectRef>
          <a:fontRef idx="minor">
            <a:schemeClr val="tx1"/>
          </a:fontRef>
        </p:style>
      </p:cxnSp>
      <p:sp>
        <p:nvSpPr>
          <p:cNvPr id="14" name="object 3">
            <a:extLst>
              <a:ext uri="{FF2B5EF4-FFF2-40B4-BE49-F238E27FC236}">
                <a16:creationId xmlns:a16="http://schemas.microsoft.com/office/drawing/2014/main" id="{DC81AAD9-5879-B586-0ABD-C2E5C8DCEF8E}"/>
              </a:ext>
            </a:extLst>
          </p:cNvPr>
          <p:cNvSpPr txBox="1"/>
          <p:nvPr/>
        </p:nvSpPr>
        <p:spPr>
          <a:xfrm>
            <a:off x="1382157" y="-44605"/>
            <a:ext cx="18277439" cy="1030410"/>
          </a:xfrm>
          <a:prstGeom prst="rect">
            <a:avLst/>
          </a:prstGeom>
          <a:noFill/>
        </p:spPr>
        <p:txBody>
          <a:bodyPr vert="horz" wrap="square" lIns="0" tIns="349885" rIns="0" bIns="0" rtlCol="0">
            <a:spAutoFit/>
          </a:bodyPr>
          <a:lstStyle/>
          <a:p>
            <a:r>
              <a:rPr lang="es-ES" sz="4400" b="1" dirty="0">
                <a:latin typeface="Atkinson Hyperlegible"/>
              </a:rPr>
              <a:t>DESARROLLO DE LAS </a:t>
            </a:r>
            <a:r>
              <a:rPr lang="es-ES" sz="4400" b="1" dirty="0" err="1">
                <a:latin typeface="Atkinson Hyperlegible"/>
              </a:rPr>
              <a:t>SDN</a:t>
            </a:r>
            <a:r>
              <a:rPr lang="es-ES" sz="4400" b="1" dirty="0">
                <a:latin typeface="Atkinson Hyperlegible"/>
              </a:rPr>
              <a:t>: REDES BASADAS EN SOFTWARE</a:t>
            </a:r>
            <a:endParaRPr lang="es-CL" sz="2800" b="1" kern="100" noProof="0" dirty="0">
              <a:effectLst/>
              <a:latin typeface="Atkinson Hyperlegible"/>
              <a:ea typeface="Calibri" panose="020F0502020204030204" pitchFamily="34" charset="0"/>
              <a:cs typeface="Gotham" pitchFamily="2" charset="0"/>
            </a:endParaRPr>
          </a:p>
        </p:txBody>
      </p:sp>
      <p:sp>
        <p:nvSpPr>
          <p:cNvPr id="7" name="CuadroTexto 6">
            <a:extLst>
              <a:ext uri="{FF2B5EF4-FFF2-40B4-BE49-F238E27FC236}">
                <a16:creationId xmlns:a16="http://schemas.microsoft.com/office/drawing/2014/main" id="{79C9E6EA-E174-CD04-C9D2-26E83585EC77}"/>
              </a:ext>
            </a:extLst>
          </p:cNvPr>
          <p:cNvSpPr txBox="1"/>
          <p:nvPr/>
        </p:nvSpPr>
        <p:spPr>
          <a:xfrm>
            <a:off x="1382157" y="898721"/>
            <a:ext cx="17055745" cy="707886"/>
          </a:xfrm>
          <a:prstGeom prst="rect">
            <a:avLst/>
          </a:prstGeom>
          <a:noFill/>
        </p:spPr>
        <p:txBody>
          <a:bodyPr wrap="square">
            <a:spAutoFit/>
          </a:bodyPr>
          <a:lstStyle/>
          <a:p>
            <a:r>
              <a:rPr lang="es-ES" sz="4000" dirty="0">
                <a:latin typeface="Atkinson Hyperlegible"/>
              </a:rPr>
              <a:t>Red tradicional vs Red definida por software (</a:t>
            </a:r>
            <a:r>
              <a:rPr lang="es-ES" sz="4000" dirty="0" err="1">
                <a:latin typeface="Atkinson Hyperlegible"/>
              </a:rPr>
              <a:t>SDN</a:t>
            </a:r>
            <a:r>
              <a:rPr lang="es-ES" sz="4000" dirty="0">
                <a:latin typeface="Atkinson Hyperlegible"/>
              </a:rPr>
              <a:t>)</a:t>
            </a:r>
            <a:endParaRPr lang="es-CL" sz="4000" noProof="0" dirty="0">
              <a:latin typeface="Atkinson Hyperlegible"/>
            </a:endParaRPr>
          </a:p>
        </p:txBody>
      </p:sp>
      <p:sp>
        <p:nvSpPr>
          <p:cNvPr id="17" name="5 Rectángulo">
            <a:extLst>
              <a:ext uri="{FF2B5EF4-FFF2-40B4-BE49-F238E27FC236}">
                <a16:creationId xmlns:a16="http://schemas.microsoft.com/office/drawing/2014/main" id="{DF449DEE-4D77-7F9B-5D96-B67A1ED9700E}"/>
              </a:ext>
            </a:extLst>
          </p:cNvPr>
          <p:cNvSpPr/>
          <p:nvPr/>
        </p:nvSpPr>
        <p:spPr>
          <a:xfrm>
            <a:off x="1061209" y="1760004"/>
            <a:ext cx="18598386" cy="584775"/>
          </a:xfrm>
          <a:prstGeom prst="rect">
            <a:avLst/>
          </a:prstGeom>
          <a:noFill/>
          <a:effectLst/>
        </p:spPr>
        <p:txBody>
          <a:bodyPr wrap="square" lIns="91440" tIns="45720" rIns="91440" bIns="45720" anchor="t">
            <a:spAutoFit/>
          </a:bodyPr>
          <a:lstStyle/>
          <a:p>
            <a:pPr algn="ctr"/>
            <a:r>
              <a:rPr lang="es-ES" sz="3200" dirty="0">
                <a:latin typeface="Atkinson Hyperlegible"/>
              </a:rPr>
              <a:t>Si se pueden virtualizar funciones, ¿por qué aún existen equipos físicos especializados?</a:t>
            </a:r>
            <a:endParaRPr lang="es-CL" sz="3200" b="1" i="1" noProof="0" dirty="0">
              <a:latin typeface="Atkinson Hyperlegible"/>
            </a:endParaRPr>
          </a:p>
        </p:txBody>
      </p:sp>
      <p:sp>
        <p:nvSpPr>
          <p:cNvPr id="11" name="5 Rectángulo">
            <a:extLst>
              <a:ext uri="{FF2B5EF4-FFF2-40B4-BE49-F238E27FC236}">
                <a16:creationId xmlns:a16="http://schemas.microsoft.com/office/drawing/2014/main" id="{3039FA80-D0F6-AE6F-EBE9-6F613FA13D48}"/>
              </a:ext>
            </a:extLst>
          </p:cNvPr>
          <p:cNvSpPr/>
          <p:nvPr/>
        </p:nvSpPr>
        <p:spPr>
          <a:xfrm>
            <a:off x="1257619" y="2402110"/>
            <a:ext cx="18964111" cy="7478970"/>
          </a:xfrm>
          <a:prstGeom prst="rect">
            <a:avLst/>
          </a:prstGeom>
          <a:noFill/>
          <a:effectLst/>
        </p:spPr>
        <p:txBody>
          <a:bodyPr wrap="square" lIns="91440" tIns="45720" rIns="91440" bIns="45720" anchor="t">
            <a:spAutoFit/>
          </a:bodyPr>
          <a:lstStyle/>
          <a:p>
            <a:r>
              <a:rPr lang="es-ES" sz="3200" b="1" dirty="0"/>
              <a:t>1. Red tradicional</a:t>
            </a:r>
          </a:p>
          <a:p>
            <a:r>
              <a:rPr lang="es-ES" sz="3200" dirty="0"/>
              <a:t>Cada equipo de red posee su propia lógica de control y reenvío.</a:t>
            </a:r>
            <a:br>
              <a:rPr lang="es-ES" sz="3200" dirty="0"/>
            </a:br>
            <a:r>
              <a:rPr lang="es-ES" sz="3200" dirty="0"/>
              <a:t>La configuración se realiza de forma individual en switches, </a:t>
            </a:r>
            <a:r>
              <a:rPr lang="es-ES" sz="3200" dirty="0" err="1"/>
              <a:t>routers</a:t>
            </a:r>
            <a:r>
              <a:rPr lang="es-ES" sz="3200" dirty="0"/>
              <a:t> y firewalls.</a:t>
            </a:r>
          </a:p>
          <a:p>
            <a:r>
              <a:rPr lang="es-ES" sz="3200" b="1" dirty="0"/>
              <a:t>2. Virtualización de funciones</a:t>
            </a:r>
          </a:p>
          <a:p>
            <a:r>
              <a:rPr lang="es-ES" sz="3200" dirty="0"/>
              <a:t>Algunas funciones de red dejan de depender exclusivamente de hardware dedicado y pasan a ejecutarse como software sobre infraestructura común.</a:t>
            </a:r>
          </a:p>
          <a:p>
            <a:r>
              <a:rPr lang="es-ES" sz="3200" b="1" dirty="0"/>
              <a:t>3. Separación control / datos</a:t>
            </a:r>
          </a:p>
          <a:p>
            <a:r>
              <a:rPr lang="es-ES" sz="3200" dirty="0" err="1"/>
              <a:t>SDN</a:t>
            </a:r>
            <a:r>
              <a:rPr lang="es-ES" sz="3200" dirty="0"/>
              <a:t> separa la lógica de decisión del reenvío de tráfico:</a:t>
            </a:r>
          </a:p>
          <a:p>
            <a:r>
              <a:rPr lang="es-ES" sz="3200" b="1" dirty="0"/>
              <a:t>Plano de control:</a:t>
            </a:r>
            <a:r>
              <a:rPr lang="es-ES" sz="3200" dirty="0"/>
              <a:t> decide políticas y rutas. </a:t>
            </a:r>
          </a:p>
          <a:p>
            <a:r>
              <a:rPr lang="es-ES" sz="3200" b="1" dirty="0"/>
              <a:t>Plano de datos:</a:t>
            </a:r>
            <a:r>
              <a:rPr lang="es-ES" sz="3200" dirty="0"/>
              <a:t> ejecuta reglas y reenvía paquetes. </a:t>
            </a:r>
          </a:p>
          <a:p>
            <a:r>
              <a:rPr lang="es-ES" sz="3200" b="1" dirty="0"/>
              <a:t>4. Controlador </a:t>
            </a:r>
            <a:r>
              <a:rPr lang="es-ES" sz="3200" b="1" dirty="0" err="1"/>
              <a:t>SDN</a:t>
            </a:r>
            <a:endParaRPr lang="es-ES" sz="3200" b="1" dirty="0"/>
          </a:p>
          <a:p>
            <a:r>
              <a:rPr lang="es-ES" sz="3200" dirty="0"/>
              <a:t>El controlador entrega una visión centralizada de la red y permite programar el comportamiento de múltiples dispositivos.</a:t>
            </a:r>
          </a:p>
          <a:p>
            <a:r>
              <a:rPr lang="es-ES" sz="3200" b="1" dirty="0"/>
              <a:t>5. Red programable</a:t>
            </a:r>
          </a:p>
          <a:p>
            <a:r>
              <a:rPr lang="es-ES" sz="3200" dirty="0"/>
              <a:t>La red se vuelve más flexible, automatizable y coherente en la aplicación de políticas.</a:t>
            </a:r>
          </a:p>
        </p:txBody>
      </p:sp>
    </p:spTree>
    <p:extLst>
      <p:ext uri="{BB962C8B-B14F-4D97-AF65-F5344CB8AC3E}">
        <p14:creationId xmlns:p14="http://schemas.microsoft.com/office/powerpoint/2010/main" val="24454863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F601BF05-0233-AB8F-BD6D-B795BA356280}"/>
            </a:ext>
          </a:extLst>
        </p:cNvPr>
        <p:cNvGrpSpPr/>
        <p:nvPr/>
      </p:nvGrpSpPr>
      <p:grpSpPr>
        <a:xfrm>
          <a:off x="0" y="0"/>
          <a:ext cx="0" cy="0"/>
          <a:chOff x="0" y="0"/>
          <a:chExt cx="0" cy="0"/>
        </a:xfrm>
      </p:grpSpPr>
      <p:cxnSp>
        <p:nvCxnSpPr>
          <p:cNvPr id="9" name="Conector recto 8">
            <a:extLst>
              <a:ext uri="{FF2B5EF4-FFF2-40B4-BE49-F238E27FC236}">
                <a16:creationId xmlns:a16="http://schemas.microsoft.com/office/drawing/2014/main" id="{5A3BC8FC-E76F-FDDF-24D9-E8E475864C9D}"/>
              </a:ext>
            </a:extLst>
          </p:cNvPr>
          <p:cNvCxnSpPr>
            <a:cxnSpLocks/>
          </p:cNvCxnSpPr>
          <p:nvPr/>
        </p:nvCxnSpPr>
        <p:spPr>
          <a:xfrm>
            <a:off x="679450" y="-136525"/>
            <a:ext cx="0" cy="1524000"/>
          </a:xfrm>
          <a:prstGeom prst="line">
            <a:avLst/>
          </a:prstGeom>
          <a:ln w="31750">
            <a:solidFill>
              <a:schemeClr val="tx1"/>
            </a:solidFill>
          </a:ln>
        </p:spPr>
        <p:style>
          <a:lnRef idx="1">
            <a:schemeClr val="dk1"/>
          </a:lnRef>
          <a:fillRef idx="0">
            <a:schemeClr val="dk1"/>
          </a:fillRef>
          <a:effectRef idx="0">
            <a:schemeClr val="dk1"/>
          </a:effectRef>
          <a:fontRef idx="minor">
            <a:schemeClr val="tx1"/>
          </a:fontRef>
        </p:style>
      </p:cxnSp>
      <p:sp>
        <p:nvSpPr>
          <p:cNvPr id="14" name="object 3">
            <a:extLst>
              <a:ext uri="{FF2B5EF4-FFF2-40B4-BE49-F238E27FC236}">
                <a16:creationId xmlns:a16="http://schemas.microsoft.com/office/drawing/2014/main" id="{7BFF8B9A-D11A-0DAD-CCA7-159BA240D1C3}"/>
              </a:ext>
            </a:extLst>
          </p:cNvPr>
          <p:cNvSpPr txBox="1"/>
          <p:nvPr/>
        </p:nvSpPr>
        <p:spPr>
          <a:xfrm>
            <a:off x="1382157" y="-44605"/>
            <a:ext cx="18277439" cy="1030410"/>
          </a:xfrm>
          <a:prstGeom prst="rect">
            <a:avLst/>
          </a:prstGeom>
          <a:noFill/>
        </p:spPr>
        <p:txBody>
          <a:bodyPr vert="horz" wrap="square" lIns="0" tIns="349885" rIns="0" bIns="0" rtlCol="0">
            <a:spAutoFit/>
          </a:bodyPr>
          <a:lstStyle/>
          <a:p>
            <a:r>
              <a:rPr lang="es-ES" sz="4400" b="1" dirty="0">
                <a:latin typeface="Atkinson Hyperlegible"/>
              </a:rPr>
              <a:t>DESARROLLO DE LAS </a:t>
            </a:r>
            <a:r>
              <a:rPr lang="es-ES" sz="4400" b="1" dirty="0" err="1">
                <a:latin typeface="Atkinson Hyperlegible"/>
              </a:rPr>
              <a:t>SDN</a:t>
            </a:r>
            <a:r>
              <a:rPr lang="es-ES" sz="4400" b="1" dirty="0">
                <a:latin typeface="Atkinson Hyperlegible"/>
              </a:rPr>
              <a:t>: REDES BASADAS EN SOFTWARE</a:t>
            </a:r>
            <a:endParaRPr lang="es-CL" sz="2800" b="1" kern="100" noProof="0" dirty="0">
              <a:effectLst/>
              <a:latin typeface="Atkinson Hyperlegible"/>
              <a:ea typeface="Calibri" panose="020F0502020204030204" pitchFamily="34" charset="0"/>
              <a:cs typeface="Gotham" pitchFamily="2" charset="0"/>
            </a:endParaRPr>
          </a:p>
        </p:txBody>
      </p:sp>
      <p:sp>
        <p:nvSpPr>
          <p:cNvPr id="7" name="CuadroTexto 6">
            <a:extLst>
              <a:ext uri="{FF2B5EF4-FFF2-40B4-BE49-F238E27FC236}">
                <a16:creationId xmlns:a16="http://schemas.microsoft.com/office/drawing/2014/main" id="{23762554-5415-0E3E-D515-13AD302B85EE}"/>
              </a:ext>
            </a:extLst>
          </p:cNvPr>
          <p:cNvSpPr txBox="1"/>
          <p:nvPr/>
        </p:nvSpPr>
        <p:spPr>
          <a:xfrm>
            <a:off x="1382157" y="898721"/>
            <a:ext cx="17055745" cy="707886"/>
          </a:xfrm>
          <a:prstGeom prst="rect">
            <a:avLst/>
          </a:prstGeom>
          <a:noFill/>
        </p:spPr>
        <p:txBody>
          <a:bodyPr wrap="square">
            <a:spAutoFit/>
          </a:bodyPr>
          <a:lstStyle/>
          <a:p>
            <a:r>
              <a:rPr lang="es-ES" sz="4000" dirty="0">
                <a:latin typeface="Atkinson Hyperlegible"/>
              </a:rPr>
              <a:t>Red tradicional vs Red definida por software (</a:t>
            </a:r>
            <a:r>
              <a:rPr lang="es-ES" sz="4000" dirty="0" err="1">
                <a:latin typeface="Atkinson Hyperlegible"/>
              </a:rPr>
              <a:t>SDN</a:t>
            </a:r>
            <a:r>
              <a:rPr lang="es-ES" sz="4000" dirty="0">
                <a:latin typeface="Atkinson Hyperlegible"/>
              </a:rPr>
              <a:t>)</a:t>
            </a:r>
            <a:endParaRPr lang="es-CL" sz="4000" noProof="0" dirty="0">
              <a:latin typeface="Atkinson Hyperlegible"/>
            </a:endParaRPr>
          </a:p>
        </p:txBody>
      </p:sp>
      <p:sp>
        <p:nvSpPr>
          <p:cNvPr id="10" name="CuadroTexto 9">
            <a:extLst>
              <a:ext uri="{FF2B5EF4-FFF2-40B4-BE49-F238E27FC236}">
                <a16:creationId xmlns:a16="http://schemas.microsoft.com/office/drawing/2014/main" id="{EFAA4896-683D-ED84-E103-684A268D716F}"/>
              </a:ext>
            </a:extLst>
          </p:cNvPr>
          <p:cNvSpPr txBox="1"/>
          <p:nvPr/>
        </p:nvSpPr>
        <p:spPr>
          <a:xfrm>
            <a:off x="148345" y="8861435"/>
            <a:ext cx="8849542" cy="1569660"/>
          </a:xfrm>
          <a:prstGeom prst="rect">
            <a:avLst/>
          </a:prstGeom>
          <a:noFill/>
        </p:spPr>
        <p:txBody>
          <a:bodyPr wrap="square">
            <a:spAutoFit/>
          </a:bodyPr>
          <a:lstStyle/>
          <a:p>
            <a:r>
              <a:rPr lang="es-CL" sz="2400" noProof="0" dirty="0">
                <a:latin typeface="Atkinson Hyperlegible"/>
              </a:rPr>
              <a:t>⚠️ </a:t>
            </a:r>
            <a:r>
              <a:rPr lang="es-CL" sz="2400" b="1" noProof="0" dirty="0">
                <a:latin typeface="Atkinson Hyperlegible"/>
              </a:rPr>
              <a:t>Nota al margen:</a:t>
            </a:r>
          </a:p>
          <a:p>
            <a:r>
              <a:rPr lang="es-CL" sz="2400" b="1" dirty="0" err="1">
                <a:latin typeface="Atkinson Hyperlegible"/>
              </a:rPr>
              <a:t>IETF</a:t>
            </a:r>
            <a:r>
              <a:rPr lang="es-CL" sz="2400" b="1" dirty="0">
                <a:latin typeface="Atkinson Hyperlegible"/>
              </a:rPr>
              <a:t> RFC 7426</a:t>
            </a:r>
            <a:r>
              <a:rPr lang="es-CL" sz="2400" dirty="0">
                <a:latin typeface="Atkinson Hyperlegible"/>
              </a:rPr>
              <a:t> — </a:t>
            </a:r>
            <a:r>
              <a:rPr lang="es-CL" sz="2400" dirty="0" err="1">
                <a:latin typeface="Atkinson Hyperlegible"/>
              </a:rPr>
              <a:t>SDN</a:t>
            </a:r>
            <a:r>
              <a:rPr lang="es-CL" sz="2400" dirty="0">
                <a:latin typeface="Atkinson Hyperlegible"/>
              </a:rPr>
              <a:t>: </a:t>
            </a:r>
            <a:r>
              <a:rPr lang="es-CL" sz="2400" dirty="0" err="1">
                <a:latin typeface="Atkinson Hyperlegible"/>
              </a:rPr>
              <a:t>Layers</a:t>
            </a:r>
            <a:r>
              <a:rPr lang="es-CL" sz="2400" dirty="0">
                <a:latin typeface="Atkinson Hyperlegible"/>
              </a:rPr>
              <a:t> and </a:t>
            </a:r>
            <a:r>
              <a:rPr lang="es-CL" sz="2400" dirty="0" err="1">
                <a:latin typeface="Atkinson Hyperlegible"/>
              </a:rPr>
              <a:t>Architecture</a:t>
            </a:r>
            <a:r>
              <a:rPr lang="es-CL" sz="2400" dirty="0">
                <a:latin typeface="Atkinson Hyperlegible"/>
              </a:rPr>
              <a:t> </a:t>
            </a:r>
            <a:r>
              <a:rPr lang="es-CL" sz="2400" dirty="0" err="1">
                <a:latin typeface="Atkinson Hyperlegible"/>
              </a:rPr>
              <a:t>Terminology</a:t>
            </a:r>
            <a:r>
              <a:rPr lang="es-CL" sz="2400" dirty="0">
                <a:latin typeface="Atkinson Hyperlegible"/>
              </a:rPr>
              <a:t>.</a:t>
            </a:r>
            <a:br>
              <a:rPr lang="es-CL" sz="2400" dirty="0">
                <a:latin typeface="Atkinson Hyperlegible"/>
              </a:rPr>
            </a:br>
            <a:r>
              <a:rPr lang="es-CL" sz="2400" b="1" dirty="0" err="1">
                <a:latin typeface="Atkinson Hyperlegible"/>
              </a:rPr>
              <a:t>ONF</a:t>
            </a:r>
            <a:r>
              <a:rPr lang="es-CL" sz="2400" b="1" dirty="0">
                <a:latin typeface="Atkinson Hyperlegible"/>
              </a:rPr>
              <a:t> </a:t>
            </a:r>
            <a:r>
              <a:rPr lang="es-CL" sz="2400" b="1" dirty="0" err="1">
                <a:latin typeface="Atkinson Hyperlegible"/>
              </a:rPr>
              <a:t>OpenFlow</a:t>
            </a:r>
            <a:r>
              <a:rPr lang="es-CL" sz="2400" b="1" dirty="0">
                <a:latin typeface="Atkinson Hyperlegible"/>
              </a:rPr>
              <a:t> Switch </a:t>
            </a:r>
            <a:r>
              <a:rPr lang="es-CL" sz="2400" b="1" dirty="0" err="1">
                <a:latin typeface="Atkinson Hyperlegible"/>
              </a:rPr>
              <a:t>Specification</a:t>
            </a:r>
            <a:r>
              <a:rPr lang="es-CL" sz="2400" dirty="0">
                <a:latin typeface="Atkinson Hyperlegible"/>
              </a:rPr>
              <a:t> — interfaz controlador–switch.</a:t>
            </a:r>
            <a:br>
              <a:rPr lang="es-CL" sz="2400" dirty="0">
                <a:latin typeface="Atkinson Hyperlegible"/>
              </a:rPr>
            </a:br>
            <a:r>
              <a:rPr lang="es-CL" sz="2400" b="1" dirty="0" err="1">
                <a:latin typeface="Atkinson Hyperlegible"/>
              </a:rPr>
              <a:t>OpenStack</a:t>
            </a:r>
            <a:r>
              <a:rPr lang="es-CL" sz="2400" b="1" dirty="0">
                <a:latin typeface="Atkinson Hyperlegible"/>
              </a:rPr>
              <a:t> </a:t>
            </a:r>
            <a:r>
              <a:rPr lang="es-CL" sz="2400" b="1" dirty="0" err="1">
                <a:latin typeface="Atkinson Hyperlegible"/>
              </a:rPr>
              <a:t>Documentation</a:t>
            </a:r>
            <a:r>
              <a:rPr lang="es-CL" sz="2400" dirty="0">
                <a:latin typeface="Atkinson Hyperlegible"/>
              </a:rPr>
              <a:t> — infraestructura </a:t>
            </a:r>
            <a:r>
              <a:rPr lang="es-CL" sz="2400" dirty="0" err="1">
                <a:latin typeface="Atkinson Hyperlegible"/>
              </a:rPr>
              <a:t>cloud</a:t>
            </a:r>
            <a:r>
              <a:rPr lang="es-CL" sz="2400" dirty="0">
                <a:latin typeface="Atkinson Hyperlegible"/>
              </a:rPr>
              <a:t> y virtualización.</a:t>
            </a:r>
            <a:endParaRPr lang="es-CL" sz="2400" noProof="0" dirty="0">
              <a:latin typeface="Atkinson Hyperlegible"/>
            </a:endParaRPr>
          </a:p>
        </p:txBody>
      </p:sp>
      <p:sp>
        <p:nvSpPr>
          <p:cNvPr id="17" name="5 Rectángulo">
            <a:extLst>
              <a:ext uri="{FF2B5EF4-FFF2-40B4-BE49-F238E27FC236}">
                <a16:creationId xmlns:a16="http://schemas.microsoft.com/office/drawing/2014/main" id="{ECD02D64-1B0D-6F7F-7C03-505F7428B7CB}"/>
              </a:ext>
            </a:extLst>
          </p:cNvPr>
          <p:cNvSpPr/>
          <p:nvPr/>
        </p:nvSpPr>
        <p:spPr>
          <a:xfrm>
            <a:off x="1061209" y="1760004"/>
            <a:ext cx="18598386" cy="584775"/>
          </a:xfrm>
          <a:prstGeom prst="rect">
            <a:avLst/>
          </a:prstGeom>
          <a:noFill/>
          <a:effectLst/>
        </p:spPr>
        <p:txBody>
          <a:bodyPr wrap="square" lIns="91440" tIns="45720" rIns="91440" bIns="45720" anchor="t">
            <a:spAutoFit/>
          </a:bodyPr>
          <a:lstStyle/>
          <a:p>
            <a:pPr algn="ctr"/>
            <a:r>
              <a:rPr lang="es-ES" sz="3200" dirty="0">
                <a:latin typeface="Atkinson Hyperlegible"/>
              </a:rPr>
              <a:t>Si se pueden virtualizar funciones, ¿por qué aún existen equipos físicos especializados?</a:t>
            </a:r>
            <a:endParaRPr lang="es-CL" sz="3200" b="1" i="1" noProof="0" dirty="0">
              <a:latin typeface="Atkinson Hyperlegible"/>
            </a:endParaRPr>
          </a:p>
        </p:txBody>
      </p:sp>
      <p:sp>
        <p:nvSpPr>
          <p:cNvPr id="2" name="5 Rectángulo">
            <a:extLst>
              <a:ext uri="{FF2B5EF4-FFF2-40B4-BE49-F238E27FC236}">
                <a16:creationId xmlns:a16="http://schemas.microsoft.com/office/drawing/2014/main" id="{354F4BB0-4BAE-C9A2-A18D-0632620E7FB6}"/>
              </a:ext>
            </a:extLst>
          </p:cNvPr>
          <p:cNvSpPr/>
          <p:nvPr/>
        </p:nvSpPr>
        <p:spPr>
          <a:xfrm>
            <a:off x="5921481" y="3108519"/>
            <a:ext cx="8261137" cy="4031873"/>
          </a:xfrm>
          <a:prstGeom prst="rect">
            <a:avLst/>
          </a:prstGeom>
          <a:solidFill>
            <a:schemeClr val="accent6">
              <a:lumMod val="40000"/>
              <a:lumOff val="60000"/>
            </a:schemeClr>
          </a:solidFill>
          <a:effectLst/>
        </p:spPr>
        <p:txBody>
          <a:bodyPr wrap="square" lIns="91440" tIns="45720" rIns="91440" bIns="45720" anchor="t">
            <a:spAutoFit/>
          </a:bodyPr>
          <a:lstStyle/>
          <a:p>
            <a:r>
              <a:rPr lang="es-ES" sz="3200" b="1" dirty="0">
                <a:latin typeface="Atkinson Hyperlegible"/>
              </a:rPr>
              <a:t>Porque algunos escenarios requieren:</a:t>
            </a:r>
          </a:p>
          <a:p>
            <a:pPr marL="457200" indent="-457200">
              <a:buFont typeface="Arial" panose="020B0604020202020204" pitchFamily="34" charset="0"/>
              <a:buChar char="•"/>
            </a:pPr>
            <a:r>
              <a:rPr lang="es-ES" sz="3200" dirty="0">
                <a:latin typeface="Atkinson Hyperlegible"/>
              </a:rPr>
              <a:t>Alto rendimiento y baja latencia. </a:t>
            </a:r>
          </a:p>
          <a:p>
            <a:pPr marL="457200" indent="-457200">
              <a:buFont typeface="Arial" panose="020B0604020202020204" pitchFamily="34" charset="0"/>
              <a:buChar char="•"/>
            </a:pPr>
            <a:r>
              <a:rPr lang="es-ES" sz="3200" dirty="0">
                <a:latin typeface="Atkinson Hyperlegible"/>
              </a:rPr>
              <a:t>Procesamiento especializado mediante hardware dedicado. </a:t>
            </a:r>
          </a:p>
          <a:p>
            <a:pPr marL="457200" indent="-457200">
              <a:buFont typeface="Arial" panose="020B0604020202020204" pitchFamily="34" charset="0"/>
              <a:buChar char="•"/>
            </a:pPr>
            <a:r>
              <a:rPr lang="es-ES" sz="3200" dirty="0">
                <a:latin typeface="Atkinson Hyperlegible"/>
              </a:rPr>
              <a:t>Mayor estabilidad operacional. </a:t>
            </a:r>
          </a:p>
          <a:p>
            <a:pPr marL="457200" indent="-457200">
              <a:buFont typeface="Arial" panose="020B0604020202020204" pitchFamily="34" charset="0"/>
              <a:buChar char="•"/>
            </a:pPr>
            <a:r>
              <a:rPr lang="es-ES" sz="3200" dirty="0">
                <a:latin typeface="Atkinson Hyperlegible"/>
              </a:rPr>
              <a:t>Funciones de seguridad avanzadas. </a:t>
            </a:r>
          </a:p>
          <a:p>
            <a:pPr marL="457200" indent="-457200">
              <a:buFont typeface="Arial" panose="020B0604020202020204" pitchFamily="34" charset="0"/>
              <a:buChar char="•"/>
            </a:pPr>
            <a:r>
              <a:rPr lang="es-ES" sz="3200" dirty="0">
                <a:latin typeface="Atkinson Hyperlegible"/>
              </a:rPr>
              <a:t>Alta disponibilidad. </a:t>
            </a:r>
          </a:p>
          <a:p>
            <a:pPr marL="457200" indent="-457200">
              <a:buFont typeface="Arial" panose="020B0604020202020204" pitchFamily="34" charset="0"/>
              <a:buChar char="•"/>
            </a:pPr>
            <a:r>
              <a:rPr lang="es-ES" sz="3200" dirty="0">
                <a:latin typeface="Atkinson Hyperlegible"/>
              </a:rPr>
              <a:t>Procesamiento a velocidad de línea.</a:t>
            </a:r>
          </a:p>
        </p:txBody>
      </p:sp>
      <p:sp>
        <p:nvSpPr>
          <p:cNvPr id="3" name="5 Rectángulo">
            <a:extLst>
              <a:ext uri="{FF2B5EF4-FFF2-40B4-BE49-F238E27FC236}">
                <a16:creationId xmlns:a16="http://schemas.microsoft.com/office/drawing/2014/main" id="{DC4C89DC-E2B6-845D-4074-7049E016D1BD}"/>
              </a:ext>
            </a:extLst>
          </p:cNvPr>
          <p:cNvSpPr/>
          <p:nvPr/>
        </p:nvSpPr>
        <p:spPr>
          <a:xfrm>
            <a:off x="9506605" y="8569047"/>
            <a:ext cx="10042768" cy="1569660"/>
          </a:xfrm>
          <a:prstGeom prst="rect">
            <a:avLst/>
          </a:prstGeom>
          <a:noFill/>
          <a:effectLst/>
        </p:spPr>
        <p:txBody>
          <a:bodyPr wrap="square" lIns="91440" tIns="45720" rIns="91440" bIns="45720" anchor="t">
            <a:spAutoFit/>
          </a:bodyPr>
          <a:lstStyle/>
          <a:p>
            <a:pPr algn="ctr"/>
            <a:r>
              <a:rPr lang="es-ES" sz="3200" b="1" dirty="0">
                <a:latin typeface="Atkinson Hyperlegible"/>
              </a:rPr>
              <a:t>La virtualización aumenta flexibilidad, pero el hardware especializado sigue siendo relevante cuando el rendimiento, la seguridad o la disponibilidad son críticos.</a:t>
            </a:r>
            <a:endParaRPr lang="es-CL" sz="3200" b="1" i="1" noProof="0" dirty="0">
              <a:latin typeface="Atkinson Hyperlegible"/>
            </a:endParaRPr>
          </a:p>
        </p:txBody>
      </p:sp>
    </p:spTree>
    <p:extLst>
      <p:ext uri="{BB962C8B-B14F-4D97-AF65-F5344CB8AC3E}">
        <p14:creationId xmlns:p14="http://schemas.microsoft.com/office/powerpoint/2010/main" val="37465471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5A21B78B-904F-1F4F-3532-E1A366BB0D56}"/>
            </a:ext>
          </a:extLst>
        </p:cNvPr>
        <p:cNvGrpSpPr/>
        <p:nvPr/>
      </p:nvGrpSpPr>
      <p:grpSpPr>
        <a:xfrm>
          <a:off x="0" y="0"/>
          <a:ext cx="0" cy="0"/>
          <a:chOff x="0" y="0"/>
          <a:chExt cx="0" cy="0"/>
        </a:xfrm>
      </p:grpSpPr>
      <p:cxnSp>
        <p:nvCxnSpPr>
          <p:cNvPr id="9" name="Conector recto 8">
            <a:extLst>
              <a:ext uri="{FF2B5EF4-FFF2-40B4-BE49-F238E27FC236}">
                <a16:creationId xmlns:a16="http://schemas.microsoft.com/office/drawing/2014/main" id="{74F094A6-8BA4-FDB9-09C3-4DA0DD73FF78}"/>
              </a:ext>
            </a:extLst>
          </p:cNvPr>
          <p:cNvCxnSpPr>
            <a:cxnSpLocks/>
          </p:cNvCxnSpPr>
          <p:nvPr/>
        </p:nvCxnSpPr>
        <p:spPr>
          <a:xfrm>
            <a:off x="679450" y="-136525"/>
            <a:ext cx="0" cy="1524000"/>
          </a:xfrm>
          <a:prstGeom prst="line">
            <a:avLst/>
          </a:prstGeom>
          <a:ln w="31750">
            <a:solidFill>
              <a:schemeClr val="tx1"/>
            </a:solidFill>
          </a:ln>
        </p:spPr>
        <p:style>
          <a:lnRef idx="1">
            <a:schemeClr val="dk1"/>
          </a:lnRef>
          <a:fillRef idx="0">
            <a:schemeClr val="dk1"/>
          </a:fillRef>
          <a:effectRef idx="0">
            <a:schemeClr val="dk1"/>
          </a:effectRef>
          <a:fontRef idx="minor">
            <a:schemeClr val="tx1"/>
          </a:fontRef>
        </p:style>
      </p:cxnSp>
      <p:sp>
        <p:nvSpPr>
          <p:cNvPr id="14" name="object 3">
            <a:extLst>
              <a:ext uri="{FF2B5EF4-FFF2-40B4-BE49-F238E27FC236}">
                <a16:creationId xmlns:a16="http://schemas.microsoft.com/office/drawing/2014/main" id="{81200E8A-60B3-E05B-BA23-D6E9BD9FDB82}"/>
              </a:ext>
            </a:extLst>
          </p:cNvPr>
          <p:cNvSpPr txBox="1"/>
          <p:nvPr/>
        </p:nvSpPr>
        <p:spPr>
          <a:xfrm>
            <a:off x="1382157" y="-44605"/>
            <a:ext cx="18277439" cy="1030410"/>
          </a:xfrm>
          <a:prstGeom prst="rect">
            <a:avLst/>
          </a:prstGeom>
          <a:noFill/>
        </p:spPr>
        <p:txBody>
          <a:bodyPr vert="horz" wrap="square" lIns="0" tIns="349885" rIns="0" bIns="0" rtlCol="0">
            <a:spAutoFit/>
          </a:bodyPr>
          <a:lstStyle/>
          <a:p>
            <a:r>
              <a:rPr lang="es-ES" sz="4400" b="1" dirty="0">
                <a:latin typeface="Atkinson Hyperlegible"/>
              </a:rPr>
              <a:t>COMPONENTES, FUNCIONES Y APLICACIONES </a:t>
            </a:r>
            <a:r>
              <a:rPr lang="es-ES" sz="4400" b="1" dirty="0" err="1">
                <a:latin typeface="Atkinson Hyperlegible"/>
              </a:rPr>
              <a:t>SDN</a:t>
            </a:r>
            <a:endParaRPr lang="es-CL" sz="2800" b="1" kern="100" noProof="0" dirty="0">
              <a:effectLst/>
              <a:latin typeface="Atkinson Hyperlegible"/>
              <a:ea typeface="Calibri" panose="020F0502020204030204" pitchFamily="34" charset="0"/>
              <a:cs typeface="Gotham" pitchFamily="2" charset="0"/>
            </a:endParaRPr>
          </a:p>
        </p:txBody>
      </p:sp>
      <p:sp>
        <p:nvSpPr>
          <p:cNvPr id="7" name="CuadroTexto 6">
            <a:extLst>
              <a:ext uri="{FF2B5EF4-FFF2-40B4-BE49-F238E27FC236}">
                <a16:creationId xmlns:a16="http://schemas.microsoft.com/office/drawing/2014/main" id="{5C88A385-8780-AF29-307B-6CD7BA895D98}"/>
              </a:ext>
            </a:extLst>
          </p:cNvPr>
          <p:cNvSpPr txBox="1"/>
          <p:nvPr/>
        </p:nvSpPr>
        <p:spPr>
          <a:xfrm>
            <a:off x="1382157" y="898721"/>
            <a:ext cx="17055745" cy="707886"/>
          </a:xfrm>
          <a:prstGeom prst="rect">
            <a:avLst/>
          </a:prstGeom>
          <a:noFill/>
        </p:spPr>
        <p:txBody>
          <a:bodyPr wrap="square">
            <a:spAutoFit/>
          </a:bodyPr>
          <a:lstStyle/>
          <a:p>
            <a:r>
              <a:rPr lang="pt-BR" sz="4000" dirty="0" err="1">
                <a:latin typeface="Atkinson Hyperlegible"/>
              </a:rPr>
              <a:t>Arquitectura</a:t>
            </a:r>
            <a:r>
              <a:rPr lang="pt-BR" sz="4000" dirty="0">
                <a:latin typeface="Atkinson Hyperlegible"/>
              </a:rPr>
              <a:t> general </a:t>
            </a:r>
            <a:r>
              <a:rPr lang="pt-BR" sz="4000" dirty="0" err="1">
                <a:latin typeface="Atkinson Hyperlegible"/>
              </a:rPr>
              <a:t>SDN</a:t>
            </a:r>
            <a:r>
              <a:rPr lang="pt-BR" sz="4000" dirty="0">
                <a:latin typeface="Atkinson Hyperlegible"/>
              </a:rPr>
              <a:t>: capas e interfaces</a:t>
            </a:r>
            <a:endParaRPr lang="es-CL" sz="4000" noProof="0" dirty="0">
              <a:latin typeface="Atkinson Hyperlegible"/>
            </a:endParaRPr>
          </a:p>
        </p:txBody>
      </p:sp>
      <p:sp>
        <p:nvSpPr>
          <p:cNvPr id="10" name="CuadroTexto 9">
            <a:extLst>
              <a:ext uri="{FF2B5EF4-FFF2-40B4-BE49-F238E27FC236}">
                <a16:creationId xmlns:a16="http://schemas.microsoft.com/office/drawing/2014/main" id="{AE9FE653-3D42-B924-9FDA-1385F3946304}"/>
              </a:ext>
            </a:extLst>
          </p:cNvPr>
          <p:cNvSpPr txBox="1"/>
          <p:nvPr/>
        </p:nvSpPr>
        <p:spPr>
          <a:xfrm>
            <a:off x="148345" y="8861435"/>
            <a:ext cx="8849542" cy="1569660"/>
          </a:xfrm>
          <a:prstGeom prst="rect">
            <a:avLst/>
          </a:prstGeom>
          <a:noFill/>
        </p:spPr>
        <p:txBody>
          <a:bodyPr wrap="square">
            <a:spAutoFit/>
          </a:bodyPr>
          <a:lstStyle/>
          <a:p>
            <a:r>
              <a:rPr lang="es-CL" sz="2400" noProof="0" dirty="0">
                <a:latin typeface="Atkinson Hyperlegible"/>
              </a:rPr>
              <a:t>⚠️ </a:t>
            </a:r>
            <a:r>
              <a:rPr lang="es-CL" sz="2400" b="1" noProof="0" dirty="0">
                <a:latin typeface="Atkinson Hyperlegible"/>
              </a:rPr>
              <a:t>Nota al margen:</a:t>
            </a:r>
          </a:p>
          <a:p>
            <a:r>
              <a:rPr lang="es-CL" sz="2400" b="1" dirty="0" err="1">
                <a:latin typeface="Atkinson Hyperlegible"/>
              </a:rPr>
              <a:t>IETF</a:t>
            </a:r>
            <a:r>
              <a:rPr lang="es-CL" sz="2400" b="1" dirty="0">
                <a:latin typeface="Atkinson Hyperlegible"/>
              </a:rPr>
              <a:t> RFC 7426</a:t>
            </a:r>
            <a:r>
              <a:rPr lang="es-CL" sz="2400" dirty="0">
                <a:latin typeface="Atkinson Hyperlegible"/>
              </a:rPr>
              <a:t> — </a:t>
            </a:r>
            <a:r>
              <a:rPr lang="es-CL" sz="2400" dirty="0" err="1">
                <a:latin typeface="Atkinson Hyperlegible"/>
              </a:rPr>
              <a:t>SDN</a:t>
            </a:r>
            <a:r>
              <a:rPr lang="es-CL" sz="2400" dirty="0">
                <a:latin typeface="Atkinson Hyperlegible"/>
              </a:rPr>
              <a:t>: </a:t>
            </a:r>
            <a:r>
              <a:rPr lang="es-CL" sz="2400" dirty="0" err="1">
                <a:latin typeface="Atkinson Hyperlegible"/>
              </a:rPr>
              <a:t>Layers</a:t>
            </a:r>
            <a:r>
              <a:rPr lang="es-CL" sz="2400" dirty="0">
                <a:latin typeface="Atkinson Hyperlegible"/>
              </a:rPr>
              <a:t> and </a:t>
            </a:r>
            <a:r>
              <a:rPr lang="es-CL" sz="2400" dirty="0" err="1">
                <a:latin typeface="Atkinson Hyperlegible"/>
              </a:rPr>
              <a:t>Architecture</a:t>
            </a:r>
            <a:r>
              <a:rPr lang="es-CL" sz="2400" dirty="0">
                <a:latin typeface="Atkinson Hyperlegible"/>
              </a:rPr>
              <a:t> </a:t>
            </a:r>
            <a:r>
              <a:rPr lang="es-CL" sz="2400" dirty="0" err="1">
                <a:latin typeface="Atkinson Hyperlegible"/>
              </a:rPr>
              <a:t>Terminology</a:t>
            </a:r>
            <a:r>
              <a:rPr lang="es-CL" sz="2400" dirty="0">
                <a:latin typeface="Atkinson Hyperlegible"/>
              </a:rPr>
              <a:t>.</a:t>
            </a:r>
            <a:br>
              <a:rPr lang="es-CL" sz="2400" dirty="0">
                <a:latin typeface="Atkinson Hyperlegible"/>
              </a:rPr>
            </a:br>
            <a:r>
              <a:rPr lang="es-CL" sz="2400" b="1" dirty="0" err="1">
                <a:latin typeface="Atkinson Hyperlegible"/>
              </a:rPr>
              <a:t>ONF</a:t>
            </a:r>
            <a:r>
              <a:rPr lang="es-CL" sz="2400" b="1" dirty="0">
                <a:latin typeface="Atkinson Hyperlegible"/>
              </a:rPr>
              <a:t> </a:t>
            </a:r>
            <a:r>
              <a:rPr lang="es-CL" sz="2400" b="1" dirty="0" err="1">
                <a:latin typeface="Atkinson Hyperlegible"/>
              </a:rPr>
              <a:t>OpenFlow</a:t>
            </a:r>
            <a:r>
              <a:rPr lang="es-CL" sz="2400" b="1" dirty="0">
                <a:latin typeface="Atkinson Hyperlegible"/>
              </a:rPr>
              <a:t> Switch </a:t>
            </a:r>
            <a:r>
              <a:rPr lang="es-CL" sz="2400" b="1" dirty="0" err="1">
                <a:latin typeface="Atkinson Hyperlegible"/>
              </a:rPr>
              <a:t>Specification</a:t>
            </a:r>
            <a:r>
              <a:rPr lang="es-CL" sz="2400" dirty="0">
                <a:latin typeface="Atkinson Hyperlegible"/>
              </a:rPr>
              <a:t> — interfaz controlador–switch.</a:t>
            </a:r>
            <a:br>
              <a:rPr lang="es-CL" sz="2400" dirty="0">
                <a:latin typeface="Atkinson Hyperlegible"/>
              </a:rPr>
            </a:br>
            <a:r>
              <a:rPr lang="es-CL" sz="2400" b="1" dirty="0" err="1">
                <a:latin typeface="Atkinson Hyperlegible"/>
              </a:rPr>
              <a:t>OpenStack</a:t>
            </a:r>
            <a:r>
              <a:rPr lang="es-CL" sz="2400" b="1" dirty="0">
                <a:latin typeface="Atkinson Hyperlegible"/>
              </a:rPr>
              <a:t> </a:t>
            </a:r>
            <a:r>
              <a:rPr lang="es-CL" sz="2400" b="1" dirty="0" err="1">
                <a:latin typeface="Atkinson Hyperlegible"/>
              </a:rPr>
              <a:t>Documentation</a:t>
            </a:r>
            <a:r>
              <a:rPr lang="es-CL" sz="2400" dirty="0">
                <a:latin typeface="Atkinson Hyperlegible"/>
              </a:rPr>
              <a:t> — infraestructura </a:t>
            </a:r>
            <a:r>
              <a:rPr lang="es-CL" sz="2400" dirty="0" err="1">
                <a:latin typeface="Atkinson Hyperlegible"/>
              </a:rPr>
              <a:t>cloud</a:t>
            </a:r>
            <a:r>
              <a:rPr lang="es-CL" sz="2400" dirty="0">
                <a:latin typeface="Atkinson Hyperlegible"/>
              </a:rPr>
              <a:t> y virtualización.</a:t>
            </a:r>
            <a:endParaRPr lang="es-CL" sz="2400" noProof="0" dirty="0">
              <a:latin typeface="Atkinson Hyperlegible"/>
            </a:endParaRPr>
          </a:p>
        </p:txBody>
      </p:sp>
      <p:sp>
        <p:nvSpPr>
          <p:cNvPr id="17" name="5 Rectángulo">
            <a:extLst>
              <a:ext uri="{FF2B5EF4-FFF2-40B4-BE49-F238E27FC236}">
                <a16:creationId xmlns:a16="http://schemas.microsoft.com/office/drawing/2014/main" id="{0B7BBF7F-25BB-AE10-4019-848B99276F86}"/>
              </a:ext>
            </a:extLst>
          </p:cNvPr>
          <p:cNvSpPr/>
          <p:nvPr/>
        </p:nvSpPr>
        <p:spPr>
          <a:xfrm>
            <a:off x="1061209" y="1760004"/>
            <a:ext cx="18598386" cy="1077218"/>
          </a:xfrm>
          <a:prstGeom prst="rect">
            <a:avLst/>
          </a:prstGeom>
          <a:noFill/>
          <a:effectLst/>
        </p:spPr>
        <p:txBody>
          <a:bodyPr wrap="square" lIns="91440" tIns="45720" rIns="91440" bIns="45720" anchor="t">
            <a:spAutoFit/>
          </a:bodyPr>
          <a:lstStyle/>
          <a:p>
            <a:pPr algn="ctr"/>
            <a:r>
              <a:rPr lang="es-ES" sz="3200" dirty="0">
                <a:latin typeface="Atkinson Hyperlegible"/>
              </a:rPr>
              <a:t>Una arquitectura </a:t>
            </a:r>
            <a:r>
              <a:rPr lang="es-ES" sz="3200" b="1" dirty="0" err="1">
                <a:latin typeface="Atkinson Hyperlegible"/>
              </a:rPr>
              <a:t>SDN</a:t>
            </a:r>
            <a:r>
              <a:rPr lang="es-ES" sz="3200" dirty="0">
                <a:latin typeface="Atkinson Hyperlegible"/>
              </a:rPr>
              <a:t> organiza la red en capas, separando las aplicaciones de red, la lógica de control y los dispositivos que reenvían tráfico.</a:t>
            </a:r>
            <a:endParaRPr lang="es-CL" sz="3200" b="1" i="1" noProof="0" dirty="0">
              <a:latin typeface="Atkinson Hyperlegible"/>
            </a:endParaRPr>
          </a:p>
        </p:txBody>
      </p:sp>
      <p:sp>
        <p:nvSpPr>
          <p:cNvPr id="3" name="5 Rectángulo">
            <a:extLst>
              <a:ext uri="{FF2B5EF4-FFF2-40B4-BE49-F238E27FC236}">
                <a16:creationId xmlns:a16="http://schemas.microsoft.com/office/drawing/2014/main" id="{5856CF44-21D6-39EA-B6AB-FD58E52271C2}"/>
              </a:ext>
            </a:extLst>
          </p:cNvPr>
          <p:cNvSpPr/>
          <p:nvPr/>
        </p:nvSpPr>
        <p:spPr>
          <a:xfrm>
            <a:off x="9506605" y="8569047"/>
            <a:ext cx="10042768" cy="1569660"/>
          </a:xfrm>
          <a:prstGeom prst="rect">
            <a:avLst/>
          </a:prstGeom>
          <a:noFill/>
          <a:effectLst/>
        </p:spPr>
        <p:txBody>
          <a:bodyPr wrap="square" lIns="91440" tIns="45720" rIns="91440" bIns="45720" anchor="t">
            <a:spAutoFit/>
          </a:bodyPr>
          <a:lstStyle/>
          <a:p>
            <a:pPr algn="ctr"/>
            <a:r>
              <a:rPr lang="es-ES" sz="3200" b="1" dirty="0" err="1">
                <a:latin typeface="Atkinson Hyperlegible"/>
              </a:rPr>
              <a:t>SDN</a:t>
            </a:r>
            <a:r>
              <a:rPr lang="es-ES" sz="3200" b="1" dirty="0">
                <a:latin typeface="Atkinson Hyperlegible"/>
              </a:rPr>
              <a:t> organiza la red como un sistema programable: aplicaciones definen, controlador decide y dispositivos ejecutan.</a:t>
            </a:r>
            <a:endParaRPr lang="es-CL" sz="3200" b="1" i="1" noProof="0" dirty="0">
              <a:latin typeface="Atkinson Hyperlegible"/>
            </a:endParaRPr>
          </a:p>
        </p:txBody>
      </p:sp>
      <p:graphicFrame>
        <p:nvGraphicFramePr>
          <p:cNvPr id="4" name="Tabla 3">
            <a:extLst>
              <a:ext uri="{FF2B5EF4-FFF2-40B4-BE49-F238E27FC236}">
                <a16:creationId xmlns:a16="http://schemas.microsoft.com/office/drawing/2014/main" id="{245059BA-7FEC-3ADA-1E16-DAC773149B12}"/>
              </a:ext>
            </a:extLst>
          </p:cNvPr>
          <p:cNvGraphicFramePr>
            <a:graphicFrameLocks noGrp="1"/>
          </p:cNvGraphicFramePr>
          <p:nvPr>
            <p:extLst>
              <p:ext uri="{D42A27DB-BD31-4B8C-83A1-F6EECF244321}">
                <p14:modId xmlns:p14="http://schemas.microsoft.com/office/powerpoint/2010/main" val="3827989713"/>
              </p:ext>
            </p:extLst>
          </p:nvPr>
        </p:nvGraphicFramePr>
        <p:xfrm>
          <a:off x="1851539" y="2837222"/>
          <a:ext cx="17338674" cy="2590800"/>
        </p:xfrm>
        <a:graphic>
          <a:graphicData uri="http://schemas.openxmlformats.org/drawingml/2006/table">
            <a:tbl>
              <a:tblPr firstRow="1">
                <a:tableStyleId>{7E9639D4-E3E2-4D34-9284-5A2195B3D0D7}</a:tableStyleId>
              </a:tblPr>
              <a:tblGrid>
                <a:gridCol w="5779558">
                  <a:extLst>
                    <a:ext uri="{9D8B030D-6E8A-4147-A177-3AD203B41FA5}">
                      <a16:colId xmlns:a16="http://schemas.microsoft.com/office/drawing/2014/main" val="3698991424"/>
                    </a:ext>
                  </a:extLst>
                </a:gridCol>
                <a:gridCol w="5779558">
                  <a:extLst>
                    <a:ext uri="{9D8B030D-6E8A-4147-A177-3AD203B41FA5}">
                      <a16:colId xmlns:a16="http://schemas.microsoft.com/office/drawing/2014/main" val="3654667760"/>
                    </a:ext>
                  </a:extLst>
                </a:gridCol>
                <a:gridCol w="5779558">
                  <a:extLst>
                    <a:ext uri="{9D8B030D-6E8A-4147-A177-3AD203B41FA5}">
                      <a16:colId xmlns:a16="http://schemas.microsoft.com/office/drawing/2014/main" val="537245694"/>
                    </a:ext>
                  </a:extLst>
                </a:gridCol>
              </a:tblGrid>
              <a:tr h="0">
                <a:tc>
                  <a:txBody>
                    <a:bodyPr/>
                    <a:lstStyle/>
                    <a:p>
                      <a:pPr>
                        <a:buNone/>
                      </a:pPr>
                      <a:r>
                        <a:rPr lang="es-CL" sz="2800" b="0" dirty="0"/>
                        <a:t>Capa</a:t>
                      </a:r>
                      <a:endParaRPr lang="es-CL" sz="2800" b="0" dirty="0">
                        <a:latin typeface="Atkinson Hyperlegible"/>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s-CL" sz="2800" b="0"/>
                        <a:t>Función principal</a:t>
                      </a:r>
                      <a:endParaRPr lang="es-CL" sz="2800" b="0">
                        <a:latin typeface="Atkinson Hyperlegible"/>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s-CL" sz="2800" b="0" dirty="0"/>
                        <a:t>Ejemplo</a:t>
                      </a:r>
                      <a:endParaRPr lang="es-CL" sz="2800" b="0" dirty="0">
                        <a:latin typeface="Atkinson Hyperlegible"/>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93810645"/>
                  </a:ext>
                </a:extLst>
              </a:tr>
              <a:tr h="0">
                <a:tc>
                  <a:txBody>
                    <a:bodyPr/>
                    <a:lstStyle/>
                    <a:p>
                      <a:pPr>
                        <a:buNone/>
                      </a:pPr>
                      <a:r>
                        <a:rPr lang="es-CL" sz="2800" b="0" dirty="0"/>
                        <a:t>Aplicaciones </a:t>
                      </a:r>
                      <a:r>
                        <a:rPr lang="es-CL" sz="2800" b="0" dirty="0" err="1"/>
                        <a:t>SDN</a:t>
                      </a:r>
                      <a:endParaRPr lang="es-CL" sz="2800" b="0" dirty="0">
                        <a:latin typeface="Atkinson Hyperlegible"/>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s-ES" sz="2800" b="0" dirty="0"/>
                        <a:t>Definen políticas y necesidades de red</a:t>
                      </a:r>
                      <a:endParaRPr lang="es-ES" sz="2800" b="0" dirty="0">
                        <a:latin typeface="Atkinson Hyperlegible"/>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s-CL" sz="2800" b="0"/>
                        <a:t>seguridad, QoS, monitoreo</a:t>
                      </a:r>
                      <a:endParaRPr lang="es-CL" sz="2800" b="0">
                        <a:latin typeface="Atkinson Hyperlegible"/>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24799003"/>
                  </a:ext>
                </a:extLst>
              </a:tr>
              <a:tr h="0">
                <a:tc>
                  <a:txBody>
                    <a:bodyPr/>
                    <a:lstStyle/>
                    <a:p>
                      <a:pPr>
                        <a:buNone/>
                      </a:pPr>
                      <a:r>
                        <a:rPr lang="es-CL" sz="2800" b="0"/>
                        <a:t>Controlador SDN</a:t>
                      </a:r>
                      <a:endParaRPr lang="es-CL" sz="2800" b="0">
                        <a:latin typeface="Atkinson Hyperlegible"/>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s-ES" sz="2800" b="0" dirty="0"/>
                        <a:t>Toma decisiones y programa la red</a:t>
                      </a:r>
                      <a:endParaRPr lang="es-ES" sz="2800" b="0" dirty="0">
                        <a:latin typeface="Atkinson Hyperlegible"/>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s-CL" sz="2800" b="0"/>
                        <a:t>controlador central</a:t>
                      </a:r>
                      <a:endParaRPr lang="es-CL" sz="2800" b="0">
                        <a:latin typeface="Atkinson Hyperlegible"/>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64140208"/>
                  </a:ext>
                </a:extLst>
              </a:tr>
              <a:tr h="0">
                <a:tc>
                  <a:txBody>
                    <a:bodyPr/>
                    <a:lstStyle/>
                    <a:p>
                      <a:pPr>
                        <a:buNone/>
                      </a:pPr>
                      <a:r>
                        <a:rPr lang="es-CL" sz="2800" b="0"/>
                        <a:t>Plano de datos</a:t>
                      </a:r>
                      <a:endParaRPr lang="es-CL" sz="2800" b="0">
                        <a:latin typeface="Atkinson Hyperlegible"/>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s-ES" sz="2800" b="0" dirty="0"/>
                        <a:t>Ejecuta reglas y reenvía tráfico</a:t>
                      </a:r>
                      <a:endParaRPr lang="es-ES" sz="2800" b="0" dirty="0">
                        <a:latin typeface="Atkinson Hyperlegible"/>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s-CL" sz="2800" b="0" dirty="0"/>
                        <a:t>switches / </a:t>
                      </a:r>
                      <a:r>
                        <a:rPr lang="es-CL" sz="2800" b="0" dirty="0" err="1"/>
                        <a:t>routers</a:t>
                      </a:r>
                      <a:endParaRPr lang="es-CL" sz="2800" b="0" dirty="0">
                        <a:latin typeface="Atkinson Hyperlegible"/>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95207833"/>
                  </a:ext>
                </a:extLst>
              </a:tr>
              <a:tr h="0">
                <a:tc>
                  <a:txBody>
                    <a:bodyPr/>
                    <a:lstStyle/>
                    <a:p>
                      <a:pPr>
                        <a:buNone/>
                      </a:pPr>
                      <a:r>
                        <a:rPr lang="es-CL" sz="2800" b="0" dirty="0"/>
                        <a:t>Infraestructura física o virtual</a:t>
                      </a:r>
                      <a:endParaRPr lang="es-CL" sz="2800" b="0" dirty="0">
                        <a:latin typeface="Atkinson Hyperlegible"/>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s-ES" sz="2800" b="0" dirty="0"/>
                        <a:t>Dispositivos y enlaces de red</a:t>
                      </a:r>
                      <a:endParaRPr lang="es-ES" sz="2800" b="0" dirty="0">
                        <a:latin typeface="Atkinson Hyperlegible"/>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s-CL" sz="2800" b="0" dirty="0"/>
                        <a:t>hardware físico o virtual</a:t>
                      </a:r>
                      <a:endParaRPr lang="es-CL" sz="2800" b="0" dirty="0">
                        <a:latin typeface="Atkinson Hyperlegible"/>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81112979"/>
                  </a:ext>
                </a:extLst>
              </a:tr>
            </a:tbl>
          </a:graphicData>
        </a:graphic>
      </p:graphicFrame>
      <p:sp>
        <p:nvSpPr>
          <p:cNvPr id="5" name="5 Rectángulo">
            <a:extLst>
              <a:ext uri="{FF2B5EF4-FFF2-40B4-BE49-F238E27FC236}">
                <a16:creationId xmlns:a16="http://schemas.microsoft.com/office/drawing/2014/main" id="{3CD47B48-49C8-DF5A-430D-8D84FD552D20}"/>
              </a:ext>
            </a:extLst>
          </p:cNvPr>
          <p:cNvSpPr/>
          <p:nvPr/>
        </p:nvSpPr>
        <p:spPr>
          <a:xfrm>
            <a:off x="4573116" y="5575068"/>
            <a:ext cx="12673930" cy="2554545"/>
          </a:xfrm>
          <a:prstGeom prst="rect">
            <a:avLst/>
          </a:prstGeom>
          <a:solidFill>
            <a:schemeClr val="accent6">
              <a:lumMod val="40000"/>
              <a:lumOff val="60000"/>
            </a:schemeClr>
          </a:solidFill>
          <a:effectLst/>
        </p:spPr>
        <p:txBody>
          <a:bodyPr wrap="square" lIns="91440" tIns="45720" rIns="91440" bIns="45720" anchor="t">
            <a:spAutoFit/>
          </a:bodyPr>
          <a:lstStyle/>
          <a:p>
            <a:r>
              <a:rPr lang="es-ES" sz="3200" b="1" dirty="0">
                <a:latin typeface="Atkinson Hyperlegible"/>
              </a:rPr>
              <a:t>Interfaces principales</a:t>
            </a:r>
          </a:p>
          <a:p>
            <a:pPr marL="457200" indent="-457200">
              <a:buFont typeface="Arial" panose="020B0604020202020204" pitchFamily="34" charset="0"/>
              <a:buChar char="•"/>
            </a:pPr>
            <a:r>
              <a:rPr lang="es-ES" sz="3200" b="1" dirty="0">
                <a:latin typeface="Atkinson Hyperlegible"/>
              </a:rPr>
              <a:t>Interfaz norte:</a:t>
            </a:r>
            <a:r>
              <a:rPr lang="es-ES" sz="3200" dirty="0">
                <a:latin typeface="Atkinson Hyperlegible"/>
              </a:rPr>
              <a:t> conecta aplicaciones con el controlador </a:t>
            </a:r>
            <a:r>
              <a:rPr lang="es-ES" sz="3200" dirty="0" err="1">
                <a:latin typeface="Atkinson Hyperlegible"/>
              </a:rPr>
              <a:t>SDN</a:t>
            </a:r>
            <a:r>
              <a:rPr lang="es-ES" sz="3200" dirty="0">
                <a:latin typeface="Atkinson Hyperlegible"/>
              </a:rPr>
              <a:t>. </a:t>
            </a:r>
          </a:p>
          <a:p>
            <a:pPr marL="457200" indent="-457200">
              <a:buFont typeface="Arial" panose="020B0604020202020204" pitchFamily="34" charset="0"/>
              <a:buChar char="•"/>
            </a:pPr>
            <a:r>
              <a:rPr lang="es-ES" sz="3200" b="1" dirty="0">
                <a:latin typeface="Atkinson Hyperlegible"/>
              </a:rPr>
              <a:t>Interfaz sur:</a:t>
            </a:r>
            <a:r>
              <a:rPr lang="es-ES" sz="3200" dirty="0">
                <a:latin typeface="Atkinson Hyperlegible"/>
              </a:rPr>
              <a:t> conecta el controlador </a:t>
            </a:r>
            <a:r>
              <a:rPr lang="es-ES" sz="3200" dirty="0" err="1">
                <a:latin typeface="Atkinson Hyperlegible"/>
              </a:rPr>
              <a:t>SDN</a:t>
            </a:r>
            <a:r>
              <a:rPr lang="es-ES" sz="3200" dirty="0">
                <a:latin typeface="Atkinson Hyperlegible"/>
              </a:rPr>
              <a:t> con dispositivos de red. </a:t>
            </a:r>
          </a:p>
          <a:p>
            <a:pPr marL="457200" indent="-457200">
              <a:buFont typeface="Arial" panose="020B0604020202020204" pitchFamily="34" charset="0"/>
              <a:buChar char="•"/>
            </a:pPr>
            <a:r>
              <a:rPr lang="es-ES" sz="3200" b="1" dirty="0" err="1">
                <a:latin typeface="Atkinson Hyperlegible"/>
              </a:rPr>
              <a:t>OpenFlow</a:t>
            </a:r>
            <a:r>
              <a:rPr lang="es-ES" sz="3200" b="1" dirty="0">
                <a:latin typeface="Atkinson Hyperlegible"/>
              </a:rPr>
              <a:t>:</a:t>
            </a:r>
            <a:r>
              <a:rPr lang="es-ES" sz="3200" dirty="0">
                <a:latin typeface="Atkinson Hyperlegible"/>
              </a:rPr>
              <a:t> ejemplo de protocolo de interfaz sur entre controlador y switch.</a:t>
            </a:r>
          </a:p>
        </p:txBody>
      </p:sp>
    </p:spTree>
    <p:extLst>
      <p:ext uri="{BB962C8B-B14F-4D97-AF65-F5344CB8AC3E}">
        <p14:creationId xmlns:p14="http://schemas.microsoft.com/office/powerpoint/2010/main" val="19256445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91BD19CF-2762-7425-BD2B-B39901CEE977}"/>
            </a:ext>
          </a:extLst>
        </p:cNvPr>
        <p:cNvGrpSpPr/>
        <p:nvPr/>
      </p:nvGrpSpPr>
      <p:grpSpPr>
        <a:xfrm>
          <a:off x="0" y="0"/>
          <a:ext cx="0" cy="0"/>
          <a:chOff x="0" y="0"/>
          <a:chExt cx="0" cy="0"/>
        </a:xfrm>
      </p:grpSpPr>
      <p:cxnSp>
        <p:nvCxnSpPr>
          <p:cNvPr id="9" name="Conector recto 8">
            <a:extLst>
              <a:ext uri="{FF2B5EF4-FFF2-40B4-BE49-F238E27FC236}">
                <a16:creationId xmlns:a16="http://schemas.microsoft.com/office/drawing/2014/main" id="{64273EBC-4648-882A-7F06-A4D971C51C74}"/>
              </a:ext>
            </a:extLst>
          </p:cNvPr>
          <p:cNvCxnSpPr>
            <a:cxnSpLocks/>
          </p:cNvCxnSpPr>
          <p:nvPr/>
        </p:nvCxnSpPr>
        <p:spPr>
          <a:xfrm>
            <a:off x="679450" y="-136525"/>
            <a:ext cx="0" cy="1524000"/>
          </a:xfrm>
          <a:prstGeom prst="line">
            <a:avLst/>
          </a:prstGeom>
          <a:ln w="31750">
            <a:solidFill>
              <a:schemeClr val="tx1"/>
            </a:solidFill>
          </a:ln>
        </p:spPr>
        <p:style>
          <a:lnRef idx="1">
            <a:schemeClr val="dk1"/>
          </a:lnRef>
          <a:fillRef idx="0">
            <a:schemeClr val="dk1"/>
          </a:fillRef>
          <a:effectRef idx="0">
            <a:schemeClr val="dk1"/>
          </a:effectRef>
          <a:fontRef idx="minor">
            <a:schemeClr val="tx1"/>
          </a:fontRef>
        </p:style>
      </p:cxnSp>
      <p:sp>
        <p:nvSpPr>
          <p:cNvPr id="14" name="object 3">
            <a:extLst>
              <a:ext uri="{FF2B5EF4-FFF2-40B4-BE49-F238E27FC236}">
                <a16:creationId xmlns:a16="http://schemas.microsoft.com/office/drawing/2014/main" id="{998BA8AA-6C0D-DE3F-7D78-68508458CA49}"/>
              </a:ext>
            </a:extLst>
          </p:cNvPr>
          <p:cNvSpPr txBox="1"/>
          <p:nvPr/>
        </p:nvSpPr>
        <p:spPr>
          <a:xfrm>
            <a:off x="1382157" y="-44605"/>
            <a:ext cx="18277439" cy="1030410"/>
          </a:xfrm>
          <a:prstGeom prst="rect">
            <a:avLst/>
          </a:prstGeom>
          <a:noFill/>
        </p:spPr>
        <p:txBody>
          <a:bodyPr vert="horz" wrap="square" lIns="0" tIns="349885" rIns="0" bIns="0" rtlCol="0">
            <a:spAutoFit/>
          </a:bodyPr>
          <a:lstStyle/>
          <a:p>
            <a:r>
              <a:rPr lang="es-ES" sz="4400" b="1" dirty="0">
                <a:latin typeface="Atkinson Hyperlegible"/>
              </a:rPr>
              <a:t>COMPONENTES, FUNCIONES Y APLICACIONES </a:t>
            </a:r>
            <a:r>
              <a:rPr lang="es-ES" sz="4400" b="1" dirty="0" err="1">
                <a:latin typeface="Atkinson Hyperlegible"/>
              </a:rPr>
              <a:t>SDN</a:t>
            </a:r>
            <a:endParaRPr lang="es-CL" sz="2800" b="1" kern="100" noProof="0" dirty="0">
              <a:effectLst/>
              <a:latin typeface="Atkinson Hyperlegible"/>
              <a:ea typeface="Calibri" panose="020F0502020204030204" pitchFamily="34" charset="0"/>
              <a:cs typeface="Gotham" pitchFamily="2" charset="0"/>
            </a:endParaRPr>
          </a:p>
        </p:txBody>
      </p:sp>
      <p:sp>
        <p:nvSpPr>
          <p:cNvPr id="7" name="CuadroTexto 6">
            <a:extLst>
              <a:ext uri="{FF2B5EF4-FFF2-40B4-BE49-F238E27FC236}">
                <a16:creationId xmlns:a16="http://schemas.microsoft.com/office/drawing/2014/main" id="{7A8968C5-AF94-2501-4E80-EB0CDA5F8F14}"/>
              </a:ext>
            </a:extLst>
          </p:cNvPr>
          <p:cNvSpPr txBox="1"/>
          <p:nvPr/>
        </p:nvSpPr>
        <p:spPr>
          <a:xfrm>
            <a:off x="1382157" y="898721"/>
            <a:ext cx="17055745" cy="707886"/>
          </a:xfrm>
          <a:prstGeom prst="rect">
            <a:avLst/>
          </a:prstGeom>
          <a:noFill/>
        </p:spPr>
        <p:txBody>
          <a:bodyPr wrap="square">
            <a:spAutoFit/>
          </a:bodyPr>
          <a:lstStyle/>
          <a:p>
            <a:r>
              <a:rPr lang="pt-BR" sz="4000" dirty="0" err="1">
                <a:latin typeface="Atkinson Hyperlegible"/>
              </a:rPr>
              <a:t>Arquitectura</a:t>
            </a:r>
            <a:r>
              <a:rPr lang="pt-BR" sz="4000" dirty="0">
                <a:latin typeface="Atkinson Hyperlegible"/>
              </a:rPr>
              <a:t> general </a:t>
            </a:r>
            <a:r>
              <a:rPr lang="pt-BR" sz="4000" dirty="0" err="1">
                <a:latin typeface="Atkinson Hyperlegible"/>
              </a:rPr>
              <a:t>SDN</a:t>
            </a:r>
            <a:r>
              <a:rPr lang="pt-BR" sz="4000" dirty="0">
                <a:latin typeface="Atkinson Hyperlegible"/>
              </a:rPr>
              <a:t>: capas e interfaces</a:t>
            </a:r>
            <a:endParaRPr lang="es-CL" sz="4000" noProof="0" dirty="0">
              <a:latin typeface="Atkinson Hyperlegible"/>
            </a:endParaRPr>
          </a:p>
        </p:txBody>
      </p:sp>
      <p:pic>
        <p:nvPicPr>
          <p:cNvPr id="6" name="Imagen 5">
            <a:extLst>
              <a:ext uri="{FF2B5EF4-FFF2-40B4-BE49-F238E27FC236}">
                <a16:creationId xmlns:a16="http://schemas.microsoft.com/office/drawing/2014/main" id="{07CFEAC2-62A6-DB87-2814-A4DD99AF06F1}"/>
              </a:ext>
            </a:extLst>
          </p:cNvPr>
          <p:cNvPicPr>
            <a:picLocks noChangeAspect="1"/>
          </p:cNvPicPr>
          <p:nvPr/>
        </p:nvPicPr>
        <p:blipFill>
          <a:blip r:embed="rId4"/>
          <a:stretch>
            <a:fillRect/>
          </a:stretch>
        </p:blipFill>
        <p:spPr>
          <a:xfrm>
            <a:off x="679449" y="193259"/>
            <a:ext cx="19197505" cy="10479738"/>
          </a:xfrm>
          <a:prstGeom prst="rect">
            <a:avLst/>
          </a:prstGeom>
        </p:spPr>
      </p:pic>
    </p:spTree>
    <p:extLst>
      <p:ext uri="{BB962C8B-B14F-4D97-AF65-F5344CB8AC3E}">
        <p14:creationId xmlns:p14="http://schemas.microsoft.com/office/powerpoint/2010/main" val="24908862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C835EA08-88F6-8D73-9055-3396986F7A3F}"/>
            </a:ext>
          </a:extLst>
        </p:cNvPr>
        <p:cNvGrpSpPr/>
        <p:nvPr/>
      </p:nvGrpSpPr>
      <p:grpSpPr>
        <a:xfrm>
          <a:off x="0" y="0"/>
          <a:ext cx="0" cy="0"/>
          <a:chOff x="0" y="0"/>
          <a:chExt cx="0" cy="0"/>
        </a:xfrm>
      </p:grpSpPr>
      <p:cxnSp>
        <p:nvCxnSpPr>
          <p:cNvPr id="9" name="Conector recto 8">
            <a:extLst>
              <a:ext uri="{FF2B5EF4-FFF2-40B4-BE49-F238E27FC236}">
                <a16:creationId xmlns:a16="http://schemas.microsoft.com/office/drawing/2014/main" id="{D98FB2FB-02A2-8710-C04D-41332C14972D}"/>
              </a:ext>
            </a:extLst>
          </p:cNvPr>
          <p:cNvCxnSpPr>
            <a:cxnSpLocks/>
          </p:cNvCxnSpPr>
          <p:nvPr/>
        </p:nvCxnSpPr>
        <p:spPr>
          <a:xfrm>
            <a:off x="679450" y="-136525"/>
            <a:ext cx="0" cy="1524000"/>
          </a:xfrm>
          <a:prstGeom prst="line">
            <a:avLst/>
          </a:prstGeom>
          <a:ln w="31750">
            <a:solidFill>
              <a:schemeClr val="tx1"/>
            </a:solidFill>
          </a:ln>
        </p:spPr>
        <p:style>
          <a:lnRef idx="1">
            <a:schemeClr val="dk1"/>
          </a:lnRef>
          <a:fillRef idx="0">
            <a:schemeClr val="dk1"/>
          </a:fillRef>
          <a:effectRef idx="0">
            <a:schemeClr val="dk1"/>
          </a:effectRef>
          <a:fontRef idx="minor">
            <a:schemeClr val="tx1"/>
          </a:fontRef>
        </p:style>
      </p:cxnSp>
      <p:sp>
        <p:nvSpPr>
          <p:cNvPr id="14" name="object 3">
            <a:extLst>
              <a:ext uri="{FF2B5EF4-FFF2-40B4-BE49-F238E27FC236}">
                <a16:creationId xmlns:a16="http://schemas.microsoft.com/office/drawing/2014/main" id="{3BEC0016-133F-2E28-3A0F-7EAA70D0D5F8}"/>
              </a:ext>
            </a:extLst>
          </p:cNvPr>
          <p:cNvSpPr txBox="1"/>
          <p:nvPr/>
        </p:nvSpPr>
        <p:spPr>
          <a:xfrm>
            <a:off x="1382157" y="-44605"/>
            <a:ext cx="18277439" cy="1030410"/>
          </a:xfrm>
          <a:prstGeom prst="rect">
            <a:avLst/>
          </a:prstGeom>
          <a:noFill/>
        </p:spPr>
        <p:txBody>
          <a:bodyPr vert="horz" wrap="square" lIns="0" tIns="349885" rIns="0" bIns="0" rtlCol="0">
            <a:spAutoFit/>
          </a:bodyPr>
          <a:lstStyle/>
          <a:p>
            <a:r>
              <a:rPr lang="es-ES" sz="4400" b="1" dirty="0">
                <a:latin typeface="Atkinson Hyperlegible"/>
              </a:rPr>
              <a:t>COMPONENTES, FUNCIONES Y APLICACIONES </a:t>
            </a:r>
            <a:r>
              <a:rPr lang="es-ES" sz="4400" b="1" dirty="0" err="1">
                <a:latin typeface="Atkinson Hyperlegible"/>
              </a:rPr>
              <a:t>SDN</a:t>
            </a:r>
            <a:endParaRPr lang="es-CL" sz="2800" b="1" kern="100" noProof="0" dirty="0">
              <a:effectLst/>
              <a:latin typeface="Atkinson Hyperlegible"/>
              <a:ea typeface="Calibri" panose="020F0502020204030204" pitchFamily="34" charset="0"/>
              <a:cs typeface="Gotham" pitchFamily="2" charset="0"/>
            </a:endParaRPr>
          </a:p>
        </p:txBody>
      </p:sp>
      <p:sp>
        <p:nvSpPr>
          <p:cNvPr id="7" name="CuadroTexto 6">
            <a:extLst>
              <a:ext uri="{FF2B5EF4-FFF2-40B4-BE49-F238E27FC236}">
                <a16:creationId xmlns:a16="http://schemas.microsoft.com/office/drawing/2014/main" id="{DF0D97F5-2144-9FB8-7DCB-7B6221379976}"/>
              </a:ext>
            </a:extLst>
          </p:cNvPr>
          <p:cNvSpPr txBox="1"/>
          <p:nvPr/>
        </p:nvSpPr>
        <p:spPr>
          <a:xfrm>
            <a:off x="1382157" y="898721"/>
            <a:ext cx="17055745" cy="707886"/>
          </a:xfrm>
          <a:prstGeom prst="rect">
            <a:avLst/>
          </a:prstGeom>
          <a:noFill/>
        </p:spPr>
        <p:txBody>
          <a:bodyPr wrap="square">
            <a:spAutoFit/>
          </a:bodyPr>
          <a:lstStyle/>
          <a:p>
            <a:r>
              <a:rPr lang="es-ES" sz="4000" dirty="0">
                <a:latin typeface="Atkinson Hyperlegible"/>
              </a:rPr>
              <a:t>Controlador </a:t>
            </a:r>
            <a:r>
              <a:rPr lang="es-ES" sz="4000" dirty="0" err="1">
                <a:latin typeface="Atkinson Hyperlegible"/>
              </a:rPr>
              <a:t>SDN</a:t>
            </a:r>
            <a:r>
              <a:rPr lang="es-ES" sz="4000" dirty="0">
                <a:latin typeface="Atkinson Hyperlegible"/>
              </a:rPr>
              <a:t>: rol y funciones principales</a:t>
            </a:r>
            <a:endParaRPr lang="es-CL" sz="4000" noProof="0" dirty="0">
              <a:latin typeface="Atkinson Hyperlegible"/>
            </a:endParaRPr>
          </a:p>
        </p:txBody>
      </p:sp>
      <p:sp>
        <p:nvSpPr>
          <p:cNvPr id="10" name="CuadroTexto 9">
            <a:extLst>
              <a:ext uri="{FF2B5EF4-FFF2-40B4-BE49-F238E27FC236}">
                <a16:creationId xmlns:a16="http://schemas.microsoft.com/office/drawing/2014/main" id="{B9199B50-6869-D7B4-E7C7-167D624DC0D5}"/>
              </a:ext>
            </a:extLst>
          </p:cNvPr>
          <p:cNvSpPr txBox="1"/>
          <p:nvPr/>
        </p:nvSpPr>
        <p:spPr>
          <a:xfrm>
            <a:off x="148345" y="8861435"/>
            <a:ext cx="8849542" cy="1569660"/>
          </a:xfrm>
          <a:prstGeom prst="rect">
            <a:avLst/>
          </a:prstGeom>
          <a:noFill/>
        </p:spPr>
        <p:txBody>
          <a:bodyPr wrap="square">
            <a:spAutoFit/>
          </a:bodyPr>
          <a:lstStyle/>
          <a:p>
            <a:r>
              <a:rPr lang="es-CL" sz="2400" noProof="0" dirty="0">
                <a:latin typeface="Atkinson Hyperlegible"/>
              </a:rPr>
              <a:t>⚠️ </a:t>
            </a:r>
            <a:r>
              <a:rPr lang="es-CL" sz="2400" b="1" noProof="0" dirty="0">
                <a:latin typeface="Atkinson Hyperlegible"/>
              </a:rPr>
              <a:t>Nota al margen:</a:t>
            </a:r>
          </a:p>
          <a:p>
            <a:r>
              <a:rPr lang="es-CL" sz="2400" b="1" dirty="0" err="1">
                <a:latin typeface="Atkinson Hyperlegible"/>
              </a:rPr>
              <a:t>IETF</a:t>
            </a:r>
            <a:r>
              <a:rPr lang="es-CL" sz="2400" b="1" dirty="0">
                <a:latin typeface="Atkinson Hyperlegible"/>
              </a:rPr>
              <a:t> RFC 7426</a:t>
            </a:r>
            <a:r>
              <a:rPr lang="es-CL" sz="2400" dirty="0">
                <a:latin typeface="Atkinson Hyperlegible"/>
              </a:rPr>
              <a:t> — </a:t>
            </a:r>
            <a:r>
              <a:rPr lang="es-CL" sz="2400" dirty="0" err="1">
                <a:latin typeface="Atkinson Hyperlegible"/>
              </a:rPr>
              <a:t>SDN</a:t>
            </a:r>
            <a:r>
              <a:rPr lang="es-CL" sz="2400" dirty="0">
                <a:latin typeface="Atkinson Hyperlegible"/>
              </a:rPr>
              <a:t>: </a:t>
            </a:r>
            <a:r>
              <a:rPr lang="es-CL" sz="2400" dirty="0" err="1">
                <a:latin typeface="Atkinson Hyperlegible"/>
              </a:rPr>
              <a:t>Layers</a:t>
            </a:r>
            <a:r>
              <a:rPr lang="es-CL" sz="2400" dirty="0">
                <a:latin typeface="Atkinson Hyperlegible"/>
              </a:rPr>
              <a:t> and </a:t>
            </a:r>
            <a:r>
              <a:rPr lang="es-CL" sz="2400" dirty="0" err="1">
                <a:latin typeface="Atkinson Hyperlegible"/>
              </a:rPr>
              <a:t>Architecture</a:t>
            </a:r>
            <a:r>
              <a:rPr lang="es-CL" sz="2400" dirty="0">
                <a:latin typeface="Atkinson Hyperlegible"/>
              </a:rPr>
              <a:t> </a:t>
            </a:r>
            <a:r>
              <a:rPr lang="es-CL" sz="2400" dirty="0" err="1">
                <a:latin typeface="Atkinson Hyperlegible"/>
              </a:rPr>
              <a:t>Terminology</a:t>
            </a:r>
            <a:r>
              <a:rPr lang="es-CL" sz="2400" dirty="0">
                <a:latin typeface="Atkinson Hyperlegible"/>
              </a:rPr>
              <a:t>.</a:t>
            </a:r>
            <a:br>
              <a:rPr lang="es-CL" sz="2400" dirty="0">
                <a:latin typeface="Atkinson Hyperlegible"/>
              </a:rPr>
            </a:br>
            <a:r>
              <a:rPr lang="es-CL" sz="2400" b="1" dirty="0" err="1">
                <a:latin typeface="Atkinson Hyperlegible"/>
              </a:rPr>
              <a:t>ONF</a:t>
            </a:r>
            <a:r>
              <a:rPr lang="es-CL" sz="2400" b="1" dirty="0">
                <a:latin typeface="Atkinson Hyperlegible"/>
              </a:rPr>
              <a:t> </a:t>
            </a:r>
            <a:r>
              <a:rPr lang="es-CL" sz="2400" b="1" dirty="0" err="1">
                <a:latin typeface="Atkinson Hyperlegible"/>
              </a:rPr>
              <a:t>OpenFlow</a:t>
            </a:r>
            <a:r>
              <a:rPr lang="es-CL" sz="2400" b="1" dirty="0">
                <a:latin typeface="Atkinson Hyperlegible"/>
              </a:rPr>
              <a:t> Switch </a:t>
            </a:r>
            <a:r>
              <a:rPr lang="es-CL" sz="2400" b="1" dirty="0" err="1">
                <a:latin typeface="Atkinson Hyperlegible"/>
              </a:rPr>
              <a:t>Specification</a:t>
            </a:r>
            <a:r>
              <a:rPr lang="es-CL" sz="2400" dirty="0">
                <a:latin typeface="Atkinson Hyperlegible"/>
              </a:rPr>
              <a:t> — interfaz controlador–switch.</a:t>
            </a:r>
            <a:br>
              <a:rPr lang="es-CL" sz="2400" dirty="0">
                <a:latin typeface="Atkinson Hyperlegible"/>
              </a:rPr>
            </a:br>
            <a:r>
              <a:rPr lang="es-CL" sz="2400" b="1" dirty="0" err="1">
                <a:latin typeface="Atkinson Hyperlegible"/>
              </a:rPr>
              <a:t>OpenStack</a:t>
            </a:r>
            <a:r>
              <a:rPr lang="es-CL" sz="2400" b="1" dirty="0">
                <a:latin typeface="Atkinson Hyperlegible"/>
              </a:rPr>
              <a:t> </a:t>
            </a:r>
            <a:r>
              <a:rPr lang="es-CL" sz="2400" b="1" dirty="0" err="1">
                <a:latin typeface="Atkinson Hyperlegible"/>
              </a:rPr>
              <a:t>Documentation</a:t>
            </a:r>
            <a:r>
              <a:rPr lang="es-CL" sz="2400" dirty="0">
                <a:latin typeface="Atkinson Hyperlegible"/>
              </a:rPr>
              <a:t> — infraestructura </a:t>
            </a:r>
            <a:r>
              <a:rPr lang="es-CL" sz="2400" dirty="0" err="1">
                <a:latin typeface="Atkinson Hyperlegible"/>
              </a:rPr>
              <a:t>cloud</a:t>
            </a:r>
            <a:r>
              <a:rPr lang="es-CL" sz="2400" dirty="0">
                <a:latin typeface="Atkinson Hyperlegible"/>
              </a:rPr>
              <a:t> y virtualización.</a:t>
            </a:r>
            <a:endParaRPr lang="es-CL" sz="2400" noProof="0" dirty="0">
              <a:latin typeface="Atkinson Hyperlegible"/>
            </a:endParaRPr>
          </a:p>
        </p:txBody>
      </p:sp>
      <p:sp>
        <p:nvSpPr>
          <p:cNvPr id="17" name="5 Rectángulo">
            <a:extLst>
              <a:ext uri="{FF2B5EF4-FFF2-40B4-BE49-F238E27FC236}">
                <a16:creationId xmlns:a16="http://schemas.microsoft.com/office/drawing/2014/main" id="{8125C627-8F0B-ECAD-AEC6-AD17AFE76A13}"/>
              </a:ext>
            </a:extLst>
          </p:cNvPr>
          <p:cNvSpPr/>
          <p:nvPr/>
        </p:nvSpPr>
        <p:spPr>
          <a:xfrm>
            <a:off x="1061209" y="1760004"/>
            <a:ext cx="18598386" cy="1077218"/>
          </a:xfrm>
          <a:prstGeom prst="rect">
            <a:avLst/>
          </a:prstGeom>
          <a:noFill/>
          <a:effectLst/>
        </p:spPr>
        <p:txBody>
          <a:bodyPr wrap="square" lIns="91440" tIns="45720" rIns="91440" bIns="45720" anchor="t">
            <a:spAutoFit/>
          </a:bodyPr>
          <a:lstStyle/>
          <a:p>
            <a:pPr algn="ctr"/>
            <a:r>
              <a:rPr lang="es-ES" sz="3200" dirty="0">
                <a:latin typeface="Atkinson Hyperlegible"/>
              </a:rPr>
              <a:t>El controlador </a:t>
            </a:r>
            <a:r>
              <a:rPr lang="es-ES" sz="3200" dirty="0" err="1">
                <a:latin typeface="Atkinson Hyperlegible"/>
              </a:rPr>
              <a:t>SDN</a:t>
            </a:r>
            <a:r>
              <a:rPr lang="es-ES" sz="3200" dirty="0">
                <a:latin typeface="Atkinson Hyperlegible"/>
              </a:rPr>
              <a:t> es el componente de software que concentra la lógica de control de la red y programa el comportamiento de los dispositivos.</a:t>
            </a:r>
            <a:endParaRPr lang="es-CL" sz="3200" b="1" i="1" noProof="0" dirty="0">
              <a:latin typeface="Atkinson Hyperlegible"/>
            </a:endParaRPr>
          </a:p>
        </p:txBody>
      </p:sp>
      <p:sp>
        <p:nvSpPr>
          <p:cNvPr id="3" name="5 Rectángulo">
            <a:extLst>
              <a:ext uri="{FF2B5EF4-FFF2-40B4-BE49-F238E27FC236}">
                <a16:creationId xmlns:a16="http://schemas.microsoft.com/office/drawing/2014/main" id="{EE384182-B8BD-4209-B248-34975CDB3FFB}"/>
              </a:ext>
            </a:extLst>
          </p:cNvPr>
          <p:cNvSpPr/>
          <p:nvPr/>
        </p:nvSpPr>
        <p:spPr>
          <a:xfrm>
            <a:off x="9506605" y="8569047"/>
            <a:ext cx="10042768" cy="1569660"/>
          </a:xfrm>
          <a:prstGeom prst="rect">
            <a:avLst/>
          </a:prstGeom>
          <a:noFill/>
          <a:effectLst/>
        </p:spPr>
        <p:txBody>
          <a:bodyPr wrap="square" lIns="91440" tIns="45720" rIns="91440" bIns="45720" anchor="t">
            <a:spAutoFit/>
          </a:bodyPr>
          <a:lstStyle/>
          <a:p>
            <a:pPr algn="ctr"/>
            <a:r>
              <a:rPr lang="es-ES" sz="3200" b="1" dirty="0">
                <a:latin typeface="Atkinson Hyperlegible"/>
              </a:rPr>
              <a:t>El controlador </a:t>
            </a:r>
            <a:r>
              <a:rPr lang="es-ES" sz="3200" b="1" dirty="0" err="1">
                <a:latin typeface="Atkinson Hyperlegible"/>
              </a:rPr>
              <a:t>SDN</a:t>
            </a:r>
            <a:r>
              <a:rPr lang="es-ES" sz="3200" b="1" dirty="0">
                <a:latin typeface="Atkinson Hyperlegible"/>
              </a:rPr>
              <a:t> no transporta el tráfico de usuario; define cómo deben comportarse los dispositivos que sí lo transportan.</a:t>
            </a:r>
            <a:endParaRPr lang="es-CL" sz="3200" b="1" i="1" noProof="0" dirty="0">
              <a:latin typeface="Atkinson Hyperlegible"/>
            </a:endParaRPr>
          </a:p>
        </p:txBody>
      </p:sp>
      <p:sp>
        <p:nvSpPr>
          <p:cNvPr id="5" name="5 Rectángulo">
            <a:extLst>
              <a:ext uri="{FF2B5EF4-FFF2-40B4-BE49-F238E27FC236}">
                <a16:creationId xmlns:a16="http://schemas.microsoft.com/office/drawing/2014/main" id="{01896EDF-D148-779F-A951-0AA7173CE8AE}"/>
              </a:ext>
            </a:extLst>
          </p:cNvPr>
          <p:cNvSpPr/>
          <p:nvPr/>
        </p:nvSpPr>
        <p:spPr>
          <a:xfrm>
            <a:off x="560262" y="3177086"/>
            <a:ext cx="9022963" cy="3539430"/>
          </a:xfrm>
          <a:prstGeom prst="rect">
            <a:avLst/>
          </a:prstGeom>
          <a:noFill/>
          <a:effectLst/>
        </p:spPr>
        <p:txBody>
          <a:bodyPr wrap="square" lIns="91440" tIns="45720" rIns="91440" bIns="45720" anchor="t">
            <a:spAutoFit/>
          </a:bodyPr>
          <a:lstStyle/>
          <a:p>
            <a:r>
              <a:rPr lang="es-ES" sz="3200" b="1" dirty="0">
                <a:latin typeface="Atkinson Hyperlegible"/>
              </a:rPr>
              <a:t>Funciones principales del controlador</a:t>
            </a:r>
          </a:p>
          <a:p>
            <a:pPr marL="457200" indent="-457200">
              <a:buFont typeface="Arial" panose="020B0604020202020204" pitchFamily="34" charset="0"/>
              <a:buChar char="•"/>
            </a:pPr>
            <a:r>
              <a:rPr lang="es-ES" sz="3200" dirty="0">
                <a:latin typeface="Atkinson Hyperlegible"/>
              </a:rPr>
              <a:t>Mantener una </a:t>
            </a:r>
            <a:r>
              <a:rPr lang="es-ES" sz="3200" b="1" dirty="0">
                <a:latin typeface="Atkinson Hyperlegible"/>
              </a:rPr>
              <a:t>visión lógica centralizada</a:t>
            </a:r>
            <a:r>
              <a:rPr lang="es-ES" sz="3200" dirty="0">
                <a:latin typeface="Atkinson Hyperlegible"/>
              </a:rPr>
              <a:t> de la red. </a:t>
            </a:r>
          </a:p>
          <a:p>
            <a:pPr marL="457200" indent="-457200">
              <a:buFont typeface="Arial" panose="020B0604020202020204" pitchFamily="34" charset="0"/>
              <a:buChar char="•"/>
            </a:pPr>
            <a:r>
              <a:rPr lang="es-ES" sz="3200" dirty="0">
                <a:latin typeface="Atkinson Hyperlegible"/>
              </a:rPr>
              <a:t>Recibir instrucciones desde las </a:t>
            </a:r>
            <a:r>
              <a:rPr lang="es-ES" sz="3200" b="1" dirty="0">
                <a:latin typeface="Atkinson Hyperlegible"/>
              </a:rPr>
              <a:t>aplicaciones </a:t>
            </a:r>
            <a:r>
              <a:rPr lang="es-ES" sz="3200" b="1" dirty="0" err="1">
                <a:latin typeface="Atkinson Hyperlegible"/>
              </a:rPr>
              <a:t>SDN</a:t>
            </a:r>
            <a:r>
              <a:rPr lang="es-ES" sz="3200" dirty="0">
                <a:latin typeface="Atkinson Hyperlegible"/>
              </a:rPr>
              <a:t>. </a:t>
            </a:r>
          </a:p>
          <a:p>
            <a:pPr marL="457200" indent="-457200">
              <a:buFont typeface="Arial" panose="020B0604020202020204" pitchFamily="34" charset="0"/>
              <a:buChar char="•"/>
            </a:pPr>
            <a:r>
              <a:rPr lang="es-ES" sz="3200" dirty="0">
                <a:latin typeface="Atkinson Hyperlegible"/>
              </a:rPr>
              <a:t>Traducir políticas en </a:t>
            </a:r>
            <a:r>
              <a:rPr lang="es-ES" sz="3200" b="1" dirty="0">
                <a:latin typeface="Atkinson Hyperlegible"/>
              </a:rPr>
              <a:t>reglas de red</a:t>
            </a:r>
            <a:r>
              <a:rPr lang="es-ES" sz="3200" dirty="0">
                <a:latin typeface="Atkinson Hyperlegible"/>
              </a:rPr>
              <a:t>. </a:t>
            </a:r>
          </a:p>
          <a:p>
            <a:pPr marL="457200" indent="-457200">
              <a:buFont typeface="Arial" panose="020B0604020202020204" pitchFamily="34" charset="0"/>
              <a:buChar char="•"/>
            </a:pPr>
            <a:r>
              <a:rPr lang="es-ES" sz="3200" dirty="0">
                <a:latin typeface="Atkinson Hyperlegible"/>
              </a:rPr>
              <a:t>Programar switches, </a:t>
            </a:r>
            <a:r>
              <a:rPr lang="es-ES" sz="3200" dirty="0" err="1">
                <a:latin typeface="Atkinson Hyperlegible"/>
              </a:rPr>
              <a:t>routers</a:t>
            </a:r>
            <a:r>
              <a:rPr lang="es-ES" sz="3200" dirty="0">
                <a:latin typeface="Atkinson Hyperlegible"/>
              </a:rPr>
              <a:t> o dispositivos </a:t>
            </a:r>
            <a:r>
              <a:rPr lang="es-ES" sz="3200" dirty="0" err="1">
                <a:latin typeface="Atkinson Hyperlegible"/>
              </a:rPr>
              <a:t>SDN</a:t>
            </a:r>
            <a:r>
              <a:rPr lang="es-ES" sz="3200" dirty="0">
                <a:latin typeface="Atkinson Hyperlegible"/>
              </a:rPr>
              <a:t>. </a:t>
            </a:r>
          </a:p>
          <a:p>
            <a:pPr marL="457200" indent="-457200">
              <a:buFont typeface="Arial" panose="020B0604020202020204" pitchFamily="34" charset="0"/>
              <a:buChar char="•"/>
            </a:pPr>
            <a:r>
              <a:rPr lang="es-ES" sz="3200" dirty="0">
                <a:latin typeface="Atkinson Hyperlegible"/>
              </a:rPr>
              <a:t>Monitorear el estado de la topología. </a:t>
            </a:r>
          </a:p>
          <a:p>
            <a:pPr marL="457200" indent="-457200">
              <a:buFont typeface="Arial" panose="020B0604020202020204" pitchFamily="34" charset="0"/>
              <a:buChar char="•"/>
            </a:pPr>
            <a:r>
              <a:rPr lang="es-ES" sz="3200" dirty="0">
                <a:latin typeface="Atkinson Hyperlegible"/>
              </a:rPr>
              <a:t>Coordinar cambios de forma automatizada.</a:t>
            </a:r>
          </a:p>
        </p:txBody>
      </p:sp>
      <p:graphicFrame>
        <p:nvGraphicFramePr>
          <p:cNvPr id="2" name="Tabla 1">
            <a:extLst>
              <a:ext uri="{FF2B5EF4-FFF2-40B4-BE49-F238E27FC236}">
                <a16:creationId xmlns:a16="http://schemas.microsoft.com/office/drawing/2014/main" id="{48786D21-B27B-D1B7-4A28-A0DD63D6EEAB}"/>
              </a:ext>
            </a:extLst>
          </p:cNvPr>
          <p:cNvGraphicFramePr>
            <a:graphicFrameLocks noGrp="1"/>
          </p:cNvGraphicFramePr>
          <p:nvPr/>
        </p:nvGraphicFramePr>
        <p:xfrm>
          <a:off x="9910029" y="3973316"/>
          <a:ext cx="10042768" cy="2743200"/>
        </p:xfrm>
        <a:graphic>
          <a:graphicData uri="http://schemas.openxmlformats.org/drawingml/2006/table">
            <a:tbl>
              <a:tblPr>
                <a:tableStyleId>{616DA210-FB5B-4158-B5E0-FEB733F419BA}</a:tableStyleId>
              </a:tblPr>
              <a:tblGrid>
                <a:gridCol w="2643158">
                  <a:extLst>
                    <a:ext uri="{9D8B030D-6E8A-4147-A177-3AD203B41FA5}">
                      <a16:colId xmlns:a16="http://schemas.microsoft.com/office/drawing/2014/main" val="402777107"/>
                    </a:ext>
                  </a:extLst>
                </a:gridCol>
                <a:gridCol w="7399610">
                  <a:extLst>
                    <a:ext uri="{9D8B030D-6E8A-4147-A177-3AD203B41FA5}">
                      <a16:colId xmlns:a16="http://schemas.microsoft.com/office/drawing/2014/main" val="771060687"/>
                    </a:ext>
                  </a:extLst>
                </a:gridCol>
              </a:tblGrid>
              <a:tr h="543751">
                <a:tc>
                  <a:txBody>
                    <a:bodyPr/>
                    <a:lstStyle/>
                    <a:p>
                      <a:pPr>
                        <a:buNone/>
                      </a:pPr>
                      <a:r>
                        <a:rPr lang="es-CL" sz="3000" dirty="0"/>
                        <a:t>Información</a:t>
                      </a:r>
                      <a:endParaRPr lang="es-CL" sz="3000" dirty="0">
                        <a:latin typeface="Atkinson Hyperlegible"/>
                      </a:endParaRPr>
                    </a:p>
                  </a:txBody>
                  <a:tcPr anchor="ctr"/>
                </a:tc>
                <a:tc>
                  <a:txBody>
                    <a:bodyPr/>
                    <a:lstStyle/>
                    <a:p>
                      <a:pPr>
                        <a:buNone/>
                      </a:pPr>
                      <a:r>
                        <a:rPr lang="es-CL" sz="3000"/>
                        <a:t>Ejemplo</a:t>
                      </a:r>
                      <a:endParaRPr lang="es-CL" sz="3000">
                        <a:latin typeface="Atkinson Hyperlegible"/>
                      </a:endParaRPr>
                    </a:p>
                  </a:txBody>
                  <a:tcPr anchor="ctr"/>
                </a:tc>
                <a:extLst>
                  <a:ext uri="{0D108BD9-81ED-4DB2-BD59-A6C34878D82A}">
                    <a16:rowId xmlns:a16="http://schemas.microsoft.com/office/drawing/2014/main" val="1238556250"/>
                  </a:ext>
                </a:extLst>
              </a:tr>
              <a:tr h="543751">
                <a:tc>
                  <a:txBody>
                    <a:bodyPr/>
                    <a:lstStyle/>
                    <a:p>
                      <a:pPr>
                        <a:buNone/>
                      </a:pPr>
                      <a:r>
                        <a:rPr lang="es-CL" sz="3000" b="1" dirty="0"/>
                        <a:t>Topología</a:t>
                      </a:r>
                      <a:endParaRPr lang="es-CL" sz="3000" dirty="0">
                        <a:latin typeface="Atkinson Hyperlegible"/>
                      </a:endParaRPr>
                    </a:p>
                  </a:txBody>
                  <a:tcPr anchor="ctr"/>
                </a:tc>
                <a:tc>
                  <a:txBody>
                    <a:bodyPr/>
                    <a:lstStyle/>
                    <a:p>
                      <a:pPr>
                        <a:buNone/>
                      </a:pPr>
                      <a:r>
                        <a:rPr lang="es-ES" sz="3000" dirty="0"/>
                        <a:t>Nodos, enlaces y rutas disponibles</a:t>
                      </a:r>
                      <a:endParaRPr lang="es-ES" sz="3000" dirty="0">
                        <a:latin typeface="Atkinson Hyperlegible"/>
                      </a:endParaRPr>
                    </a:p>
                  </a:txBody>
                  <a:tcPr anchor="ctr"/>
                </a:tc>
                <a:extLst>
                  <a:ext uri="{0D108BD9-81ED-4DB2-BD59-A6C34878D82A}">
                    <a16:rowId xmlns:a16="http://schemas.microsoft.com/office/drawing/2014/main" val="2432745337"/>
                  </a:ext>
                </a:extLst>
              </a:tr>
              <a:tr h="543751">
                <a:tc>
                  <a:txBody>
                    <a:bodyPr/>
                    <a:lstStyle/>
                    <a:p>
                      <a:pPr>
                        <a:buNone/>
                      </a:pPr>
                      <a:r>
                        <a:rPr lang="es-CL" sz="3000" b="1" dirty="0"/>
                        <a:t>Políticas</a:t>
                      </a:r>
                      <a:endParaRPr lang="es-CL" sz="3000" dirty="0">
                        <a:latin typeface="Atkinson Hyperlegible"/>
                      </a:endParaRPr>
                    </a:p>
                  </a:txBody>
                  <a:tcPr anchor="ctr"/>
                </a:tc>
                <a:tc>
                  <a:txBody>
                    <a:bodyPr/>
                    <a:lstStyle/>
                    <a:p>
                      <a:pPr>
                        <a:buNone/>
                      </a:pPr>
                      <a:r>
                        <a:rPr lang="es-CL" sz="3000"/>
                        <a:t>Seguridad, QoS, segmentación</a:t>
                      </a:r>
                      <a:endParaRPr lang="es-CL" sz="3000">
                        <a:latin typeface="Atkinson Hyperlegible"/>
                      </a:endParaRPr>
                    </a:p>
                  </a:txBody>
                  <a:tcPr anchor="ctr"/>
                </a:tc>
                <a:extLst>
                  <a:ext uri="{0D108BD9-81ED-4DB2-BD59-A6C34878D82A}">
                    <a16:rowId xmlns:a16="http://schemas.microsoft.com/office/drawing/2014/main" val="3292497721"/>
                  </a:ext>
                </a:extLst>
              </a:tr>
              <a:tr h="543751">
                <a:tc>
                  <a:txBody>
                    <a:bodyPr/>
                    <a:lstStyle/>
                    <a:p>
                      <a:pPr>
                        <a:buNone/>
                      </a:pPr>
                      <a:r>
                        <a:rPr lang="es-CL" sz="3000" b="1"/>
                        <a:t>Estado de red</a:t>
                      </a:r>
                      <a:endParaRPr lang="es-CL" sz="3000">
                        <a:latin typeface="Atkinson Hyperlegible"/>
                      </a:endParaRPr>
                    </a:p>
                  </a:txBody>
                  <a:tcPr anchor="ctr"/>
                </a:tc>
                <a:tc>
                  <a:txBody>
                    <a:bodyPr/>
                    <a:lstStyle/>
                    <a:p>
                      <a:pPr>
                        <a:buNone/>
                      </a:pPr>
                      <a:r>
                        <a:rPr lang="es-CL" sz="3000"/>
                        <a:t>Enlaces activos, congestión, fallas</a:t>
                      </a:r>
                      <a:endParaRPr lang="es-CL" sz="3000">
                        <a:latin typeface="Atkinson Hyperlegible"/>
                      </a:endParaRPr>
                    </a:p>
                  </a:txBody>
                  <a:tcPr anchor="ctr"/>
                </a:tc>
                <a:extLst>
                  <a:ext uri="{0D108BD9-81ED-4DB2-BD59-A6C34878D82A}">
                    <a16:rowId xmlns:a16="http://schemas.microsoft.com/office/drawing/2014/main" val="1518162794"/>
                  </a:ext>
                </a:extLst>
              </a:tr>
              <a:tr h="543751">
                <a:tc>
                  <a:txBody>
                    <a:bodyPr/>
                    <a:lstStyle/>
                    <a:p>
                      <a:pPr>
                        <a:buNone/>
                      </a:pPr>
                      <a:r>
                        <a:rPr lang="es-CL" sz="3000" b="1"/>
                        <a:t>Reglas de flujo</a:t>
                      </a:r>
                      <a:endParaRPr lang="es-CL" sz="3000">
                        <a:latin typeface="Atkinson Hyperlegible"/>
                      </a:endParaRPr>
                    </a:p>
                  </a:txBody>
                  <a:tcPr anchor="ctr"/>
                </a:tc>
                <a:tc>
                  <a:txBody>
                    <a:bodyPr/>
                    <a:lstStyle/>
                    <a:p>
                      <a:pPr>
                        <a:buNone/>
                      </a:pPr>
                      <a:r>
                        <a:rPr lang="pt-BR" sz="3000" dirty="0"/>
                        <a:t>Permitir, bloquear, reenviar o priorizar tráfico</a:t>
                      </a:r>
                      <a:endParaRPr lang="pt-BR" sz="3000" dirty="0">
                        <a:latin typeface="Atkinson Hyperlegible"/>
                      </a:endParaRPr>
                    </a:p>
                  </a:txBody>
                  <a:tcPr anchor="ctr"/>
                </a:tc>
                <a:extLst>
                  <a:ext uri="{0D108BD9-81ED-4DB2-BD59-A6C34878D82A}">
                    <a16:rowId xmlns:a16="http://schemas.microsoft.com/office/drawing/2014/main" val="2813716667"/>
                  </a:ext>
                </a:extLst>
              </a:tr>
            </a:tbl>
          </a:graphicData>
        </a:graphic>
      </p:graphicFrame>
    </p:spTree>
    <p:extLst>
      <p:ext uri="{BB962C8B-B14F-4D97-AF65-F5344CB8AC3E}">
        <p14:creationId xmlns:p14="http://schemas.microsoft.com/office/powerpoint/2010/main" val="33516542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6A6ABC07-CCB9-6C7C-C7C7-783C93E59136}"/>
            </a:ext>
          </a:extLst>
        </p:cNvPr>
        <p:cNvGrpSpPr/>
        <p:nvPr/>
      </p:nvGrpSpPr>
      <p:grpSpPr>
        <a:xfrm>
          <a:off x="0" y="0"/>
          <a:ext cx="0" cy="0"/>
          <a:chOff x="0" y="0"/>
          <a:chExt cx="0" cy="0"/>
        </a:xfrm>
      </p:grpSpPr>
      <p:cxnSp>
        <p:nvCxnSpPr>
          <p:cNvPr id="9" name="Conector recto 8">
            <a:extLst>
              <a:ext uri="{FF2B5EF4-FFF2-40B4-BE49-F238E27FC236}">
                <a16:creationId xmlns:a16="http://schemas.microsoft.com/office/drawing/2014/main" id="{7B4C4CE9-D0A1-7BA2-765A-8F7819F49118}"/>
              </a:ext>
            </a:extLst>
          </p:cNvPr>
          <p:cNvCxnSpPr>
            <a:cxnSpLocks/>
          </p:cNvCxnSpPr>
          <p:nvPr/>
        </p:nvCxnSpPr>
        <p:spPr>
          <a:xfrm>
            <a:off x="679450" y="-136525"/>
            <a:ext cx="0" cy="1524000"/>
          </a:xfrm>
          <a:prstGeom prst="line">
            <a:avLst/>
          </a:prstGeom>
          <a:ln w="31750">
            <a:solidFill>
              <a:schemeClr val="tx1"/>
            </a:solidFill>
          </a:ln>
        </p:spPr>
        <p:style>
          <a:lnRef idx="1">
            <a:schemeClr val="dk1"/>
          </a:lnRef>
          <a:fillRef idx="0">
            <a:schemeClr val="dk1"/>
          </a:fillRef>
          <a:effectRef idx="0">
            <a:schemeClr val="dk1"/>
          </a:effectRef>
          <a:fontRef idx="minor">
            <a:schemeClr val="tx1"/>
          </a:fontRef>
        </p:style>
      </p:cxnSp>
      <p:sp>
        <p:nvSpPr>
          <p:cNvPr id="14" name="object 3">
            <a:extLst>
              <a:ext uri="{FF2B5EF4-FFF2-40B4-BE49-F238E27FC236}">
                <a16:creationId xmlns:a16="http://schemas.microsoft.com/office/drawing/2014/main" id="{7CED1044-D7E8-C9B9-5AD2-AB924387A540}"/>
              </a:ext>
            </a:extLst>
          </p:cNvPr>
          <p:cNvSpPr txBox="1"/>
          <p:nvPr/>
        </p:nvSpPr>
        <p:spPr>
          <a:xfrm>
            <a:off x="1382157" y="-44605"/>
            <a:ext cx="18277439" cy="1030410"/>
          </a:xfrm>
          <a:prstGeom prst="rect">
            <a:avLst/>
          </a:prstGeom>
          <a:noFill/>
        </p:spPr>
        <p:txBody>
          <a:bodyPr vert="horz" wrap="square" lIns="0" tIns="349885" rIns="0" bIns="0" rtlCol="0">
            <a:spAutoFit/>
          </a:bodyPr>
          <a:lstStyle/>
          <a:p>
            <a:r>
              <a:rPr lang="es-ES" sz="4400" b="1" dirty="0">
                <a:latin typeface="Atkinson Hyperlegible"/>
              </a:rPr>
              <a:t>COMPONENTES, FUNCIONES Y APLICACIONES </a:t>
            </a:r>
            <a:r>
              <a:rPr lang="es-ES" sz="4400" b="1" dirty="0" err="1">
                <a:latin typeface="Atkinson Hyperlegible"/>
              </a:rPr>
              <a:t>SDN</a:t>
            </a:r>
            <a:endParaRPr lang="es-CL" sz="2800" b="1" kern="100" noProof="0" dirty="0">
              <a:effectLst/>
              <a:latin typeface="Atkinson Hyperlegible"/>
              <a:ea typeface="Calibri" panose="020F0502020204030204" pitchFamily="34" charset="0"/>
              <a:cs typeface="Gotham" pitchFamily="2" charset="0"/>
            </a:endParaRPr>
          </a:p>
        </p:txBody>
      </p:sp>
      <p:sp>
        <p:nvSpPr>
          <p:cNvPr id="7" name="CuadroTexto 6">
            <a:extLst>
              <a:ext uri="{FF2B5EF4-FFF2-40B4-BE49-F238E27FC236}">
                <a16:creationId xmlns:a16="http://schemas.microsoft.com/office/drawing/2014/main" id="{DDF5F3F9-5C0B-138B-6834-0A1CE3A8818F}"/>
              </a:ext>
            </a:extLst>
          </p:cNvPr>
          <p:cNvSpPr txBox="1"/>
          <p:nvPr/>
        </p:nvSpPr>
        <p:spPr>
          <a:xfrm>
            <a:off x="1382157" y="898721"/>
            <a:ext cx="17055745" cy="707886"/>
          </a:xfrm>
          <a:prstGeom prst="rect">
            <a:avLst/>
          </a:prstGeom>
          <a:noFill/>
        </p:spPr>
        <p:txBody>
          <a:bodyPr wrap="square">
            <a:spAutoFit/>
          </a:bodyPr>
          <a:lstStyle/>
          <a:p>
            <a:r>
              <a:rPr lang="es-ES" sz="4000" dirty="0">
                <a:latin typeface="Atkinson Hyperlegible"/>
              </a:rPr>
              <a:t>Interfaces norte y sur en </a:t>
            </a:r>
            <a:r>
              <a:rPr lang="es-ES" sz="4000" dirty="0" err="1">
                <a:latin typeface="Atkinson Hyperlegible"/>
              </a:rPr>
              <a:t>SDN</a:t>
            </a:r>
            <a:endParaRPr lang="es-CL" sz="4000" noProof="0" dirty="0">
              <a:latin typeface="Atkinson Hyperlegible"/>
            </a:endParaRPr>
          </a:p>
        </p:txBody>
      </p:sp>
      <p:sp>
        <p:nvSpPr>
          <p:cNvPr id="10" name="CuadroTexto 9">
            <a:extLst>
              <a:ext uri="{FF2B5EF4-FFF2-40B4-BE49-F238E27FC236}">
                <a16:creationId xmlns:a16="http://schemas.microsoft.com/office/drawing/2014/main" id="{9DF4DA9A-B195-D028-AFDA-B191795B39EA}"/>
              </a:ext>
            </a:extLst>
          </p:cNvPr>
          <p:cNvSpPr txBox="1"/>
          <p:nvPr/>
        </p:nvSpPr>
        <p:spPr>
          <a:xfrm>
            <a:off x="148345" y="8861435"/>
            <a:ext cx="8849542" cy="1569660"/>
          </a:xfrm>
          <a:prstGeom prst="rect">
            <a:avLst/>
          </a:prstGeom>
          <a:noFill/>
        </p:spPr>
        <p:txBody>
          <a:bodyPr wrap="square">
            <a:spAutoFit/>
          </a:bodyPr>
          <a:lstStyle/>
          <a:p>
            <a:r>
              <a:rPr lang="es-CL" sz="2400" noProof="0" dirty="0">
                <a:latin typeface="Atkinson Hyperlegible"/>
              </a:rPr>
              <a:t>⚠️ </a:t>
            </a:r>
            <a:r>
              <a:rPr lang="es-CL" sz="2400" b="1" noProof="0" dirty="0">
                <a:latin typeface="Atkinson Hyperlegible"/>
              </a:rPr>
              <a:t>Nota al margen:</a:t>
            </a:r>
          </a:p>
          <a:p>
            <a:r>
              <a:rPr lang="es-CL" sz="2400" b="1" dirty="0" err="1">
                <a:latin typeface="Atkinson Hyperlegible"/>
              </a:rPr>
              <a:t>IETF</a:t>
            </a:r>
            <a:r>
              <a:rPr lang="es-CL" sz="2400" b="1" dirty="0">
                <a:latin typeface="Atkinson Hyperlegible"/>
              </a:rPr>
              <a:t> RFC 7426</a:t>
            </a:r>
            <a:r>
              <a:rPr lang="es-CL" sz="2400" dirty="0">
                <a:latin typeface="Atkinson Hyperlegible"/>
              </a:rPr>
              <a:t> — </a:t>
            </a:r>
            <a:r>
              <a:rPr lang="es-CL" sz="2400" dirty="0" err="1">
                <a:latin typeface="Atkinson Hyperlegible"/>
              </a:rPr>
              <a:t>SDN</a:t>
            </a:r>
            <a:r>
              <a:rPr lang="es-CL" sz="2400" dirty="0">
                <a:latin typeface="Atkinson Hyperlegible"/>
              </a:rPr>
              <a:t>: </a:t>
            </a:r>
            <a:r>
              <a:rPr lang="es-CL" sz="2400" dirty="0" err="1">
                <a:latin typeface="Atkinson Hyperlegible"/>
              </a:rPr>
              <a:t>Layers</a:t>
            </a:r>
            <a:r>
              <a:rPr lang="es-CL" sz="2400" dirty="0">
                <a:latin typeface="Atkinson Hyperlegible"/>
              </a:rPr>
              <a:t> and </a:t>
            </a:r>
            <a:r>
              <a:rPr lang="es-CL" sz="2400" dirty="0" err="1">
                <a:latin typeface="Atkinson Hyperlegible"/>
              </a:rPr>
              <a:t>Architecture</a:t>
            </a:r>
            <a:r>
              <a:rPr lang="es-CL" sz="2400" dirty="0">
                <a:latin typeface="Atkinson Hyperlegible"/>
              </a:rPr>
              <a:t> </a:t>
            </a:r>
            <a:r>
              <a:rPr lang="es-CL" sz="2400" dirty="0" err="1">
                <a:latin typeface="Atkinson Hyperlegible"/>
              </a:rPr>
              <a:t>Terminology</a:t>
            </a:r>
            <a:r>
              <a:rPr lang="es-CL" sz="2400" dirty="0">
                <a:latin typeface="Atkinson Hyperlegible"/>
              </a:rPr>
              <a:t>.</a:t>
            </a:r>
            <a:br>
              <a:rPr lang="es-CL" sz="2400" dirty="0">
                <a:latin typeface="Atkinson Hyperlegible"/>
              </a:rPr>
            </a:br>
            <a:r>
              <a:rPr lang="es-CL" sz="2400" b="1" dirty="0" err="1">
                <a:latin typeface="Atkinson Hyperlegible"/>
              </a:rPr>
              <a:t>ONF</a:t>
            </a:r>
            <a:r>
              <a:rPr lang="es-CL" sz="2400" b="1" dirty="0">
                <a:latin typeface="Atkinson Hyperlegible"/>
              </a:rPr>
              <a:t> </a:t>
            </a:r>
            <a:r>
              <a:rPr lang="es-CL" sz="2400" b="1" dirty="0" err="1">
                <a:latin typeface="Atkinson Hyperlegible"/>
              </a:rPr>
              <a:t>OpenFlow</a:t>
            </a:r>
            <a:r>
              <a:rPr lang="es-CL" sz="2400" b="1" dirty="0">
                <a:latin typeface="Atkinson Hyperlegible"/>
              </a:rPr>
              <a:t> Switch </a:t>
            </a:r>
            <a:r>
              <a:rPr lang="es-CL" sz="2400" b="1" dirty="0" err="1">
                <a:latin typeface="Atkinson Hyperlegible"/>
              </a:rPr>
              <a:t>Specification</a:t>
            </a:r>
            <a:r>
              <a:rPr lang="es-CL" sz="2400" dirty="0">
                <a:latin typeface="Atkinson Hyperlegible"/>
              </a:rPr>
              <a:t> — interfaz controlador–switch.</a:t>
            </a:r>
            <a:br>
              <a:rPr lang="es-CL" sz="2400" dirty="0">
                <a:latin typeface="Atkinson Hyperlegible"/>
              </a:rPr>
            </a:br>
            <a:r>
              <a:rPr lang="es-CL" sz="2400" b="1" dirty="0" err="1">
                <a:latin typeface="Atkinson Hyperlegible"/>
              </a:rPr>
              <a:t>OpenStack</a:t>
            </a:r>
            <a:r>
              <a:rPr lang="es-CL" sz="2400" b="1" dirty="0">
                <a:latin typeface="Atkinson Hyperlegible"/>
              </a:rPr>
              <a:t> </a:t>
            </a:r>
            <a:r>
              <a:rPr lang="es-CL" sz="2400" b="1" dirty="0" err="1">
                <a:latin typeface="Atkinson Hyperlegible"/>
              </a:rPr>
              <a:t>Documentation</a:t>
            </a:r>
            <a:r>
              <a:rPr lang="es-CL" sz="2400" dirty="0">
                <a:latin typeface="Atkinson Hyperlegible"/>
              </a:rPr>
              <a:t> — infraestructura </a:t>
            </a:r>
            <a:r>
              <a:rPr lang="es-CL" sz="2400" dirty="0" err="1">
                <a:latin typeface="Atkinson Hyperlegible"/>
              </a:rPr>
              <a:t>cloud</a:t>
            </a:r>
            <a:r>
              <a:rPr lang="es-CL" sz="2400" dirty="0">
                <a:latin typeface="Atkinson Hyperlegible"/>
              </a:rPr>
              <a:t> y virtualización.</a:t>
            </a:r>
            <a:endParaRPr lang="es-CL" sz="2400" noProof="0" dirty="0">
              <a:latin typeface="Atkinson Hyperlegible"/>
            </a:endParaRPr>
          </a:p>
        </p:txBody>
      </p:sp>
      <p:sp>
        <p:nvSpPr>
          <p:cNvPr id="17" name="5 Rectángulo">
            <a:extLst>
              <a:ext uri="{FF2B5EF4-FFF2-40B4-BE49-F238E27FC236}">
                <a16:creationId xmlns:a16="http://schemas.microsoft.com/office/drawing/2014/main" id="{8EAE60D1-E72E-A8DD-5F47-8B48F2AAEE65}"/>
              </a:ext>
            </a:extLst>
          </p:cNvPr>
          <p:cNvSpPr/>
          <p:nvPr/>
        </p:nvSpPr>
        <p:spPr>
          <a:xfrm>
            <a:off x="1061209" y="1760004"/>
            <a:ext cx="18598386" cy="1077218"/>
          </a:xfrm>
          <a:prstGeom prst="rect">
            <a:avLst/>
          </a:prstGeom>
          <a:noFill/>
          <a:effectLst/>
        </p:spPr>
        <p:txBody>
          <a:bodyPr wrap="square" lIns="91440" tIns="45720" rIns="91440" bIns="45720" anchor="t">
            <a:spAutoFit/>
          </a:bodyPr>
          <a:lstStyle/>
          <a:p>
            <a:pPr algn="ctr"/>
            <a:r>
              <a:rPr lang="es-ES" sz="3200" dirty="0">
                <a:latin typeface="Atkinson Hyperlegible"/>
              </a:rPr>
              <a:t>Las interfaces permiten la comunicación entre las capas de la arquitectura </a:t>
            </a:r>
            <a:r>
              <a:rPr lang="es-ES" sz="3200" dirty="0" err="1">
                <a:latin typeface="Atkinson Hyperlegible"/>
              </a:rPr>
              <a:t>SDN</a:t>
            </a:r>
            <a:r>
              <a:rPr lang="es-ES" sz="3200" dirty="0">
                <a:latin typeface="Atkinson Hyperlegible"/>
              </a:rPr>
              <a:t>:</a:t>
            </a:r>
            <a:br>
              <a:rPr lang="es-ES" sz="3200" dirty="0">
                <a:latin typeface="Atkinson Hyperlegible"/>
              </a:rPr>
            </a:br>
            <a:r>
              <a:rPr lang="es-ES" sz="3200" b="1" dirty="0">
                <a:latin typeface="Atkinson Hyperlegible"/>
              </a:rPr>
              <a:t>aplicaciones ↔ controlador ↔ dispositivos de red</a:t>
            </a:r>
            <a:r>
              <a:rPr lang="es-ES" sz="3200" dirty="0">
                <a:latin typeface="Atkinson Hyperlegible"/>
              </a:rPr>
              <a:t>.</a:t>
            </a:r>
            <a:endParaRPr lang="es-CL" sz="3200" b="1" i="1" noProof="0" dirty="0">
              <a:latin typeface="Atkinson Hyperlegible"/>
            </a:endParaRPr>
          </a:p>
        </p:txBody>
      </p:sp>
      <p:sp>
        <p:nvSpPr>
          <p:cNvPr id="3" name="5 Rectángulo">
            <a:extLst>
              <a:ext uri="{FF2B5EF4-FFF2-40B4-BE49-F238E27FC236}">
                <a16:creationId xmlns:a16="http://schemas.microsoft.com/office/drawing/2014/main" id="{5133AC66-3D15-B9F0-619E-E1DF5B3CE1A1}"/>
              </a:ext>
            </a:extLst>
          </p:cNvPr>
          <p:cNvSpPr/>
          <p:nvPr/>
        </p:nvSpPr>
        <p:spPr>
          <a:xfrm>
            <a:off x="9506605" y="8569047"/>
            <a:ext cx="10042768" cy="2062103"/>
          </a:xfrm>
          <a:prstGeom prst="rect">
            <a:avLst/>
          </a:prstGeom>
          <a:noFill/>
          <a:effectLst/>
        </p:spPr>
        <p:txBody>
          <a:bodyPr wrap="square" lIns="91440" tIns="45720" rIns="91440" bIns="45720" anchor="t">
            <a:spAutoFit/>
          </a:bodyPr>
          <a:lstStyle/>
          <a:p>
            <a:pPr algn="ctr"/>
            <a:r>
              <a:rPr lang="es-ES" sz="3200" b="1" dirty="0">
                <a:latin typeface="Atkinson Hyperlegible"/>
              </a:rPr>
              <a:t>La interfaz norte expresa políticas; la interfaz sur programa dispositivos.</a:t>
            </a:r>
            <a:br>
              <a:rPr lang="es-ES" sz="3200" b="1" dirty="0">
                <a:latin typeface="Atkinson Hyperlegible"/>
              </a:rPr>
            </a:br>
            <a:r>
              <a:rPr lang="es-ES" sz="3200" b="1" dirty="0" err="1">
                <a:latin typeface="Atkinson Hyperlegible"/>
              </a:rPr>
              <a:t>OpenFlow</a:t>
            </a:r>
            <a:r>
              <a:rPr lang="es-ES" sz="3200" b="1" dirty="0">
                <a:latin typeface="Atkinson Hyperlegible"/>
              </a:rPr>
              <a:t> </a:t>
            </a:r>
            <a:r>
              <a:rPr lang="es-ES" sz="3200" dirty="0">
                <a:latin typeface="Atkinson Hyperlegible"/>
              </a:rPr>
              <a:t>es un ejemplo de protocolo usado entre el controlador </a:t>
            </a:r>
            <a:r>
              <a:rPr lang="es-ES" sz="3200" dirty="0" err="1">
                <a:latin typeface="Atkinson Hyperlegible"/>
              </a:rPr>
              <a:t>SDN</a:t>
            </a:r>
            <a:r>
              <a:rPr lang="es-ES" sz="3200" dirty="0">
                <a:latin typeface="Atkinson Hyperlegible"/>
              </a:rPr>
              <a:t> y los switches compatibles.</a:t>
            </a:r>
            <a:endParaRPr lang="es-CL" sz="3200" i="1" noProof="0" dirty="0">
              <a:latin typeface="Atkinson Hyperlegible"/>
            </a:endParaRPr>
          </a:p>
        </p:txBody>
      </p:sp>
      <p:sp>
        <p:nvSpPr>
          <p:cNvPr id="5" name="5 Rectángulo">
            <a:extLst>
              <a:ext uri="{FF2B5EF4-FFF2-40B4-BE49-F238E27FC236}">
                <a16:creationId xmlns:a16="http://schemas.microsoft.com/office/drawing/2014/main" id="{B08D5220-C22D-CCBE-6969-3377CC4723A3}"/>
              </a:ext>
            </a:extLst>
          </p:cNvPr>
          <p:cNvSpPr/>
          <p:nvPr/>
        </p:nvSpPr>
        <p:spPr>
          <a:xfrm>
            <a:off x="560262" y="3177086"/>
            <a:ext cx="9022963" cy="4524315"/>
          </a:xfrm>
          <a:prstGeom prst="rect">
            <a:avLst/>
          </a:prstGeom>
          <a:noFill/>
          <a:effectLst/>
        </p:spPr>
        <p:txBody>
          <a:bodyPr wrap="square" lIns="91440" tIns="45720" rIns="91440" bIns="45720" anchor="t">
            <a:spAutoFit/>
          </a:bodyPr>
          <a:lstStyle/>
          <a:p>
            <a:r>
              <a:rPr lang="es-ES" sz="3200" b="1" dirty="0">
                <a:latin typeface="Atkinson Hyperlegible"/>
              </a:rPr>
              <a:t>Interfaz norte</a:t>
            </a:r>
          </a:p>
          <a:p>
            <a:pPr marL="457200" indent="-457200">
              <a:buFont typeface="Arial" panose="020B0604020202020204" pitchFamily="34" charset="0"/>
              <a:buChar char="•"/>
            </a:pPr>
            <a:r>
              <a:rPr lang="es-ES" sz="3200" dirty="0">
                <a:latin typeface="Atkinson Hyperlegible"/>
              </a:rPr>
              <a:t>La </a:t>
            </a:r>
            <a:r>
              <a:rPr lang="es-ES" sz="3200" b="1" dirty="0">
                <a:latin typeface="Atkinson Hyperlegible"/>
              </a:rPr>
              <a:t>interfaz norte</a:t>
            </a:r>
            <a:r>
              <a:rPr lang="es-ES" sz="3200" dirty="0">
                <a:latin typeface="Atkinson Hyperlegible"/>
              </a:rPr>
              <a:t> conecta las </a:t>
            </a:r>
            <a:r>
              <a:rPr lang="es-ES" sz="3200" b="1" dirty="0">
                <a:latin typeface="Atkinson Hyperlegible"/>
              </a:rPr>
              <a:t>aplicaciones </a:t>
            </a:r>
            <a:r>
              <a:rPr lang="es-ES" sz="3200" b="1" dirty="0" err="1">
                <a:latin typeface="Atkinson Hyperlegible"/>
              </a:rPr>
              <a:t>SDN</a:t>
            </a:r>
            <a:r>
              <a:rPr lang="es-ES" sz="3200" dirty="0">
                <a:latin typeface="Atkinson Hyperlegible"/>
              </a:rPr>
              <a:t> con el </a:t>
            </a:r>
            <a:r>
              <a:rPr lang="es-ES" sz="3200" b="1" dirty="0">
                <a:latin typeface="Atkinson Hyperlegible"/>
              </a:rPr>
              <a:t>controlador </a:t>
            </a:r>
            <a:r>
              <a:rPr lang="es-ES" sz="3200" b="1" dirty="0" err="1">
                <a:latin typeface="Atkinson Hyperlegible"/>
              </a:rPr>
              <a:t>SDN</a:t>
            </a:r>
            <a:r>
              <a:rPr lang="es-ES" sz="3200" dirty="0">
                <a:latin typeface="Atkinson Hyperlegible"/>
              </a:rPr>
              <a:t>.</a:t>
            </a:r>
          </a:p>
          <a:p>
            <a:pPr marL="457200" indent="-457200">
              <a:buFont typeface="Arial" panose="020B0604020202020204" pitchFamily="34" charset="0"/>
              <a:buChar char="•"/>
            </a:pPr>
            <a:r>
              <a:rPr lang="es-ES" sz="3200" dirty="0">
                <a:latin typeface="Atkinson Hyperlegible"/>
              </a:rPr>
              <a:t>Permite que las aplicaciones:</a:t>
            </a:r>
          </a:p>
          <a:p>
            <a:pPr marL="457200" indent="-457200">
              <a:buFont typeface="Arial" panose="020B0604020202020204" pitchFamily="34" charset="0"/>
              <a:buChar char="•"/>
            </a:pPr>
            <a:r>
              <a:rPr lang="es-ES" sz="3200" dirty="0">
                <a:latin typeface="Atkinson Hyperlegible"/>
              </a:rPr>
              <a:t>Definan políticas de red. </a:t>
            </a:r>
          </a:p>
          <a:p>
            <a:pPr marL="457200" indent="-457200">
              <a:buFont typeface="Arial" panose="020B0604020202020204" pitchFamily="34" charset="0"/>
              <a:buChar char="•"/>
            </a:pPr>
            <a:r>
              <a:rPr lang="es-ES" sz="3200" dirty="0">
                <a:latin typeface="Atkinson Hyperlegible"/>
              </a:rPr>
              <a:t>Soliciten información del estado de la red. </a:t>
            </a:r>
          </a:p>
          <a:p>
            <a:pPr marL="457200" indent="-457200">
              <a:buFont typeface="Arial" panose="020B0604020202020204" pitchFamily="34" charset="0"/>
              <a:buChar char="•"/>
            </a:pPr>
            <a:r>
              <a:rPr lang="es-ES" sz="3200" dirty="0">
                <a:latin typeface="Atkinson Hyperlegible"/>
              </a:rPr>
              <a:t>Apliquen automatización. </a:t>
            </a:r>
          </a:p>
          <a:p>
            <a:pPr marL="457200" indent="-457200">
              <a:buFont typeface="Arial" panose="020B0604020202020204" pitchFamily="34" charset="0"/>
              <a:buChar char="•"/>
            </a:pPr>
            <a:r>
              <a:rPr lang="es-ES" sz="3200" dirty="0">
                <a:latin typeface="Atkinson Hyperlegible"/>
              </a:rPr>
              <a:t>Gestionen seguridad, calidad de servicio o monitoreo.</a:t>
            </a:r>
          </a:p>
        </p:txBody>
      </p:sp>
      <p:sp>
        <p:nvSpPr>
          <p:cNvPr id="6" name="5 Rectángulo">
            <a:extLst>
              <a:ext uri="{FF2B5EF4-FFF2-40B4-BE49-F238E27FC236}">
                <a16:creationId xmlns:a16="http://schemas.microsoft.com/office/drawing/2014/main" id="{47C3489A-63D1-FF9E-0838-5B4CF3B1E342}"/>
              </a:ext>
            </a:extLst>
          </p:cNvPr>
          <p:cNvSpPr/>
          <p:nvPr/>
        </p:nvSpPr>
        <p:spPr>
          <a:xfrm>
            <a:off x="10052050" y="3177086"/>
            <a:ext cx="9022963" cy="4031873"/>
          </a:xfrm>
          <a:prstGeom prst="rect">
            <a:avLst/>
          </a:prstGeom>
          <a:noFill/>
          <a:effectLst/>
        </p:spPr>
        <p:txBody>
          <a:bodyPr wrap="square" lIns="91440" tIns="45720" rIns="91440" bIns="45720" anchor="t">
            <a:spAutoFit/>
          </a:bodyPr>
          <a:lstStyle/>
          <a:p>
            <a:r>
              <a:rPr lang="es-ES" sz="3200" b="1" dirty="0">
                <a:latin typeface="Atkinson Hyperlegible"/>
              </a:rPr>
              <a:t>Interfaz sur</a:t>
            </a:r>
          </a:p>
          <a:p>
            <a:pPr marL="457200" indent="-457200">
              <a:buFont typeface="Arial" panose="020B0604020202020204" pitchFamily="34" charset="0"/>
              <a:buChar char="•"/>
            </a:pPr>
            <a:r>
              <a:rPr lang="es-ES" sz="3200" dirty="0">
                <a:latin typeface="Atkinson Hyperlegible"/>
              </a:rPr>
              <a:t>La </a:t>
            </a:r>
            <a:r>
              <a:rPr lang="es-ES" sz="3200" b="1" dirty="0">
                <a:latin typeface="Atkinson Hyperlegible"/>
              </a:rPr>
              <a:t>interfaz sur</a:t>
            </a:r>
            <a:r>
              <a:rPr lang="es-ES" sz="3200" dirty="0">
                <a:latin typeface="Atkinson Hyperlegible"/>
              </a:rPr>
              <a:t> conecta el </a:t>
            </a:r>
            <a:r>
              <a:rPr lang="es-ES" sz="3200" b="1" dirty="0">
                <a:latin typeface="Atkinson Hyperlegible"/>
              </a:rPr>
              <a:t>controlador </a:t>
            </a:r>
            <a:r>
              <a:rPr lang="es-ES" sz="3200" b="1" dirty="0" err="1">
                <a:latin typeface="Atkinson Hyperlegible"/>
              </a:rPr>
              <a:t>SDN</a:t>
            </a:r>
            <a:r>
              <a:rPr lang="es-ES" sz="3200" dirty="0">
                <a:latin typeface="Atkinson Hyperlegible"/>
              </a:rPr>
              <a:t> con los </a:t>
            </a:r>
            <a:r>
              <a:rPr lang="es-ES" sz="3200" b="1" dirty="0">
                <a:latin typeface="Atkinson Hyperlegible"/>
              </a:rPr>
              <a:t>dispositivos de red</a:t>
            </a:r>
            <a:r>
              <a:rPr lang="es-ES" sz="3200" dirty="0">
                <a:latin typeface="Atkinson Hyperlegible"/>
              </a:rPr>
              <a:t>.</a:t>
            </a:r>
          </a:p>
          <a:p>
            <a:pPr marL="457200" indent="-457200">
              <a:buFont typeface="Arial" panose="020B0604020202020204" pitchFamily="34" charset="0"/>
              <a:buChar char="•"/>
            </a:pPr>
            <a:r>
              <a:rPr lang="es-ES" sz="3200" dirty="0">
                <a:latin typeface="Atkinson Hyperlegible"/>
              </a:rPr>
              <a:t>Permite que el controlador:</a:t>
            </a:r>
          </a:p>
          <a:p>
            <a:pPr marL="457200" indent="-457200">
              <a:buFont typeface="Arial" panose="020B0604020202020204" pitchFamily="34" charset="0"/>
              <a:buChar char="•"/>
            </a:pPr>
            <a:r>
              <a:rPr lang="es-ES" sz="3200" dirty="0">
                <a:latin typeface="Atkinson Hyperlegible"/>
              </a:rPr>
              <a:t>Instale reglas de flujo. </a:t>
            </a:r>
          </a:p>
          <a:p>
            <a:pPr marL="457200" indent="-457200">
              <a:buFont typeface="Arial" panose="020B0604020202020204" pitchFamily="34" charset="0"/>
              <a:buChar char="•"/>
            </a:pPr>
            <a:r>
              <a:rPr lang="es-ES" sz="3200" dirty="0">
                <a:latin typeface="Atkinson Hyperlegible"/>
              </a:rPr>
              <a:t>Consulte estado de dispositivos. </a:t>
            </a:r>
          </a:p>
          <a:p>
            <a:pPr marL="457200" indent="-457200">
              <a:buFont typeface="Arial" panose="020B0604020202020204" pitchFamily="34" charset="0"/>
              <a:buChar char="•"/>
            </a:pPr>
            <a:r>
              <a:rPr lang="es-ES" sz="3200" dirty="0">
                <a:latin typeface="Atkinson Hyperlegible"/>
              </a:rPr>
              <a:t>Programe switches o </a:t>
            </a:r>
            <a:r>
              <a:rPr lang="es-ES" sz="3200" dirty="0" err="1">
                <a:latin typeface="Atkinson Hyperlegible"/>
              </a:rPr>
              <a:t>routers</a:t>
            </a:r>
            <a:r>
              <a:rPr lang="es-ES" sz="3200" dirty="0">
                <a:latin typeface="Atkinson Hyperlegible"/>
              </a:rPr>
              <a:t>. </a:t>
            </a:r>
          </a:p>
          <a:p>
            <a:pPr marL="457200" indent="-457200">
              <a:buFont typeface="Arial" panose="020B0604020202020204" pitchFamily="34" charset="0"/>
              <a:buChar char="•"/>
            </a:pPr>
            <a:r>
              <a:rPr lang="es-ES" sz="3200" dirty="0">
                <a:latin typeface="Atkinson Hyperlegible"/>
              </a:rPr>
              <a:t>Modifique el comportamiento del plano de datos.</a:t>
            </a:r>
          </a:p>
        </p:txBody>
      </p:sp>
    </p:spTree>
    <p:extLst>
      <p:ext uri="{BB962C8B-B14F-4D97-AF65-F5344CB8AC3E}">
        <p14:creationId xmlns:p14="http://schemas.microsoft.com/office/powerpoint/2010/main" val="3476999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0A4B98C3-40DC-F3B3-0A6F-8E386E156FEA}"/>
            </a:ext>
          </a:extLst>
        </p:cNvPr>
        <p:cNvGrpSpPr/>
        <p:nvPr/>
      </p:nvGrpSpPr>
      <p:grpSpPr>
        <a:xfrm>
          <a:off x="0" y="0"/>
          <a:ext cx="0" cy="0"/>
          <a:chOff x="0" y="0"/>
          <a:chExt cx="0" cy="0"/>
        </a:xfrm>
      </p:grpSpPr>
      <p:cxnSp>
        <p:nvCxnSpPr>
          <p:cNvPr id="9" name="Conector recto 8">
            <a:extLst>
              <a:ext uri="{FF2B5EF4-FFF2-40B4-BE49-F238E27FC236}">
                <a16:creationId xmlns:a16="http://schemas.microsoft.com/office/drawing/2014/main" id="{55A7F030-E944-3711-62A8-335803406864}"/>
              </a:ext>
            </a:extLst>
          </p:cNvPr>
          <p:cNvCxnSpPr>
            <a:cxnSpLocks/>
          </p:cNvCxnSpPr>
          <p:nvPr/>
        </p:nvCxnSpPr>
        <p:spPr>
          <a:xfrm>
            <a:off x="679450" y="-136525"/>
            <a:ext cx="0" cy="1524000"/>
          </a:xfrm>
          <a:prstGeom prst="line">
            <a:avLst/>
          </a:prstGeom>
          <a:ln w="31750">
            <a:solidFill>
              <a:schemeClr val="tx1"/>
            </a:solidFill>
          </a:ln>
        </p:spPr>
        <p:style>
          <a:lnRef idx="1">
            <a:schemeClr val="dk1"/>
          </a:lnRef>
          <a:fillRef idx="0">
            <a:schemeClr val="dk1"/>
          </a:fillRef>
          <a:effectRef idx="0">
            <a:schemeClr val="dk1"/>
          </a:effectRef>
          <a:fontRef idx="minor">
            <a:schemeClr val="tx1"/>
          </a:fontRef>
        </p:style>
      </p:cxnSp>
      <p:sp>
        <p:nvSpPr>
          <p:cNvPr id="14" name="object 3">
            <a:extLst>
              <a:ext uri="{FF2B5EF4-FFF2-40B4-BE49-F238E27FC236}">
                <a16:creationId xmlns:a16="http://schemas.microsoft.com/office/drawing/2014/main" id="{9B8196C4-1B3B-C1EB-0B8F-40AAD21F98AB}"/>
              </a:ext>
            </a:extLst>
          </p:cNvPr>
          <p:cNvSpPr txBox="1"/>
          <p:nvPr/>
        </p:nvSpPr>
        <p:spPr>
          <a:xfrm>
            <a:off x="1382157" y="-44605"/>
            <a:ext cx="18277439" cy="1030410"/>
          </a:xfrm>
          <a:prstGeom prst="rect">
            <a:avLst/>
          </a:prstGeom>
          <a:noFill/>
        </p:spPr>
        <p:txBody>
          <a:bodyPr vert="horz" wrap="square" lIns="0" tIns="349885" rIns="0" bIns="0" rtlCol="0">
            <a:spAutoFit/>
          </a:bodyPr>
          <a:lstStyle/>
          <a:p>
            <a:r>
              <a:rPr lang="es-ES" sz="4400" b="1" dirty="0">
                <a:latin typeface="Atkinson Hyperlegible"/>
              </a:rPr>
              <a:t>COMPONENTES, FUNCIONES Y APLICACIONES </a:t>
            </a:r>
            <a:r>
              <a:rPr lang="es-ES" sz="4400" b="1" dirty="0" err="1">
                <a:latin typeface="Atkinson Hyperlegible"/>
              </a:rPr>
              <a:t>SDN</a:t>
            </a:r>
            <a:endParaRPr lang="es-CL" sz="2800" b="1" kern="100" noProof="0" dirty="0">
              <a:effectLst/>
              <a:latin typeface="Atkinson Hyperlegible"/>
              <a:ea typeface="Calibri" panose="020F0502020204030204" pitchFamily="34" charset="0"/>
              <a:cs typeface="Gotham" pitchFamily="2" charset="0"/>
            </a:endParaRPr>
          </a:p>
        </p:txBody>
      </p:sp>
      <p:sp>
        <p:nvSpPr>
          <p:cNvPr id="7" name="CuadroTexto 6">
            <a:extLst>
              <a:ext uri="{FF2B5EF4-FFF2-40B4-BE49-F238E27FC236}">
                <a16:creationId xmlns:a16="http://schemas.microsoft.com/office/drawing/2014/main" id="{4F479F74-863D-069C-D09B-CA6F2F8B668D}"/>
              </a:ext>
            </a:extLst>
          </p:cNvPr>
          <p:cNvSpPr txBox="1"/>
          <p:nvPr/>
        </p:nvSpPr>
        <p:spPr>
          <a:xfrm>
            <a:off x="1382157" y="898721"/>
            <a:ext cx="17055745" cy="707886"/>
          </a:xfrm>
          <a:prstGeom prst="rect">
            <a:avLst/>
          </a:prstGeom>
          <a:noFill/>
        </p:spPr>
        <p:txBody>
          <a:bodyPr wrap="square">
            <a:spAutoFit/>
          </a:bodyPr>
          <a:lstStyle/>
          <a:p>
            <a:r>
              <a:rPr lang="es-ES" sz="4000" dirty="0">
                <a:latin typeface="Atkinson Hyperlegible"/>
              </a:rPr>
              <a:t>Aplicaciones de las </a:t>
            </a:r>
            <a:r>
              <a:rPr lang="es-ES" sz="4000" dirty="0" err="1">
                <a:latin typeface="Atkinson Hyperlegible"/>
              </a:rPr>
              <a:t>SDN</a:t>
            </a:r>
            <a:endParaRPr lang="es-CL" sz="4000" noProof="0" dirty="0">
              <a:latin typeface="Atkinson Hyperlegible"/>
            </a:endParaRPr>
          </a:p>
        </p:txBody>
      </p:sp>
      <p:sp>
        <p:nvSpPr>
          <p:cNvPr id="10" name="CuadroTexto 9">
            <a:extLst>
              <a:ext uri="{FF2B5EF4-FFF2-40B4-BE49-F238E27FC236}">
                <a16:creationId xmlns:a16="http://schemas.microsoft.com/office/drawing/2014/main" id="{6C411039-9849-554E-9667-86AC2C7380DB}"/>
              </a:ext>
            </a:extLst>
          </p:cNvPr>
          <p:cNvSpPr txBox="1"/>
          <p:nvPr/>
        </p:nvSpPr>
        <p:spPr>
          <a:xfrm>
            <a:off x="148345" y="8861435"/>
            <a:ext cx="8849542" cy="1569660"/>
          </a:xfrm>
          <a:prstGeom prst="rect">
            <a:avLst/>
          </a:prstGeom>
          <a:noFill/>
        </p:spPr>
        <p:txBody>
          <a:bodyPr wrap="square">
            <a:spAutoFit/>
          </a:bodyPr>
          <a:lstStyle/>
          <a:p>
            <a:r>
              <a:rPr lang="es-CL" sz="2400" noProof="0" dirty="0">
                <a:latin typeface="Atkinson Hyperlegible"/>
              </a:rPr>
              <a:t>⚠️ </a:t>
            </a:r>
            <a:r>
              <a:rPr lang="es-CL" sz="2400" b="1" noProof="0" dirty="0">
                <a:latin typeface="Atkinson Hyperlegible"/>
              </a:rPr>
              <a:t>Nota al margen:</a:t>
            </a:r>
          </a:p>
          <a:p>
            <a:r>
              <a:rPr lang="es-CL" sz="2400" b="1" dirty="0" err="1">
                <a:latin typeface="Atkinson Hyperlegible"/>
              </a:rPr>
              <a:t>IETF</a:t>
            </a:r>
            <a:r>
              <a:rPr lang="es-CL" sz="2400" b="1" dirty="0">
                <a:latin typeface="Atkinson Hyperlegible"/>
              </a:rPr>
              <a:t> RFC 7426</a:t>
            </a:r>
            <a:r>
              <a:rPr lang="es-CL" sz="2400" dirty="0">
                <a:latin typeface="Atkinson Hyperlegible"/>
              </a:rPr>
              <a:t> — </a:t>
            </a:r>
            <a:r>
              <a:rPr lang="es-CL" sz="2400" dirty="0" err="1">
                <a:latin typeface="Atkinson Hyperlegible"/>
              </a:rPr>
              <a:t>SDN</a:t>
            </a:r>
            <a:r>
              <a:rPr lang="es-CL" sz="2400" dirty="0">
                <a:latin typeface="Atkinson Hyperlegible"/>
              </a:rPr>
              <a:t>: </a:t>
            </a:r>
            <a:r>
              <a:rPr lang="es-CL" sz="2400" dirty="0" err="1">
                <a:latin typeface="Atkinson Hyperlegible"/>
              </a:rPr>
              <a:t>Layers</a:t>
            </a:r>
            <a:r>
              <a:rPr lang="es-CL" sz="2400" dirty="0">
                <a:latin typeface="Atkinson Hyperlegible"/>
              </a:rPr>
              <a:t> and </a:t>
            </a:r>
            <a:r>
              <a:rPr lang="es-CL" sz="2400" dirty="0" err="1">
                <a:latin typeface="Atkinson Hyperlegible"/>
              </a:rPr>
              <a:t>Architecture</a:t>
            </a:r>
            <a:r>
              <a:rPr lang="es-CL" sz="2400" dirty="0">
                <a:latin typeface="Atkinson Hyperlegible"/>
              </a:rPr>
              <a:t> </a:t>
            </a:r>
            <a:r>
              <a:rPr lang="es-CL" sz="2400" dirty="0" err="1">
                <a:latin typeface="Atkinson Hyperlegible"/>
              </a:rPr>
              <a:t>Terminology</a:t>
            </a:r>
            <a:r>
              <a:rPr lang="es-CL" sz="2400" dirty="0">
                <a:latin typeface="Atkinson Hyperlegible"/>
              </a:rPr>
              <a:t>.</a:t>
            </a:r>
            <a:br>
              <a:rPr lang="es-CL" sz="2400" dirty="0">
                <a:latin typeface="Atkinson Hyperlegible"/>
              </a:rPr>
            </a:br>
            <a:r>
              <a:rPr lang="es-CL" sz="2400" b="1" dirty="0" err="1">
                <a:latin typeface="Atkinson Hyperlegible"/>
              </a:rPr>
              <a:t>ONF</a:t>
            </a:r>
            <a:r>
              <a:rPr lang="es-CL" sz="2400" b="1" dirty="0">
                <a:latin typeface="Atkinson Hyperlegible"/>
              </a:rPr>
              <a:t> </a:t>
            </a:r>
            <a:r>
              <a:rPr lang="es-CL" sz="2400" b="1" dirty="0" err="1">
                <a:latin typeface="Atkinson Hyperlegible"/>
              </a:rPr>
              <a:t>OpenFlow</a:t>
            </a:r>
            <a:r>
              <a:rPr lang="es-CL" sz="2400" b="1" dirty="0">
                <a:latin typeface="Atkinson Hyperlegible"/>
              </a:rPr>
              <a:t> Switch </a:t>
            </a:r>
            <a:r>
              <a:rPr lang="es-CL" sz="2400" b="1" dirty="0" err="1">
                <a:latin typeface="Atkinson Hyperlegible"/>
              </a:rPr>
              <a:t>Specification</a:t>
            </a:r>
            <a:r>
              <a:rPr lang="es-CL" sz="2400" dirty="0">
                <a:latin typeface="Atkinson Hyperlegible"/>
              </a:rPr>
              <a:t> — interfaz controlador–switch.</a:t>
            </a:r>
            <a:br>
              <a:rPr lang="es-CL" sz="2400" dirty="0">
                <a:latin typeface="Atkinson Hyperlegible"/>
              </a:rPr>
            </a:br>
            <a:r>
              <a:rPr lang="es-CL" sz="2400" b="1" dirty="0" err="1">
                <a:latin typeface="Atkinson Hyperlegible"/>
              </a:rPr>
              <a:t>OpenStack</a:t>
            </a:r>
            <a:r>
              <a:rPr lang="es-CL" sz="2400" b="1" dirty="0">
                <a:latin typeface="Atkinson Hyperlegible"/>
              </a:rPr>
              <a:t> </a:t>
            </a:r>
            <a:r>
              <a:rPr lang="es-CL" sz="2400" b="1" dirty="0" err="1">
                <a:latin typeface="Atkinson Hyperlegible"/>
              </a:rPr>
              <a:t>Documentation</a:t>
            </a:r>
            <a:r>
              <a:rPr lang="es-CL" sz="2400" dirty="0">
                <a:latin typeface="Atkinson Hyperlegible"/>
              </a:rPr>
              <a:t> — infraestructura </a:t>
            </a:r>
            <a:r>
              <a:rPr lang="es-CL" sz="2400" dirty="0" err="1">
                <a:latin typeface="Atkinson Hyperlegible"/>
              </a:rPr>
              <a:t>cloud</a:t>
            </a:r>
            <a:r>
              <a:rPr lang="es-CL" sz="2400" dirty="0">
                <a:latin typeface="Atkinson Hyperlegible"/>
              </a:rPr>
              <a:t> y virtualización.</a:t>
            </a:r>
            <a:endParaRPr lang="es-CL" sz="2400" noProof="0" dirty="0">
              <a:latin typeface="Atkinson Hyperlegible"/>
            </a:endParaRPr>
          </a:p>
        </p:txBody>
      </p:sp>
      <p:sp>
        <p:nvSpPr>
          <p:cNvPr id="17" name="5 Rectángulo">
            <a:extLst>
              <a:ext uri="{FF2B5EF4-FFF2-40B4-BE49-F238E27FC236}">
                <a16:creationId xmlns:a16="http://schemas.microsoft.com/office/drawing/2014/main" id="{74463498-9E5B-44A2-E697-EE4FE3837205}"/>
              </a:ext>
            </a:extLst>
          </p:cNvPr>
          <p:cNvSpPr/>
          <p:nvPr/>
        </p:nvSpPr>
        <p:spPr>
          <a:xfrm>
            <a:off x="1061209" y="1760004"/>
            <a:ext cx="18598386" cy="1077218"/>
          </a:xfrm>
          <a:prstGeom prst="rect">
            <a:avLst/>
          </a:prstGeom>
          <a:noFill/>
          <a:effectLst/>
        </p:spPr>
        <p:txBody>
          <a:bodyPr wrap="square" lIns="91440" tIns="45720" rIns="91440" bIns="45720" anchor="t">
            <a:spAutoFit/>
          </a:bodyPr>
          <a:lstStyle/>
          <a:p>
            <a:pPr algn="ctr"/>
            <a:r>
              <a:rPr lang="es-ES" sz="3200" dirty="0">
                <a:latin typeface="Atkinson Hyperlegible"/>
              </a:rPr>
              <a:t>Las </a:t>
            </a:r>
            <a:r>
              <a:rPr lang="es-ES" sz="3200" dirty="0" err="1">
                <a:latin typeface="Atkinson Hyperlegible"/>
              </a:rPr>
              <a:t>SDN</a:t>
            </a:r>
            <a:r>
              <a:rPr lang="es-ES" sz="3200" dirty="0">
                <a:latin typeface="Atkinson Hyperlegible"/>
              </a:rPr>
              <a:t> permiten administrar la red mediante software, facilitando la automatización, la aplicación centralizada de políticas y la adaptación dinámica del tráfico.</a:t>
            </a:r>
            <a:endParaRPr lang="es-CL" sz="3200" b="1" i="1" noProof="0" dirty="0">
              <a:latin typeface="Atkinson Hyperlegible"/>
            </a:endParaRPr>
          </a:p>
        </p:txBody>
      </p:sp>
      <p:sp>
        <p:nvSpPr>
          <p:cNvPr id="3" name="5 Rectángulo">
            <a:extLst>
              <a:ext uri="{FF2B5EF4-FFF2-40B4-BE49-F238E27FC236}">
                <a16:creationId xmlns:a16="http://schemas.microsoft.com/office/drawing/2014/main" id="{7EA1B30B-9FD7-B2CB-6758-5667F1BAF233}"/>
              </a:ext>
            </a:extLst>
          </p:cNvPr>
          <p:cNvSpPr/>
          <p:nvPr/>
        </p:nvSpPr>
        <p:spPr>
          <a:xfrm>
            <a:off x="9616827" y="8764516"/>
            <a:ext cx="10042768" cy="1569660"/>
          </a:xfrm>
          <a:prstGeom prst="rect">
            <a:avLst/>
          </a:prstGeom>
          <a:noFill/>
          <a:effectLst/>
        </p:spPr>
        <p:txBody>
          <a:bodyPr wrap="square" lIns="91440" tIns="45720" rIns="91440" bIns="45720" anchor="t">
            <a:spAutoFit/>
          </a:bodyPr>
          <a:lstStyle/>
          <a:p>
            <a:pPr algn="ctr"/>
            <a:r>
              <a:rPr lang="es-ES" sz="3200" b="1" dirty="0" err="1">
                <a:latin typeface="Atkinson Hyperlegible"/>
              </a:rPr>
              <a:t>SDN</a:t>
            </a:r>
            <a:r>
              <a:rPr lang="es-ES" sz="3200" b="1" dirty="0">
                <a:latin typeface="Atkinson Hyperlegible"/>
              </a:rPr>
              <a:t> permite que la red se comporte según políticas definidas por software, no solo por configuraciones manuales equipo por equipo.</a:t>
            </a:r>
            <a:endParaRPr lang="es-CL" sz="3200" i="1" noProof="0" dirty="0">
              <a:latin typeface="Atkinson Hyperlegible"/>
            </a:endParaRPr>
          </a:p>
        </p:txBody>
      </p:sp>
      <p:sp>
        <p:nvSpPr>
          <p:cNvPr id="5" name="5 Rectángulo">
            <a:extLst>
              <a:ext uri="{FF2B5EF4-FFF2-40B4-BE49-F238E27FC236}">
                <a16:creationId xmlns:a16="http://schemas.microsoft.com/office/drawing/2014/main" id="{1B846F3D-77F4-9CA5-13CE-04533D1B6AA6}"/>
              </a:ext>
            </a:extLst>
          </p:cNvPr>
          <p:cNvSpPr/>
          <p:nvPr/>
        </p:nvSpPr>
        <p:spPr>
          <a:xfrm>
            <a:off x="544658" y="2900075"/>
            <a:ext cx="12316903" cy="6001643"/>
          </a:xfrm>
          <a:prstGeom prst="rect">
            <a:avLst/>
          </a:prstGeom>
          <a:noFill/>
          <a:effectLst/>
        </p:spPr>
        <p:txBody>
          <a:bodyPr wrap="square" lIns="91440" tIns="45720" rIns="91440" bIns="45720" anchor="t">
            <a:spAutoFit/>
          </a:bodyPr>
          <a:lstStyle/>
          <a:p>
            <a:r>
              <a:rPr lang="es-ES" sz="3200" b="1" dirty="0">
                <a:latin typeface="Atkinson Hyperlegible"/>
              </a:rPr>
              <a:t>Aplicaciones principales</a:t>
            </a:r>
          </a:p>
          <a:p>
            <a:pPr marL="457200" indent="-457200">
              <a:buFont typeface="Arial" panose="020B0604020202020204" pitchFamily="34" charset="0"/>
              <a:buChar char="•"/>
            </a:pPr>
            <a:r>
              <a:rPr lang="es-ES" sz="3200" b="1" dirty="0">
                <a:latin typeface="Atkinson Hyperlegible"/>
              </a:rPr>
              <a:t>Automatización de red:</a:t>
            </a:r>
            <a:r>
              <a:rPr lang="es-ES" sz="3200" dirty="0">
                <a:latin typeface="Atkinson Hyperlegible"/>
              </a:rPr>
              <a:t> cambios rápidos y consistentes en múltiples dispositivos. </a:t>
            </a:r>
          </a:p>
          <a:p>
            <a:pPr marL="457200" indent="-457200">
              <a:buFont typeface="Arial" panose="020B0604020202020204" pitchFamily="34" charset="0"/>
              <a:buChar char="•"/>
            </a:pPr>
            <a:r>
              <a:rPr lang="es-ES" sz="3200" b="1" dirty="0">
                <a:latin typeface="Atkinson Hyperlegible"/>
              </a:rPr>
              <a:t>Segmentación de tráfico:</a:t>
            </a:r>
            <a:r>
              <a:rPr lang="es-ES" sz="3200" dirty="0">
                <a:latin typeface="Atkinson Hyperlegible"/>
              </a:rPr>
              <a:t> separación lógica de usuarios, servicios o zonas críticas. </a:t>
            </a:r>
          </a:p>
          <a:p>
            <a:pPr marL="457200" indent="-457200">
              <a:buFont typeface="Arial" panose="020B0604020202020204" pitchFamily="34" charset="0"/>
              <a:buChar char="•"/>
            </a:pPr>
            <a:r>
              <a:rPr lang="es-ES" sz="3200" b="1" dirty="0">
                <a:latin typeface="Atkinson Hyperlegible"/>
              </a:rPr>
              <a:t>Gestión centralizada:</a:t>
            </a:r>
            <a:r>
              <a:rPr lang="es-ES" sz="3200" dirty="0">
                <a:latin typeface="Atkinson Hyperlegible"/>
              </a:rPr>
              <a:t> monitoreo y control desde un punto lógico común. </a:t>
            </a:r>
          </a:p>
          <a:p>
            <a:pPr marL="457200" indent="-457200">
              <a:buFont typeface="Arial" panose="020B0604020202020204" pitchFamily="34" charset="0"/>
              <a:buChar char="•"/>
            </a:pPr>
            <a:r>
              <a:rPr lang="es-ES" sz="3200" b="1" dirty="0">
                <a:latin typeface="Atkinson Hyperlegible"/>
              </a:rPr>
              <a:t>Seguridad programable:</a:t>
            </a:r>
            <a:r>
              <a:rPr lang="es-ES" sz="3200" dirty="0">
                <a:latin typeface="Atkinson Hyperlegible"/>
              </a:rPr>
              <a:t> aplicación dinámica de reglas de acceso o bloqueo. </a:t>
            </a:r>
          </a:p>
          <a:p>
            <a:pPr marL="457200" indent="-457200">
              <a:buFont typeface="Arial" panose="020B0604020202020204" pitchFamily="34" charset="0"/>
              <a:buChar char="•"/>
            </a:pPr>
            <a:r>
              <a:rPr lang="es-ES" sz="3200" b="1" dirty="0">
                <a:latin typeface="Atkinson Hyperlegible"/>
              </a:rPr>
              <a:t>Calidad de servicio (</a:t>
            </a:r>
            <a:r>
              <a:rPr lang="es-ES" sz="3200" b="1" dirty="0" err="1">
                <a:latin typeface="Atkinson Hyperlegible"/>
              </a:rPr>
              <a:t>QoS</a:t>
            </a:r>
            <a:r>
              <a:rPr lang="es-ES" sz="3200" b="1" dirty="0">
                <a:latin typeface="Atkinson Hyperlegible"/>
              </a:rPr>
              <a:t>):</a:t>
            </a:r>
            <a:r>
              <a:rPr lang="es-ES" sz="3200" dirty="0">
                <a:latin typeface="Atkinson Hyperlegible"/>
              </a:rPr>
              <a:t> priorización de tráfico crítico. </a:t>
            </a:r>
          </a:p>
          <a:p>
            <a:pPr marL="457200" indent="-457200">
              <a:buFont typeface="Arial" panose="020B0604020202020204" pitchFamily="34" charset="0"/>
              <a:buChar char="•"/>
            </a:pPr>
            <a:r>
              <a:rPr lang="es-ES" sz="3200" b="1" dirty="0">
                <a:latin typeface="Atkinson Hyperlegible"/>
              </a:rPr>
              <a:t>Optimización de rutas:</a:t>
            </a:r>
            <a:r>
              <a:rPr lang="es-ES" sz="3200" dirty="0">
                <a:latin typeface="Atkinson Hyperlegible"/>
              </a:rPr>
              <a:t> ajuste de caminos según congestión, disponibilidad o política</a:t>
            </a:r>
            <a:r>
              <a:rPr lang="es-ES" sz="3200" dirty="0"/>
              <a:t>.</a:t>
            </a:r>
          </a:p>
        </p:txBody>
      </p:sp>
      <p:graphicFrame>
        <p:nvGraphicFramePr>
          <p:cNvPr id="2" name="Tabla 1">
            <a:extLst>
              <a:ext uri="{FF2B5EF4-FFF2-40B4-BE49-F238E27FC236}">
                <a16:creationId xmlns:a16="http://schemas.microsoft.com/office/drawing/2014/main" id="{4F39EF9B-5C78-F6D5-9F08-A887C789522D}"/>
              </a:ext>
            </a:extLst>
          </p:cNvPr>
          <p:cNvGraphicFramePr>
            <a:graphicFrameLocks noGrp="1"/>
          </p:cNvGraphicFramePr>
          <p:nvPr>
            <p:extLst>
              <p:ext uri="{D42A27DB-BD31-4B8C-83A1-F6EECF244321}">
                <p14:modId xmlns:p14="http://schemas.microsoft.com/office/powerpoint/2010/main" val="2519734597"/>
              </p:ext>
            </p:extLst>
          </p:nvPr>
        </p:nvGraphicFramePr>
        <p:xfrm>
          <a:off x="12861561" y="3077170"/>
          <a:ext cx="6798034" cy="5697184"/>
        </p:xfrm>
        <a:graphic>
          <a:graphicData uri="http://schemas.openxmlformats.org/drawingml/2006/table">
            <a:tbl>
              <a:tblPr>
                <a:tableStyleId>{616DA210-FB5B-4158-B5E0-FEB733F419BA}</a:tableStyleId>
              </a:tblPr>
              <a:tblGrid>
                <a:gridCol w="3361106">
                  <a:extLst>
                    <a:ext uri="{9D8B030D-6E8A-4147-A177-3AD203B41FA5}">
                      <a16:colId xmlns:a16="http://schemas.microsoft.com/office/drawing/2014/main" val="4199673595"/>
                    </a:ext>
                  </a:extLst>
                </a:gridCol>
                <a:gridCol w="3436928">
                  <a:extLst>
                    <a:ext uri="{9D8B030D-6E8A-4147-A177-3AD203B41FA5}">
                      <a16:colId xmlns:a16="http://schemas.microsoft.com/office/drawing/2014/main" val="2727508084"/>
                    </a:ext>
                  </a:extLst>
                </a:gridCol>
              </a:tblGrid>
              <a:tr h="485104">
                <a:tc>
                  <a:txBody>
                    <a:bodyPr/>
                    <a:lstStyle/>
                    <a:p>
                      <a:pPr>
                        <a:buNone/>
                      </a:pPr>
                      <a:r>
                        <a:rPr lang="es-CL" sz="2400" dirty="0"/>
                        <a:t>Aplicación</a:t>
                      </a:r>
                      <a:endParaRPr lang="es-CL" sz="2400" dirty="0">
                        <a:latin typeface="Atkinson Hyperlegible"/>
                      </a:endParaRPr>
                    </a:p>
                  </a:txBody>
                  <a:tcPr anchor="ctr"/>
                </a:tc>
                <a:tc>
                  <a:txBody>
                    <a:bodyPr/>
                    <a:lstStyle/>
                    <a:p>
                      <a:pPr>
                        <a:buNone/>
                      </a:pPr>
                      <a:r>
                        <a:rPr lang="es-CL" sz="2400"/>
                        <a:t>Ejemplo práctico</a:t>
                      </a:r>
                      <a:endParaRPr lang="es-CL" sz="2400">
                        <a:latin typeface="Atkinson Hyperlegible"/>
                      </a:endParaRPr>
                    </a:p>
                  </a:txBody>
                  <a:tcPr anchor="ctr"/>
                </a:tc>
                <a:extLst>
                  <a:ext uri="{0D108BD9-81ED-4DB2-BD59-A6C34878D82A}">
                    <a16:rowId xmlns:a16="http://schemas.microsoft.com/office/drawing/2014/main" val="3410825012"/>
                  </a:ext>
                </a:extLst>
              </a:tr>
              <a:tr h="1060509">
                <a:tc>
                  <a:txBody>
                    <a:bodyPr/>
                    <a:lstStyle/>
                    <a:p>
                      <a:pPr>
                        <a:buNone/>
                      </a:pPr>
                      <a:r>
                        <a:rPr lang="es-CL" sz="2400" b="1" dirty="0"/>
                        <a:t>Seguridad</a:t>
                      </a:r>
                      <a:endParaRPr lang="es-CL" sz="2400" dirty="0">
                        <a:latin typeface="Atkinson Hyperlegible"/>
                      </a:endParaRPr>
                    </a:p>
                  </a:txBody>
                  <a:tcPr anchor="ctr"/>
                </a:tc>
                <a:tc>
                  <a:txBody>
                    <a:bodyPr/>
                    <a:lstStyle/>
                    <a:p>
                      <a:pPr>
                        <a:buNone/>
                      </a:pPr>
                      <a:r>
                        <a:rPr lang="es-ES" sz="2400" dirty="0"/>
                        <a:t>Bloquear tráfico sospechoso desde el controlador</a:t>
                      </a:r>
                      <a:endParaRPr lang="es-ES" sz="2400" dirty="0">
                        <a:latin typeface="Atkinson Hyperlegible"/>
                      </a:endParaRPr>
                    </a:p>
                  </a:txBody>
                  <a:tcPr anchor="ctr"/>
                </a:tc>
                <a:extLst>
                  <a:ext uri="{0D108BD9-81ED-4DB2-BD59-A6C34878D82A}">
                    <a16:rowId xmlns:a16="http://schemas.microsoft.com/office/drawing/2014/main" val="313380149"/>
                  </a:ext>
                </a:extLst>
              </a:tr>
              <a:tr h="1060509">
                <a:tc>
                  <a:txBody>
                    <a:bodyPr/>
                    <a:lstStyle/>
                    <a:p>
                      <a:pPr>
                        <a:buNone/>
                      </a:pPr>
                      <a:r>
                        <a:rPr lang="es-CL" sz="2400" b="1" dirty="0"/>
                        <a:t>Segmentación</a:t>
                      </a:r>
                      <a:endParaRPr lang="es-CL" sz="2400" dirty="0">
                        <a:latin typeface="Atkinson Hyperlegible"/>
                      </a:endParaRPr>
                    </a:p>
                  </a:txBody>
                  <a:tcPr anchor="ctr"/>
                </a:tc>
                <a:tc>
                  <a:txBody>
                    <a:bodyPr/>
                    <a:lstStyle/>
                    <a:p>
                      <a:pPr>
                        <a:buNone/>
                      </a:pPr>
                      <a:r>
                        <a:rPr lang="es-CL" sz="2400" dirty="0"/>
                        <a:t>Separar tráfico administrativo, técnico y crítico</a:t>
                      </a:r>
                      <a:endParaRPr lang="es-CL" sz="2400" dirty="0">
                        <a:latin typeface="Atkinson Hyperlegible"/>
                      </a:endParaRPr>
                    </a:p>
                  </a:txBody>
                  <a:tcPr anchor="ctr"/>
                </a:tc>
                <a:extLst>
                  <a:ext uri="{0D108BD9-81ED-4DB2-BD59-A6C34878D82A}">
                    <a16:rowId xmlns:a16="http://schemas.microsoft.com/office/drawing/2014/main" val="2882369365"/>
                  </a:ext>
                </a:extLst>
              </a:tr>
              <a:tr h="734199">
                <a:tc>
                  <a:txBody>
                    <a:bodyPr/>
                    <a:lstStyle/>
                    <a:p>
                      <a:pPr>
                        <a:buNone/>
                      </a:pPr>
                      <a:r>
                        <a:rPr lang="es-CL" sz="2400" b="1" dirty="0" err="1"/>
                        <a:t>QoS</a:t>
                      </a:r>
                      <a:endParaRPr lang="es-CL" sz="2400" dirty="0">
                        <a:latin typeface="Atkinson Hyperlegible"/>
                      </a:endParaRPr>
                    </a:p>
                  </a:txBody>
                  <a:tcPr anchor="ctr"/>
                </a:tc>
                <a:tc>
                  <a:txBody>
                    <a:bodyPr/>
                    <a:lstStyle/>
                    <a:p>
                      <a:pPr>
                        <a:buNone/>
                      </a:pPr>
                      <a:r>
                        <a:rPr lang="es-CL" sz="2400" dirty="0"/>
                        <a:t>Priorizar voz, video o servicios operacionales</a:t>
                      </a:r>
                      <a:endParaRPr lang="es-CL" sz="2400" dirty="0">
                        <a:latin typeface="Atkinson Hyperlegible"/>
                      </a:endParaRPr>
                    </a:p>
                  </a:txBody>
                  <a:tcPr anchor="ctr"/>
                </a:tc>
                <a:extLst>
                  <a:ext uri="{0D108BD9-81ED-4DB2-BD59-A6C34878D82A}">
                    <a16:rowId xmlns:a16="http://schemas.microsoft.com/office/drawing/2014/main" val="352019114"/>
                  </a:ext>
                </a:extLst>
              </a:tr>
              <a:tr h="1060509">
                <a:tc>
                  <a:txBody>
                    <a:bodyPr/>
                    <a:lstStyle/>
                    <a:p>
                      <a:pPr>
                        <a:buNone/>
                      </a:pPr>
                      <a:r>
                        <a:rPr lang="es-CL" sz="2400" b="1"/>
                        <a:t>Automatización</a:t>
                      </a:r>
                      <a:endParaRPr lang="es-CL" sz="2400">
                        <a:latin typeface="Atkinson Hyperlegible"/>
                      </a:endParaRPr>
                    </a:p>
                  </a:txBody>
                  <a:tcPr anchor="ctr"/>
                </a:tc>
                <a:tc>
                  <a:txBody>
                    <a:bodyPr/>
                    <a:lstStyle/>
                    <a:p>
                      <a:pPr>
                        <a:buNone/>
                      </a:pPr>
                      <a:r>
                        <a:rPr lang="es-ES" sz="2400" dirty="0"/>
                        <a:t>Aplicar una política en varios switches al mismo tiempo</a:t>
                      </a:r>
                      <a:endParaRPr lang="es-ES" sz="2400" dirty="0">
                        <a:latin typeface="Atkinson Hyperlegible"/>
                      </a:endParaRPr>
                    </a:p>
                  </a:txBody>
                  <a:tcPr anchor="ctr"/>
                </a:tc>
                <a:extLst>
                  <a:ext uri="{0D108BD9-81ED-4DB2-BD59-A6C34878D82A}">
                    <a16:rowId xmlns:a16="http://schemas.microsoft.com/office/drawing/2014/main" val="2134369900"/>
                  </a:ext>
                </a:extLst>
              </a:tr>
              <a:tr h="734199">
                <a:tc>
                  <a:txBody>
                    <a:bodyPr/>
                    <a:lstStyle/>
                    <a:p>
                      <a:pPr>
                        <a:buNone/>
                      </a:pPr>
                      <a:r>
                        <a:rPr lang="es-CL" sz="2400" b="1"/>
                        <a:t>Monitoreo</a:t>
                      </a:r>
                      <a:endParaRPr lang="es-CL" sz="2400">
                        <a:latin typeface="Atkinson Hyperlegible"/>
                      </a:endParaRPr>
                    </a:p>
                  </a:txBody>
                  <a:tcPr anchor="ctr"/>
                </a:tc>
                <a:tc>
                  <a:txBody>
                    <a:bodyPr/>
                    <a:lstStyle/>
                    <a:p>
                      <a:pPr>
                        <a:buNone/>
                      </a:pPr>
                      <a:r>
                        <a:rPr lang="es-CL" sz="2400" dirty="0"/>
                        <a:t>Detectar congestión o caída de enlaces</a:t>
                      </a:r>
                      <a:endParaRPr lang="es-CL" sz="2400" dirty="0">
                        <a:latin typeface="Atkinson Hyperlegible"/>
                      </a:endParaRPr>
                    </a:p>
                  </a:txBody>
                  <a:tcPr anchor="ctr"/>
                </a:tc>
                <a:extLst>
                  <a:ext uri="{0D108BD9-81ED-4DB2-BD59-A6C34878D82A}">
                    <a16:rowId xmlns:a16="http://schemas.microsoft.com/office/drawing/2014/main" val="886498474"/>
                  </a:ext>
                </a:extLst>
              </a:tr>
            </a:tbl>
          </a:graphicData>
        </a:graphic>
      </p:graphicFrame>
    </p:spTree>
    <p:extLst>
      <p:ext uri="{BB962C8B-B14F-4D97-AF65-F5344CB8AC3E}">
        <p14:creationId xmlns:p14="http://schemas.microsoft.com/office/powerpoint/2010/main" val="39935965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95A7A655-5AF6-4D6D-7BC4-453604742428}"/>
            </a:ext>
          </a:extLst>
        </p:cNvPr>
        <p:cNvGrpSpPr/>
        <p:nvPr/>
      </p:nvGrpSpPr>
      <p:grpSpPr>
        <a:xfrm>
          <a:off x="0" y="0"/>
          <a:ext cx="0" cy="0"/>
          <a:chOff x="0" y="0"/>
          <a:chExt cx="0" cy="0"/>
        </a:xfrm>
      </p:grpSpPr>
      <p:cxnSp>
        <p:nvCxnSpPr>
          <p:cNvPr id="9" name="Conector recto 8">
            <a:extLst>
              <a:ext uri="{FF2B5EF4-FFF2-40B4-BE49-F238E27FC236}">
                <a16:creationId xmlns:a16="http://schemas.microsoft.com/office/drawing/2014/main" id="{A2433FDD-F64D-C552-AADC-7F0668C80B1C}"/>
              </a:ext>
            </a:extLst>
          </p:cNvPr>
          <p:cNvCxnSpPr>
            <a:cxnSpLocks/>
          </p:cNvCxnSpPr>
          <p:nvPr/>
        </p:nvCxnSpPr>
        <p:spPr>
          <a:xfrm>
            <a:off x="679450" y="-136525"/>
            <a:ext cx="0" cy="1524000"/>
          </a:xfrm>
          <a:prstGeom prst="line">
            <a:avLst/>
          </a:prstGeom>
          <a:ln w="31750">
            <a:solidFill>
              <a:schemeClr val="tx1"/>
            </a:solidFill>
          </a:ln>
        </p:spPr>
        <p:style>
          <a:lnRef idx="1">
            <a:schemeClr val="dk1"/>
          </a:lnRef>
          <a:fillRef idx="0">
            <a:schemeClr val="dk1"/>
          </a:fillRef>
          <a:effectRef idx="0">
            <a:schemeClr val="dk1"/>
          </a:effectRef>
          <a:fontRef idx="minor">
            <a:schemeClr val="tx1"/>
          </a:fontRef>
        </p:style>
      </p:cxnSp>
      <p:sp>
        <p:nvSpPr>
          <p:cNvPr id="14" name="object 3">
            <a:extLst>
              <a:ext uri="{FF2B5EF4-FFF2-40B4-BE49-F238E27FC236}">
                <a16:creationId xmlns:a16="http://schemas.microsoft.com/office/drawing/2014/main" id="{E562BEEE-DD6F-683A-52F0-2738204339E3}"/>
              </a:ext>
            </a:extLst>
          </p:cNvPr>
          <p:cNvSpPr txBox="1"/>
          <p:nvPr/>
        </p:nvSpPr>
        <p:spPr>
          <a:xfrm>
            <a:off x="1382157" y="-44605"/>
            <a:ext cx="18277439" cy="1030410"/>
          </a:xfrm>
          <a:prstGeom prst="rect">
            <a:avLst/>
          </a:prstGeom>
          <a:noFill/>
        </p:spPr>
        <p:txBody>
          <a:bodyPr vert="horz" wrap="square" lIns="0" tIns="349885" rIns="0" bIns="0" rtlCol="0">
            <a:spAutoFit/>
          </a:bodyPr>
          <a:lstStyle/>
          <a:p>
            <a:r>
              <a:rPr lang="es-ES" sz="4400" b="1" dirty="0">
                <a:latin typeface="Atkinson Hyperlegible"/>
              </a:rPr>
              <a:t>COMPONENTES, FUNCIONES Y APLICACIONES </a:t>
            </a:r>
            <a:r>
              <a:rPr lang="es-ES" sz="4400" b="1" dirty="0" err="1">
                <a:latin typeface="Atkinson Hyperlegible"/>
              </a:rPr>
              <a:t>SDN</a:t>
            </a:r>
            <a:endParaRPr lang="es-CL" sz="2800" b="1" kern="100" noProof="0" dirty="0">
              <a:effectLst/>
              <a:latin typeface="Atkinson Hyperlegible"/>
              <a:ea typeface="Calibri" panose="020F0502020204030204" pitchFamily="34" charset="0"/>
              <a:cs typeface="Gotham" pitchFamily="2" charset="0"/>
            </a:endParaRPr>
          </a:p>
        </p:txBody>
      </p:sp>
      <p:sp>
        <p:nvSpPr>
          <p:cNvPr id="7" name="CuadroTexto 6">
            <a:extLst>
              <a:ext uri="{FF2B5EF4-FFF2-40B4-BE49-F238E27FC236}">
                <a16:creationId xmlns:a16="http://schemas.microsoft.com/office/drawing/2014/main" id="{8DCE8334-4065-B58A-3DEF-1DE0E4CFFBD6}"/>
              </a:ext>
            </a:extLst>
          </p:cNvPr>
          <p:cNvSpPr txBox="1"/>
          <p:nvPr/>
        </p:nvSpPr>
        <p:spPr>
          <a:xfrm>
            <a:off x="1382157" y="898721"/>
            <a:ext cx="17055745" cy="707886"/>
          </a:xfrm>
          <a:prstGeom prst="rect">
            <a:avLst/>
          </a:prstGeom>
          <a:noFill/>
        </p:spPr>
        <p:txBody>
          <a:bodyPr wrap="square">
            <a:spAutoFit/>
          </a:bodyPr>
          <a:lstStyle/>
          <a:p>
            <a:r>
              <a:rPr lang="es-ES" sz="4000" dirty="0">
                <a:latin typeface="Atkinson Hyperlegible"/>
              </a:rPr>
              <a:t>Actividad formativa: arquitectura </a:t>
            </a:r>
            <a:r>
              <a:rPr lang="es-ES" sz="4000" dirty="0" err="1">
                <a:latin typeface="Atkinson Hyperlegible"/>
              </a:rPr>
              <a:t>SDN</a:t>
            </a:r>
            <a:endParaRPr lang="es-CL" sz="4000" noProof="0" dirty="0">
              <a:latin typeface="Atkinson Hyperlegible"/>
            </a:endParaRPr>
          </a:p>
        </p:txBody>
      </p:sp>
      <p:sp>
        <p:nvSpPr>
          <p:cNvPr id="10" name="CuadroTexto 9">
            <a:extLst>
              <a:ext uri="{FF2B5EF4-FFF2-40B4-BE49-F238E27FC236}">
                <a16:creationId xmlns:a16="http://schemas.microsoft.com/office/drawing/2014/main" id="{24EEA098-292C-B2F6-AFD0-26ABF28F0A04}"/>
              </a:ext>
            </a:extLst>
          </p:cNvPr>
          <p:cNvSpPr txBox="1"/>
          <p:nvPr/>
        </p:nvSpPr>
        <p:spPr>
          <a:xfrm>
            <a:off x="148345" y="8861435"/>
            <a:ext cx="8849542" cy="1569660"/>
          </a:xfrm>
          <a:prstGeom prst="rect">
            <a:avLst/>
          </a:prstGeom>
          <a:noFill/>
        </p:spPr>
        <p:txBody>
          <a:bodyPr wrap="square">
            <a:spAutoFit/>
          </a:bodyPr>
          <a:lstStyle/>
          <a:p>
            <a:r>
              <a:rPr lang="es-CL" sz="2400" noProof="0" dirty="0">
                <a:latin typeface="Atkinson Hyperlegible"/>
              </a:rPr>
              <a:t>⚠️ </a:t>
            </a:r>
            <a:r>
              <a:rPr lang="es-CL" sz="2400" b="1" noProof="0" dirty="0">
                <a:latin typeface="Atkinson Hyperlegible"/>
              </a:rPr>
              <a:t>Nota al margen:</a:t>
            </a:r>
          </a:p>
          <a:p>
            <a:r>
              <a:rPr lang="es-CL" sz="2400" b="1" dirty="0" err="1">
                <a:latin typeface="Atkinson Hyperlegible"/>
              </a:rPr>
              <a:t>IETF</a:t>
            </a:r>
            <a:r>
              <a:rPr lang="es-CL" sz="2400" b="1" dirty="0">
                <a:latin typeface="Atkinson Hyperlegible"/>
              </a:rPr>
              <a:t> RFC 7426</a:t>
            </a:r>
            <a:r>
              <a:rPr lang="es-CL" sz="2400" dirty="0">
                <a:latin typeface="Atkinson Hyperlegible"/>
              </a:rPr>
              <a:t> — </a:t>
            </a:r>
            <a:r>
              <a:rPr lang="es-CL" sz="2400" dirty="0" err="1">
                <a:latin typeface="Atkinson Hyperlegible"/>
              </a:rPr>
              <a:t>SDN</a:t>
            </a:r>
            <a:r>
              <a:rPr lang="es-CL" sz="2400" dirty="0">
                <a:latin typeface="Atkinson Hyperlegible"/>
              </a:rPr>
              <a:t>: </a:t>
            </a:r>
            <a:r>
              <a:rPr lang="es-CL" sz="2400" dirty="0" err="1">
                <a:latin typeface="Atkinson Hyperlegible"/>
              </a:rPr>
              <a:t>Layers</a:t>
            </a:r>
            <a:r>
              <a:rPr lang="es-CL" sz="2400" dirty="0">
                <a:latin typeface="Atkinson Hyperlegible"/>
              </a:rPr>
              <a:t> and </a:t>
            </a:r>
            <a:r>
              <a:rPr lang="es-CL" sz="2400" dirty="0" err="1">
                <a:latin typeface="Atkinson Hyperlegible"/>
              </a:rPr>
              <a:t>Architecture</a:t>
            </a:r>
            <a:r>
              <a:rPr lang="es-CL" sz="2400" dirty="0">
                <a:latin typeface="Atkinson Hyperlegible"/>
              </a:rPr>
              <a:t> </a:t>
            </a:r>
            <a:r>
              <a:rPr lang="es-CL" sz="2400" dirty="0" err="1">
                <a:latin typeface="Atkinson Hyperlegible"/>
              </a:rPr>
              <a:t>Terminology</a:t>
            </a:r>
            <a:r>
              <a:rPr lang="es-CL" sz="2400" dirty="0">
                <a:latin typeface="Atkinson Hyperlegible"/>
              </a:rPr>
              <a:t>.</a:t>
            </a:r>
            <a:br>
              <a:rPr lang="es-CL" sz="2400" dirty="0">
                <a:latin typeface="Atkinson Hyperlegible"/>
              </a:rPr>
            </a:br>
            <a:r>
              <a:rPr lang="es-CL" sz="2400" b="1" dirty="0" err="1">
                <a:latin typeface="Atkinson Hyperlegible"/>
              </a:rPr>
              <a:t>ONF</a:t>
            </a:r>
            <a:r>
              <a:rPr lang="es-CL" sz="2400" b="1" dirty="0">
                <a:latin typeface="Atkinson Hyperlegible"/>
              </a:rPr>
              <a:t> </a:t>
            </a:r>
            <a:r>
              <a:rPr lang="es-CL" sz="2400" b="1" dirty="0" err="1">
                <a:latin typeface="Atkinson Hyperlegible"/>
              </a:rPr>
              <a:t>OpenFlow</a:t>
            </a:r>
            <a:r>
              <a:rPr lang="es-CL" sz="2400" b="1" dirty="0">
                <a:latin typeface="Atkinson Hyperlegible"/>
              </a:rPr>
              <a:t> Switch </a:t>
            </a:r>
            <a:r>
              <a:rPr lang="es-CL" sz="2400" b="1" dirty="0" err="1">
                <a:latin typeface="Atkinson Hyperlegible"/>
              </a:rPr>
              <a:t>Specification</a:t>
            </a:r>
            <a:r>
              <a:rPr lang="es-CL" sz="2400" dirty="0">
                <a:latin typeface="Atkinson Hyperlegible"/>
              </a:rPr>
              <a:t> — interfaz controlador–switch.</a:t>
            </a:r>
            <a:br>
              <a:rPr lang="es-CL" sz="2400" dirty="0">
                <a:latin typeface="Atkinson Hyperlegible"/>
              </a:rPr>
            </a:br>
            <a:r>
              <a:rPr lang="es-CL" sz="2400" b="1" dirty="0" err="1">
                <a:latin typeface="Atkinson Hyperlegible"/>
              </a:rPr>
              <a:t>OpenStack</a:t>
            </a:r>
            <a:r>
              <a:rPr lang="es-CL" sz="2400" b="1" dirty="0">
                <a:latin typeface="Atkinson Hyperlegible"/>
              </a:rPr>
              <a:t> </a:t>
            </a:r>
            <a:r>
              <a:rPr lang="es-CL" sz="2400" b="1" dirty="0" err="1">
                <a:latin typeface="Atkinson Hyperlegible"/>
              </a:rPr>
              <a:t>Documentation</a:t>
            </a:r>
            <a:r>
              <a:rPr lang="es-CL" sz="2400" dirty="0">
                <a:latin typeface="Atkinson Hyperlegible"/>
              </a:rPr>
              <a:t> — infraestructura </a:t>
            </a:r>
            <a:r>
              <a:rPr lang="es-CL" sz="2400" dirty="0" err="1">
                <a:latin typeface="Atkinson Hyperlegible"/>
              </a:rPr>
              <a:t>cloud</a:t>
            </a:r>
            <a:r>
              <a:rPr lang="es-CL" sz="2400" dirty="0">
                <a:latin typeface="Atkinson Hyperlegible"/>
              </a:rPr>
              <a:t> y virtualización.</a:t>
            </a:r>
            <a:endParaRPr lang="es-CL" sz="2400" noProof="0" dirty="0">
              <a:latin typeface="Atkinson Hyperlegible"/>
            </a:endParaRPr>
          </a:p>
        </p:txBody>
      </p:sp>
      <p:sp>
        <p:nvSpPr>
          <p:cNvPr id="5" name="5 Rectángulo">
            <a:extLst>
              <a:ext uri="{FF2B5EF4-FFF2-40B4-BE49-F238E27FC236}">
                <a16:creationId xmlns:a16="http://schemas.microsoft.com/office/drawing/2014/main" id="{08878F23-1B00-4EC2-5E34-2FF6545FE50C}"/>
              </a:ext>
            </a:extLst>
          </p:cNvPr>
          <p:cNvSpPr/>
          <p:nvPr/>
        </p:nvSpPr>
        <p:spPr>
          <a:xfrm>
            <a:off x="679450" y="1695494"/>
            <a:ext cx="7864943" cy="6001643"/>
          </a:xfrm>
          <a:prstGeom prst="rect">
            <a:avLst/>
          </a:prstGeom>
          <a:solidFill>
            <a:schemeClr val="bg1">
              <a:lumMod val="85000"/>
            </a:schemeClr>
          </a:solidFill>
          <a:effectLst/>
        </p:spPr>
        <p:txBody>
          <a:bodyPr wrap="square" lIns="91440" tIns="45720" rIns="91440" bIns="45720" anchor="t">
            <a:spAutoFit/>
          </a:bodyPr>
          <a:lstStyle/>
          <a:p>
            <a:r>
              <a:rPr lang="es-ES" sz="3200" b="1" dirty="0">
                <a:latin typeface="Atkinson Hyperlegible"/>
              </a:rPr>
              <a:t>Instrucciones</a:t>
            </a:r>
          </a:p>
          <a:p>
            <a:pPr marL="457200" indent="-457200">
              <a:buFont typeface="Arial" panose="020B0604020202020204" pitchFamily="34" charset="0"/>
              <a:buChar char="•"/>
            </a:pPr>
            <a:r>
              <a:rPr lang="es-ES" sz="3200" dirty="0">
                <a:latin typeface="Atkinson Hyperlegible"/>
              </a:rPr>
              <a:t>En parejas o grupos pequeños, analicen el escenario y construyan un diagrama </a:t>
            </a:r>
            <a:r>
              <a:rPr lang="es-ES" sz="3200" dirty="0" err="1">
                <a:latin typeface="Atkinson Hyperlegible"/>
              </a:rPr>
              <a:t>SDN</a:t>
            </a:r>
            <a:r>
              <a:rPr lang="es-ES" sz="3200" dirty="0">
                <a:latin typeface="Atkinson Hyperlegible"/>
              </a:rPr>
              <a:t> básico.</a:t>
            </a:r>
          </a:p>
          <a:p>
            <a:pPr marL="457200" indent="-457200">
              <a:buFont typeface="Arial" panose="020B0604020202020204" pitchFamily="34" charset="0"/>
              <a:buChar char="•"/>
            </a:pPr>
            <a:r>
              <a:rPr lang="es-ES" sz="3200" dirty="0">
                <a:latin typeface="Atkinson Hyperlegible"/>
              </a:rPr>
              <a:t>Deben identificar:</a:t>
            </a:r>
          </a:p>
          <a:p>
            <a:pPr marL="457200" indent="-457200">
              <a:buFont typeface="Arial" panose="020B0604020202020204" pitchFamily="34" charset="0"/>
              <a:buChar char="•"/>
            </a:pPr>
            <a:r>
              <a:rPr lang="es-ES" sz="3200" b="1" dirty="0">
                <a:latin typeface="Atkinson Hyperlegible"/>
              </a:rPr>
              <a:t>Aplicaciones </a:t>
            </a:r>
            <a:r>
              <a:rPr lang="es-ES" sz="3200" b="1" dirty="0" err="1">
                <a:latin typeface="Atkinson Hyperlegible"/>
              </a:rPr>
              <a:t>SDN</a:t>
            </a:r>
            <a:r>
              <a:rPr lang="es-ES" sz="3200" dirty="0">
                <a:latin typeface="Atkinson Hyperlegible"/>
              </a:rPr>
              <a:t>. </a:t>
            </a:r>
          </a:p>
          <a:p>
            <a:pPr marL="457200" indent="-457200">
              <a:buFont typeface="Arial" panose="020B0604020202020204" pitchFamily="34" charset="0"/>
              <a:buChar char="•"/>
            </a:pPr>
            <a:r>
              <a:rPr lang="es-ES" sz="3200" b="1" dirty="0">
                <a:latin typeface="Atkinson Hyperlegible"/>
              </a:rPr>
              <a:t>Controlador </a:t>
            </a:r>
            <a:r>
              <a:rPr lang="es-ES" sz="3200" b="1" dirty="0" err="1">
                <a:latin typeface="Atkinson Hyperlegible"/>
              </a:rPr>
              <a:t>SDN</a:t>
            </a:r>
            <a:r>
              <a:rPr lang="es-ES" sz="3200" dirty="0">
                <a:latin typeface="Atkinson Hyperlegible"/>
              </a:rPr>
              <a:t>. </a:t>
            </a:r>
          </a:p>
          <a:p>
            <a:pPr marL="457200" indent="-457200">
              <a:buFont typeface="Arial" panose="020B0604020202020204" pitchFamily="34" charset="0"/>
              <a:buChar char="•"/>
            </a:pPr>
            <a:r>
              <a:rPr lang="es-ES" sz="3200" b="1" dirty="0">
                <a:latin typeface="Atkinson Hyperlegible"/>
              </a:rPr>
              <a:t>Plano de control</a:t>
            </a:r>
            <a:r>
              <a:rPr lang="es-ES" sz="3200" dirty="0">
                <a:latin typeface="Atkinson Hyperlegible"/>
              </a:rPr>
              <a:t>. </a:t>
            </a:r>
          </a:p>
          <a:p>
            <a:pPr marL="457200" indent="-457200">
              <a:buFont typeface="Arial" panose="020B0604020202020204" pitchFamily="34" charset="0"/>
              <a:buChar char="•"/>
            </a:pPr>
            <a:r>
              <a:rPr lang="es-ES" sz="3200" b="1" dirty="0">
                <a:latin typeface="Atkinson Hyperlegible"/>
              </a:rPr>
              <a:t>Plano de datos</a:t>
            </a:r>
            <a:r>
              <a:rPr lang="es-ES" sz="3200" dirty="0">
                <a:latin typeface="Atkinson Hyperlegible"/>
              </a:rPr>
              <a:t>. </a:t>
            </a:r>
          </a:p>
          <a:p>
            <a:pPr marL="457200" indent="-457200">
              <a:buFont typeface="Arial" panose="020B0604020202020204" pitchFamily="34" charset="0"/>
              <a:buChar char="•"/>
            </a:pPr>
            <a:r>
              <a:rPr lang="es-ES" sz="3200" b="1" dirty="0">
                <a:latin typeface="Atkinson Hyperlegible"/>
              </a:rPr>
              <a:t>Interfaz norte</a:t>
            </a:r>
            <a:r>
              <a:rPr lang="es-ES" sz="3200" dirty="0">
                <a:latin typeface="Atkinson Hyperlegible"/>
              </a:rPr>
              <a:t>. </a:t>
            </a:r>
          </a:p>
          <a:p>
            <a:pPr marL="457200" indent="-457200">
              <a:buFont typeface="Arial" panose="020B0604020202020204" pitchFamily="34" charset="0"/>
              <a:buChar char="•"/>
            </a:pPr>
            <a:r>
              <a:rPr lang="es-ES" sz="3200" b="1" dirty="0">
                <a:latin typeface="Atkinson Hyperlegible"/>
              </a:rPr>
              <a:t>Interfaz sur / </a:t>
            </a:r>
            <a:r>
              <a:rPr lang="es-ES" sz="3200" b="1" dirty="0" err="1">
                <a:latin typeface="Atkinson Hyperlegible"/>
              </a:rPr>
              <a:t>OpenFlow</a:t>
            </a:r>
            <a:r>
              <a:rPr lang="es-ES" sz="3200" dirty="0">
                <a:latin typeface="Atkinson Hyperlegible"/>
              </a:rPr>
              <a:t>. </a:t>
            </a:r>
          </a:p>
          <a:p>
            <a:pPr marL="457200" indent="-457200">
              <a:buFont typeface="Arial" panose="020B0604020202020204" pitchFamily="34" charset="0"/>
              <a:buChar char="•"/>
            </a:pPr>
            <a:r>
              <a:rPr lang="es-ES" sz="3200" b="1" dirty="0">
                <a:latin typeface="Atkinson Hyperlegible"/>
              </a:rPr>
              <a:t>Dispositivos que ejecutan reglas</a:t>
            </a:r>
            <a:r>
              <a:rPr lang="es-ES" sz="3200" dirty="0">
                <a:latin typeface="Atkinson Hyperlegible"/>
              </a:rPr>
              <a:t>.</a:t>
            </a:r>
          </a:p>
        </p:txBody>
      </p:sp>
      <p:sp>
        <p:nvSpPr>
          <p:cNvPr id="4" name="5 Rectángulo">
            <a:extLst>
              <a:ext uri="{FF2B5EF4-FFF2-40B4-BE49-F238E27FC236}">
                <a16:creationId xmlns:a16="http://schemas.microsoft.com/office/drawing/2014/main" id="{E5B8DC39-B0BD-62A8-6854-EA886D4921C0}"/>
              </a:ext>
            </a:extLst>
          </p:cNvPr>
          <p:cNvSpPr/>
          <p:nvPr/>
        </p:nvSpPr>
        <p:spPr>
          <a:xfrm>
            <a:off x="8997886" y="4523120"/>
            <a:ext cx="10957869" cy="3539430"/>
          </a:xfrm>
          <a:prstGeom prst="rect">
            <a:avLst/>
          </a:prstGeom>
          <a:solidFill>
            <a:schemeClr val="accent6">
              <a:lumMod val="20000"/>
              <a:lumOff val="80000"/>
            </a:schemeClr>
          </a:solidFill>
          <a:effectLst/>
        </p:spPr>
        <p:txBody>
          <a:bodyPr wrap="square" lIns="91440" tIns="45720" rIns="91440" bIns="45720" anchor="t">
            <a:spAutoFit/>
          </a:bodyPr>
          <a:lstStyle/>
          <a:p>
            <a:r>
              <a:rPr lang="es-ES" sz="3200" b="1" dirty="0">
                <a:latin typeface="Atkinson Hyperlegible"/>
              </a:rPr>
              <a:t>Escenario</a:t>
            </a:r>
          </a:p>
          <a:p>
            <a:r>
              <a:rPr lang="es-ES" sz="3200" dirty="0">
                <a:latin typeface="Atkinson Hyperlegible"/>
              </a:rPr>
              <a:t>Una institución necesita separar y controlar tres tipos de tráfico:</a:t>
            </a:r>
          </a:p>
          <a:p>
            <a:pPr marL="457200" indent="-457200">
              <a:buFont typeface="Arial" panose="020B0604020202020204" pitchFamily="34" charset="0"/>
              <a:buChar char="•"/>
            </a:pPr>
            <a:r>
              <a:rPr lang="es-ES" sz="3200" b="1" dirty="0">
                <a:latin typeface="Atkinson Hyperlegible"/>
              </a:rPr>
              <a:t>Administrativo</a:t>
            </a:r>
            <a:r>
              <a:rPr lang="es-ES" sz="3200" dirty="0">
                <a:latin typeface="Atkinson Hyperlegible"/>
              </a:rPr>
              <a:t> </a:t>
            </a:r>
          </a:p>
          <a:p>
            <a:pPr marL="457200" indent="-457200">
              <a:buFont typeface="Arial" panose="020B0604020202020204" pitchFamily="34" charset="0"/>
              <a:buChar char="•"/>
            </a:pPr>
            <a:r>
              <a:rPr lang="es-ES" sz="3200" b="1" dirty="0">
                <a:latin typeface="Atkinson Hyperlegible"/>
              </a:rPr>
              <a:t>Técnico</a:t>
            </a:r>
            <a:r>
              <a:rPr lang="es-ES" sz="3200" dirty="0">
                <a:latin typeface="Atkinson Hyperlegible"/>
              </a:rPr>
              <a:t> </a:t>
            </a:r>
          </a:p>
          <a:p>
            <a:pPr marL="457200" indent="-457200">
              <a:buFont typeface="Arial" panose="020B0604020202020204" pitchFamily="34" charset="0"/>
              <a:buChar char="•"/>
            </a:pPr>
            <a:r>
              <a:rPr lang="es-ES" sz="3200" b="1" dirty="0">
                <a:latin typeface="Atkinson Hyperlegible"/>
              </a:rPr>
              <a:t>Servicios críticos</a:t>
            </a:r>
            <a:r>
              <a:rPr lang="es-ES" sz="3200" dirty="0">
                <a:latin typeface="Atkinson Hyperlegible"/>
              </a:rPr>
              <a:t> </a:t>
            </a:r>
          </a:p>
          <a:p>
            <a:r>
              <a:rPr lang="es-ES" sz="3200" dirty="0">
                <a:latin typeface="Atkinson Hyperlegible"/>
              </a:rPr>
              <a:t>Además, requiere aplicar políticas desde un punto central y monitorear el estado de la red.</a:t>
            </a:r>
          </a:p>
        </p:txBody>
      </p:sp>
      <p:sp>
        <p:nvSpPr>
          <p:cNvPr id="6" name="5 Rectángulo">
            <a:extLst>
              <a:ext uri="{FF2B5EF4-FFF2-40B4-BE49-F238E27FC236}">
                <a16:creationId xmlns:a16="http://schemas.microsoft.com/office/drawing/2014/main" id="{34014E25-7FDC-09C8-B2B0-794D51638F35}"/>
              </a:ext>
            </a:extLst>
          </p:cNvPr>
          <p:cNvSpPr/>
          <p:nvPr/>
        </p:nvSpPr>
        <p:spPr>
          <a:xfrm>
            <a:off x="8997887" y="1787591"/>
            <a:ext cx="10957868" cy="2554545"/>
          </a:xfrm>
          <a:prstGeom prst="rect">
            <a:avLst/>
          </a:prstGeom>
          <a:solidFill>
            <a:schemeClr val="accent4">
              <a:lumMod val="40000"/>
              <a:lumOff val="60000"/>
            </a:schemeClr>
          </a:solidFill>
          <a:effectLst/>
        </p:spPr>
        <p:txBody>
          <a:bodyPr wrap="square" lIns="91440" tIns="45720" rIns="91440" bIns="45720" anchor="t">
            <a:spAutoFit/>
          </a:bodyPr>
          <a:lstStyle/>
          <a:p>
            <a:r>
              <a:rPr lang="es-ES" sz="3200" b="1" dirty="0"/>
              <a:t>Preguntas de análisis</a:t>
            </a:r>
          </a:p>
          <a:p>
            <a:pPr marL="514350" indent="-514350">
              <a:buFont typeface="+mj-lt"/>
              <a:buAutoNum type="arabicPeriod"/>
            </a:pPr>
            <a:r>
              <a:rPr lang="es-ES" sz="3200" dirty="0"/>
              <a:t>¿Qué política aplicaría para cada tipo de tráfico? </a:t>
            </a:r>
          </a:p>
          <a:p>
            <a:pPr marL="514350" indent="-514350">
              <a:buFont typeface="+mj-lt"/>
              <a:buAutoNum type="arabicPeriod"/>
            </a:pPr>
            <a:r>
              <a:rPr lang="es-ES" sz="3200" dirty="0"/>
              <a:t>¿Qué función cumple el controlador? </a:t>
            </a:r>
          </a:p>
          <a:p>
            <a:pPr marL="514350" indent="-514350">
              <a:buFont typeface="+mj-lt"/>
              <a:buAutoNum type="arabicPeriod"/>
            </a:pPr>
            <a:r>
              <a:rPr lang="es-ES" sz="3200" dirty="0"/>
              <a:t>¿Qué ejecutan los switches o </a:t>
            </a:r>
            <a:r>
              <a:rPr lang="es-ES" sz="3200" dirty="0" err="1"/>
              <a:t>routers</a:t>
            </a:r>
            <a:r>
              <a:rPr lang="es-ES" sz="3200" dirty="0"/>
              <a:t>? </a:t>
            </a:r>
          </a:p>
          <a:p>
            <a:pPr marL="514350" indent="-514350">
              <a:buFont typeface="+mj-lt"/>
              <a:buAutoNum type="arabicPeriod"/>
            </a:pPr>
            <a:r>
              <a:rPr lang="es-ES" sz="3200" dirty="0"/>
              <a:t>¿Qué ventaja tiene aplicar políticas desde software?</a:t>
            </a:r>
          </a:p>
        </p:txBody>
      </p:sp>
    </p:spTree>
    <p:extLst>
      <p:ext uri="{BB962C8B-B14F-4D97-AF65-F5344CB8AC3E}">
        <p14:creationId xmlns:p14="http://schemas.microsoft.com/office/powerpoint/2010/main" val="4580930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7E02B9-EA61-B724-86FF-88F84748DCF5}"/>
            </a:ext>
          </a:extLst>
        </p:cNvPr>
        <p:cNvGrpSpPr/>
        <p:nvPr/>
      </p:nvGrpSpPr>
      <p:grpSpPr>
        <a:xfrm>
          <a:off x="0" y="0"/>
          <a:ext cx="0" cy="0"/>
          <a:chOff x="0" y="0"/>
          <a:chExt cx="0" cy="0"/>
        </a:xfrm>
      </p:grpSpPr>
      <p:sp>
        <p:nvSpPr>
          <p:cNvPr id="2" name="1 Título">
            <a:extLst>
              <a:ext uri="{FF2B5EF4-FFF2-40B4-BE49-F238E27FC236}">
                <a16:creationId xmlns:a16="http://schemas.microsoft.com/office/drawing/2014/main" id="{0FCF618F-7E6E-94DB-387A-84F2016E3B29}"/>
              </a:ext>
            </a:extLst>
          </p:cNvPr>
          <p:cNvSpPr>
            <a:spLocks noGrp="1"/>
          </p:cNvSpPr>
          <p:nvPr>
            <p:ph type="title"/>
          </p:nvPr>
        </p:nvSpPr>
        <p:spPr/>
        <p:txBody>
          <a:bodyPr/>
          <a:lstStyle/>
          <a:p>
            <a:endParaRPr lang="es-CL" noProof="0" dirty="0"/>
          </a:p>
        </p:txBody>
      </p:sp>
      <p:pic>
        <p:nvPicPr>
          <p:cNvPr id="2050" name="Picture 2" descr="C:\Users\FHidalgoP\Downloads\Diapositiva1_portada3 (1).jpg">
            <a:extLst>
              <a:ext uri="{FF2B5EF4-FFF2-40B4-BE49-F238E27FC236}">
                <a16:creationId xmlns:a16="http://schemas.microsoft.com/office/drawing/2014/main" id="{A7C27BC0-C5F5-677A-C0FD-C80D0C29630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774162"/>
            <a:ext cx="20112192" cy="11309350"/>
          </a:xfrm>
          <a:prstGeom prst="rect">
            <a:avLst/>
          </a:prstGeom>
          <a:noFill/>
          <a:extLst>
            <a:ext uri="{909E8E84-426E-40DD-AFC4-6F175D3DCCD1}">
              <a14:hiddenFill xmlns:a14="http://schemas.microsoft.com/office/drawing/2010/main">
                <a:solidFill>
                  <a:srgbClr val="FFFFFF"/>
                </a:solidFill>
              </a14:hiddenFill>
            </a:ext>
          </a:extLst>
        </p:spPr>
      </p:pic>
      <p:sp>
        <p:nvSpPr>
          <p:cNvPr id="5" name="object 3">
            <a:extLst>
              <a:ext uri="{FF2B5EF4-FFF2-40B4-BE49-F238E27FC236}">
                <a16:creationId xmlns:a16="http://schemas.microsoft.com/office/drawing/2014/main" id="{173BAEAB-F5DF-6E9F-E933-68060E9B7E0F}"/>
              </a:ext>
            </a:extLst>
          </p:cNvPr>
          <p:cNvSpPr txBox="1"/>
          <p:nvPr/>
        </p:nvSpPr>
        <p:spPr>
          <a:xfrm>
            <a:off x="831850" y="8161793"/>
            <a:ext cx="18564837" cy="2223813"/>
          </a:xfrm>
          <a:prstGeom prst="rect">
            <a:avLst/>
          </a:prstGeom>
          <a:noFill/>
          <a:effectLst>
            <a:outerShdw blurRad="50800" dist="38100" dir="5400000" algn="t" rotWithShape="0">
              <a:prstClr val="black">
                <a:alpha val="40000"/>
              </a:prstClr>
            </a:outerShdw>
          </a:effectLst>
        </p:spPr>
        <p:txBody>
          <a:bodyPr vert="horz" wrap="square" lIns="0" tIns="349884" rIns="0" bIns="0" rtlCol="0">
            <a:spAutoFit/>
          </a:bodyPr>
          <a:lstStyle/>
          <a:p>
            <a:pPr>
              <a:lnSpc>
                <a:spcPct val="150000"/>
              </a:lnSpc>
            </a:pPr>
            <a:r>
              <a:rPr lang="es-CL" sz="6000" b="1" kern="100" noProof="0" dirty="0">
                <a:solidFill>
                  <a:schemeClr val="bg1"/>
                </a:solidFill>
                <a:highlight>
                  <a:srgbClr val="000000"/>
                </a:highlight>
                <a:latin typeface="Arial" panose="020B0604020202020204" pitchFamily="34" charset="0"/>
                <a:ea typeface="Roboto" panose="02000000000000000000" pitchFamily="2" charset="0"/>
                <a:cs typeface="Arial" panose="020B0604020202020204" pitchFamily="34" charset="0"/>
              </a:rPr>
              <a:t>SISTEMAS DE TRANSMISIÓN</a:t>
            </a:r>
          </a:p>
          <a:p>
            <a:pPr>
              <a:lnSpc>
                <a:spcPct val="150000"/>
              </a:lnSpc>
            </a:pPr>
            <a:r>
              <a:rPr lang="es-CL" sz="2400" b="1" kern="100" noProof="0" dirty="0">
                <a:solidFill>
                  <a:schemeClr val="bg1"/>
                </a:solidFill>
                <a:latin typeface="Arial" panose="020B0604020202020204" pitchFamily="34" charset="0"/>
                <a:ea typeface="Roboto" panose="02000000000000000000" pitchFamily="2" charset="0"/>
                <a:cs typeface="Arial" panose="020B0604020202020204" pitchFamily="34" charset="0"/>
              </a:rPr>
              <a:t>CAP. JACOB BARQUI PÉREZ</a:t>
            </a:r>
          </a:p>
        </p:txBody>
      </p:sp>
      <p:sp>
        <p:nvSpPr>
          <p:cNvPr id="6" name="CuadroTexto 1">
            <a:extLst>
              <a:ext uri="{FF2B5EF4-FFF2-40B4-BE49-F238E27FC236}">
                <a16:creationId xmlns:a16="http://schemas.microsoft.com/office/drawing/2014/main" id="{2BD7AF8A-199B-B386-2989-3AFBFF724404}"/>
              </a:ext>
            </a:extLst>
          </p:cNvPr>
          <p:cNvSpPr txBox="1"/>
          <p:nvPr/>
        </p:nvSpPr>
        <p:spPr>
          <a:xfrm>
            <a:off x="17637126" y="1937258"/>
            <a:ext cx="2051049" cy="400110"/>
          </a:xfrm>
          <a:prstGeom prst="rect">
            <a:avLst/>
          </a:prstGeom>
          <a:noFill/>
        </p:spPr>
        <p:txBody>
          <a:bodyPr wrap="square" rtlCol="0">
            <a:spAutoFit/>
          </a:bodyPr>
          <a:lstStyle/>
          <a:p>
            <a:pPr algn="ctr"/>
            <a:r>
              <a:rPr lang="es-CL" sz="2000" noProof="0" dirty="0">
                <a:solidFill>
                  <a:schemeClr val="bg1"/>
                </a:solidFill>
                <a:latin typeface="Arial" panose="020B0604020202020204" pitchFamily="34" charset="0"/>
                <a:ea typeface="Roboto" panose="02000000000000000000" pitchFamily="2" charset="0"/>
                <a:cs typeface="Arial" panose="020B0604020202020204" pitchFamily="34" charset="0"/>
              </a:rPr>
              <a:t> </a:t>
            </a:r>
            <a:r>
              <a:rPr lang="es-CL" sz="2000" b="1" dirty="0">
                <a:solidFill>
                  <a:schemeClr val="bg1"/>
                </a:solidFill>
                <a:highlight>
                  <a:srgbClr val="000000"/>
                </a:highlight>
                <a:latin typeface="Arial" panose="020B0604020202020204" pitchFamily="34" charset="0"/>
                <a:ea typeface="Roboto" panose="02000000000000000000" pitchFamily="2" charset="0"/>
                <a:cs typeface="Arial" panose="020B0604020202020204" pitchFamily="34" charset="0"/>
              </a:rPr>
              <a:t>MAY</a:t>
            </a:r>
            <a:r>
              <a:rPr lang="es-CL" sz="2000" b="1" noProof="0" dirty="0">
                <a:solidFill>
                  <a:schemeClr val="bg1"/>
                </a:solidFill>
                <a:highlight>
                  <a:srgbClr val="000000"/>
                </a:highlight>
                <a:latin typeface="Arial" panose="020B0604020202020204" pitchFamily="34" charset="0"/>
                <a:ea typeface="Roboto" panose="02000000000000000000" pitchFamily="2" charset="0"/>
                <a:cs typeface="Arial" panose="020B0604020202020204" pitchFamily="34" charset="0"/>
              </a:rPr>
              <a:t>, 2026</a:t>
            </a:r>
          </a:p>
        </p:txBody>
      </p:sp>
      <p:pic>
        <p:nvPicPr>
          <p:cNvPr id="7" name="Imagen 4">
            <a:extLst>
              <a:ext uri="{FF2B5EF4-FFF2-40B4-BE49-F238E27FC236}">
                <a16:creationId xmlns:a16="http://schemas.microsoft.com/office/drawing/2014/main" id="{DC807EC9-9D52-7C43-CC8D-85FA067549F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928615" y="168276"/>
            <a:ext cx="1468072" cy="1600200"/>
          </a:xfrm>
          <a:prstGeom prst="rect">
            <a:avLst/>
          </a:prstGeom>
        </p:spPr>
      </p:pic>
      <p:pic>
        <p:nvPicPr>
          <p:cNvPr id="13" name="Imagen 12" descr="Logotipo&#10;&#10;El contenido generado por IA puede ser incorrecto.">
            <a:extLst>
              <a:ext uri="{FF2B5EF4-FFF2-40B4-BE49-F238E27FC236}">
                <a16:creationId xmlns:a16="http://schemas.microsoft.com/office/drawing/2014/main" id="{B24191BE-31B1-4B8B-8F0D-9EE4E03EDE3A}"/>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20000" contrast="-40000"/>
                    </a14:imgEffect>
                  </a14:imgLayer>
                </a14:imgProps>
              </a:ext>
            </a:extLst>
          </a:blip>
          <a:stretch>
            <a:fillRect/>
          </a:stretch>
        </p:blipFill>
        <p:spPr>
          <a:xfrm>
            <a:off x="15657" y="-366510"/>
            <a:ext cx="1632386" cy="1937258"/>
          </a:xfrm>
          <a:prstGeom prst="rect">
            <a:avLst/>
          </a:prstGeom>
        </p:spPr>
      </p:pic>
    </p:spTree>
    <p:extLst>
      <p:ext uri="{BB962C8B-B14F-4D97-AF65-F5344CB8AC3E}">
        <p14:creationId xmlns:p14="http://schemas.microsoft.com/office/powerpoint/2010/main" val="1045672462"/>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3976</TotalTime>
  <Words>3999</Words>
  <Application>Microsoft Office PowerPoint</Application>
  <PresentationFormat>Personalizado</PresentationFormat>
  <Paragraphs>416</Paragraphs>
  <Slides>28</Slides>
  <Notes>22</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28</vt:i4>
      </vt:variant>
    </vt:vector>
  </HeadingPairs>
  <TitlesOfParts>
    <vt:vector size="33" baseType="lpstr">
      <vt:lpstr>Arial</vt:lpstr>
      <vt:lpstr>Atkinson Hyperlegible</vt:lpstr>
      <vt:lpstr>Calibri</vt:lpstr>
      <vt:lpstr>Calibri Light</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afgd3l2</cp:lastModifiedBy>
  <cp:revision>472</cp:revision>
  <dcterms:modified xsi:type="dcterms:W3CDTF">2026-05-19T05:28:34Z</dcterms:modified>
</cp:coreProperties>
</file>