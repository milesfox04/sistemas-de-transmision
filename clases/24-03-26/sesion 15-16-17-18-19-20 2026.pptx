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1718" r:id="rId2"/>
    <p:sldId id="257" r:id="rId3"/>
    <p:sldId id="1708" r:id="rId4"/>
    <p:sldId id="1725" r:id="rId5"/>
    <p:sldId id="1720" r:id="rId6"/>
    <p:sldId id="1721" r:id="rId7"/>
    <p:sldId id="1731" r:id="rId8"/>
    <p:sldId id="1761" r:id="rId9"/>
    <p:sldId id="1763" r:id="rId10"/>
    <p:sldId id="1766" r:id="rId11"/>
    <p:sldId id="1767" r:id="rId12"/>
    <p:sldId id="1768" r:id="rId13"/>
    <p:sldId id="1776" r:id="rId14"/>
    <p:sldId id="1770" r:id="rId15"/>
    <p:sldId id="1777" r:id="rId16"/>
    <p:sldId id="1778" r:id="rId17"/>
    <p:sldId id="1784" r:id="rId18"/>
    <p:sldId id="1788" r:id="rId19"/>
    <p:sldId id="1789" r:id="rId20"/>
    <p:sldId id="1790" r:id="rId21"/>
    <p:sldId id="1791" r:id="rId22"/>
    <p:sldId id="1792" r:id="rId23"/>
    <p:sldId id="1793" r:id="rId24"/>
    <p:sldId id="1794" r:id="rId25"/>
    <p:sldId id="1795" r:id="rId26"/>
    <p:sldId id="1796" r:id="rId27"/>
    <p:sldId id="1797" r:id="rId28"/>
    <p:sldId id="1798" r:id="rId29"/>
    <p:sldId id="1799" r:id="rId30"/>
    <p:sldId id="1800" r:id="rId31"/>
    <p:sldId id="1801" r:id="rId32"/>
    <p:sldId id="1802" r:id="rId33"/>
    <p:sldId id="1803" r:id="rId34"/>
    <p:sldId id="1805" r:id="rId35"/>
    <p:sldId id="1806" r:id="rId36"/>
    <p:sldId id="1807" r:id="rId37"/>
    <p:sldId id="1729" r:id="rId38"/>
  </p:sldIdLst>
  <p:sldSz cx="20104100" cy="11309350"/>
  <p:notesSz cx="9296400" cy="7010400"/>
  <p:defaultTextStyle>
    <a:defPPr lvl="0">
      <a:defRPr lang="es-CL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897051-24AE-98AE-7D1D-12996A0AA340}" name="afgd3l2" initials="a" userId="S::afgd3l2@verykvm.com::a234dbd5-222b-47e7-a1d4-2c032f33b7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 snapToGrid="0">
      <p:cViewPr varScale="1">
        <p:scale>
          <a:sx n="45" d="100"/>
          <a:sy n="45" d="100"/>
        </p:scale>
        <p:origin x="902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213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562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r">
              <a:defRPr sz="600"/>
            </a:lvl1pPr>
          </a:lstStyle>
          <a:p>
            <a:fld id="{BA6E888F-4D11-6642-A67A-175E177747A6}" type="datetimeFigureOut">
              <a:rPr lang="es-CL" smtClean="0"/>
              <a:t>24-03-2026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7092" tIns="23546" rIns="47092" bIns="23546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348" y="3373337"/>
            <a:ext cx="7437707" cy="2761255"/>
          </a:xfrm>
          <a:prstGeom prst="rect">
            <a:avLst/>
          </a:prstGeom>
        </p:spPr>
        <p:txBody>
          <a:bodyPr vert="horz" lIns="47092" tIns="23546" rIns="47092" bIns="23546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562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r">
              <a:defRPr sz="600"/>
            </a:lvl1pPr>
          </a:lstStyle>
          <a:p>
            <a:fld id="{235CC6FD-75C5-034E-BC56-691A10C416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082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65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“Este es el modelo mínimo de cualquier enlace RF. las variables clave: frecuencia y longitud de onda. No calcularemos aún; lo importante es entender que al variar la frecuencia cambia el comportamiento del enlace y la lógica de por qué existen bandas reguladas.”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1528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B7665-E627-33DE-FC22-A8F4899E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D8E3EA-1CE7-2591-A02F-5E3813E0D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E6C6AB-BA51-7F9F-35E2-E6B7E5139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espectro se organiza para poder convivir. ‘Banda’ es una franja de frecuencias; ‘canal’ es una porción dentro de esa franja. Esta idea se repetirá en </a:t>
            </a:r>
            <a:r>
              <a:rPr lang="es-ES" dirty="0" err="1"/>
              <a:t>VHF</a:t>
            </a:r>
            <a:r>
              <a:rPr lang="es-ES" dirty="0"/>
              <a:t>/</a:t>
            </a:r>
            <a:r>
              <a:rPr lang="es-ES" dirty="0" err="1"/>
              <a:t>UHF</a:t>
            </a:r>
            <a:r>
              <a:rPr lang="es-ES" dirty="0"/>
              <a:t>, microondas, satélite y radar.”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376F61-F8AA-C576-8F44-B52BFE4F3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928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B9B2-D52E-BF78-5BA3-105B6A57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85455C-8281-843F-27B3-1C494D75F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BB3573-CB2A-5B8C-095B-FADB59793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espectro se organiza para poder convivir. ‘Banda’ es una franja de frecuencias; ‘canal’ es una porción dentro de esa franja. Esta idea se repetirá en </a:t>
            </a:r>
            <a:r>
              <a:rPr lang="es-ES" dirty="0" err="1"/>
              <a:t>VHF</a:t>
            </a:r>
            <a:r>
              <a:rPr lang="es-ES" dirty="0"/>
              <a:t>/</a:t>
            </a:r>
            <a:r>
              <a:rPr lang="es-ES" dirty="0" err="1"/>
              <a:t>UHF</a:t>
            </a:r>
            <a:r>
              <a:rPr lang="es-ES" dirty="0"/>
              <a:t>, microondas, satélite y radar.”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D3CD3E-C72E-2EE0-7FEE-91DE03F0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945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D5EF-AE8C-297E-92EB-B36D4216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F8E228-AA39-F35D-7A61-C15D9289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2D4535-1FAD-EF57-3035-B13437857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que deben retener es que la frecuencia determina cómo se comporta el enlace en el mundo real: cambia la interacción con el entorno, la practicidad de antenas y el tipo de diseño que se requiere. Por eso el espectro se regula y segmenta en bandas.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272F7D-7C04-B694-A104-489168037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251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8FBC-E28F-4184-F7DC-A9D23AED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389EE4-0D83-293F-0576-6E5DF12B4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943DA9-3F49-D5C5-7D35-9BDAE3057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que deben retener es que la frecuencia determina cómo se comporta el enlace en el mundo real: cambia la interacción con el entorno, la practicidad de antenas y el tipo de diseño que se requiere. Por eso el espectro se regula y segmenta en bandas.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A87D22-64D8-2652-5D21-7A894218E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96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52A5-8D8B-2241-8E7F-D6F73771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839FB1-F4EF-E378-1334-A5C3F42E4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1DA5F8-D26C-5853-23C9-D88F5FB92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E60D65-B90E-2AAA-3375-91C932C6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8084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EC31-FD7C-C136-9537-5FC5E5E8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CBB053-2B00-E2EA-A1CA-7C22B3DC9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82D58E-BD78-F2CC-2813-D86917BE6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398D9A-B3FE-1FF8-1519-73D84BDB1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3687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AF3C-1B14-3DFE-B605-7024C065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297208-0EBE-9354-1113-A1400D954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2145BD-00FB-13EC-FE01-62607893E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BE590B-CBF5-2164-306F-011FF1A28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083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98B0-B40F-C544-1DCB-A1DCA1BC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CC2484-A37E-104B-1B1A-A85D380C3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F19A23-C02D-C907-2B7A-738830145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el módulo anterior vimos espectro y bandas. Ahora damos un paso natural: el medio en RF es el ambiente. La atmósfera introduce pérdidas y variabilidad, especialmente relevante en ciertos rangos y enlaces. Hoy lo veremos conceptualmente, preparando microondas y satélite.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95EB06-6EEF-495F-636C-9D6A8F9A8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9535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291E-CE86-9128-A36C-A3495729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2AE4A8-492B-43E4-64E2-0BE043DCA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1D864E-E66C-CB96-F0CD-F9BE72A1A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30AABD-5D34-BE6C-0EFC-FB902E8E6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6732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F664-7B06-C9D8-A6E3-ECFB1798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F5390D-5881-EDF5-4F28-90ABD34A2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ACDFA1-65F4-B268-A3CC-29652B92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756F0F-E682-2512-EE34-8937F69D7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0250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B8CB-CB01-AE6B-8B3D-9A894FD1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80D146-1C76-0649-4C05-D7C0154F3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121A35C-5CEE-E19C-651B-15A58731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</a:t>
            </a:r>
            <a:r>
              <a:rPr lang="es-ES" dirty="0" err="1"/>
              <a:t>Multipath</a:t>
            </a:r>
            <a:r>
              <a:rPr lang="es-ES" dirty="0"/>
              <a:t> significa que el receptor no ve una sola señal, sino varias copias con distintos caminos. Según cómo se sumen, la potencia recibida sube o baja. Eso se llama fading. Es normal y explica por qué a veces ‘se corta’ aunque todo esté encendido.”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E7B8EC-37B5-5986-496C-E51DCB896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8332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CE9D-769B-E613-DB9B-CE44D827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35EC39-DDF4-FB89-6794-5A6D22EF1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ACB5F7-79C0-3FD2-E2A8-5650E7923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Esto es una referencia ideal: en enlaces reales se agregan pérdidas por atmósfera, obstáculos y </a:t>
            </a:r>
            <a:r>
              <a:rPr lang="es-ES" dirty="0" err="1"/>
              <a:t>multipath</a:t>
            </a:r>
            <a:r>
              <a:rPr lang="es-ES" dirty="0"/>
              <a:t>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14B95-5C34-88E3-A1B9-4B933867D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6140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7198-CCA8-7432-9384-0812F7513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1DC7B8-9EE8-3490-254C-49204EB5E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4CB677-E217-C43B-520E-87B995A78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aprenderemos a distinguir dos formas de uso: punto a punto y </a:t>
            </a:r>
            <a:r>
              <a:rPr lang="es-ES" dirty="0" err="1"/>
              <a:t>broadcasting</a:t>
            </a:r>
            <a:r>
              <a:rPr lang="es-ES" dirty="0"/>
              <a:t>. La meta no es memorizar rangos, sino entender cómo cambia la lógica de cobertura, interferencia y servicio.”</a:t>
            </a:r>
            <a:br>
              <a:rPr lang="es-ES" dirty="0"/>
            </a:br>
            <a:r>
              <a:rPr lang="es-ES" dirty="0"/>
              <a:t>“HF, </a:t>
            </a:r>
            <a:r>
              <a:rPr lang="es-ES" dirty="0" err="1"/>
              <a:t>VHF</a:t>
            </a:r>
            <a:r>
              <a:rPr lang="es-ES" dirty="0"/>
              <a:t> y </a:t>
            </a:r>
            <a:r>
              <a:rPr lang="es-ES" dirty="0" err="1"/>
              <a:t>UHF</a:t>
            </a:r>
            <a:r>
              <a:rPr lang="es-ES" dirty="0"/>
              <a:t> son rangos del espectro, no tecnologías. La elección de banda impacta cobertura, obstáculos e interferencia. Hoy lo veremos desde el punto de vista de ‘tipo de servicio’: enlaces punto a punto y </a:t>
            </a:r>
            <a:r>
              <a:rPr lang="es-ES" dirty="0" err="1"/>
              <a:t>broadcasting</a:t>
            </a:r>
            <a:r>
              <a:rPr lang="es-ES" dirty="0"/>
              <a:t>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C4EEC9-E283-3DAD-3CBC-E45CEB068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8949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E787-6A18-9318-E76C-64C4C745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BC465C-9108-97F8-5FFD-E8B49F8D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F05860-C0FB-3411-FCE7-F45049124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‘red’ no significa necesariamente IP: significa un conjunto de estaciones que comparten un canal y pueden apoyarse en repetidores para ampliar cobertura. Lo que manda es el diseño de cobertura: banda, antenas, altura y entorno. Luego distinguiremos explícitamente punto a punto vs </a:t>
            </a:r>
            <a:r>
              <a:rPr lang="es-ES" dirty="0" err="1"/>
              <a:t>broadcasting</a:t>
            </a:r>
            <a:r>
              <a:rPr lang="es-ES" dirty="0"/>
              <a:t>.”</a:t>
            </a:r>
            <a:br>
              <a:rPr lang="es-ES" dirty="0"/>
            </a:b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E61360-9342-0ED6-82F4-0AE0937F9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4001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644B-FE49-4B18-ED1D-75A56B13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90AD2C-71A9-63BA-36E7-50B097826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E69D3D-7AFC-FD8C-5B2F-0CE8BE867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diferencia clave es el objetivo. En punto a punto optimizo el enlace entre dos puntos. En </a:t>
            </a:r>
            <a:r>
              <a:rPr lang="es-ES" dirty="0" err="1"/>
              <a:t>broadcasting</a:t>
            </a:r>
            <a:r>
              <a:rPr lang="es-ES" dirty="0"/>
              <a:t> busco que un área reciba con calidad aceptable, y por eso importan mucho la cobertura y la coordinación de interferencias</a:t>
            </a:r>
            <a:br>
              <a:rPr lang="es-ES" dirty="0"/>
            </a:b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BFD60D-7C7C-7C31-C051-12BD1950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9565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C014-CB5E-1B01-7DDB-378F84DA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D9D564-BE03-ABDB-8FAD-698D0E284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4CB664-8A48-115D-FCDD-ED432A441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 tabla es la diferencia que quiero que se lleven hoy. Cuando el objetivo cambia, cambia todo: cómo elijo antenas, cómo evalúo éxito y cómo trato la interferencia.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1EF11D-4262-359F-5506-B7DD89510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0850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CD68-C1B9-533F-7673-5B9A2066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FA809C-6F1D-73C6-830E-0968D3734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EE813A-CFD4-63AD-3C52-82508205D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busque “la banda perfecta”; busque </a:t>
            </a:r>
            <a:r>
              <a:rPr lang="es-ES" b="1" dirty="0"/>
              <a:t>razonamiento</a:t>
            </a:r>
            <a:r>
              <a:rPr lang="es-ES" dirty="0"/>
              <a:t> con un criterio. Si se traban, pregunte:</a:t>
            </a:r>
            <a:br>
              <a:rPr lang="es-ES" dirty="0"/>
            </a:br>
            <a:r>
              <a:rPr lang="es-ES" b="1" dirty="0"/>
              <a:t>“¿Hay uno o muchos receptores?”</a:t>
            </a:r>
            <a:r>
              <a:rPr lang="es-ES" dirty="0"/>
              <a:t> → define el tipo.</a:t>
            </a:r>
            <a:br>
              <a:rPr lang="es-ES" dirty="0"/>
            </a:br>
            <a:r>
              <a:rPr lang="es-ES" b="1" dirty="0"/>
              <a:t>“¿Es cobertura o enlace?”</a:t>
            </a:r>
            <a:r>
              <a:rPr lang="es-ES" dirty="0"/>
              <a:t> → define la lógica.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B49739-9D86-205D-CD5B-6093145E4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757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8BBE-E6BF-9ED4-74C6-6C675F0F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D6AD4E-1985-EF29-915C-E58391BAB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21CB78-F449-2D2A-096F-DC90C9A61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“Con esto cerramos: si pueden definir </a:t>
            </a:r>
            <a:r>
              <a:rPr lang="es-ES" dirty="0" err="1"/>
              <a:t>broadcasting</a:t>
            </a:r>
            <a:r>
              <a:rPr lang="es-ES" dirty="0"/>
              <a:t>, diferenciarlo del punto a punto y justificar una banda con un criterio, están listos para pasar a tecnologías </a:t>
            </a:r>
            <a:r>
              <a:rPr lang="es-ES" dirty="0" err="1"/>
              <a:t>VHF</a:t>
            </a:r>
            <a:r>
              <a:rPr lang="es-ES" dirty="0"/>
              <a:t>/</a:t>
            </a:r>
            <a:r>
              <a:rPr lang="es-ES" dirty="0" err="1"/>
              <a:t>UHF</a:t>
            </a:r>
            <a:r>
              <a:rPr lang="es-ES"/>
              <a:t>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7FB0DB-215D-0A0A-4B11-A4B52C802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622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0EC6-1992-D46F-64EB-A906C9AB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0B5C28-6C08-6189-9273-E4F5777D4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A0D7DB-2D00-B5A0-0BCD-E9D198D6C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Cuando hablamos de tecnología </a:t>
            </a:r>
            <a:r>
              <a:rPr lang="es-MX" dirty="0" err="1"/>
              <a:t>VHF</a:t>
            </a:r>
            <a:r>
              <a:rPr lang="es-MX" dirty="0"/>
              <a:t>/</a:t>
            </a:r>
            <a:r>
              <a:rPr lang="es-MX" dirty="0" err="1"/>
              <a:t>UHF</a:t>
            </a:r>
            <a:r>
              <a:rPr lang="es-MX" dirty="0"/>
              <a:t> no hablamos solo de una frecuencia. Hablamos de un sistema completo: banda, equipo, propósito y entorno. El error común es pensar que la frecuencia lo define todo; en realidad, el diseño depende del objetivo operacional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D0377C-AE53-9DBE-493A-4CAE0004C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7392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3D73-D072-19FB-72C4-8837A0A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EC184F-B803-22AC-198D-77217429C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E53E64-75D4-BE7B-3617-5108B48DE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todas las tecnologías </a:t>
            </a:r>
            <a:r>
              <a:rPr lang="es-MX" dirty="0" err="1"/>
              <a:t>VHF</a:t>
            </a:r>
            <a:r>
              <a:rPr lang="es-MX" dirty="0"/>
              <a:t>/</a:t>
            </a:r>
            <a:r>
              <a:rPr lang="es-MX" dirty="0" err="1"/>
              <a:t>UHF</a:t>
            </a:r>
            <a:r>
              <a:rPr lang="es-MX" dirty="0"/>
              <a:t> buscan lo mismo. Algunas priorizan movilidad, otras cobertura masiva y otras estabilidad en enlaces específicos. El error común es elegir por ‘frecuencia’ sin definir primero el propósito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AA0B63-3C77-9A01-1E09-6E40CC44E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1570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E183-6A63-5682-DA01-1C3B96B4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17E392-5A72-30B9-4E9D-FC5A22C45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C40839-ACDA-E5F9-0B47-05A69C2A9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A7ACE2-3FAC-8CA7-30B6-B8DA40C0B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9897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D52D-50CE-A299-16C0-FA8A9A7E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3AB69F-09E4-FF3A-AB34-76DB81399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10F096-1925-16BE-4B9E-C3DEEBAE0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Las bandas no definen el servicio por sí solas. En </a:t>
            </a:r>
            <a:r>
              <a:rPr lang="es-MX" dirty="0" err="1"/>
              <a:t>VHF</a:t>
            </a:r>
            <a:r>
              <a:rPr lang="es-MX" dirty="0"/>
              <a:t>/</a:t>
            </a:r>
            <a:r>
              <a:rPr lang="es-MX" dirty="0" err="1"/>
              <a:t>UHF</a:t>
            </a:r>
            <a:r>
              <a:rPr lang="es-MX" dirty="0"/>
              <a:t> puedo transmitir voz, datos o </a:t>
            </a:r>
            <a:r>
              <a:rPr lang="es-MX" dirty="0" err="1"/>
              <a:t>broadcasting</a:t>
            </a:r>
            <a:r>
              <a:rPr lang="es-MX" dirty="0"/>
              <a:t>. La diferencia está en la tecnología empleada: tipo de modulación, esquema de acceso y, en entornos críticos, cifrado y control de red. La </a:t>
            </a:r>
            <a:r>
              <a:rPr lang="es-MX" dirty="0" err="1"/>
              <a:t>ITU</a:t>
            </a:r>
            <a:r>
              <a:rPr lang="es-MX" dirty="0"/>
              <a:t> regula el uso del espectro y los servicios, pero no el protocolo interno de cada sistema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7AAE5E-DD78-5F84-2FA7-DDCB32E08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1667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9F5E3-C707-97F7-F3C6-1624550F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C92E4B-0837-C970-4E93-99ED9723A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176C39-26A9-856E-92C1-C6E140162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existe una banda ‘mejor’. </a:t>
            </a:r>
            <a:r>
              <a:rPr lang="es-MX" dirty="0" err="1"/>
              <a:t>VHF</a:t>
            </a:r>
            <a:r>
              <a:rPr lang="es-MX" dirty="0"/>
              <a:t> puede ser adecuada en entornos abiertos con menor densidad de obstáculos. </a:t>
            </a:r>
            <a:r>
              <a:rPr lang="es-MX" dirty="0" err="1"/>
              <a:t>UHF</a:t>
            </a:r>
            <a:r>
              <a:rPr lang="es-MX" dirty="0"/>
              <a:t> suele comportarse mejor en entornos urbanos y equipos portátiles. La elección siempre debe justificarse por criterios técnicos y regulatorios.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B570F4-1DF4-B6ED-2FC7-097CD1999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9982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A430-38E4-B896-7CAD-BE1875C9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E53AA9-4A3F-4DA7-87A6-7E90A6BC7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CE38F0-3AD9-7182-2D81-B00CC3255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D64443-EFE3-3A2D-D5AE-2E3FFA8E4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756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F901-32E6-B812-332E-403F4044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414D41-09EA-DF2A-D56B-DB4419AE6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544B8E-1D8C-0E36-145C-E22B34B5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8C7225-6AC4-A24B-73C4-63A4FFC65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07592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E59D-9B9F-3FBF-D64D-D1DA3785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64EEDD-C940-0AC0-92CE-571719310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FC1DFB-9465-F57F-6DF3-03D227BD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105.51−95.97≈9.5 dB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19DF3A-2D18-9A1E-EC40-D152282C9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7359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C116-CA36-DD4F-73B4-B20FA063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B8B441-EA11-AC0A-EFE5-807ED35D0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A0470A-6F17-24C6-0940-1C7F2021C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105.51−95.97≈9.5 dB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C9283A-EE3E-699C-6690-FD0214304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2384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9399-0944-E625-3378-778C0F11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896AC8-ACA8-FEA3-1C4A-6F956108B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93F6F6-91BB-8506-9A8A-467E365BB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6EDCC2-92FA-4E52-7903-D7B228A7D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3008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0B67-CF26-6723-56BD-02F5EE3E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4D7259-5157-AE65-C830-ABA0511E0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4B74DE-797B-546C-B599-11196178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Matemáticamente, </a:t>
            </a:r>
            <a:r>
              <a:rPr lang="es-MX" dirty="0" err="1"/>
              <a:t>VHF</a:t>
            </a:r>
            <a:r>
              <a:rPr lang="es-MX" dirty="0"/>
              <a:t> presenta menor pérdida que </a:t>
            </a:r>
            <a:r>
              <a:rPr lang="es-MX" dirty="0" err="1"/>
              <a:t>UHF</a:t>
            </a:r>
            <a:r>
              <a:rPr lang="es-MX" dirty="0"/>
              <a:t> para la misma distancia.</a:t>
            </a:r>
            <a:br>
              <a:rPr lang="es-MX" dirty="0"/>
            </a:br>
            <a:r>
              <a:rPr lang="es-MX" dirty="0"/>
              <a:t>Sin embargo, la elección no se hace solo por pérdida, sino por entorno, tamaño de antena, movilidad y aplicación del servicio.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2F76B9-39BB-D1CC-AA39-A83AC90E4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36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634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4DCFF-58D8-97D2-51D3-6268BB696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B0821F-352C-1076-2ECE-CDE7AF30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513E-E201-4345-522F-05D5BDC9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71351-BD5F-0CBD-6276-4BE74B70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4A449-F555-EC65-0F1B-0ABB7AA8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248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35A15-CC56-D4D0-6469-74F8CA91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1CDD0-AEA2-E1E1-8449-BEFC90594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13E17-511C-62B9-D495-4FA06434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45FD42-27BC-120C-3AF3-D3D355B0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ED70BB-D70F-5C80-BEC5-C6A31C94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260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923E4-E3C8-5760-2CD0-CDF9BFCB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86" y="2819485"/>
            <a:ext cx="17339786" cy="4704375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085F8F-91AC-DEDF-BDC7-BE1F89C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BA4FA8-08B8-0E66-F01F-B235F110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CA919-6BF3-42BD-DBC7-09A7CBD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15315-E27F-B452-CA46-776C4AE8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13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8B64B-EBCD-6853-58B8-B2CA0C7D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F2E63-4791-D0B1-D362-7EB60DD0D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157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8DFB6-1BE9-C5A5-B8E5-C1BF4C301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7700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BC9F7E-0C80-2B3B-50ED-2EA3038F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B1FDDF-62D9-10D0-3A15-E051505E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0564F-FADB-7B9D-90E1-AF826F8D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7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9F778-08A9-A6B8-5C93-C5AAB8E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119"/>
            <a:ext cx="17339786" cy="218595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1367A-B26A-422F-D2BD-31866324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2362"/>
            <a:ext cx="8504976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EB983-DE50-2793-94B1-6282B8FB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1054"/>
            <a:ext cx="8504976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D20D19-F20A-717C-BA4D-6B5661EBE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2362"/>
            <a:ext cx="8546861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562768-89FD-AA2F-EB7A-2C15C1362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1054"/>
            <a:ext cx="8546861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A6A63F-08A7-06F9-6F36-72AC2E1E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A53C4-A8EF-EB7C-EA3A-6C78EC4B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10B013-DDC7-D0B3-F289-335856F7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7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7347E-68C2-47E3-D5CA-088E995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526359-41CF-4EFB-0CDE-88ABEEC2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B796C5-5685-6789-4FBC-3CF567A0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E7E3A9-9B64-71CD-9D73-9DC2A402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19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86668C-654D-7680-D2F1-5951A5B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641BD1-643A-0141-998D-BA2EF4BC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63F749-E945-0A95-968F-044A4AC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770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DA742-F495-D4AC-270C-DA999951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7B855-60C9-AC83-44EF-14F710C3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23DF89-AB5E-D209-90B6-FBB140BD1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7FB68-BAF2-FAFC-20C5-50840A80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E96347-07C2-617F-DA6B-64514835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3FF74-E26C-3624-C160-FD84EBF2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6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3DB23-2B68-8BE6-5BE8-74FB8AC8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12C754-B8E4-3914-A69F-E1B36DCF6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A8F03C-2BE0-3A95-F000-ACD6AD1C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51A9BF-B911-5C93-22DE-19FD6899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DF1256-7E86-58E3-6661-FA1D673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1259D9-D8FC-1B56-BFFA-37357293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61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06267-7792-D819-1250-3B80F216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545AC6-7292-773C-7509-D7E1D0B69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3A385-780F-B272-80CB-E3EE2720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E7FDF5-4CCA-2A20-13BC-D406ED96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13AE1-0243-5662-3E9D-89565B76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10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016D2-D6B9-D0D7-A956-FC3D8BE03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6996" y="602118"/>
            <a:ext cx="4334947" cy="958415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FC73-6922-E6BE-8B37-9A3D83C84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602118"/>
            <a:ext cx="12753538" cy="958415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029604-4D94-FF99-EACD-68549E65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B03D43-86E0-0338-2B20-C4B28C45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2D1C4-EEBA-36AC-255B-B421F28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5433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E6B1A-7AB0-C547-8394-097517D6C818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0821498"/>
            <a:ext cx="19059478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454EFA-1F7B-877B-469B-2D764857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C16E2-A185-FEA6-7411-8103675A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21F49-C348-4F08-D8CA-E6E1125C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E2BA2-5BAF-A870-FA74-B2B0C7643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6E0C4E-A769-0FA6-B059-676054203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6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2" r:id="rId1"/>
    <p:sldLayoutId id="2147485173" r:id="rId2"/>
    <p:sldLayoutId id="2147485174" r:id="rId3"/>
    <p:sldLayoutId id="2147485175" r:id="rId4"/>
    <p:sldLayoutId id="2147485176" r:id="rId5"/>
    <p:sldLayoutId id="2147485177" r:id="rId6"/>
    <p:sldLayoutId id="2147485178" r:id="rId7"/>
    <p:sldLayoutId id="2147485179" r:id="rId8"/>
    <p:sldLayoutId id="2147485180" r:id="rId9"/>
    <p:sldLayoutId id="2147485181" r:id="rId10"/>
    <p:sldLayoutId id="2147485182" r:id="rId11"/>
    <p:sldLayoutId id="2147485183" r:id="rId12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5.jp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jpe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17.pn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1EB7-9429-938F-2206-0C0DF1A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47993BD-1026-BE53-F0BF-6C1E19F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noProof="0" dirty="0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E2C98402-7C99-52F0-8BAE-9D1EECF0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F0EEF1A1-EED1-4A80-05D6-1A782B76E8A3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6000" b="1" kern="100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</a:p>
          <a:p>
            <a:pPr>
              <a:lnSpc>
                <a:spcPct val="150000"/>
              </a:lnSpc>
            </a:pPr>
            <a:r>
              <a:rPr lang="es-CL" sz="2400" b="1" kern="1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04A64BD5-A679-1220-6BE4-18316EBEAFEE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MAR,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75267336-5C6F-233B-B307-ACCAAEB663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C9712216-5E15-034A-5027-79B61F1C6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6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181627E-945E-922A-A8C8-DEDA2C7AC933}"/>
              </a:ext>
            </a:extLst>
          </p:cNvPr>
          <p:cNvSpPr txBox="1">
            <a:spLocks/>
          </p:cNvSpPr>
          <p:nvPr/>
        </p:nvSpPr>
        <p:spPr>
          <a:xfrm>
            <a:off x="8375650" y="2869622"/>
            <a:ext cx="10591799" cy="6976054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 lnSpcReduction="10000"/>
          </a:bodyPr>
          <a:lstStyle>
            <a:lvl1pPr marL="376961" indent="-376961" algn="l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Char char="•"/>
              <a:defRPr sz="46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1. OBJETIVO DE LA UNIDAD DE APRENDIZAJE.</a:t>
            </a:r>
          </a:p>
          <a:p>
            <a:pPr marL="457200" indent="-457200">
              <a:buFont typeface="+mj-lt"/>
              <a:buAutoNum type="arabicPeriod"/>
            </a:pPr>
            <a:endParaRPr lang="es-CL" sz="3200" noProof="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2. </a:t>
            </a:r>
            <a:r>
              <a:rPr lang="es-CL" sz="3200" b="1" noProof="0" dirty="0" err="1">
                <a:latin typeface="Atkinson Hyperlegible" pitchFamily="2" charset="77"/>
              </a:rPr>
              <a:t>VHF</a:t>
            </a:r>
            <a:r>
              <a:rPr lang="es-CL" sz="3200" b="1" noProof="0" dirty="0">
                <a:latin typeface="Atkinson Hyperlegible" pitchFamily="2" charset="77"/>
              </a:rPr>
              <a:t> Y </a:t>
            </a:r>
            <a:r>
              <a:rPr lang="es-CL" sz="3200" b="1" noProof="0" dirty="0" err="1">
                <a:latin typeface="Atkinson Hyperlegible" pitchFamily="2" charset="77"/>
              </a:rPr>
              <a:t>UHF</a:t>
            </a:r>
            <a:r>
              <a:rPr lang="es-CL" sz="3200" b="1" noProof="0" dirty="0">
                <a:latin typeface="Atkinson Hyperlegible" pitchFamily="2" charset="77"/>
              </a:rPr>
              <a:t>.</a:t>
            </a:r>
          </a:p>
          <a:p>
            <a:pPr marL="0" indent="0">
              <a:buNone/>
            </a:pPr>
            <a:endParaRPr lang="es-CL" sz="3200" noProof="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3. PRINCIPIOS DE FUNCIONAMIENTO DE REDES </a:t>
            </a:r>
            <a:r>
              <a:rPr lang="es-CL" sz="3200" b="1" noProof="0" dirty="0" err="1">
                <a:latin typeface="Atkinson Hyperlegible" pitchFamily="2" charset="77"/>
              </a:rPr>
              <a:t>VHF</a:t>
            </a:r>
            <a:r>
              <a:rPr lang="es-CL" sz="3200" b="1" noProof="0" dirty="0">
                <a:latin typeface="Atkinson Hyperlegible" pitchFamily="2" charset="77"/>
              </a:rPr>
              <a:t>/</a:t>
            </a:r>
            <a:r>
              <a:rPr lang="es-CL" sz="3200" b="1" noProof="0" dirty="0" err="1">
                <a:latin typeface="Atkinson Hyperlegible" pitchFamily="2" charset="77"/>
              </a:rPr>
              <a:t>UHF</a:t>
            </a:r>
            <a:r>
              <a:rPr lang="es-CL" sz="3200" b="1" noProof="0" dirty="0">
                <a:latin typeface="Atkinson Hyperlegible" pitchFamily="2" charset="77"/>
              </a:rPr>
              <a:t>/HF.</a:t>
            </a: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4. </a:t>
            </a:r>
            <a:r>
              <a:rPr lang="es-CL" sz="3200" b="1" noProof="0" dirty="0" err="1">
                <a:latin typeface="Atkinson Hyperlegible" pitchFamily="2" charset="77"/>
              </a:rPr>
              <a:t>BROADCASTING</a:t>
            </a:r>
            <a:r>
              <a:rPr lang="es-CL" sz="3200" b="1" noProof="0" dirty="0">
                <a:latin typeface="Atkinson Hyperlegible" pitchFamily="2" charset="77"/>
              </a:rPr>
              <a:t>. </a:t>
            </a: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5. TECNOLOGÍAS </a:t>
            </a:r>
            <a:r>
              <a:rPr lang="es-CL" sz="3200" b="1" noProof="0" dirty="0" err="1">
                <a:latin typeface="Atkinson Hyperlegible" pitchFamily="2" charset="77"/>
              </a:rPr>
              <a:t>VHF</a:t>
            </a:r>
            <a:r>
              <a:rPr lang="es-CL" sz="3200" b="1" noProof="0" dirty="0">
                <a:latin typeface="Atkinson Hyperlegible" pitchFamily="2" charset="77"/>
              </a:rPr>
              <a:t> Y </a:t>
            </a:r>
            <a:r>
              <a:rPr lang="es-CL" sz="3200" b="1" noProof="0" dirty="0" err="1">
                <a:latin typeface="Atkinson Hyperlegible" pitchFamily="2" charset="77"/>
              </a:rPr>
              <a:t>UHF</a:t>
            </a:r>
            <a:r>
              <a:rPr lang="es-CL" sz="3200" b="1" noProof="0" dirty="0">
                <a:latin typeface="Atkinson Hyperlegible" pitchFamily="2" charset="77"/>
              </a:rPr>
              <a:t>.</a:t>
            </a: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noProof="0" dirty="0">
                <a:latin typeface="Atkinson Hyperlegible" pitchFamily="2" charset="77"/>
              </a:rPr>
              <a:t>6. </a:t>
            </a:r>
            <a:r>
              <a:rPr lang="es-ES" sz="3200" b="1" noProof="0" dirty="0">
                <a:latin typeface="Atkinson Hyperlegible" pitchFamily="2" charset="77"/>
              </a:rPr>
              <a:t>PROPAGACIÓN, CÁLCULO DE ENLACES Y PÉRDIDAS PARA </a:t>
            </a:r>
            <a:r>
              <a:rPr lang="es-ES" sz="3200" b="1" noProof="0" dirty="0" err="1">
                <a:latin typeface="Atkinson Hyperlegible" pitchFamily="2" charset="77"/>
              </a:rPr>
              <a:t>VHF</a:t>
            </a:r>
            <a:r>
              <a:rPr lang="es-ES" sz="3200" b="1" noProof="0" dirty="0">
                <a:latin typeface="Atkinson Hyperlegible" pitchFamily="2" charset="77"/>
              </a:rPr>
              <a:t>/</a:t>
            </a:r>
            <a:r>
              <a:rPr lang="es-ES" sz="3200" b="1" noProof="0" dirty="0" err="1">
                <a:latin typeface="Atkinson Hyperlegible" pitchFamily="2" charset="77"/>
              </a:rPr>
              <a:t>UHF</a:t>
            </a: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noProof="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None/>
            </a:pPr>
            <a:endParaRPr lang="es-CL" sz="24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L" sz="3200" noProof="0" dirty="0"/>
          </a:p>
          <a:p>
            <a:endParaRPr lang="es-CL" sz="3200" noProof="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F8EB62E-9478-2731-9162-83AA65AA10D2}"/>
              </a:ext>
            </a:extLst>
          </p:cNvPr>
          <p:cNvSpPr txBox="1"/>
          <p:nvPr/>
        </p:nvSpPr>
        <p:spPr>
          <a:xfrm>
            <a:off x="8375650" y="24840"/>
            <a:ext cx="8610595" cy="1482522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kern="100" noProof="0" dirty="0">
                <a:latin typeface="Atkinson Hyperlegible" pitchFamily="2" charset="77"/>
                <a:ea typeface="Calibri" panose="020F0502020204030204" pitchFamily="34" charset="0"/>
                <a:cs typeface="Gotham" pitchFamily="2" charset="0"/>
              </a:rPr>
              <a:t>TEMARIO</a:t>
            </a:r>
            <a:endParaRPr lang="es-CL" sz="54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0913B85-DB62-6753-27C9-B93610CCB519}"/>
              </a:ext>
            </a:extLst>
          </p:cNvPr>
          <p:cNvCxnSpPr>
            <a:cxnSpLocks/>
          </p:cNvCxnSpPr>
          <p:nvPr/>
        </p:nvCxnSpPr>
        <p:spPr>
          <a:xfrm>
            <a:off x="80708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C:\Users\FHidalgoP\Downloads\WhatsApp Image 2025-03-12 at 14.35.36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8" r="43683" b="714"/>
          <a:stretch/>
        </p:blipFill>
        <p:spPr bwMode="auto">
          <a:xfrm>
            <a:off x="0" y="0"/>
            <a:ext cx="7308850" cy="1048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6BDD0DA-35A7-19FD-C84B-195C6F463A82}"/>
              </a:ext>
            </a:extLst>
          </p:cNvPr>
          <p:cNvSpPr txBox="1"/>
          <p:nvPr/>
        </p:nvSpPr>
        <p:spPr>
          <a:xfrm>
            <a:off x="7766631" y="6036368"/>
            <a:ext cx="4523423" cy="406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CL" sz="1649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4B6FE4-EB02-E344-53F4-F643E93825FE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D695D3-82B4-0843-C646-1FDE68CDAE1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AC5A5358-5A9B-B423-3443-E2F3ABECD712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effectLst/>
                <a:latin typeface="Atkinson Hyperlegible"/>
                <a:ea typeface="Times New Roman" panose="02020603050405020304" pitchFamily="18" charset="0"/>
              </a:rPr>
              <a:t>Aplicar conocimientos en los distintos medios de transmisión físicos y guiados de </a:t>
            </a:r>
          </a:p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effectLst/>
                <a:latin typeface="Atkinson Hyperlegible"/>
                <a:ea typeface="Times New Roman" panose="02020603050405020304" pitchFamily="18" charset="0"/>
              </a:rPr>
              <a:t>redes de transmisión.</a:t>
            </a:r>
            <a:endParaRPr lang="es-CL" sz="3200" b="1" noProof="0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2054" name="Picture 6" descr="Cómo funciona un conector de fibra óptica - Exposición - Focc Technology  Co., Ltd">
            <a:extLst>
              <a:ext uri="{FF2B5EF4-FFF2-40B4-BE49-F238E27FC236}">
                <a16:creationId xmlns:a16="http://schemas.microsoft.com/office/drawing/2014/main" id="{0E0CC03A-4C48-3252-B353-458D3BE4D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969" y="2997364"/>
            <a:ext cx="4074634" cy="5034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é Topologías de Red Existen">
            <a:extLst>
              <a:ext uri="{FF2B5EF4-FFF2-40B4-BE49-F238E27FC236}">
                <a16:creationId xmlns:a16="http://schemas.microsoft.com/office/drawing/2014/main" id="{8F3833C3-0150-146D-7061-E3C39029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98" y="3049332"/>
            <a:ext cx="6062274" cy="6820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des por Medios No Guiados – Herramientas Tecnológicas">
            <a:extLst>
              <a:ext uri="{FF2B5EF4-FFF2-40B4-BE49-F238E27FC236}">
                <a16:creationId xmlns:a16="http://schemas.microsoft.com/office/drawing/2014/main" id="{6B114107-2BA0-8A26-35AF-3B03D636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54" y="7416455"/>
            <a:ext cx="6055369" cy="3027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-de-cable-red-">
            <a:extLst>
              <a:ext uri="{FF2B5EF4-FFF2-40B4-BE49-F238E27FC236}">
                <a16:creationId xmlns:a16="http://schemas.microsoft.com/office/drawing/2014/main" id="{0DADB60D-8609-A6A6-C7D1-9EF835B2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014" y="7383944"/>
            <a:ext cx="3956946" cy="2230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034206-837D-C333-5695-2E829BF0D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932" y="2912254"/>
            <a:ext cx="11010014" cy="751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726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8161-E743-BE49-064B-CB7D07D7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1DF841-C4F9-3803-3EC3-7ADDE2C2B736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A41CF5-6C7A-894F-1885-A65049BB8B4B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TAREA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BB1A79F7-0E03-99C9-7F6F-A149134A742D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CL" sz="3200" b="1" noProof="0" dirty="0">
                <a:latin typeface="Atkinson Hyperlegible"/>
              </a:rPr>
              <a:t>Analizar sistemas transmisión desde los fundamentos que sustentan las tecnologías de la aplicación militar. </a:t>
            </a:r>
            <a:endParaRPr lang="es-CL" sz="3200" b="1" noProof="0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10472D1-4E4B-226B-3FB0-F6851B1F8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14" y="3243258"/>
            <a:ext cx="8748150" cy="7190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41182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51B1-2380-EAA3-522C-C9153F80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0A7AD0-808B-F2F0-1A64-D80879603938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FDF1386-B050-7714-150D-67856E0AD2D5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B0F417D9-033E-D5F5-9726-8037B9002420}"/>
              </a:ext>
            </a:extLst>
          </p:cNvPr>
          <p:cNvSpPr/>
          <p:nvPr/>
        </p:nvSpPr>
        <p:spPr>
          <a:xfrm>
            <a:off x="1696951" y="3795530"/>
            <a:ext cx="17775273" cy="3693319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742950" indent="-742950" algn="just">
              <a:lnSpc>
                <a:spcPct val="150000"/>
              </a:lnSpc>
              <a:buAutoNum type="arabicPeriod" startAt="2"/>
              <a:defRPr/>
            </a:pPr>
            <a:r>
              <a:rPr lang="es-CL" sz="3600" b="1" noProof="0" dirty="0">
                <a:effectLst/>
                <a:latin typeface="Atkinson Hyperlegible"/>
                <a:ea typeface="Times New Roman" panose="02020603050405020304" pitchFamily="18" charset="0"/>
              </a:rPr>
              <a:t>Sistemas de transmisión no guiados (RF)</a:t>
            </a:r>
          </a:p>
          <a:p>
            <a:pPr lvl="1" algn="just"/>
            <a:r>
              <a:rPr lang="es-CL" sz="3600" noProof="0" dirty="0">
                <a:latin typeface="Atkinson Hyperlegible" pitchFamily="2" charset="77"/>
              </a:rPr>
              <a:t>2.5.	</a:t>
            </a:r>
            <a:r>
              <a:rPr lang="es-CL" sz="3600" noProof="0" dirty="0" err="1">
                <a:latin typeface="Atkinson Hyperlegible" pitchFamily="2" charset="77"/>
              </a:rPr>
              <a:t>VHF</a:t>
            </a:r>
            <a:r>
              <a:rPr lang="es-CL" sz="3600" noProof="0" dirty="0">
                <a:latin typeface="Atkinson Hyperlegible" pitchFamily="2" charset="77"/>
              </a:rPr>
              <a:t> y </a:t>
            </a:r>
            <a:r>
              <a:rPr lang="es-CL" sz="3600" noProof="0" dirty="0" err="1">
                <a:latin typeface="Atkinson Hyperlegible" pitchFamily="2" charset="77"/>
              </a:rPr>
              <a:t>UHF</a:t>
            </a:r>
            <a:r>
              <a:rPr lang="es-CL" sz="3600" noProof="0" dirty="0">
                <a:latin typeface="Atkinson Hyperlegible" pitchFamily="2" charset="77"/>
              </a:rPr>
              <a:t>.</a:t>
            </a:r>
          </a:p>
          <a:p>
            <a:pPr lvl="1" algn="just"/>
            <a:r>
              <a:rPr lang="es-CL" sz="3600" noProof="0" dirty="0">
                <a:latin typeface="Atkinson Hyperlegible" pitchFamily="2" charset="77"/>
              </a:rPr>
              <a:t>2.5.1.	Principios de funcionamiento de redes </a:t>
            </a:r>
            <a:r>
              <a:rPr lang="es-CL" sz="3600" noProof="0" dirty="0" err="1">
                <a:latin typeface="Atkinson Hyperlegible" pitchFamily="2" charset="77"/>
              </a:rPr>
              <a:t>VHF</a:t>
            </a:r>
            <a:r>
              <a:rPr lang="es-CL" sz="3600" noProof="0" dirty="0">
                <a:latin typeface="Atkinson Hyperlegible" pitchFamily="2" charset="77"/>
              </a:rPr>
              <a:t>/</a:t>
            </a:r>
            <a:r>
              <a:rPr lang="es-CL" sz="3600" noProof="0" dirty="0" err="1">
                <a:latin typeface="Atkinson Hyperlegible" pitchFamily="2" charset="77"/>
              </a:rPr>
              <a:t>UHF</a:t>
            </a:r>
            <a:r>
              <a:rPr lang="es-CL" sz="3600" noProof="0" dirty="0">
                <a:latin typeface="Atkinson Hyperlegible" pitchFamily="2" charset="77"/>
              </a:rPr>
              <a:t>/HF.</a:t>
            </a:r>
          </a:p>
          <a:p>
            <a:pPr lvl="1" algn="just"/>
            <a:r>
              <a:rPr lang="es-CL" sz="3600" noProof="0" dirty="0">
                <a:latin typeface="Atkinson Hyperlegible" pitchFamily="2" charset="77"/>
              </a:rPr>
              <a:t>2.5.2.	</a:t>
            </a:r>
            <a:r>
              <a:rPr lang="es-CL" sz="3600" noProof="0" dirty="0" err="1">
                <a:latin typeface="Atkinson Hyperlegible" pitchFamily="2" charset="77"/>
              </a:rPr>
              <a:t>Broadcasting</a:t>
            </a:r>
            <a:r>
              <a:rPr lang="es-CL" sz="3600" noProof="0" dirty="0">
                <a:latin typeface="Atkinson Hyperlegible" pitchFamily="2" charset="77"/>
              </a:rPr>
              <a:t>. </a:t>
            </a:r>
          </a:p>
          <a:p>
            <a:pPr lvl="1" algn="just"/>
            <a:r>
              <a:rPr lang="es-ES" sz="3600" noProof="0" dirty="0">
                <a:latin typeface="Atkinson Hyperlegible" pitchFamily="2" charset="77"/>
              </a:rPr>
              <a:t>2.5.3.	Tecnologías </a:t>
            </a:r>
            <a:r>
              <a:rPr lang="es-ES" sz="3600" noProof="0" dirty="0" err="1">
                <a:latin typeface="Atkinson Hyperlegible" pitchFamily="2" charset="77"/>
              </a:rPr>
              <a:t>VHF</a:t>
            </a:r>
            <a:r>
              <a:rPr lang="es-ES" sz="3600" noProof="0" dirty="0">
                <a:latin typeface="Atkinson Hyperlegible" pitchFamily="2" charset="77"/>
              </a:rPr>
              <a:t> y </a:t>
            </a:r>
            <a:r>
              <a:rPr lang="es-ES" sz="3600" noProof="0" dirty="0" err="1">
                <a:latin typeface="Atkinson Hyperlegible" pitchFamily="2" charset="77"/>
              </a:rPr>
              <a:t>UHF</a:t>
            </a:r>
            <a:r>
              <a:rPr lang="es-ES" sz="3600" noProof="0" dirty="0">
                <a:latin typeface="Atkinson Hyperlegible" pitchFamily="2" charset="77"/>
              </a:rPr>
              <a:t>.</a:t>
            </a:r>
          </a:p>
          <a:p>
            <a:pPr lvl="1" algn="just"/>
            <a:r>
              <a:rPr lang="es-ES" sz="3600" noProof="0" dirty="0">
                <a:latin typeface="Atkinson Hyperlegible" pitchFamily="2" charset="77"/>
              </a:rPr>
              <a:t>2.5.4.	Propagación, cálculo de enlaces y pérdidas para </a:t>
            </a:r>
            <a:r>
              <a:rPr lang="es-ES" sz="3600" noProof="0" dirty="0" err="1">
                <a:latin typeface="Atkinson Hyperlegible" pitchFamily="2" charset="77"/>
              </a:rPr>
              <a:t>VHF</a:t>
            </a:r>
            <a:r>
              <a:rPr lang="es-ES" sz="3600" noProof="0" dirty="0">
                <a:latin typeface="Atkinson Hyperlegible" pitchFamily="2" charset="77"/>
              </a:rPr>
              <a:t>/</a:t>
            </a:r>
            <a:r>
              <a:rPr lang="es-ES" sz="3600" noProof="0" dirty="0" err="1">
                <a:latin typeface="Atkinson Hyperlegible" pitchFamily="2" charset="77"/>
              </a:rPr>
              <a:t>UHF</a:t>
            </a:r>
            <a:r>
              <a:rPr lang="es-ES" sz="3600" noProof="0" dirty="0">
                <a:latin typeface="Atkinson Hyperlegible" pitchFamily="2" charset="77"/>
              </a:rPr>
              <a:t>.</a:t>
            </a:r>
            <a:endParaRPr lang="es-CL" sz="3600" noProof="0" dirty="0">
              <a:latin typeface="Atkinson Hyperlegible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E4BD31-0C5E-EFE9-1AA1-3F00F2CADD93}"/>
              </a:ext>
            </a:extLst>
          </p:cNvPr>
          <p:cNvSpPr txBox="1"/>
          <p:nvPr/>
        </p:nvSpPr>
        <p:spPr>
          <a:xfrm>
            <a:off x="8917065" y="2889315"/>
            <a:ext cx="3113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CONTENIDOS</a:t>
            </a:r>
            <a:endParaRPr lang="es-CL" sz="4000" noProof="0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52EEEA47-11D0-9A27-8331-6389403D15CF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noProof="0" smtClean="0"/>
              <a:pPr/>
              <a:t>5</a:t>
            </a:fld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5232770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8D25-85D9-E04C-486C-47D90C1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0F57B8-3A8B-5EB4-1FE2-C04A71699F61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sz="2968" b="1" noProof="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290603-0D84-307D-6C66-78F87FE2465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5400" b="1" noProof="0" dirty="0">
                <a:latin typeface="Atkinson Hyperlegible" pitchFamily="2" charset="77"/>
              </a:rPr>
              <a:t>OBJETIVO DE LA UNIDAD DE APRENDIZAJE </a:t>
            </a:r>
            <a:r>
              <a:rPr lang="es-CL" sz="2800" b="1" kern="100" noProof="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2CF2888-6C70-521D-1E85-724AFFDC56A4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noProof="0" smtClean="0"/>
              <a:pPr/>
              <a:t>6</a:t>
            </a:fld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F20D85-CAB9-8520-3FEA-7DACC72DF43F}"/>
              </a:ext>
            </a:extLst>
          </p:cNvPr>
          <p:cNvSpPr txBox="1"/>
          <p:nvPr/>
        </p:nvSpPr>
        <p:spPr>
          <a:xfrm>
            <a:off x="6938363" y="2889315"/>
            <a:ext cx="6629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INDICADORES DE DESEMPEÑO</a:t>
            </a:r>
            <a:endParaRPr lang="es-CL" sz="40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66A7B3-1BC9-38CE-CE52-7326808F0116}"/>
              </a:ext>
            </a:extLst>
          </p:cNvPr>
          <p:cNvSpPr txBox="1"/>
          <p:nvPr/>
        </p:nvSpPr>
        <p:spPr>
          <a:xfrm>
            <a:off x="6938363" y="5855450"/>
            <a:ext cx="5533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kern="100" noProof="0" dirty="0">
                <a:latin typeface="Atkinson Hyperlegible" pitchFamily="2" charset="77"/>
                <a:ea typeface="Calibri" panose="020F0502020204030204" pitchFamily="34" charset="0"/>
              </a:rPr>
              <a:t>APRENDIZAJE ESPERADO</a:t>
            </a:r>
            <a:endParaRPr lang="es-CL" sz="4000" noProof="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31C0C65-5FB0-FC55-34FB-3885FAD55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569724"/>
              </p:ext>
            </p:extLst>
          </p:nvPr>
        </p:nvGraphicFramePr>
        <p:xfrm>
          <a:off x="1528996" y="4046211"/>
          <a:ext cx="17478531" cy="1699833"/>
        </p:xfrm>
        <a:graphic>
          <a:graphicData uri="http://schemas.openxmlformats.org/drawingml/2006/table">
            <a:tbl>
              <a:tblPr/>
              <a:tblGrid>
                <a:gridCol w="17478531">
                  <a:extLst>
                    <a:ext uri="{9D8B030D-6E8A-4147-A177-3AD203B41FA5}">
                      <a16:colId xmlns:a16="http://schemas.microsoft.com/office/drawing/2014/main" val="3873856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noProof="0" dirty="0">
                          <a:effectLst/>
                        </a:rPr>
                        <a:t>2. Analiza los medios de transmisión no guiados.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2.3. Analiza funcionamiento de redes </a:t>
                      </a:r>
                      <a:r>
                        <a:rPr lang="es-CL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VHF</a:t>
                      </a: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CL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UHF</a:t>
                      </a: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/HF.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0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2.4. 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 el enlaces y pérdidas para </a:t>
                      </a:r>
                      <a:r>
                        <a:rPr lang="es-ES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VHF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ES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UHF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7452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D158B62-663F-28D1-254B-3225035F5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3950"/>
              </p:ext>
            </p:extLst>
          </p:nvPr>
        </p:nvGraphicFramePr>
        <p:xfrm>
          <a:off x="1528996" y="6672742"/>
          <a:ext cx="17478531" cy="1699833"/>
        </p:xfrm>
        <a:graphic>
          <a:graphicData uri="http://schemas.openxmlformats.org/drawingml/2006/table">
            <a:tbl>
              <a:tblPr/>
              <a:tblGrid>
                <a:gridCol w="17478531">
                  <a:extLst>
                    <a:ext uri="{9D8B030D-6E8A-4147-A177-3AD203B41FA5}">
                      <a16:colId xmlns:a16="http://schemas.microsoft.com/office/drawing/2014/main" val="3873856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noProof="0" dirty="0">
                          <a:effectLst/>
                        </a:rPr>
                        <a:t>2. Analizar los medios de transmisión no guiados.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2.3. Analizar el funcionamiento de redes </a:t>
                      </a:r>
                      <a:r>
                        <a:rPr lang="es-CL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VHF</a:t>
                      </a: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CL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UHF</a:t>
                      </a: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/HF.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0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CL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2.4. 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Calcular enlaces y pérdidas para </a:t>
                      </a:r>
                      <a:r>
                        <a:rPr lang="es-ES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VHF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ES" sz="2968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UHF</a:t>
                      </a:r>
                      <a:r>
                        <a:rPr lang="es-ES" sz="2968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noProof="0" dirty="0">
                        <a:effectLst/>
                      </a:endParaRP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74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42661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A625-675A-3752-8687-5B00EC0B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1346A36-E85D-36ED-FA65-06AB66E9A8A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4AA5EC9-FA50-57B3-C64D-F0D40C3354D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INTRODUCCIÓN A LA PROPAGACIÓN DE ONDAS DE RADIO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8DF272-D90E-A822-23E5-45828A92DB84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Propagación RF: modelo mínimo y variables clave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A768B0DC-51BB-4158-2F3B-302B08335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605" y="3652774"/>
            <a:ext cx="8609835" cy="421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01878AA-7AF6-4FF2-43C5-2CE40F1CAB7D}"/>
              </a:ext>
            </a:extLst>
          </p:cNvPr>
          <p:cNvSpPr/>
          <p:nvPr/>
        </p:nvSpPr>
        <p:spPr>
          <a:xfrm>
            <a:off x="10302605" y="8094689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noProof="0" dirty="0">
                <a:latin typeface="Atkinson Hyperlegible"/>
              </a:rPr>
              <a:t>TX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602826E-19FC-C342-D6DA-92E185A8D3CA}"/>
              </a:ext>
            </a:extLst>
          </p:cNvPr>
          <p:cNvSpPr/>
          <p:nvPr/>
        </p:nvSpPr>
        <p:spPr>
          <a:xfrm>
            <a:off x="16828807" y="8094689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noProof="0" dirty="0" err="1">
                <a:latin typeface="Atkinson Hyperlegible"/>
              </a:rPr>
              <a:t>RX</a:t>
            </a:r>
            <a:endParaRPr lang="es-CL" sz="4000" b="1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100B0A-8AF6-6FA0-4915-914EA4FFB58E}"/>
              </a:ext>
            </a:extLst>
          </p:cNvPr>
          <p:cNvSpPr txBox="1"/>
          <p:nvPr/>
        </p:nvSpPr>
        <p:spPr>
          <a:xfrm>
            <a:off x="921617" y="9366139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742F096-6DBC-D2ED-8992-EA543FF2D1E2}"/>
              </a:ext>
            </a:extLst>
          </p:cNvPr>
          <p:cNvSpPr/>
          <p:nvPr/>
        </p:nvSpPr>
        <p:spPr>
          <a:xfrm>
            <a:off x="13565705" y="8094689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noProof="0" dirty="0">
                <a:latin typeface="Atkinson Hyperlegible"/>
              </a:rPr>
              <a:t>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843570C-D650-963B-E640-F19DCE039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945" y="7045196"/>
            <a:ext cx="1626373" cy="82464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1767BC1-74B9-95C0-8A0B-ECBCE7CB1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7727" y="7045196"/>
            <a:ext cx="1626373" cy="824640"/>
          </a:xfrm>
          <a:prstGeom prst="rect">
            <a:avLst/>
          </a:prstGeom>
        </p:spPr>
      </p:pic>
      <p:sp>
        <p:nvSpPr>
          <p:cNvPr id="15" name="5 Rectángulo">
            <a:extLst>
              <a:ext uri="{FF2B5EF4-FFF2-40B4-BE49-F238E27FC236}">
                <a16:creationId xmlns:a16="http://schemas.microsoft.com/office/drawing/2014/main" id="{2EA2810E-3F16-1DDE-F6AA-ABD8DA970DF1}"/>
              </a:ext>
            </a:extLst>
          </p:cNvPr>
          <p:cNvSpPr/>
          <p:nvPr/>
        </p:nvSpPr>
        <p:spPr>
          <a:xfrm>
            <a:off x="13254520" y="1680465"/>
            <a:ext cx="4789636" cy="181588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800" noProof="0" dirty="0">
                <a:latin typeface="Atkinson Hyperlegible"/>
              </a:rPr>
              <a:t>TX(transmisor)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800" noProof="0" dirty="0">
                <a:latin typeface="Atkinson Hyperlegible"/>
              </a:rPr>
              <a:t>Antenas (TX / </a:t>
            </a:r>
            <a:r>
              <a:rPr lang="es-CL" sz="2800" noProof="0" dirty="0" err="1">
                <a:latin typeface="Atkinson Hyperlegible"/>
              </a:rPr>
              <a:t>RX</a:t>
            </a:r>
            <a:r>
              <a:rPr lang="es-CL" sz="2800" noProof="0" dirty="0">
                <a:latin typeface="Atkinson Hyperlegible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800" noProof="0" dirty="0">
                <a:latin typeface="Atkinson Hyperlegible"/>
              </a:rPr>
              <a:t>Canal (medio)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2800" noProof="0" dirty="0" err="1">
                <a:latin typeface="Atkinson Hyperlegible"/>
              </a:rPr>
              <a:t>RX</a:t>
            </a:r>
            <a:r>
              <a:rPr lang="es-CL" sz="2800" noProof="0" dirty="0">
                <a:latin typeface="Atkinson Hyperlegible"/>
              </a:rPr>
              <a:t>(receptor)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B1A856-7D28-E714-DA46-E3E741CC29C8}"/>
              </a:ext>
            </a:extLst>
          </p:cNvPr>
          <p:cNvSpPr txBox="1"/>
          <p:nvPr/>
        </p:nvSpPr>
        <p:spPr>
          <a:xfrm>
            <a:off x="13603144" y="9363425"/>
            <a:ext cx="6395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>
                <a:latin typeface="Atkinson Hyperlegible"/>
              </a:rPr>
              <a:t>En RF, el canal es variable: el entorno modifica el enlace, </a:t>
            </a:r>
            <a:r>
              <a:rPr lang="es-CL" sz="2400" b="1" noProof="0" dirty="0">
                <a:latin typeface="Atkinson Hyperlegible"/>
              </a:rPr>
              <a:t>pérdidas • ruido • interferencia.</a:t>
            </a: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5A23FDA8-493C-2F0B-C6FD-642D21A0342B}"/>
              </a:ext>
            </a:extLst>
          </p:cNvPr>
          <p:cNvSpPr/>
          <p:nvPr/>
        </p:nvSpPr>
        <p:spPr>
          <a:xfrm>
            <a:off x="1233601" y="2001996"/>
            <a:ext cx="8132222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Frecuencia (f): cuántas oscilaciones por segundo (Hz).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Longitud de onda (λ): distancia entre crestas (m).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Relación básica: </a:t>
            </a:r>
            <a:r>
              <a:rPr lang="es-CL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𝑐=𝑓⋅𝜆c=</a:t>
            </a:r>
            <a:r>
              <a:rPr lang="es-CL" sz="3200" b="1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f⋅λ</a:t>
            </a:r>
            <a:r>
              <a:rPr lang="es-CL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 (c ≈ velocidad de la luz).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3200" b="1" noProof="0" dirty="0">
                <a:latin typeface="Atkinson Hyperlegible"/>
              </a:rPr>
              <a:t>Idea clave: al cambiar f, cambia el comportamiento del enlace y la forma de usar el espectro.</a:t>
            </a:r>
          </a:p>
        </p:txBody>
      </p:sp>
      <p:pic>
        <p:nvPicPr>
          <p:cNvPr id="1027" name="Picture 3" descr="Ilustracion 3 Longitud de onda">
            <a:extLst>
              <a:ext uri="{FF2B5EF4-FFF2-40B4-BE49-F238E27FC236}">
                <a16:creationId xmlns:a16="http://schemas.microsoft.com/office/drawing/2014/main" id="{2D70D556-8F6A-4970-4531-34D431F03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949" y="6486041"/>
            <a:ext cx="4610016" cy="321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3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4B99E-A62E-CDAF-6116-44352B57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CC9E332-B723-47C2-15A3-0B3F32AE71F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EFECA62-C27F-15C7-5F25-B3AD92A04E67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INTRODUCCIÓN A LA PROPAGACIÓN DE ONDAS DE RADIO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C1CAE0-D326-78D7-B449-47B0C40D2BCC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Espectro electromagnético y concepto de bandas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13AC9D-8731-D5CC-A93D-8A0DF3C23E2B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es-CL" sz="2400" b="1" noProof="0" dirty="0" err="1"/>
              <a:t>Article</a:t>
            </a:r>
            <a:r>
              <a:rPr lang="es-CL" sz="2400" b="1" noProof="0" dirty="0"/>
              <a:t> 5 – Table </a:t>
            </a:r>
            <a:r>
              <a:rPr lang="es-CL" sz="2400" b="1" noProof="0" dirty="0" err="1"/>
              <a:t>of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Frequency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Allocations</a:t>
            </a:r>
            <a:r>
              <a:rPr lang="es-CL" sz="2400" b="1" noProof="0" dirty="0"/>
              <a:t>”</a:t>
            </a:r>
            <a:r>
              <a:rPr lang="es-CL" sz="2400" noProof="0" dirty="0"/>
              <a:t> (Tabla de atribución de frecuencias).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5F09A5D-2A49-ACDE-E361-19AD27194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56" y="1879963"/>
            <a:ext cx="19950344" cy="610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4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EC53F-FF85-730C-C6A4-DBB3B7F5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09884E4-5929-BD76-E448-94B79A724C8E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FEAD76C-1C68-0CA8-9D4E-2789F945480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INTRODUCCIÓN A LA PROPAGACIÓN DE ONDAS DE RADIO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DD59D0-FAA2-77AB-02CD-FACCCEB759F1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Espectro electromagnético y concepto de bandas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5B0B2F-1B4E-F5B5-8281-5602099426FB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es-CL" sz="2400" b="1" noProof="0" dirty="0" err="1"/>
              <a:t>Article</a:t>
            </a:r>
            <a:r>
              <a:rPr lang="es-CL" sz="2400" b="1" noProof="0" dirty="0"/>
              <a:t> 5 – Table </a:t>
            </a:r>
            <a:r>
              <a:rPr lang="es-CL" sz="2400" b="1" noProof="0" dirty="0" err="1"/>
              <a:t>of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Frequency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Allocations</a:t>
            </a:r>
            <a:r>
              <a:rPr lang="es-CL" sz="2400" b="1" noProof="0" dirty="0"/>
              <a:t>”</a:t>
            </a:r>
            <a:r>
              <a:rPr lang="es-CL" sz="2400" noProof="0" dirty="0"/>
              <a:t> (Tabla de atribución de frecuencias).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B7B409-9620-4385-0DCE-43FB8F546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276" y="1847758"/>
            <a:ext cx="12937855" cy="726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0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C67EF-22DA-93ED-5EBD-7A9BB0DC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350B448-2DD9-41A6-8AEF-85A28F9CEA23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72C0CDB5-C2BA-894E-1522-54E654298E67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BANDAS DE FRECUENCIAS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4BDD40-6108-9537-3E62-2E807BD383FB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Espectro electromagnético y concepto de bandas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394D7A-958A-A034-DFBF-B1FA7FEF3E5A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es-CL" sz="2400" b="1" noProof="0" dirty="0" err="1"/>
              <a:t>Article</a:t>
            </a:r>
            <a:r>
              <a:rPr lang="es-CL" sz="2400" b="1" noProof="0" dirty="0"/>
              <a:t> 5 – Table </a:t>
            </a:r>
            <a:r>
              <a:rPr lang="es-CL" sz="2400" b="1" noProof="0" dirty="0" err="1"/>
              <a:t>of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Frequency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Allocations</a:t>
            </a:r>
            <a:r>
              <a:rPr lang="es-CL" sz="2400" b="1" noProof="0" dirty="0"/>
              <a:t>”</a:t>
            </a:r>
            <a:r>
              <a:rPr lang="es-CL" sz="2400" noProof="0" dirty="0"/>
              <a:t> (Tabla de atribución de frecuencias).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62F43875-E01E-EB7A-722F-B9954DDC313E}"/>
              </a:ext>
            </a:extLst>
          </p:cNvPr>
          <p:cNvSpPr/>
          <p:nvPr/>
        </p:nvSpPr>
        <p:spPr>
          <a:xfrm>
            <a:off x="1233601" y="2001996"/>
            <a:ext cx="18628366" cy="5570756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La frecuencia condiciona cómo se propaga una señal y qué tan sensible es al entorno.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En términos generales:</a:t>
            </a:r>
          </a:p>
          <a:p>
            <a:pPr algn="just"/>
            <a:r>
              <a:rPr lang="es-CL" sz="3200" noProof="0" dirty="0">
                <a:latin typeface="Atkinson Hyperlegible"/>
              </a:rPr>
              <a:t>Frecuencias más bajas → mayor “alcance potencial” y mejor comportamiento frente a algunos obstáculos (según condiciones).</a:t>
            </a:r>
          </a:p>
          <a:p>
            <a:pPr algn="just"/>
            <a:r>
              <a:rPr lang="es-CL" sz="3200" noProof="0" dirty="0">
                <a:latin typeface="Atkinson Hyperlegible"/>
              </a:rPr>
              <a:t>Frecuencias más altas → más capacidad potencial, pero mayor exigencia de línea de vista y planificación del enlace.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 La frecuencia influye en: alcance, penetración/obstáculos, interferencias, y tamaño práctico de antenas.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 Por eso el espectro se organiza en bandas para asignar usos adecuados y controlar interferencias.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 Ejemplos del curso: HF/</a:t>
            </a:r>
            <a:r>
              <a:rPr lang="es-CL" sz="3200" noProof="0" dirty="0" err="1">
                <a:latin typeface="Atkinson Hyperlegible"/>
              </a:rPr>
              <a:t>VHF</a:t>
            </a:r>
            <a:r>
              <a:rPr lang="es-CL" sz="3200" noProof="0" dirty="0">
                <a:latin typeface="Atkinson Hyperlegible"/>
              </a:rPr>
              <a:t>/</a:t>
            </a:r>
            <a:r>
              <a:rPr lang="es-CL" sz="3200" noProof="0" dirty="0" err="1">
                <a:latin typeface="Atkinson Hyperlegible"/>
              </a:rPr>
              <a:t>UHF</a:t>
            </a:r>
            <a:r>
              <a:rPr lang="es-CL" sz="3200" noProof="0" dirty="0">
                <a:latin typeface="Atkinson Hyperlegible"/>
              </a:rPr>
              <a:t>, microondas, enlaces LAN/MAN/WAN.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L" sz="3200" b="1" noProof="0" dirty="0">
              <a:latin typeface="Atkinson Hyperlegible"/>
            </a:endParaRPr>
          </a:p>
          <a:p>
            <a:pPr algn="ctr"/>
            <a:r>
              <a:rPr lang="es-CL" sz="3600" b="1" noProof="0" dirty="0">
                <a:latin typeface="Atkinson Hyperlegible"/>
              </a:rPr>
              <a:t>La banda seleccionada determina el comportamiento del enlace y la estrategia de diseño.</a:t>
            </a:r>
            <a:endParaRPr lang="es-CL" sz="3600" noProof="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69050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2C0C8-23F8-3658-D118-0254E2DD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5393162-0BB1-1F50-D2FC-C7951E6930C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F4F52FB-26B3-3A1A-379E-B956861FA07D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BANDAS DE FRECUENCIAS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715A420-942A-1822-A528-2EC59DFC80E6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Espectro electromagnético y concepto de bandas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7E0559-E6E7-8539-377E-9F45C14F0FBA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es-CL" sz="2400" b="1" noProof="0" dirty="0" err="1"/>
              <a:t>Article</a:t>
            </a:r>
            <a:r>
              <a:rPr lang="es-CL" sz="2400" b="1" noProof="0" dirty="0"/>
              <a:t> 5 – Table </a:t>
            </a:r>
            <a:r>
              <a:rPr lang="es-CL" sz="2400" b="1" noProof="0" dirty="0" err="1"/>
              <a:t>of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Frequency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Allocations</a:t>
            </a:r>
            <a:r>
              <a:rPr lang="es-CL" sz="2400" b="1" noProof="0" dirty="0"/>
              <a:t>”</a:t>
            </a:r>
            <a:r>
              <a:rPr lang="es-CL" sz="2400" noProof="0" dirty="0"/>
              <a:t> (Tabla de atribución de frecuencias).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9218" name="Picture 2" descr="Ondas de radio y antenas: una explicación práctica">
            <a:extLst>
              <a:ext uri="{FF2B5EF4-FFF2-40B4-BE49-F238E27FC236}">
                <a16:creationId xmlns:a16="http://schemas.microsoft.com/office/drawing/2014/main" id="{7178063D-85AC-5D1A-8057-FA04A72D2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2657083"/>
            <a:ext cx="9941755" cy="5545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Onda Electromagnética - Composición y Polarización - Electrónica Unicrom">
            <a:extLst>
              <a:ext uri="{FF2B5EF4-FFF2-40B4-BE49-F238E27FC236}">
                <a16:creationId xmlns:a16="http://schemas.microsoft.com/office/drawing/2014/main" id="{4047CB53-A5C8-7A72-88A6-C776C313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098" y="2657082"/>
            <a:ext cx="9115021" cy="5545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7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88CCF-BBD5-8F47-36CC-A41B9AE2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D66B8D2-1F13-A8B5-6E86-C006456AAB4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DD041771-A9AE-5A9E-861E-64C8B6A1C2EB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BANDAS DE FRECUENCIAS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6123E7-9D46-57F2-24DB-C274E0B30DE4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Bandas de frecuencia relevantes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91F495-807E-FCB9-4134-6B3678A5D1EF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es-CL" sz="2400" b="1" noProof="0" dirty="0" err="1"/>
              <a:t>Article</a:t>
            </a:r>
            <a:r>
              <a:rPr lang="es-CL" sz="2400" b="1" noProof="0" dirty="0"/>
              <a:t> 5 – Table </a:t>
            </a:r>
            <a:r>
              <a:rPr lang="es-CL" sz="2400" b="1" noProof="0" dirty="0" err="1"/>
              <a:t>of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Frequency</a:t>
            </a:r>
            <a:r>
              <a:rPr lang="es-CL" sz="2400" b="1" noProof="0" dirty="0"/>
              <a:t> </a:t>
            </a:r>
            <a:r>
              <a:rPr lang="es-CL" sz="2400" b="1" noProof="0" dirty="0" err="1"/>
              <a:t>Allocations</a:t>
            </a:r>
            <a:r>
              <a:rPr lang="es-CL" sz="2400" b="1" noProof="0" dirty="0"/>
              <a:t>”</a:t>
            </a:r>
            <a:r>
              <a:rPr lang="es-CL" sz="2400" noProof="0" dirty="0"/>
              <a:t> (Tabla de atribución de frecuencias).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F0AE6BF5-FD64-755B-A40E-DA43EADC2F58}"/>
              </a:ext>
            </a:extLst>
          </p:cNvPr>
          <p:cNvSpPr/>
          <p:nvPr/>
        </p:nvSpPr>
        <p:spPr>
          <a:xfrm>
            <a:off x="1206693" y="2549933"/>
            <a:ext cx="18628366" cy="3600986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El espectro RF se organiza en bandas para atribuir servicios y reducir interferencias.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Trabajaremos principalmente con: HF, </a:t>
            </a:r>
            <a:r>
              <a:rPr lang="es-CL" sz="3200" noProof="0" dirty="0" err="1">
                <a:latin typeface="Atkinson Hyperlegible"/>
              </a:rPr>
              <a:t>VHF</a:t>
            </a:r>
            <a:r>
              <a:rPr lang="es-CL" sz="3200" noProof="0" dirty="0">
                <a:latin typeface="Atkinson Hyperlegible"/>
              </a:rPr>
              <a:t>, </a:t>
            </a:r>
            <a:r>
              <a:rPr lang="es-CL" sz="3200" noProof="0" dirty="0" err="1">
                <a:latin typeface="Atkinson Hyperlegible"/>
              </a:rPr>
              <a:t>UHF</a:t>
            </a:r>
            <a:r>
              <a:rPr lang="es-CL" sz="3200" noProof="0" dirty="0">
                <a:latin typeface="Atkinson Hyperlegible"/>
              </a:rPr>
              <a:t> y Microondas.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Cada banda condiciona: propagación, alcance, requisitos del enlace y tipo de antena.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Este “mapa” se usará luego en: </a:t>
            </a:r>
            <a:r>
              <a:rPr lang="es-CL" sz="3200" noProof="0" dirty="0" err="1">
                <a:latin typeface="Atkinson Hyperlegible"/>
              </a:rPr>
              <a:t>VHF</a:t>
            </a:r>
            <a:r>
              <a:rPr lang="es-CL" sz="3200" noProof="0" dirty="0">
                <a:latin typeface="Atkinson Hyperlegible"/>
              </a:rPr>
              <a:t>/</a:t>
            </a:r>
            <a:r>
              <a:rPr lang="es-CL" sz="3200" noProof="0" dirty="0" err="1">
                <a:latin typeface="Atkinson Hyperlegible"/>
              </a:rPr>
              <a:t>UHF</a:t>
            </a:r>
            <a:r>
              <a:rPr lang="es-CL" sz="3200" noProof="0" dirty="0">
                <a:latin typeface="Atkinson Hyperlegible"/>
              </a:rPr>
              <a:t>, microondas, satélite y radar.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3200" noProof="0" dirty="0">
                <a:latin typeface="Atkinson Hyperlegible"/>
              </a:rPr>
              <a:t>Las atribuciones formales se consultan en la Tabla de Atribución de Frecuencias.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CL" sz="3200" b="1" noProof="0" dirty="0">
              <a:latin typeface="Atkinson Hyperlegible"/>
            </a:endParaRPr>
          </a:p>
          <a:p>
            <a:pPr algn="ctr"/>
            <a:r>
              <a:rPr lang="es-CL" sz="36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Bandas distintas → comportamiento distinto del enlace → decisiones de diseño distintas.</a:t>
            </a:r>
          </a:p>
        </p:txBody>
      </p:sp>
    </p:spTree>
    <p:extLst>
      <p:ext uri="{BB962C8B-B14F-4D97-AF65-F5344CB8AC3E}">
        <p14:creationId xmlns:p14="http://schemas.microsoft.com/office/powerpoint/2010/main" val="186476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CA43D-2297-8CFF-4DB0-90718CEC0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0AEE74B-2B96-EDC0-0285-A6B0F574F7EC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E752CCA-ED65-1071-F5E5-E0B98FEA6DE1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BANDAS DE FRECUENCIAS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4D916B-94C1-FBBC-F73F-F17B36F4F79F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HF / </a:t>
            </a:r>
            <a:r>
              <a:rPr lang="es-CL" sz="4000" noProof="0" dirty="0" err="1">
                <a:latin typeface="Atkinson Hyperlegible"/>
              </a:rPr>
              <a:t>VHF</a:t>
            </a:r>
            <a:r>
              <a:rPr lang="es-CL" sz="4000" noProof="0" dirty="0">
                <a:latin typeface="Atkinson Hyperlegible"/>
              </a:rPr>
              <a:t> / </a:t>
            </a:r>
            <a:r>
              <a:rPr lang="es-CL" sz="4000" noProof="0" dirty="0" err="1">
                <a:latin typeface="Atkinson Hyperlegible"/>
              </a:rPr>
              <a:t>UHF</a:t>
            </a:r>
            <a:r>
              <a:rPr lang="es-CL" sz="4000" noProof="0" dirty="0">
                <a:latin typeface="Atkinson Hyperlegible"/>
              </a:rPr>
              <a:t> / Microondas (rangos </a:t>
            </a:r>
            <a:r>
              <a:rPr lang="es-CL" sz="4000" noProof="0" dirty="0" err="1">
                <a:latin typeface="Atkinson Hyperlegible"/>
              </a:rPr>
              <a:t>ITU</a:t>
            </a:r>
            <a:r>
              <a:rPr lang="es-CL" sz="4000" noProof="0" dirty="0">
                <a:latin typeface="Atkinson Hyperlegible"/>
              </a:rPr>
              <a:t> + comportamiento general</a:t>
            </a:r>
            <a:r>
              <a:rPr lang="es-CL" sz="4000" noProof="0" dirty="0"/>
              <a:t>)</a:t>
            </a:r>
            <a:endParaRPr lang="es-CL" sz="4000" noProof="0" dirty="0">
              <a:latin typeface="Atkinson Hyperlegible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51C1B6D-0AAA-50B4-526F-E47D13860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447206"/>
              </p:ext>
            </p:extLst>
          </p:nvPr>
        </p:nvGraphicFramePr>
        <p:xfrm>
          <a:off x="746907" y="1755455"/>
          <a:ext cx="18610285" cy="826580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722057">
                  <a:extLst>
                    <a:ext uri="{9D8B030D-6E8A-4147-A177-3AD203B41FA5}">
                      <a16:colId xmlns:a16="http://schemas.microsoft.com/office/drawing/2014/main" val="1364351410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1136078965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3764395969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410328218"/>
                    </a:ext>
                  </a:extLst>
                </a:gridCol>
                <a:gridCol w="3722057">
                  <a:extLst>
                    <a:ext uri="{9D8B030D-6E8A-4147-A177-3AD203B41FA5}">
                      <a16:colId xmlns:a16="http://schemas.microsoft.com/office/drawing/2014/main" val="2942153727"/>
                    </a:ext>
                  </a:extLst>
                </a:gridCol>
              </a:tblGrid>
              <a:tr h="718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dirty="0">
                          <a:latin typeface="Atkinson Hyperlegible"/>
                        </a:rPr>
                        <a:t>Banda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>
                          <a:latin typeface="Atkinson Hyperlegible"/>
                        </a:rPr>
                        <a:t>Nombre completo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>
                          <a:latin typeface="Atkinson Hyperlegible"/>
                        </a:rPr>
                        <a:t>Rango (ITU)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dirty="0">
                          <a:latin typeface="Atkinson Hyperlegible"/>
                        </a:rPr>
                        <a:t>Comportamiento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>
                          <a:latin typeface="Atkinson Hyperlegible"/>
                        </a:rPr>
                        <a:t>En el curso se conecta con…</a:t>
                      </a: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2029396340"/>
                  </a:ext>
                </a:extLst>
              </a:tr>
              <a:tr h="169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HF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dirty="0">
                          <a:latin typeface="Atkinson Hyperlegible"/>
                        </a:rPr>
                        <a:t>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3–30 MHz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>
                          <a:latin typeface="Atkinson Hyperlegible"/>
                        </a:rPr>
                        <a:t>Propagación puede permitir </a:t>
                      </a:r>
                      <a:r>
                        <a:rPr lang="es-ES" sz="2400" b="1" dirty="0">
                          <a:latin typeface="Atkinson Hyperlegible"/>
                        </a:rPr>
                        <a:t>alcances grandes, </a:t>
                      </a:r>
                      <a:r>
                        <a:rPr lang="es-ES" sz="2400" dirty="0">
                          <a:latin typeface="Atkinson Hyperlegible"/>
                        </a:rPr>
                        <a:t>Puede habilitar </a:t>
                      </a:r>
                      <a:r>
                        <a:rPr lang="es-ES" sz="2400" b="1" dirty="0">
                          <a:latin typeface="Atkinson Hyperlegible"/>
                        </a:rPr>
                        <a:t>alcances más allá de línea de vista</a:t>
                      </a:r>
                      <a:r>
                        <a:rPr lang="es-ES" sz="2400" dirty="0">
                          <a:latin typeface="Atkinson Hyperlegible"/>
                        </a:rPr>
                        <a:t> según condicione. (atmósfera/entorno)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b="1" dirty="0">
                          <a:latin typeface="Atkinson Hyperlegible"/>
                        </a:rPr>
                        <a:t>2.5.1 Redes </a:t>
                      </a:r>
                      <a:r>
                        <a:rPr lang="es-ES" sz="2400" b="1" dirty="0" err="1">
                          <a:latin typeface="Atkinson Hyperlegible"/>
                        </a:rPr>
                        <a:t>VHF</a:t>
                      </a:r>
                      <a:r>
                        <a:rPr lang="es-ES" sz="2400" b="1" dirty="0">
                          <a:latin typeface="Atkinson Hyperlegible"/>
                        </a:rPr>
                        <a:t>/</a:t>
                      </a:r>
                      <a:r>
                        <a:rPr lang="es-ES" sz="2400" b="1" dirty="0" err="1">
                          <a:latin typeface="Atkinson Hyperlegible"/>
                        </a:rPr>
                        <a:t>UHF</a:t>
                      </a:r>
                      <a:r>
                        <a:rPr lang="es-ES" sz="2400" b="1" dirty="0">
                          <a:latin typeface="Atkinson Hyperlegible"/>
                        </a:rPr>
                        <a:t>/HF</a:t>
                      </a:r>
                      <a:r>
                        <a:rPr lang="es-ES" sz="2400" dirty="0">
                          <a:latin typeface="Atkinson Hyperlegible"/>
                        </a:rPr>
                        <a:t> (visión de funcionamiento HF)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4191982477"/>
                  </a:ext>
                </a:extLst>
              </a:tr>
              <a:tr h="1370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 err="1">
                          <a:latin typeface="Atkinson Hyperlegible"/>
                        </a:rPr>
                        <a:t>VHF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dirty="0">
                          <a:latin typeface="Atkinson Hyperlegible"/>
                        </a:rPr>
                        <a:t>Muy 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30–300 MHz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>
                          <a:latin typeface="Atkinson Hyperlegible"/>
                        </a:rPr>
                        <a:t>En muchos escenarios predomina </a:t>
                      </a:r>
                      <a:r>
                        <a:rPr lang="es-ES" sz="2400" b="1" dirty="0">
                          <a:latin typeface="Atkinson Hyperlegible"/>
                        </a:rPr>
                        <a:t>línea de vista</a:t>
                      </a:r>
                      <a:r>
                        <a:rPr lang="es-ES" sz="2400" dirty="0">
                          <a:latin typeface="Atkinson Hyperlegible"/>
                        </a:rPr>
                        <a:t> y cobertura local/regional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b="1" dirty="0">
                          <a:latin typeface="Atkinson Hyperlegible"/>
                        </a:rPr>
                        <a:t>2.5 </a:t>
                      </a:r>
                      <a:r>
                        <a:rPr lang="es-ES" sz="2400" b="1" dirty="0" err="1">
                          <a:latin typeface="Atkinson Hyperlegible"/>
                        </a:rPr>
                        <a:t>VHF</a:t>
                      </a:r>
                      <a:r>
                        <a:rPr lang="es-ES" sz="2400" b="1" dirty="0">
                          <a:latin typeface="Atkinson Hyperlegible"/>
                        </a:rPr>
                        <a:t>/</a:t>
                      </a:r>
                      <a:r>
                        <a:rPr lang="es-ES" sz="2400" b="1" dirty="0" err="1">
                          <a:latin typeface="Atkinson Hyperlegible"/>
                        </a:rPr>
                        <a:t>UHF</a:t>
                      </a:r>
                      <a:r>
                        <a:rPr lang="es-ES" sz="2400" dirty="0">
                          <a:latin typeface="Atkinson Hyperlegible"/>
                        </a:rPr>
                        <a:t>, </a:t>
                      </a:r>
                      <a:r>
                        <a:rPr lang="es-ES" sz="2400" b="1" dirty="0">
                          <a:latin typeface="Atkinson Hyperlegible"/>
                        </a:rPr>
                        <a:t>2.5.2 </a:t>
                      </a:r>
                      <a:r>
                        <a:rPr lang="es-ES" sz="2400" b="1" dirty="0" err="1">
                          <a:latin typeface="Atkinson Hyperlegible"/>
                        </a:rPr>
                        <a:t>Broadcasting</a:t>
                      </a:r>
                      <a:r>
                        <a:rPr lang="es-ES" sz="2400" dirty="0">
                          <a:latin typeface="Atkinson Hyperlegible"/>
                        </a:rPr>
                        <a:t>, bases de </a:t>
                      </a:r>
                      <a:r>
                        <a:rPr lang="es-ES" sz="2400" b="1" dirty="0">
                          <a:latin typeface="Atkinson Hyperlegible"/>
                        </a:rPr>
                        <a:t>propagación y pérdidas</a:t>
                      </a:r>
                      <a:endParaRPr lang="en-US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2354890991"/>
                  </a:ext>
                </a:extLst>
              </a:tr>
              <a:tr h="202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Atkinson Hyperlegible"/>
                        </a:rPr>
                        <a:t>UHF</a:t>
                      </a:r>
                      <a:endParaRPr lang="es-CL" sz="240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dirty="0">
                          <a:latin typeface="Atkinson Hyperlegible"/>
                        </a:rPr>
                        <a:t>Ultra Alta Frecuencia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300–3000 MHz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>
                          <a:latin typeface="Atkinson Hyperlegible"/>
                        </a:rPr>
                        <a:t>Similar a </a:t>
                      </a:r>
                      <a:r>
                        <a:rPr lang="es-ES" sz="2400" dirty="0" err="1">
                          <a:latin typeface="Atkinson Hyperlegible"/>
                        </a:rPr>
                        <a:t>VHF</a:t>
                      </a:r>
                      <a:r>
                        <a:rPr lang="es-ES" sz="2400" dirty="0">
                          <a:latin typeface="Atkinson Hyperlegible"/>
                        </a:rPr>
                        <a:t> (frecuente </a:t>
                      </a:r>
                      <a:r>
                        <a:rPr lang="es-ES" sz="2400" b="1" dirty="0">
                          <a:latin typeface="Atkinson Hyperlegible"/>
                        </a:rPr>
                        <a:t>línea de vista</a:t>
                      </a:r>
                      <a:r>
                        <a:rPr lang="es-ES" sz="2400" dirty="0">
                          <a:latin typeface="Atkinson Hyperlegible"/>
                        </a:rPr>
                        <a:t>) y comportamiento sensible a obstáculos/entorno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b="1" dirty="0">
                          <a:latin typeface="Atkinson Hyperlegible"/>
                        </a:rPr>
                        <a:t>2.5.3 Tecnologías </a:t>
                      </a:r>
                      <a:r>
                        <a:rPr lang="es-ES" sz="2400" b="1" dirty="0" err="1">
                          <a:latin typeface="Atkinson Hyperlegible"/>
                        </a:rPr>
                        <a:t>VHF</a:t>
                      </a:r>
                      <a:r>
                        <a:rPr lang="es-ES" sz="2400" b="1" dirty="0">
                          <a:latin typeface="Atkinson Hyperlegible"/>
                        </a:rPr>
                        <a:t> y </a:t>
                      </a:r>
                      <a:r>
                        <a:rPr lang="es-ES" sz="2400" b="1" dirty="0" err="1">
                          <a:latin typeface="Atkinson Hyperlegible"/>
                        </a:rPr>
                        <a:t>UHF</a:t>
                      </a:r>
                      <a:r>
                        <a:rPr lang="es-ES" sz="2400" dirty="0">
                          <a:latin typeface="Atkinson Hyperlegible"/>
                        </a:rPr>
                        <a:t> + </a:t>
                      </a:r>
                      <a:r>
                        <a:rPr lang="es-ES" sz="2400" b="1" dirty="0">
                          <a:latin typeface="Atkinson Hyperlegible"/>
                        </a:rPr>
                        <a:t>2.5.4</a:t>
                      </a:r>
                      <a:r>
                        <a:rPr lang="es-ES" sz="2400" dirty="0">
                          <a:latin typeface="Atkinson Hyperlegible"/>
                        </a:rPr>
                        <a:t> (propagación, pérdidas)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3124455530"/>
                  </a:ext>
                </a:extLst>
              </a:tr>
              <a:tr h="1370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Atkinson Hyperlegible"/>
                        </a:rPr>
                        <a:t>Microondas (SHF)</a:t>
                      </a:r>
                      <a:endParaRPr lang="es-CL" sz="240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>
                          <a:latin typeface="Atkinson Hyperlegible"/>
                        </a:rPr>
                        <a:t>(Microondas)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3–30 GHz</a:t>
                      </a:r>
                      <a:endParaRPr lang="es-CL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>
                          <a:latin typeface="Atkinson Hyperlegible"/>
                        </a:rPr>
                        <a:t>Comúnmente </a:t>
                      </a:r>
                      <a:r>
                        <a:rPr lang="es-ES" sz="2400" b="1" dirty="0">
                          <a:latin typeface="Atkinson Hyperlegible"/>
                        </a:rPr>
                        <a:t>enlaces punto a punto</a:t>
                      </a:r>
                      <a:r>
                        <a:rPr lang="es-ES" sz="2400" dirty="0">
                          <a:latin typeface="Atkinson Hyperlegible"/>
                        </a:rPr>
                        <a:t> planificados; alta exigencia del trayecto (LOS)</a:t>
                      </a:r>
                    </a:p>
                  </a:txBody>
                  <a:tcPr marL="65919" marR="65919" marT="32960" marB="32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Atkinson Hyperlegible"/>
                        </a:rPr>
                        <a:t>2.6 Microondas</a:t>
                      </a:r>
                      <a:r>
                        <a:rPr lang="es-CL" sz="2400" dirty="0">
                          <a:latin typeface="Atkinson Hyperlegible"/>
                        </a:rPr>
                        <a:t>: cálculo de enlace, ganancias/atenuaciones, </a:t>
                      </a:r>
                      <a:r>
                        <a:rPr lang="es-CL" sz="2400" b="1" dirty="0">
                          <a:latin typeface="Atkinson Hyperlegible"/>
                        </a:rPr>
                        <a:t>Zona de Fresnel</a:t>
                      </a:r>
                      <a:r>
                        <a:rPr lang="es-CL" sz="2400" dirty="0">
                          <a:latin typeface="Atkinson Hyperlegible"/>
                        </a:rPr>
                        <a:t>, aplicaciones de red</a:t>
                      </a:r>
                      <a:endParaRPr lang="pt-BR" sz="2400" dirty="0">
                        <a:latin typeface="Atkinson Hyperlegible"/>
                      </a:endParaRPr>
                    </a:p>
                  </a:txBody>
                  <a:tcPr marL="65919" marR="65919" marT="32960" marB="32960" anchor="ctr"/>
                </a:tc>
                <a:extLst>
                  <a:ext uri="{0D108BD9-81ED-4DB2-BD59-A6C34878D82A}">
                    <a16:rowId xmlns:a16="http://schemas.microsoft.com/office/drawing/2014/main" val="87128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270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658D1-7730-D46A-B3E1-9FD13718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C857625-08E7-945A-D4D0-A38F4EE3E540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5F2C00E-AA40-0EE8-3975-367DAA83F29E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BANDAS DE FRECUENCIAS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985EB5E-FF4D-F11E-46CC-692037E26F7F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/>
              <a:t>Bandas de frecuencia relevantes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6C4772-C41B-62E4-F1AC-CFF70A5EC002}"/>
              </a:ext>
            </a:extLst>
          </p:cNvPr>
          <p:cNvSpPr txBox="1"/>
          <p:nvPr/>
        </p:nvSpPr>
        <p:spPr>
          <a:xfrm>
            <a:off x="111368" y="9579632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/>
              <a:t>Recomendación UIT-R </a:t>
            </a:r>
            <a:r>
              <a:rPr lang="es-CL" sz="2400" noProof="0" dirty="0" err="1"/>
              <a:t>V.431</a:t>
            </a:r>
            <a:r>
              <a:rPr lang="es-CL" sz="2400" noProof="0" dirty="0"/>
              <a:t>-8 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7FD6D4-63CA-DEF8-BEDE-822CAD164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767" y="1565323"/>
            <a:ext cx="11778001" cy="85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8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D41F5-AA03-D66E-26F7-FF676B72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103D046-DF09-3820-FD40-0F219C8A0032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216A7AC2-9ED8-288F-34FA-7D751CAFD44A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PROPAGACIÓN EN LA ATMÓSFERA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EC7226-3CA9-900E-E047-27B6E3E2F1F6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Propagación en la atmósfera (canal RF = ambiente)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1D80369-14DE-4F09-B674-E6C2FF7D83A9}"/>
              </a:ext>
            </a:extLst>
          </p:cNvPr>
          <p:cNvSpPr txBox="1"/>
          <p:nvPr/>
        </p:nvSpPr>
        <p:spPr>
          <a:xfrm>
            <a:off x="966586" y="7611775"/>
            <a:ext cx="10785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P.676</a:t>
            </a:r>
            <a:r>
              <a:rPr lang="es-ES" sz="2400" dirty="0">
                <a:latin typeface="Atkinson Hyperlegible"/>
              </a:rPr>
              <a:t> (atenuación por gases atmosféricos)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P.838</a:t>
            </a:r>
            <a:r>
              <a:rPr lang="es-ES" sz="2400" dirty="0">
                <a:latin typeface="Atkinson Hyperlegible"/>
              </a:rPr>
              <a:t> (atenuación específica por lluvia)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P.618</a:t>
            </a:r>
            <a:r>
              <a:rPr lang="es-ES" sz="2400" dirty="0">
                <a:latin typeface="Atkinson Hyperlegible"/>
              </a:rPr>
              <a:t> (predicción para enlaces Tierra-espacio, satélite)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3EC9BF59-BD62-7D57-763B-49EC407862AA}"/>
              </a:ext>
            </a:extLst>
          </p:cNvPr>
          <p:cNvSpPr/>
          <p:nvPr/>
        </p:nvSpPr>
        <p:spPr>
          <a:xfrm>
            <a:off x="1233601" y="2001996"/>
            <a:ext cx="18628366" cy="304698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En RF, el canal no es ideal: la atmósfera puede introducir pérdidas adicionales.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Factores como gases, humedad, lluvia y condiciones del entorno influyen en la señal.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El impacto depende de la frecuencia, la distancia y el tipo de enlace.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Este concepto se usará luego en microondas y satélite.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ES" sz="3200" b="1" dirty="0">
              <a:latin typeface="Atkinson Hyperlegible"/>
            </a:endParaRPr>
          </a:p>
          <a:p>
            <a:pPr algn="ctr"/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La atmósfera es parte del canal: puede cambiar la calidad del enlace.</a:t>
            </a:r>
            <a:endParaRPr lang="es-CL" sz="32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tkinson Hyperlegible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F587E8-0AC2-0795-A168-968D7023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110" y="5314685"/>
            <a:ext cx="11296284" cy="3769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96B33393-4F20-CE36-EEE7-7DB8C48555BC}"/>
              </a:ext>
            </a:extLst>
          </p:cNvPr>
          <p:cNvSpPr/>
          <p:nvPr/>
        </p:nvSpPr>
        <p:spPr>
          <a:xfrm>
            <a:off x="12711657" y="5181834"/>
            <a:ext cx="2068643" cy="229709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920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E2700-89AD-6ABA-ECFC-550AE815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657D75-18FF-7933-CD7E-77711B6AD04A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908726C8-1A65-18B6-CF7C-95E005FED151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PROPAGACIÓN EN LA ATMÓSFERA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249C67-8AFB-7896-32EB-51A30E22EC6F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Factores atmosféricos que afectan un enlace RF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23E742-4723-345A-FFC0-ECC5A0421FCD}"/>
              </a:ext>
            </a:extLst>
          </p:cNvPr>
          <p:cNvSpPr txBox="1"/>
          <p:nvPr/>
        </p:nvSpPr>
        <p:spPr>
          <a:xfrm>
            <a:off x="966586" y="7611775"/>
            <a:ext cx="10785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P.676</a:t>
            </a:r>
            <a:r>
              <a:rPr lang="es-ES" sz="2400" dirty="0">
                <a:latin typeface="Atkinson Hyperlegible"/>
              </a:rPr>
              <a:t> (atenuación por gases atmosféricos)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P.838</a:t>
            </a:r>
            <a:r>
              <a:rPr lang="es-ES" sz="2400" dirty="0">
                <a:latin typeface="Atkinson Hyperlegible"/>
              </a:rPr>
              <a:t> (atenuación específica por lluvia)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P.618</a:t>
            </a:r>
            <a:r>
              <a:rPr lang="es-ES" sz="2400" dirty="0">
                <a:latin typeface="Atkinson Hyperlegible"/>
              </a:rPr>
              <a:t> (predicción para enlaces Tierra-espacio, satélite)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5696F138-B701-CFEC-633A-52573D54F6B4}"/>
              </a:ext>
            </a:extLst>
          </p:cNvPr>
          <p:cNvSpPr/>
          <p:nvPr/>
        </p:nvSpPr>
        <p:spPr>
          <a:xfrm>
            <a:off x="1233601" y="2001996"/>
            <a:ext cx="18628366" cy="353943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La atmósfera puede introducir pérdidas adicionales y variabilidad en el enlace.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Gases atmosféricos: absorción (principalmente por oxígeno y vapor de agua).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dirty="0">
                <a:latin typeface="Atkinson Hyperlegible"/>
              </a:rPr>
              <a:t>LOS y obstáculos.</a:t>
            </a:r>
            <a:endParaRPr lang="es-ES" sz="3200" noProof="0" dirty="0">
              <a:latin typeface="Atkinson Hyperlegible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Humedad y lluvia: pueden aumentar la atenuación, especialmente a frecuencias más altas.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Temperatura y presión: influyen en el comportamiento del canal (condiciones cambiantes).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Refracción troposférica: puede modificar el trayecto efectivo de la señal (cobertura/alcance).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Conclusión: el rendimiento RF depende del entorno + frecuencia + distancia.</a:t>
            </a:r>
            <a:endParaRPr lang="es-E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tkinson Hyperlegible"/>
            </a:endParaRPr>
          </a:p>
        </p:txBody>
      </p:sp>
      <p:pic>
        <p:nvPicPr>
          <p:cNvPr id="13314" name="Picture 2" descr="PRORED - Zonas de Fresnel en un radioenlace">
            <a:extLst>
              <a:ext uri="{FF2B5EF4-FFF2-40B4-BE49-F238E27FC236}">
                <a16:creationId xmlns:a16="http://schemas.microsoft.com/office/drawing/2014/main" id="{6496E724-AF0B-6F2A-E462-ADB4A3BEE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614" y="6260367"/>
            <a:ext cx="722947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98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8E231-98C2-0E48-1F2C-8A6E5410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B35A46C-2CD7-3D02-75C6-D56CD9CEA6D1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ACBB82F-2CDC-8078-26C6-7DEB3D8C3B56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PROPAGACIÓN EN LA ATMÓSFERA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404A04-382A-DB15-BF17-723886EB304B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Otros fenómenos físicos que afectan la onda en el trayecto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ED17A3-F1E5-7004-4AD4-A8694166CE9C}"/>
              </a:ext>
            </a:extLst>
          </p:cNvPr>
          <p:cNvSpPr txBox="1"/>
          <p:nvPr/>
        </p:nvSpPr>
        <p:spPr>
          <a:xfrm>
            <a:off x="0" y="8471637"/>
            <a:ext cx="10785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P.676</a:t>
            </a:r>
            <a:r>
              <a:rPr lang="es-ES" sz="2400" dirty="0">
                <a:latin typeface="Atkinson Hyperlegible"/>
              </a:rPr>
              <a:t> (atenuación por gases atmosféricos)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P.838</a:t>
            </a:r>
            <a:r>
              <a:rPr lang="es-ES" sz="2400" dirty="0">
                <a:latin typeface="Atkinson Hyperlegible"/>
              </a:rPr>
              <a:t> (atenuación específica por lluvia)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P.618</a:t>
            </a:r>
            <a:r>
              <a:rPr lang="es-ES" sz="2400" dirty="0">
                <a:latin typeface="Atkinson Hyperlegible"/>
              </a:rPr>
              <a:t> (predicción para enlaces Tierra-espacio, satélite)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991DDF-850D-73A6-0733-91BE2275F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12" y="1683489"/>
            <a:ext cx="13814490" cy="69956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198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2ACC1-0357-B49F-EAB9-77740A58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C750CD6-2569-F225-4467-509D125CCE1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179112B9-B7A7-7F04-BC2A-6D704AF8E24C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PROPAGACIÓN EN LA ATMÓSFERA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0D4DFA-38A5-77F1-5EC8-8347ACE9420A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 err="1">
                <a:latin typeface="Atkinson Hyperlegible"/>
              </a:rPr>
              <a:t>Multitrayectoria</a:t>
            </a:r>
            <a:r>
              <a:rPr lang="es-ES" sz="4000" dirty="0">
                <a:latin typeface="Atkinson Hyperlegible"/>
              </a:rPr>
              <a:t> (</a:t>
            </a:r>
            <a:r>
              <a:rPr lang="es-ES" sz="4000" dirty="0" err="1">
                <a:latin typeface="Atkinson Hyperlegible"/>
              </a:rPr>
              <a:t>multipath</a:t>
            </a:r>
            <a:r>
              <a:rPr lang="es-ES" sz="4000" dirty="0">
                <a:latin typeface="Atkinson Hyperlegible"/>
              </a:rPr>
              <a:t>) y desvanecimiento (fading)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AC1456-488C-6F9C-20A1-E37775B0BB9C}"/>
              </a:ext>
            </a:extLst>
          </p:cNvPr>
          <p:cNvSpPr txBox="1"/>
          <p:nvPr/>
        </p:nvSpPr>
        <p:spPr>
          <a:xfrm>
            <a:off x="1382157" y="1929131"/>
            <a:ext cx="184048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0" dirty="0" err="1">
                <a:solidFill>
                  <a:srgbClr val="222222"/>
                </a:solidFill>
                <a:effectLst/>
                <a:latin typeface="Atkinson Hyperlegible"/>
              </a:rPr>
              <a:t>Multipath</a:t>
            </a: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 (</a:t>
            </a:r>
            <a:r>
              <a:rPr lang="es-ES" sz="3200" i="0" dirty="0" err="1">
                <a:solidFill>
                  <a:srgbClr val="222222"/>
                </a:solidFill>
                <a:effectLst/>
                <a:latin typeface="Atkinson Hyperlegible"/>
              </a:rPr>
              <a:t>multitrayectoria</a:t>
            </a: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): la señal llega al receptor por múltiples rutas (directa + reflejada + difractada).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Esas rutas llegan con distintos retrasos y niveles, pudiendo sumarse o cancelarse parcialmente.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Fading (desvanecimiento): variación del nivel de señal recibida en el tiempo debido al canal (entorno + movimiento).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Puede causar fluctuaciones (sube/baja la señal) incluso con el mismo transmisor.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0" dirty="0">
                <a:solidFill>
                  <a:srgbClr val="222222"/>
                </a:solidFill>
                <a:effectLst/>
                <a:latin typeface="Atkinson Hyperlegible"/>
              </a:rPr>
              <a:t>Se observa con frecuencia en entornos urbanos, interiores, y enlaces con reflexión.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i="1" dirty="0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no es “falla del equipo”; es comportamiento del canal.</a:t>
            </a:r>
          </a:p>
          <a:p>
            <a:pPr algn="ctr"/>
            <a:r>
              <a:rPr lang="es-ES" sz="3200" b="1" i="0" dirty="0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En RF, la señal puede variar por interferencia entre trayectorias (</a:t>
            </a:r>
            <a:r>
              <a:rPr lang="es-ES" sz="3200" b="1" i="0" dirty="0" err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multipath</a:t>
            </a:r>
            <a:r>
              <a:rPr lang="es-ES" sz="3200" b="1" i="0" dirty="0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tkinson Hyperlegible"/>
              </a:rPr>
              <a:t>).</a:t>
            </a:r>
          </a:p>
        </p:txBody>
      </p:sp>
      <p:pic>
        <p:nvPicPr>
          <p:cNvPr id="2" name="Picture 6" descr="Figura 5.6. Desvanecimiento multitrayectoria">
            <a:extLst>
              <a:ext uri="{FF2B5EF4-FFF2-40B4-BE49-F238E27FC236}">
                <a16:creationId xmlns:a16="http://schemas.microsoft.com/office/drawing/2014/main" id="{93903CA1-9120-9464-8218-25D71FC63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207" y="5841082"/>
            <a:ext cx="6024639" cy="46899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85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6B996-0B1E-8E2F-760B-26E25CCA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ABE4351-D48B-08CC-24F7-367DB7688CE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A4AFAE0C-8602-65F7-5212-0258AC434734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>
                <a:latin typeface="Atkinson Hyperlegible" pitchFamily="2" charset="77"/>
              </a:rPr>
              <a:t>PROPAGACIÓN EN LA ATMÓSFERA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DF42EF-32AD-FDDE-E0F5-1D03E0E6351A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noProof="0" dirty="0">
                <a:latin typeface="Atkinson Hyperlegible"/>
              </a:rPr>
              <a:t>Pérdida en espacio libre (</a:t>
            </a:r>
            <a:r>
              <a:rPr lang="es-CL" sz="4000" noProof="0" dirty="0" err="1">
                <a:latin typeface="Atkinson Hyperlegible"/>
              </a:rPr>
              <a:t>ITU</a:t>
            </a:r>
            <a:r>
              <a:rPr lang="es-CL" sz="4000" noProof="0" dirty="0">
                <a:latin typeface="Atkinson Hyperlegible"/>
              </a:rPr>
              <a:t>-R </a:t>
            </a:r>
            <a:r>
              <a:rPr lang="es-CL" sz="4000" noProof="0" dirty="0" err="1">
                <a:latin typeface="Atkinson Hyperlegible"/>
              </a:rPr>
              <a:t>P.525</a:t>
            </a:r>
            <a:r>
              <a:rPr lang="es-CL" sz="4000" noProof="0" dirty="0">
                <a:latin typeface="Atkinson Hyperlegible"/>
              </a:rPr>
              <a:t>): referencia para cálculo de enlace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54B236-F5D9-617C-F7CE-A2FF70F9EED2}"/>
              </a:ext>
            </a:extLst>
          </p:cNvPr>
          <p:cNvSpPr txBox="1"/>
          <p:nvPr/>
        </p:nvSpPr>
        <p:spPr>
          <a:xfrm>
            <a:off x="2896163" y="9825854"/>
            <a:ext cx="18404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3200" dirty="0">
                <a:solidFill>
                  <a:srgbClr val="222222"/>
                </a:solidFill>
                <a:latin typeface="Atkinson Hyperlegible"/>
              </a:rPr>
              <a:t>https://www.itu.int/dms_pubrec/itu-r/rec/p/R-REC-P.525-5-202411-I!!PDF-E.pdf</a:t>
            </a:r>
            <a:endParaRPr lang="es-ES" sz="3200" b="1" i="0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tkinson Hyperlegible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D00F3E-3CAE-6BA6-BD8B-B8452FE1DBEF}"/>
              </a:ext>
            </a:extLst>
          </p:cNvPr>
          <p:cNvSpPr txBox="1"/>
          <p:nvPr/>
        </p:nvSpPr>
        <p:spPr>
          <a:xfrm>
            <a:off x="164892" y="9041024"/>
            <a:ext cx="150351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n-US" sz="2400" b="1" dirty="0"/>
              <a:t>ITU-R </a:t>
            </a:r>
            <a:r>
              <a:rPr lang="en-US" sz="2400" b="1" dirty="0" err="1"/>
              <a:t>P.525</a:t>
            </a:r>
            <a:r>
              <a:rPr lang="en-US" sz="2400" b="1" dirty="0"/>
              <a:t>-5</a:t>
            </a:r>
            <a:r>
              <a:rPr lang="en-US" sz="2400" dirty="0"/>
              <a:t> (11/2024), </a:t>
            </a:r>
            <a:r>
              <a:rPr lang="en-US" sz="2400" i="1" dirty="0"/>
              <a:t>Calculation of free-space attenuation</a:t>
            </a:r>
            <a:r>
              <a:rPr lang="en-US" sz="2400" dirty="0"/>
              <a:t>. </a:t>
            </a:r>
          </a:p>
          <a:p>
            <a:endParaRPr lang="es-ES" sz="2400" dirty="0">
              <a:latin typeface="Atkinson Hyperlegible"/>
            </a:endParaRPr>
          </a:p>
          <a:p>
            <a:endParaRPr lang="es-CL" sz="2400" noProof="0" dirty="0">
              <a:latin typeface="Atkinson Hyperlegible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F07882B-F5E5-7FA0-94E8-488003564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028" y="1770635"/>
            <a:ext cx="17704589" cy="707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1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8609F-C68B-A29A-6511-7E295E5C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45C8F56-8C01-9492-8F0D-7EEF4D71BE58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FFE2A60-2E2A-0039-5B33-3DF354288CF2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VHF</a:t>
            </a:r>
            <a:r>
              <a:rPr lang="es-CL" sz="4400" b="1" noProof="0" dirty="0">
                <a:latin typeface="Atkinson Hyperlegible" pitchFamily="2" charset="77"/>
              </a:rPr>
              <a:t> Y </a:t>
            </a:r>
            <a:r>
              <a:rPr lang="es-CL" sz="4400" b="1" noProof="0" dirty="0" err="1">
                <a:latin typeface="Atkinson Hyperlegible" pitchFamily="2" charset="77"/>
              </a:rPr>
              <a:t>UHF</a:t>
            </a:r>
            <a:r>
              <a:rPr lang="es-CL" sz="4400" b="1" noProof="0" dirty="0">
                <a:latin typeface="Atkinson Hyperlegible" pitchFamily="2" charset="77"/>
              </a:rPr>
              <a:t>.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FB2B8B-8249-0EA7-5647-CA7AB2808E63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noProof="0" dirty="0">
                <a:latin typeface="Atkinson Hyperlegible"/>
              </a:rPr>
              <a:t>Bandas HF / </a:t>
            </a:r>
            <a:r>
              <a:rPr lang="es-ES" sz="4000" noProof="0" dirty="0" err="1">
                <a:latin typeface="Atkinson Hyperlegible"/>
              </a:rPr>
              <a:t>VHF</a:t>
            </a:r>
            <a:r>
              <a:rPr lang="es-ES" sz="4000" noProof="0" dirty="0">
                <a:latin typeface="Atkinson Hyperlegible"/>
              </a:rPr>
              <a:t> / </a:t>
            </a:r>
            <a:r>
              <a:rPr lang="es-ES" sz="4000" noProof="0" dirty="0" err="1">
                <a:latin typeface="Atkinson Hyperlegible"/>
              </a:rPr>
              <a:t>UHF</a:t>
            </a:r>
            <a:r>
              <a:rPr lang="es-ES" sz="4000" noProof="0" dirty="0">
                <a:latin typeface="Atkinson Hyperlegible"/>
              </a:rPr>
              <a:t>: definición y rol en comunicaciones RF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3E0710-A064-4379-B46E-36972A89A970}"/>
              </a:ext>
            </a:extLst>
          </p:cNvPr>
          <p:cNvSpPr txBox="1"/>
          <p:nvPr/>
        </p:nvSpPr>
        <p:spPr>
          <a:xfrm>
            <a:off x="921616" y="8840969"/>
            <a:ext cx="10785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</a:t>
            </a:r>
          </a:p>
          <a:p>
            <a:r>
              <a:rPr lang="pt-BR" sz="2400" dirty="0">
                <a:latin typeface="Atkinson Hyperlegible"/>
              </a:rPr>
              <a:t>ITU-R </a:t>
            </a:r>
            <a:r>
              <a:rPr lang="pt-BR" sz="2400" dirty="0" err="1">
                <a:latin typeface="Atkinson Hyperlegible"/>
              </a:rPr>
              <a:t>V.431</a:t>
            </a:r>
            <a:r>
              <a:rPr lang="pt-BR" sz="2400" dirty="0">
                <a:latin typeface="Atkinson Hyperlegible"/>
              </a:rPr>
              <a:t>-8 — nomenclatura y rangos de bandas (</a:t>
            </a:r>
            <a:r>
              <a:rPr lang="pt-BR" sz="2400" dirty="0" err="1">
                <a:latin typeface="Atkinson Hyperlegible"/>
              </a:rPr>
              <a:t>HF</a:t>
            </a:r>
            <a:r>
              <a:rPr lang="pt-BR" sz="2400" dirty="0">
                <a:latin typeface="Atkinson Hyperlegible"/>
              </a:rPr>
              <a:t>/VHF/UHF).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555E166C-56D5-B9E4-1E3A-08A2F42B5CB1}"/>
              </a:ext>
            </a:extLst>
          </p:cNvPr>
          <p:cNvSpPr/>
          <p:nvPr/>
        </p:nvSpPr>
        <p:spPr>
          <a:xfrm>
            <a:off x="1233601" y="2001996"/>
            <a:ext cx="18628366" cy="507831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HF (Alta Frecuencia): banda de radio usada en sistemas donde la propagación puede permitir alcances más amplios según condiciones.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 err="1">
                <a:latin typeface="Atkinson Hyperlegible"/>
              </a:rPr>
              <a:t>VHF</a:t>
            </a:r>
            <a:r>
              <a:rPr lang="es-ES" sz="3200" noProof="0" dirty="0">
                <a:latin typeface="Atkinson Hyperlegible"/>
              </a:rPr>
              <a:t> (Muy Alta Frecuencia): banda usada en comunicaciones con cobertura local/regional (según entorno).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 err="1">
                <a:latin typeface="Atkinson Hyperlegible"/>
              </a:rPr>
              <a:t>UHF</a:t>
            </a:r>
            <a:r>
              <a:rPr lang="es-ES" sz="3200" noProof="0" dirty="0">
                <a:latin typeface="Atkinson Hyperlegible"/>
              </a:rPr>
              <a:t> (Ultra Alta Frecuencia): banda usada en comunicaciones con buena aplicabilidad en múltiples escenarios y dispositivos compactos.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Las bandas condicionan: alcance, cobertura, obstáculos e interferencias.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dirty="0">
                <a:latin typeface="Atkinson Hyperlegible"/>
              </a:rPr>
              <a:t>E</a:t>
            </a:r>
            <a:r>
              <a:rPr lang="es-ES" sz="3200" noProof="0" dirty="0" err="1">
                <a:latin typeface="Atkinson Hyperlegible"/>
              </a:rPr>
              <a:t>stas</a:t>
            </a:r>
            <a:r>
              <a:rPr lang="es-ES" sz="3200" noProof="0" dirty="0">
                <a:latin typeface="Atkinson Hyperlegible"/>
              </a:rPr>
              <a:t> bandas se conectan con: redes </a:t>
            </a:r>
            <a:r>
              <a:rPr lang="es-ES" sz="3200" noProof="0" dirty="0" err="1">
                <a:latin typeface="Atkinson Hyperlegible"/>
              </a:rPr>
              <a:t>VHF</a:t>
            </a:r>
            <a:r>
              <a:rPr lang="es-ES" sz="3200" noProof="0" dirty="0">
                <a:latin typeface="Atkinson Hyperlegible"/>
              </a:rPr>
              <a:t>/</a:t>
            </a:r>
            <a:r>
              <a:rPr lang="es-ES" sz="3200" noProof="0" dirty="0" err="1">
                <a:latin typeface="Atkinson Hyperlegible"/>
              </a:rPr>
              <a:t>UHF</a:t>
            </a:r>
            <a:r>
              <a:rPr lang="es-ES" sz="3200" noProof="0" dirty="0">
                <a:latin typeface="Atkinson Hyperlegible"/>
              </a:rPr>
              <a:t>/HF y </a:t>
            </a:r>
            <a:r>
              <a:rPr lang="es-ES" sz="3200" noProof="0" dirty="0" err="1">
                <a:latin typeface="Atkinson Hyperlegible"/>
              </a:rPr>
              <a:t>broadcasting</a:t>
            </a:r>
            <a:r>
              <a:rPr lang="es-ES" sz="3200" noProof="0" dirty="0">
                <a:latin typeface="Atkinson Hyperlegible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No buscamos </a:t>
            </a:r>
            <a:r>
              <a:rPr lang="es-ES" sz="3200" b="1" noProof="0" dirty="0">
                <a:latin typeface="Atkinson Hyperlegible"/>
              </a:rPr>
              <a:t>memorizar rangos</a:t>
            </a:r>
            <a:r>
              <a:rPr lang="es-ES" sz="3200" noProof="0" dirty="0">
                <a:latin typeface="Atkinson Hyperlegible"/>
              </a:rPr>
              <a:t>, sino comprender cómo afecta la banda al diseño.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CL" sz="3200" b="1" noProof="0" dirty="0">
              <a:latin typeface="Atkinson Hyperlegible"/>
            </a:endParaRPr>
          </a:p>
          <a:p>
            <a:pPr algn="ctr"/>
            <a:r>
              <a:rPr lang="es-ES" sz="3600" b="1" noProof="0" dirty="0">
                <a:latin typeface="Atkinson Hyperlegible"/>
              </a:rPr>
              <a:t>La banda define el “comportamiento” del enlace y el tipo de servicio posible.</a:t>
            </a:r>
            <a:endParaRPr lang="es-CL" sz="3600" noProof="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138060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32FD5-0674-D60F-A5AC-7189E768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0A8F7A-C32C-B3DA-2D7F-C20CB674A8E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48F6699A-3169-8CBD-C65B-132814C601CE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VHF</a:t>
            </a:r>
            <a:r>
              <a:rPr lang="es-CL" sz="4400" b="1" noProof="0" dirty="0">
                <a:latin typeface="Atkinson Hyperlegible" pitchFamily="2" charset="77"/>
              </a:rPr>
              <a:t> Y </a:t>
            </a:r>
            <a:r>
              <a:rPr lang="es-CL" sz="4400" b="1" noProof="0" dirty="0" err="1">
                <a:latin typeface="Atkinson Hyperlegible" pitchFamily="2" charset="77"/>
              </a:rPr>
              <a:t>UHF</a:t>
            </a:r>
            <a:r>
              <a:rPr lang="es-CL" sz="4400" b="1" noProof="0" dirty="0">
                <a:latin typeface="Atkinson Hyperlegible" pitchFamily="2" charset="77"/>
              </a:rPr>
              <a:t>.</a:t>
            </a:r>
          </a:p>
          <a:p>
            <a:pPr>
              <a:lnSpc>
                <a:spcPct val="150000"/>
              </a:lnSpc>
            </a:pP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3D1CB-ECDA-F0ED-E562-097E44D20F58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/>
              <a:t>Principios de funcionamiento de redes </a:t>
            </a:r>
            <a:r>
              <a:rPr lang="es-CL" sz="4000" dirty="0" err="1"/>
              <a:t>VHF</a:t>
            </a:r>
            <a:r>
              <a:rPr lang="es-CL" sz="4000" dirty="0"/>
              <a:t>/</a:t>
            </a:r>
            <a:r>
              <a:rPr lang="es-CL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595018-825A-4F12-3826-E6368ECCF471}"/>
              </a:ext>
            </a:extLst>
          </p:cNvPr>
          <p:cNvSpPr txBox="1"/>
          <p:nvPr/>
        </p:nvSpPr>
        <p:spPr>
          <a:xfrm>
            <a:off x="921616" y="8840969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P.1546</a:t>
            </a:r>
            <a:r>
              <a:rPr lang="es-ES" sz="2400" dirty="0">
                <a:latin typeface="Atkinson Hyperlegible"/>
              </a:rPr>
              <a:t> — recomendación para predicción punto-área.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0D266076-0407-7B2F-B31A-B4D302706E6E}"/>
              </a:ext>
            </a:extLst>
          </p:cNvPr>
          <p:cNvSpPr/>
          <p:nvPr/>
        </p:nvSpPr>
        <p:spPr>
          <a:xfrm>
            <a:off x="1233601" y="2001996"/>
            <a:ext cx="18628366" cy="507831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Una red </a:t>
            </a:r>
            <a:r>
              <a:rPr lang="es-ES" sz="3200" noProof="0" dirty="0" err="1">
                <a:latin typeface="Atkinson Hyperlegible"/>
              </a:rPr>
              <a:t>VHF</a:t>
            </a:r>
            <a:r>
              <a:rPr lang="es-ES" sz="3200" noProof="0" dirty="0">
                <a:latin typeface="Atkinson Hyperlegible"/>
              </a:rPr>
              <a:t>/</a:t>
            </a:r>
            <a:r>
              <a:rPr lang="es-ES" sz="3200" noProof="0" dirty="0" err="1">
                <a:latin typeface="Atkinson Hyperlegible"/>
              </a:rPr>
              <a:t>UHF</a:t>
            </a:r>
            <a:r>
              <a:rPr lang="es-ES" sz="3200" noProof="0" dirty="0">
                <a:latin typeface="Atkinson Hyperlegible"/>
              </a:rPr>
              <a:t> conecta múltiples estaciones que comparten un medio radioeléctrico.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Elementos típicos: terminales/estaciones, antenas, canal y (cuando aplica) repetidores.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La cobertura depende de: banda, potencia, antena, altura, entorno y trayecto.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Pueden existir dos lógicas generales de operación: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Punto a punto: un emisor comunica con un receptor específico.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Uno a muchos: un emisor llega a múltiples receptores (</a:t>
            </a:r>
            <a:r>
              <a:rPr lang="es-ES" sz="3200" noProof="0" dirty="0" err="1">
                <a:latin typeface="Atkinson Hyperlegible"/>
              </a:rPr>
              <a:t>broadcasting</a:t>
            </a:r>
            <a:r>
              <a:rPr lang="es-ES" sz="3200" noProof="0" dirty="0">
                <a:latin typeface="Atkinson Hyperlegible"/>
              </a:rPr>
              <a:t>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El rendimiento es variable por interferencias y condiciones del canal.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La coordinación del uso del espectro es clave para minimizar interferencias.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ES" sz="3200" noProof="0" dirty="0">
              <a:latin typeface="Atkinson Hyperlegible"/>
            </a:endParaRPr>
          </a:p>
          <a:p>
            <a:pPr algn="ctr"/>
            <a:r>
              <a:rPr lang="es-ES" sz="3600" b="1" noProof="0" dirty="0">
                <a:latin typeface="Atkinson Hyperlegible"/>
              </a:rPr>
              <a:t>En redes </a:t>
            </a:r>
            <a:r>
              <a:rPr lang="es-ES" sz="3600" b="1" noProof="0" dirty="0" err="1">
                <a:latin typeface="Atkinson Hyperlegible"/>
              </a:rPr>
              <a:t>VHF</a:t>
            </a:r>
            <a:r>
              <a:rPr lang="es-ES" sz="3600" b="1" noProof="0" dirty="0">
                <a:latin typeface="Atkinson Hyperlegible"/>
              </a:rPr>
              <a:t>/</a:t>
            </a:r>
            <a:r>
              <a:rPr lang="es-ES" sz="3600" b="1" noProof="0" dirty="0" err="1">
                <a:latin typeface="Atkinson Hyperlegible"/>
              </a:rPr>
              <a:t>UHF</a:t>
            </a:r>
            <a:r>
              <a:rPr lang="es-ES" sz="3600" b="1" noProof="0" dirty="0">
                <a:latin typeface="Atkinson Hyperlegible"/>
              </a:rPr>
              <a:t>/HF, la cobertura se diseña con banda + antenas + entorno (no solo potencia).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8EF8D21D-E39E-E96A-3CE0-2AA8E9090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1279" y="7411138"/>
            <a:ext cx="3871441" cy="18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A4288B4E-8113-8337-F118-E26797705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657" y="7411138"/>
            <a:ext cx="3871441" cy="18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2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69178-0462-3D14-9D0D-88A9957F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17C79-A9A4-347B-FB5E-CE8B1FCF2E3B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5467E51A-CA95-8915-6BED-D7083032C3F4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BROADCASTING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853A55-2753-0BFB-B45D-2D19E924C392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 err="1"/>
              <a:t>Broadcasting</a:t>
            </a:r>
            <a:r>
              <a:rPr lang="es-ES" sz="4000" dirty="0"/>
              <a:t>: comunicación “uno a muchos”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64257DF-93B7-0B55-FD81-F345914B9DE6}"/>
              </a:ext>
            </a:extLst>
          </p:cNvPr>
          <p:cNvSpPr txBox="1"/>
          <p:nvPr/>
        </p:nvSpPr>
        <p:spPr>
          <a:xfrm>
            <a:off x="921616" y="8840969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P.1546</a:t>
            </a:r>
            <a:r>
              <a:rPr lang="es-ES" sz="2400" dirty="0">
                <a:latin typeface="Atkinson Hyperlegible"/>
              </a:rPr>
              <a:t> — recomendación para predicción punto-área.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44CBC730-3E7F-0B0B-87E5-CE8D5C5A4E76}"/>
              </a:ext>
            </a:extLst>
          </p:cNvPr>
          <p:cNvSpPr/>
          <p:nvPr/>
        </p:nvSpPr>
        <p:spPr>
          <a:xfrm>
            <a:off x="1233601" y="2001996"/>
            <a:ext cx="18628366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 err="1">
                <a:latin typeface="Atkinson Hyperlegible"/>
              </a:rPr>
              <a:t>Broadcasting</a:t>
            </a:r>
            <a:r>
              <a:rPr lang="es-ES" sz="3200" noProof="0" dirty="0">
                <a:latin typeface="Atkinson Hyperlegible"/>
              </a:rPr>
              <a:t> (radiodifusión): un emisor transmite hacia múltiples receptores al mismo tiempo.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Se orienta a cobertura (área de servicio), no a un receptor único.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En </a:t>
            </a:r>
            <a:r>
              <a:rPr lang="es-ES" sz="3200" noProof="0" dirty="0" err="1">
                <a:latin typeface="Atkinson Hyperlegible"/>
              </a:rPr>
              <a:t>broadcasting</a:t>
            </a:r>
            <a:r>
              <a:rPr lang="es-ES" sz="3200" noProof="0" dirty="0">
                <a:latin typeface="Atkinson Hyperlegible"/>
              </a:rPr>
              <a:t>, el diseño prioriza: cobertura, calidad de recepción, interferencias y continuidad del servicio.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Se diferencia del punto a punto, donde el enlace se diseña para un destino específico.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La propagación y el entorno influyen en la cobertura efectiva (especialmente en </a:t>
            </a:r>
            <a:r>
              <a:rPr lang="es-ES" sz="3200" noProof="0" dirty="0" err="1">
                <a:latin typeface="Atkinson Hyperlegible"/>
              </a:rPr>
              <a:t>VHF</a:t>
            </a:r>
            <a:r>
              <a:rPr lang="es-ES" sz="3200" noProof="0" dirty="0">
                <a:latin typeface="Atkinson Hyperlegible"/>
              </a:rPr>
              <a:t>/</a:t>
            </a:r>
            <a:r>
              <a:rPr lang="es-ES" sz="3200" noProof="0" dirty="0" err="1">
                <a:latin typeface="Atkinson Hyperlegible"/>
              </a:rPr>
              <a:t>UHF</a:t>
            </a:r>
            <a:r>
              <a:rPr lang="es-ES" sz="3200" noProof="0" dirty="0">
                <a:latin typeface="Atkinson Hyperlegible"/>
              </a:rPr>
              <a:t>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3200" noProof="0" dirty="0">
                <a:latin typeface="Atkinson Hyperlegible"/>
              </a:rPr>
              <a:t>En la práctica, la planificación incluye coordinación para evitar interferencias entre servicios.</a:t>
            </a:r>
          </a:p>
          <a:p>
            <a:pPr algn="just"/>
            <a:endParaRPr lang="es-ES" sz="3200" noProof="0" dirty="0">
              <a:latin typeface="Atkinson Hyperlegible"/>
            </a:endParaRPr>
          </a:p>
          <a:p>
            <a:pPr algn="ctr"/>
            <a:r>
              <a:rPr lang="es-ES" sz="3200" b="1" noProof="0" dirty="0">
                <a:latin typeface="Atkinson Hyperlegible"/>
              </a:rPr>
              <a:t>PUNTO A PUNTO BUSCA “ENLACE”; </a:t>
            </a:r>
            <a:r>
              <a:rPr lang="es-ES" sz="3200" b="1" noProof="0" dirty="0" err="1">
                <a:latin typeface="Atkinson Hyperlegible"/>
              </a:rPr>
              <a:t>BROADCASTING</a:t>
            </a:r>
            <a:r>
              <a:rPr lang="es-ES" sz="3200" b="1" noProof="0" dirty="0">
                <a:latin typeface="Atkinson Hyperlegible"/>
              </a:rPr>
              <a:t> BUSCA “COBERTURA”.</a:t>
            </a:r>
            <a:endParaRPr lang="es-ES" sz="3600" b="1" noProof="0" dirty="0">
              <a:latin typeface="Atkinson Hyperlegible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F5CD3943-94FC-2463-B597-39F176AAB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1279" y="7411138"/>
            <a:ext cx="3871441" cy="18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461BFB9-4A49-7E9D-2B00-88EFAAEFE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657" y="7411138"/>
            <a:ext cx="3871441" cy="18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74517-C860-9898-093D-A2C52B59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04026CA-4459-59B6-C5B7-D3CA845DA1CB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3F25589-50DF-5621-EAC5-9C16FD8B59B6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BROADCASTING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8BB31A-5D28-F770-EF6C-28B232A68C39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>
                <a:latin typeface="Atkinson Hyperlegible"/>
              </a:rPr>
              <a:t>Punto a punto vs </a:t>
            </a:r>
            <a:r>
              <a:rPr lang="es-CL" sz="4000" dirty="0" err="1">
                <a:latin typeface="Atkinson Hyperlegible"/>
              </a:rPr>
              <a:t>Broadcasting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618E63-FE2E-C162-063A-A6DCB4B681BA}"/>
              </a:ext>
            </a:extLst>
          </p:cNvPr>
          <p:cNvSpPr txBox="1"/>
          <p:nvPr/>
        </p:nvSpPr>
        <p:spPr>
          <a:xfrm>
            <a:off x="921616" y="8840969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P.1546</a:t>
            </a:r>
            <a:r>
              <a:rPr lang="es-ES" sz="2400" dirty="0">
                <a:latin typeface="Atkinson Hyperlegible"/>
              </a:rPr>
              <a:t> — recomendación para predicción punto-área.</a:t>
            </a:r>
            <a:endParaRPr lang="es-CL" sz="2400" noProof="0" dirty="0">
              <a:latin typeface="Atkinson Hyperlegible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9B928F3-524F-391F-4CE7-DF3C19C22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630603"/>
              </p:ext>
            </p:extLst>
          </p:nvPr>
        </p:nvGraphicFramePr>
        <p:xfrm>
          <a:off x="1382157" y="2247951"/>
          <a:ext cx="17338674" cy="600456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779558">
                  <a:extLst>
                    <a:ext uri="{9D8B030D-6E8A-4147-A177-3AD203B41FA5}">
                      <a16:colId xmlns:a16="http://schemas.microsoft.com/office/drawing/2014/main" val="2837083870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1714831545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2309992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Criterio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Punto a punto (uno a uno)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Broadcasting (uno a muchos)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13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Objetivo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Conectar </a:t>
                      </a:r>
                      <a:r>
                        <a:rPr lang="es-CL" sz="3200" b="1"/>
                        <a:t>dos puntos</a:t>
                      </a:r>
                      <a:r>
                        <a:rPr lang="es-CL" sz="3200"/>
                        <a:t> específicos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Dar </a:t>
                      </a:r>
                      <a:r>
                        <a:rPr lang="es-CL" sz="3200" b="1"/>
                        <a:t>cobertura</a:t>
                      </a:r>
                      <a:r>
                        <a:rPr lang="es-CL" sz="3200"/>
                        <a:t> a un área/grupo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55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Diseño prioriza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200"/>
                        <a:t>Nivel de señal en </a:t>
                      </a:r>
                      <a:r>
                        <a:rPr lang="es-ES" sz="3200" b="1"/>
                        <a:t>un receptor</a:t>
                      </a:r>
                      <a:endParaRPr lang="es-ES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200"/>
                        <a:t>Calidad de recepción en </a:t>
                      </a:r>
                      <a:r>
                        <a:rPr lang="es-ES" sz="3200" b="1"/>
                        <a:t>múltiples receptores</a:t>
                      </a:r>
                      <a:endParaRPr lang="es-ES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93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Antenas típicas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Direccionales</a:t>
                      </a:r>
                      <a:r>
                        <a:rPr lang="es-CL" sz="3200"/>
                        <a:t> (cuando aplica)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Cobertura amplia</a:t>
                      </a:r>
                      <a:r>
                        <a:rPr lang="es-CL" sz="3200"/>
                        <a:t> según objetivo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81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Sensibilidad a interferencia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Afecta el enlace específico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200"/>
                        <a:t>Crítica por coexistencia y cobertura</a:t>
                      </a:r>
                      <a:endParaRPr lang="es-ES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9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Medida de éxito (conceptual)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“¿Llega con calidad al destino?”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200"/>
                        <a:t>“¿El área recibe con calidad aceptable?”</a:t>
                      </a:r>
                      <a:endParaRPr lang="es-ES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02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Ejemplo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Enlace entre dos sitios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Radiodifusión / cobertura a múltiples receptores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97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5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13456-7FEA-6B4D-AB33-A77886A0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6338B9F-C527-617F-529B-185231DD7B47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62EEDD71-53D2-10B5-4B11-E4328D0F691B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BROADCASTING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BC9B3E-5EB8-B83E-B6B9-81D9CB7B8E09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Actividad (12 min): Clasifique el tipo de servicio y la banda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331DA0-BC29-D9A5-6987-C8F57B3B4D04}"/>
              </a:ext>
            </a:extLst>
          </p:cNvPr>
          <p:cNvSpPr txBox="1"/>
          <p:nvPr/>
        </p:nvSpPr>
        <p:spPr>
          <a:xfrm>
            <a:off x="921616" y="8840969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P.1546</a:t>
            </a:r>
            <a:r>
              <a:rPr lang="es-ES" sz="2400" dirty="0">
                <a:latin typeface="Atkinson Hyperlegible"/>
              </a:rPr>
              <a:t> — recomendación para predicción punto-área.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1AB8AF2C-BF4D-E4F4-A9D5-6DEBE7ABF870}"/>
              </a:ext>
            </a:extLst>
          </p:cNvPr>
          <p:cNvSpPr/>
          <p:nvPr/>
        </p:nvSpPr>
        <p:spPr>
          <a:xfrm>
            <a:off x="1233601" y="2001996"/>
            <a:ext cx="18628366" cy="206210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 dirty="0">
                <a:latin typeface="Atkinson Hyperlegible"/>
              </a:rPr>
              <a:t>Instrucciones (3 pasos):</a:t>
            </a:r>
            <a:endParaRPr lang="es-ES" sz="3200" dirty="0">
              <a:latin typeface="Atkinson Hyperlegible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Para cada escenario, indique si es </a:t>
            </a:r>
            <a:r>
              <a:rPr lang="es-ES" sz="3200" b="1" dirty="0">
                <a:latin typeface="Atkinson Hyperlegible"/>
              </a:rPr>
              <a:t>Punto a punto</a:t>
            </a:r>
            <a:r>
              <a:rPr lang="es-ES" sz="3200" dirty="0">
                <a:latin typeface="Atkinson Hyperlegible"/>
              </a:rPr>
              <a:t> o </a:t>
            </a:r>
            <a:r>
              <a:rPr lang="es-ES" sz="3200" b="1" dirty="0" err="1">
                <a:latin typeface="Atkinson Hyperlegible"/>
              </a:rPr>
              <a:t>Broadcasting</a:t>
            </a:r>
            <a:r>
              <a:rPr lang="es-ES" sz="3200" dirty="0">
                <a:latin typeface="Atkinson Hyperlegible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Seleccione una banda posible (</a:t>
            </a:r>
            <a:r>
              <a:rPr lang="es-ES" sz="3200" b="1" dirty="0" err="1">
                <a:latin typeface="Atkinson Hyperlegible"/>
              </a:rPr>
              <a:t>VHF</a:t>
            </a:r>
            <a:r>
              <a:rPr lang="es-ES" sz="3200" b="1" dirty="0">
                <a:latin typeface="Atkinson Hyperlegible"/>
              </a:rPr>
              <a:t> / </a:t>
            </a:r>
            <a:r>
              <a:rPr lang="es-ES" sz="3200" b="1" dirty="0" err="1">
                <a:latin typeface="Atkinson Hyperlegible"/>
              </a:rPr>
              <a:t>UHF</a:t>
            </a:r>
            <a:r>
              <a:rPr lang="es-ES" sz="3200" dirty="0">
                <a:latin typeface="Atkinson Hyperlegible"/>
              </a:rPr>
              <a:t>) a nivel general.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Justifique con </a:t>
            </a:r>
            <a:r>
              <a:rPr lang="es-ES" sz="3200" b="1" dirty="0">
                <a:latin typeface="Atkinson Hyperlegible"/>
              </a:rPr>
              <a:t>1 criterio</a:t>
            </a:r>
            <a:r>
              <a:rPr lang="es-ES" sz="3200" dirty="0">
                <a:latin typeface="Atkinson Hyperlegible"/>
              </a:rPr>
              <a:t> (cobertura, obstáculos, entorno, movilidad, interferencia). 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B45496DF-6757-24A2-BF56-03D576C12658}"/>
              </a:ext>
            </a:extLst>
          </p:cNvPr>
          <p:cNvSpPr/>
          <p:nvPr/>
        </p:nvSpPr>
        <p:spPr>
          <a:xfrm>
            <a:off x="1206693" y="4064099"/>
            <a:ext cx="18628366" cy="353943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 dirty="0">
                <a:latin typeface="Atkinson Hyperlegible"/>
              </a:rPr>
              <a:t>Escenarios (6) — listos para usar</a:t>
            </a:r>
          </a:p>
          <a:p>
            <a:r>
              <a:rPr lang="es-ES" sz="3200" b="1" dirty="0">
                <a:latin typeface="Atkinson Hyperlegible"/>
              </a:rPr>
              <a:t>A.</a:t>
            </a:r>
            <a:r>
              <a:rPr lang="es-ES" sz="3200" dirty="0">
                <a:latin typeface="Atkinson Hyperlegible"/>
              </a:rPr>
              <a:t> Una estación transmite información a múltiples receptores en un área de cobertura definida.</a:t>
            </a:r>
            <a:br>
              <a:rPr lang="es-ES" sz="3200" dirty="0">
                <a:latin typeface="Atkinson Hyperlegible"/>
              </a:rPr>
            </a:br>
            <a:r>
              <a:rPr lang="es-ES" sz="3200" b="1" dirty="0">
                <a:latin typeface="Atkinson Hyperlegible"/>
              </a:rPr>
              <a:t>B.</a:t>
            </a:r>
            <a:r>
              <a:rPr lang="es-ES" sz="3200" dirty="0">
                <a:latin typeface="Atkinson Hyperlegible"/>
              </a:rPr>
              <a:t> Dos puntos fijos requieren comunicación directa y estable entre sí.</a:t>
            </a:r>
            <a:br>
              <a:rPr lang="es-ES" sz="3200" dirty="0">
                <a:latin typeface="Atkinson Hyperlegible"/>
              </a:rPr>
            </a:br>
            <a:r>
              <a:rPr lang="es-ES" sz="3200" b="1" dirty="0">
                <a:latin typeface="Atkinson Hyperlegible"/>
              </a:rPr>
              <a:t>C.</a:t>
            </a:r>
            <a:r>
              <a:rPr lang="es-ES" sz="3200" dirty="0">
                <a:latin typeface="Atkinson Hyperlegible"/>
              </a:rPr>
              <a:t> Comunicación táctica móvil en terreno con estaciones distribuidas.</a:t>
            </a:r>
            <a:br>
              <a:rPr lang="es-ES" sz="3200" dirty="0">
                <a:latin typeface="Atkinson Hyperlegible"/>
              </a:rPr>
            </a:br>
            <a:r>
              <a:rPr lang="es-ES" sz="3200" b="1" dirty="0">
                <a:latin typeface="Atkinson Hyperlegible"/>
              </a:rPr>
              <a:t>D.</a:t>
            </a:r>
            <a:r>
              <a:rPr lang="es-ES" sz="3200" dirty="0">
                <a:latin typeface="Atkinson Hyperlegible"/>
              </a:rPr>
              <a:t> Un emisor debe llegar a muchos receptores simultáneamente, priorizando cobertura regional.</a:t>
            </a:r>
            <a:br>
              <a:rPr lang="es-ES" sz="3200" dirty="0">
                <a:latin typeface="Atkinson Hyperlegible"/>
              </a:rPr>
            </a:br>
            <a:r>
              <a:rPr lang="es-ES" sz="3200" b="1" dirty="0">
                <a:latin typeface="Atkinson Hyperlegible"/>
              </a:rPr>
              <a:t>E.</a:t>
            </a:r>
            <a:r>
              <a:rPr lang="es-ES" sz="3200" dirty="0">
                <a:latin typeface="Atkinson Hyperlegible"/>
              </a:rPr>
              <a:t> Comunicación entre dos equipos específicos para coordinar una operación (destino único).</a:t>
            </a:r>
            <a:br>
              <a:rPr lang="es-ES" sz="3200" dirty="0">
                <a:latin typeface="Atkinson Hyperlegible"/>
              </a:rPr>
            </a:br>
            <a:r>
              <a:rPr lang="es-ES" sz="3200" b="1" dirty="0">
                <a:latin typeface="Atkinson Hyperlegible"/>
              </a:rPr>
              <a:t>F.</a:t>
            </a:r>
            <a:r>
              <a:rPr lang="es-ES" sz="3200" dirty="0">
                <a:latin typeface="Atkinson Hyperlegible"/>
              </a:rPr>
              <a:t> Transmisión a múltiples receptores, donde la coexistencia e interferencias son un factor crítico</a:t>
            </a:r>
            <a:r>
              <a:rPr lang="es-ES" sz="32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75F9038-D064-DB47-441E-4EEB97A216DB}"/>
              </a:ext>
            </a:extLst>
          </p:cNvPr>
          <p:cNvSpPr txBox="1"/>
          <p:nvPr/>
        </p:nvSpPr>
        <p:spPr>
          <a:xfrm>
            <a:off x="4620718" y="7899083"/>
            <a:ext cx="12408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b="1" dirty="0">
                <a:latin typeface="Atkinson Hyperlegible"/>
              </a:rPr>
              <a:t>A–F:</a:t>
            </a:r>
            <a:r>
              <a:rPr lang="es-CL" sz="2800" dirty="0">
                <a:latin typeface="Atkinson Hyperlegible"/>
              </a:rPr>
              <a:t> </a:t>
            </a:r>
            <a:r>
              <a:rPr lang="es-CL" sz="2800" i="1" dirty="0">
                <a:latin typeface="Atkinson Hyperlegible"/>
              </a:rPr>
              <a:t>(Tipo de servicio) + (Banda) + (1 criterio)</a:t>
            </a:r>
            <a:br>
              <a:rPr lang="es-CL" sz="2800" dirty="0">
                <a:latin typeface="Atkinson Hyperlegible"/>
              </a:rPr>
            </a:br>
            <a:r>
              <a:rPr lang="es-CL" sz="2800" dirty="0">
                <a:latin typeface="Atkinson Hyperlegible"/>
              </a:rPr>
              <a:t>Ejemplo: </a:t>
            </a:r>
            <a:r>
              <a:rPr lang="es-CL" sz="2800" b="1" dirty="0">
                <a:latin typeface="Atkinson Hyperlegible"/>
              </a:rPr>
              <a:t>A: </a:t>
            </a:r>
            <a:r>
              <a:rPr lang="es-CL" sz="2800" b="1" dirty="0" err="1">
                <a:latin typeface="Atkinson Hyperlegible"/>
              </a:rPr>
              <a:t>Broadcasting</a:t>
            </a:r>
            <a:r>
              <a:rPr lang="es-CL" sz="2800" b="1" dirty="0">
                <a:latin typeface="Atkinson Hyperlegible"/>
              </a:rPr>
              <a:t> + </a:t>
            </a:r>
            <a:r>
              <a:rPr lang="es-CL" sz="2800" b="1" dirty="0" err="1">
                <a:latin typeface="Atkinson Hyperlegible"/>
              </a:rPr>
              <a:t>VHF</a:t>
            </a:r>
            <a:r>
              <a:rPr lang="es-CL" sz="2800" b="1" dirty="0">
                <a:latin typeface="Atkinson Hyperlegible"/>
              </a:rPr>
              <a:t>/</a:t>
            </a:r>
            <a:r>
              <a:rPr lang="es-CL" sz="2800" b="1" dirty="0" err="1">
                <a:latin typeface="Atkinson Hyperlegible"/>
              </a:rPr>
              <a:t>UHF</a:t>
            </a:r>
            <a:r>
              <a:rPr lang="es-CL" sz="2800" b="1" dirty="0">
                <a:latin typeface="Atkinson Hyperlegible"/>
              </a:rPr>
              <a:t> + “cobertura”</a:t>
            </a:r>
            <a:endParaRPr lang="es-CL" sz="28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101644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7DA30-C717-4D18-227D-F663749F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915B3ED-7851-5A3B-71BA-68B5862DEAC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36942EA-F6F1-0D52-7C82-8F7DEBEBE495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noProof="0" dirty="0" err="1">
                <a:latin typeface="Atkinson Hyperlegible" pitchFamily="2" charset="77"/>
              </a:rPr>
              <a:t>BROADCASTING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4DF38C-5AB3-4655-ACB3-19842003F821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Repaso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08AE484-71B1-DC45-21AF-19CA108BC337}"/>
              </a:ext>
            </a:extLst>
          </p:cNvPr>
          <p:cNvSpPr txBox="1"/>
          <p:nvPr/>
        </p:nvSpPr>
        <p:spPr>
          <a:xfrm>
            <a:off x="921616" y="8840969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P.1546</a:t>
            </a:r>
            <a:r>
              <a:rPr lang="es-ES" sz="2400" dirty="0">
                <a:latin typeface="Atkinson Hyperlegible"/>
              </a:rPr>
              <a:t> — recomendación para predicción punto-área.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17" name="5 Rectángulo">
            <a:extLst>
              <a:ext uri="{FF2B5EF4-FFF2-40B4-BE49-F238E27FC236}">
                <a16:creationId xmlns:a16="http://schemas.microsoft.com/office/drawing/2014/main" id="{CF52A209-384B-2E1E-AB0F-3A3756086E20}"/>
              </a:ext>
            </a:extLst>
          </p:cNvPr>
          <p:cNvSpPr/>
          <p:nvPr/>
        </p:nvSpPr>
        <p:spPr>
          <a:xfrm>
            <a:off x="1233601" y="2001996"/>
            <a:ext cx="18628366" cy="206210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 dirty="0">
                <a:latin typeface="Atkinson Hyperlegible"/>
              </a:rPr>
              <a:t>Responda en 3 líneas:</a:t>
            </a:r>
            <a:endParaRPr lang="es-ES" sz="3200" dirty="0">
              <a:latin typeface="Atkinson Hyperlegible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Defina </a:t>
            </a:r>
            <a:r>
              <a:rPr lang="es-ES" sz="3200" b="1" dirty="0" err="1">
                <a:latin typeface="Atkinson Hyperlegible"/>
              </a:rPr>
              <a:t>broadcasting</a:t>
            </a:r>
            <a:r>
              <a:rPr lang="es-ES" sz="3200" dirty="0">
                <a:latin typeface="Atkinson Hyperlegible"/>
              </a:rPr>
              <a:t> en una frase.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Indique una diferencia clave entre </a:t>
            </a:r>
            <a:r>
              <a:rPr lang="es-ES" sz="3200" b="1" dirty="0">
                <a:latin typeface="Atkinson Hyperlegible"/>
              </a:rPr>
              <a:t>punto a punto</a:t>
            </a:r>
            <a:r>
              <a:rPr lang="es-ES" sz="3200" dirty="0">
                <a:latin typeface="Atkinson Hyperlegible"/>
              </a:rPr>
              <a:t> y </a:t>
            </a:r>
            <a:r>
              <a:rPr lang="es-ES" sz="3200" b="1" dirty="0" err="1">
                <a:latin typeface="Atkinson Hyperlegible"/>
              </a:rPr>
              <a:t>broadcasting</a:t>
            </a:r>
            <a:r>
              <a:rPr lang="es-ES" sz="3200" dirty="0">
                <a:latin typeface="Atkinson Hyperlegible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tkinson Hyperlegible"/>
              </a:rPr>
              <a:t>Mencione </a:t>
            </a:r>
            <a:r>
              <a:rPr lang="es-ES" sz="3200" b="1" dirty="0">
                <a:latin typeface="Atkinson Hyperlegible"/>
              </a:rPr>
              <a:t>1 criterio</a:t>
            </a:r>
            <a:r>
              <a:rPr lang="es-ES" sz="3200" dirty="0">
                <a:latin typeface="Atkinson Hyperlegible"/>
              </a:rPr>
              <a:t> que usaría para escoger entre </a:t>
            </a:r>
            <a:r>
              <a:rPr lang="es-ES" sz="3200" b="1" dirty="0" err="1">
                <a:latin typeface="Atkinson Hyperlegible"/>
              </a:rPr>
              <a:t>VHF</a:t>
            </a:r>
            <a:r>
              <a:rPr lang="es-ES" sz="3200" b="1" dirty="0">
                <a:latin typeface="Atkinson Hyperlegible"/>
              </a:rPr>
              <a:t> / </a:t>
            </a:r>
            <a:r>
              <a:rPr lang="es-ES" sz="3200" b="1" dirty="0" err="1">
                <a:latin typeface="Atkinson Hyperlegible"/>
              </a:rPr>
              <a:t>UHF</a:t>
            </a:r>
            <a:r>
              <a:rPr lang="es-ES" sz="3200" dirty="0">
                <a:latin typeface="Atkinson Hyperlegible"/>
              </a:rPr>
              <a:t>.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0DC0A099-1C48-B629-BD7C-1EEB2D83E84B}"/>
              </a:ext>
            </a:extLst>
          </p:cNvPr>
          <p:cNvSpPr/>
          <p:nvPr/>
        </p:nvSpPr>
        <p:spPr>
          <a:xfrm>
            <a:off x="1206693" y="4239181"/>
            <a:ext cx="18628366" cy="255454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 dirty="0"/>
              <a:t>Módulo 5 (2.5.3): Tecnologías </a:t>
            </a:r>
            <a:r>
              <a:rPr lang="es-ES" sz="3200" b="1" dirty="0" err="1"/>
              <a:t>VHF</a:t>
            </a:r>
            <a:r>
              <a:rPr lang="es-ES" sz="3200" b="1" dirty="0"/>
              <a:t> y </a:t>
            </a:r>
            <a:r>
              <a:rPr lang="es-ES" sz="3200" b="1" dirty="0" err="1"/>
              <a:t>UHF</a:t>
            </a:r>
            <a:endParaRPr lang="es-ES" sz="3200" dirty="0"/>
          </a:p>
          <a:p>
            <a:r>
              <a:rPr lang="es-ES" sz="3200" dirty="0"/>
              <a:t>¿Qué tecnologías existen a nivel general? </a:t>
            </a:r>
          </a:p>
          <a:p>
            <a:r>
              <a:rPr lang="es-ES" sz="3200" dirty="0"/>
              <a:t>¿Qué criterios se usan para seleccionarlas? </a:t>
            </a:r>
          </a:p>
          <a:p>
            <a:br>
              <a:rPr lang="es-ES" sz="3200" dirty="0"/>
            </a:br>
            <a:r>
              <a:rPr lang="es-ES" sz="3200" b="1" dirty="0"/>
              <a:t>Distinguimos “tipo de servicio”; ahora veremos “tecnologías” y criterios de selección.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67338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B0B89-9CB0-5D7D-0141-97978ED6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8BD5F36-BB21-F33C-9CA5-1700B825348D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04AFAE09-D473-0BD0-78AC-6403CC802E9E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F7439A-9A25-9D40-2BD5-8E9485E03180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¿Qué son “tecnologías </a:t>
            </a:r>
            <a:r>
              <a:rPr lang="es-MX" sz="4000" dirty="0" err="1"/>
              <a:t>VHF</a:t>
            </a:r>
            <a:r>
              <a:rPr lang="es-MX" sz="4000" dirty="0"/>
              <a:t>/</a:t>
            </a:r>
            <a:r>
              <a:rPr lang="es-MX" sz="4000" dirty="0" err="1"/>
              <a:t>UHF</a:t>
            </a:r>
            <a:r>
              <a:rPr lang="es-MX" sz="4000" dirty="0"/>
              <a:t>” en el contexto del curso?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0BFA68A-9AC0-43C8-A84B-2E882C4C9226}"/>
              </a:ext>
            </a:extLst>
          </p:cNvPr>
          <p:cNvSpPr txBox="1"/>
          <p:nvPr/>
        </p:nvSpPr>
        <p:spPr>
          <a:xfrm>
            <a:off x="498283" y="9463347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pt-BR" sz="2400" b="1" dirty="0">
                <a:latin typeface="Atkinson Hyperlegible"/>
              </a:rPr>
              <a:t>ITU-R </a:t>
            </a:r>
            <a:r>
              <a:rPr lang="pt-BR" sz="2400" b="1" dirty="0" err="1">
                <a:latin typeface="Atkinson Hyperlegible"/>
              </a:rPr>
              <a:t>V.431</a:t>
            </a:r>
            <a:r>
              <a:rPr lang="pt-BR" sz="2400" b="1" dirty="0">
                <a:latin typeface="Atkinson Hyperlegible"/>
              </a:rPr>
              <a:t>-8</a:t>
            </a:r>
            <a:r>
              <a:rPr lang="pt-BR" sz="2400" dirty="0">
                <a:latin typeface="Atkinson Hyperlegible"/>
              </a:rPr>
              <a:t> — nomenclatura de bandas (</a:t>
            </a:r>
            <a:r>
              <a:rPr lang="pt-BR" sz="2400" dirty="0" err="1">
                <a:latin typeface="Atkinson Hyperlegible"/>
              </a:rPr>
              <a:t>HF</a:t>
            </a:r>
            <a:r>
              <a:rPr lang="pt-BR" sz="2400" dirty="0">
                <a:latin typeface="Atkinson Hyperlegible"/>
              </a:rPr>
              <a:t>/VHF/UHF)</a:t>
            </a:r>
            <a:r>
              <a:rPr lang="es-ES" sz="2400" dirty="0">
                <a:latin typeface="Atkinson Hyperlegible"/>
              </a:rPr>
              <a:t>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592B4714-B070-0C48-0704-E2329462F8FD}"/>
              </a:ext>
            </a:extLst>
          </p:cNvPr>
          <p:cNvSpPr/>
          <p:nvPr/>
        </p:nvSpPr>
        <p:spPr>
          <a:xfrm>
            <a:off x="948268" y="1606607"/>
            <a:ext cx="18641436" cy="5078313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Son </a:t>
            </a:r>
            <a:r>
              <a:rPr lang="es-MX" sz="3600" b="1" dirty="0">
                <a:latin typeface="Atkinson Hyperlegible"/>
              </a:rPr>
              <a:t>sistemas de comunicación</a:t>
            </a:r>
            <a:r>
              <a:rPr lang="es-MX" sz="3600" dirty="0">
                <a:latin typeface="Atkinson Hyperlegible"/>
              </a:rPr>
              <a:t> que operan dentro de las bandas </a:t>
            </a:r>
            <a:r>
              <a:rPr lang="es-MX" sz="3600" b="1" dirty="0" err="1">
                <a:latin typeface="Atkinson Hyperlegible"/>
              </a:rPr>
              <a:t>VHF</a:t>
            </a:r>
            <a:r>
              <a:rPr lang="es-MX" sz="3600" b="1" dirty="0">
                <a:latin typeface="Atkinson Hyperlegible"/>
              </a:rPr>
              <a:t> (Muy Alta Frecuencia)</a:t>
            </a:r>
            <a:r>
              <a:rPr lang="es-MX" sz="3600" dirty="0">
                <a:latin typeface="Atkinson Hyperlegible"/>
              </a:rPr>
              <a:t> y </a:t>
            </a:r>
            <a:r>
              <a:rPr lang="es-MX" sz="3600" b="1" dirty="0" err="1">
                <a:latin typeface="Atkinson Hyperlegible"/>
              </a:rPr>
              <a:t>UHF</a:t>
            </a:r>
            <a:r>
              <a:rPr lang="es-MX" sz="3600" b="1" dirty="0">
                <a:latin typeface="Atkinson Hyperlegible"/>
              </a:rPr>
              <a:t> (Ultra Alta Frecuencia)</a:t>
            </a:r>
            <a:r>
              <a:rPr lang="es-MX" sz="3600" dirty="0">
                <a:latin typeface="Atkinson Hyperlegible"/>
              </a:rPr>
              <a:t>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No son solo “frecuencia”: incluyen </a:t>
            </a:r>
            <a:r>
              <a:rPr lang="es-MX" sz="3600" b="1" dirty="0">
                <a:latin typeface="Atkinson Hyperlegible"/>
              </a:rPr>
              <a:t>equipos, antenas, esquema de operación y tipo de servicio</a:t>
            </a:r>
            <a:r>
              <a:rPr lang="es-MX" sz="3600" dirty="0">
                <a:latin typeface="Atkinson Hyperlegible"/>
              </a:rPr>
              <a:t>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Se diseñan según el </a:t>
            </a:r>
            <a:r>
              <a:rPr lang="es-MX" sz="3600" b="1" dirty="0">
                <a:latin typeface="Atkinson Hyperlegible"/>
              </a:rPr>
              <a:t>propósito del sistema</a:t>
            </a:r>
            <a:r>
              <a:rPr lang="es-MX" sz="3600" dirty="0">
                <a:latin typeface="Atkinson Hyperlegible"/>
              </a:rPr>
              <a:t>: voz, datos, cobertura o enlace operativo.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La elección depende de: </a:t>
            </a:r>
            <a:r>
              <a:rPr lang="es-MX" sz="3600" b="1" dirty="0">
                <a:latin typeface="Atkinson Hyperlegible"/>
              </a:rPr>
              <a:t>entorno</a:t>
            </a:r>
            <a:r>
              <a:rPr lang="es-MX" sz="3600" dirty="0">
                <a:latin typeface="Atkinson Hyperlegible"/>
              </a:rPr>
              <a:t>, </a:t>
            </a:r>
            <a:r>
              <a:rPr lang="es-MX" sz="3600" b="1" dirty="0">
                <a:latin typeface="Atkinson Hyperlegible"/>
              </a:rPr>
              <a:t>movilidad</a:t>
            </a:r>
            <a:r>
              <a:rPr lang="es-MX" sz="3600" dirty="0">
                <a:latin typeface="Atkinson Hyperlegible"/>
              </a:rPr>
              <a:t>, </a:t>
            </a:r>
            <a:r>
              <a:rPr lang="es-MX" sz="3600" b="1" dirty="0">
                <a:latin typeface="Atkinson Hyperlegible"/>
              </a:rPr>
              <a:t>alcance requerido</a:t>
            </a:r>
            <a:r>
              <a:rPr lang="es-MX" sz="3600" dirty="0">
                <a:latin typeface="Atkinson Hyperlegible"/>
              </a:rPr>
              <a:t> y </a:t>
            </a:r>
            <a:r>
              <a:rPr lang="es-MX" sz="3600" b="1" dirty="0">
                <a:latin typeface="Atkinson Hyperlegible"/>
              </a:rPr>
              <a:t>robustez</a:t>
            </a:r>
            <a:r>
              <a:rPr lang="es-MX" sz="3600" dirty="0">
                <a:latin typeface="Atkinson Hyperlegible"/>
              </a:rPr>
              <a:t>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En este módulo analizamos la tecnología desde el </a:t>
            </a:r>
            <a:r>
              <a:rPr lang="es-MX" sz="3600" b="1" dirty="0">
                <a:latin typeface="Atkinson Hyperlegible"/>
              </a:rPr>
              <a:t>uso práctico</a:t>
            </a:r>
            <a:r>
              <a:rPr lang="es-MX" sz="3600" dirty="0">
                <a:latin typeface="Atkinson Hyperlegible"/>
              </a:rPr>
              <a:t>, no desde el protocolo interno.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Siempre deben operar bajo la </a:t>
            </a:r>
            <a:r>
              <a:rPr lang="es-MX" sz="3600" b="1" dirty="0">
                <a:latin typeface="Atkinson Hyperlegible"/>
              </a:rPr>
              <a:t>atribución y regulación del espectro</a:t>
            </a:r>
            <a:r>
              <a:rPr lang="es-MX" sz="3600" dirty="0">
                <a:latin typeface="Atkinson Hyperlegible"/>
              </a:rPr>
              <a:t>. </a:t>
            </a:r>
          </a:p>
          <a:p>
            <a:pPr algn="just"/>
            <a:endParaRPr lang="es-MX" sz="3600" dirty="0">
              <a:latin typeface="Atkinson Hyperlegible"/>
            </a:endParaRPr>
          </a:p>
          <a:p>
            <a:pPr algn="ctr"/>
            <a:r>
              <a:rPr lang="es-MX" sz="3600" b="1" dirty="0">
                <a:latin typeface="Atkinson Hyperlegible"/>
              </a:rPr>
              <a:t>Tecnología = banda + equipo + propósito + entorno de operación.</a:t>
            </a:r>
            <a:endParaRPr lang="es-MX" sz="3600" dirty="0">
              <a:latin typeface="Atkinson Hyperlegible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B15B895-5204-50C1-1C73-0B8A079EE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472" y="7810213"/>
            <a:ext cx="2629064" cy="1476556"/>
          </a:xfrm>
          <a:prstGeom prst="rect">
            <a:avLst/>
          </a:prstGeom>
        </p:spPr>
      </p:pic>
      <p:pic>
        <p:nvPicPr>
          <p:cNvPr id="4" name="3 Imagen">
            <a:extLst>
              <a:ext uri="{FF2B5EF4-FFF2-40B4-BE49-F238E27FC236}">
                <a16:creationId xmlns:a16="http://schemas.microsoft.com/office/drawing/2014/main" id="{393CB3A6-F626-5E7E-E744-E22A8ABE6A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174" y="7593077"/>
            <a:ext cx="2138377" cy="178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4E1C60C9-51A7-8A3C-1108-1906487EE3EE}"/>
              </a:ext>
            </a:extLst>
          </p:cNvPr>
          <p:cNvGrpSpPr/>
          <p:nvPr/>
        </p:nvGrpSpPr>
        <p:grpSpPr>
          <a:xfrm>
            <a:off x="11529851" y="7120119"/>
            <a:ext cx="3679583" cy="5238783"/>
            <a:chOff x="232868" y="1237484"/>
            <a:chExt cx="3679583" cy="5238783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40624C28-DC82-653A-1228-B7EACAA25625}"/>
                </a:ext>
              </a:extLst>
            </p:cNvPr>
            <p:cNvGrpSpPr/>
            <p:nvPr/>
          </p:nvGrpSpPr>
          <p:grpSpPr>
            <a:xfrm>
              <a:off x="232868" y="1237484"/>
              <a:ext cx="3571655" cy="5238783"/>
              <a:chOff x="232868" y="1237484"/>
              <a:chExt cx="3571655" cy="5238783"/>
            </a:xfrm>
          </p:grpSpPr>
          <p:sp>
            <p:nvSpPr>
              <p:cNvPr id="38" name="CuadroTexto 197">
                <a:extLst>
                  <a:ext uri="{FF2B5EF4-FFF2-40B4-BE49-F238E27FC236}">
                    <a16:creationId xmlns:a16="http://schemas.microsoft.com/office/drawing/2014/main" id="{A772D202-DFDD-3137-0191-9BB14E703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868" y="6137713"/>
                <a:ext cx="330093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s-CL" altLang="es-CL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69817A9-83CA-9502-F6EA-BC75E90851AD}"/>
                  </a:ext>
                </a:extLst>
              </p:cNvPr>
              <p:cNvSpPr/>
              <p:nvPr/>
            </p:nvSpPr>
            <p:spPr>
              <a:xfrm>
                <a:off x="779649" y="1237484"/>
                <a:ext cx="3024874" cy="31033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2632040E-15C6-D739-C4A7-9EF6916BA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3411" y="1599910"/>
                <a:ext cx="0" cy="2740905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C0BBFC90-9867-6018-223F-83261F80BA82}"/>
                </a:ext>
              </a:extLst>
            </p:cNvPr>
            <p:cNvGrpSpPr/>
            <p:nvPr/>
          </p:nvGrpSpPr>
          <p:grpSpPr>
            <a:xfrm>
              <a:off x="904061" y="2594283"/>
              <a:ext cx="2245193" cy="455961"/>
              <a:chOff x="904061" y="2594283"/>
              <a:chExt cx="2245193" cy="455961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11BA5B9A-51BF-CF37-6010-D38121833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4061" y="2594283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496527DF-5A0E-6077-39C1-D361BF47D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4434" y="2600182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3BBB1B6F-1C37-AB8B-A952-5AAAAAD5F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09" y="2600182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3CCE587-E76A-7C19-7F3A-773FD3FAF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99192" y="2594283"/>
                <a:ext cx="450062" cy="450062"/>
              </a:xfrm>
              <a:prstGeom prst="rect">
                <a:avLst/>
              </a:prstGeom>
            </p:spPr>
          </p:pic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9D074066-8187-6B50-9BCA-177C2BBA68D4}"/>
                </a:ext>
              </a:extLst>
            </p:cNvPr>
            <p:cNvGrpSpPr/>
            <p:nvPr/>
          </p:nvGrpSpPr>
          <p:grpSpPr>
            <a:xfrm>
              <a:off x="911150" y="3230971"/>
              <a:ext cx="2245193" cy="455961"/>
              <a:chOff x="914209" y="2548116"/>
              <a:chExt cx="2245193" cy="455961"/>
            </a:xfrm>
          </p:grpSpPr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46362DC8-3016-1744-461C-D8889C15BF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209" y="2548116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FA4D8840-CBCB-B53E-B97E-11CEC59C5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4582" y="2554015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FBE3FA74-769A-64C5-1424-8BFCC79314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38157" y="2554015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C92E6656-76DB-ED2E-B6DC-B2F2ECE41B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9340" y="2548116"/>
                <a:ext cx="450062" cy="450062"/>
              </a:xfrm>
              <a:prstGeom prst="rect">
                <a:avLst/>
              </a:prstGeom>
            </p:spPr>
          </p:pic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EB149853-D555-7C7D-270C-81575500FE12}"/>
                </a:ext>
              </a:extLst>
            </p:cNvPr>
            <p:cNvGrpSpPr/>
            <p:nvPr/>
          </p:nvGrpSpPr>
          <p:grpSpPr>
            <a:xfrm>
              <a:off x="904061" y="3836932"/>
              <a:ext cx="2838568" cy="462090"/>
              <a:chOff x="914001" y="2468268"/>
              <a:chExt cx="2838568" cy="462090"/>
            </a:xfrm>
          </p:grpSpPr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9D3C2015-74F6-AD02-D24A-6D0078341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001" y="2474397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5C28992F-413D-92B5-6DF2-816F3FB5AA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4374" y="2480296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6C0E4EB7-D3B6-5496-2AD9-63981FF82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37949" y="2480296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27" name="Imagen 26">
                <a:extLst>
                  <a:ext uri="{FF2B5EF4-FFF2-40B4-BE49-F238E27FC236}">
                    <a16:creationId xmlns:a16="http://schemas.microsoft.com/office/drawing/2014/main" id="{FD9E29BF-9100-5A70-2B79-2FF19D094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9132" y="2474397"/>
                <a:ext cx="450062" cy="450062"/>
              </a:xfrm>
              <a:prstGeom prst="rect">
                <a:avLst/>
              </a:prstGeom>
            </p:spPr>
          </p:pic>
          <p:pic>
            <p:nvPicPr>
              <p:cNvPr id="28" name="Imagen 27">
                <a:extLst>
                  <a:ext uri="{FF2B5EF4-FFF2-40B4-BE49-F238E27FC236}">
                    <a16:creationId xmlns:a16="http://schemas.microsoft.com/office/drawing/2014/main" id="{E9906586-2105-302D-34D5-1B5DAE21AB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2507" y="2468268"/>
                <a:ext cx="450062" cy="450062"/>
              </a:xfrm>
              <a:prstGeom prst="rect">
                <a:avLst/>
              </a:prstGeom>
            </p:spPr>
          </p:pic>
        </p:grpSp>
        <p:sp>
          <p:nvSpPr>
            <p:cNvPr id="15" name="142 CuadroTexto">
              <a:extLst>
                <a:ext uri="{FF2B5EF4-FFF2-40B4-BE49-F238E27FC236}">
                  <a16:creationId xmlns:a16="http://schemas.microsoft.com/office/drawing/2014/main" id="{747998C6-37FA-C7BB-17E0-54A71887E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006" y="1565134"/>
              <a:ext cx="646835" cy="357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defRPr sz="28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1pPr>
              <a:lvl2pPr marL="457200" eaLnBrk="0" hangingPunct="0">
                <a:lnSpc>
                  <a:spcPct val="90000"/>
                </a:lnSpc>
                <a:spcBef>
                  <a:spcPts val="500"/>
                </a:spcBef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2pPr>
              <a:lvl3pPr marL="914400" eaLnBrk="0" hangingPunct="0">
                <a:lnSpc>
                  <a:spcPct val="90000"/>
                </a:lnSpc>
                <a:spcBef>
                  <a:spcPts val="500"/>
                </a:spcBef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3pPr>
              <a:lvl4pPr marL="13716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4pPr>
              <a:lvl5pPr marL="18288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5pPr>
              <a:lvl6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6pPr>
              <a:lvl7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7pPr>
              <a:lvl8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8pPr>
              <a:lvl9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lnSpc>
                  <a:spcPts val="2400"/>
                </a:lnSpc>
                <a:spcBef>
                  <a:spcPct val="0"/>
                </a:spcBef>
              </a:pPr>
              <a:r>
                <a:rPr lang="es-CL" altLang="es-CL" sz="1200" b="1" dirty="0" err="1">
                  <a:solidFill>
                    <a:srgbClr val="292934"/>
                  </a:solidFill>
                  <a:latin typeface="Arial Narrow" panose="020B0606020202030204" pitchFamily="34" charset="0"/>
                </a:rPr>
                <a:t>VCO</a:t>
              </a:r>
              <a:endParaRPr lang="es-CL" altLang="es-CL" sz="1100" dirty="0">
                <a:solidFill>
                  <a:srgbClr val="292934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6" name="142 CuadroTexto">
              <a:extLst>
                <a:ext uri="{FF2B5EF4-FFF2-40B4-BE49-F238E27FC236}">
                  <a16:creationId xmlns:a16="http://schemas.microsoft.com/office/drawing/2014/main" id="{8AB73248-C94D-C7C0-2318-F7C34EDF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232" y="1542217"/>
              <a:ext cx="53140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defRPr sz="28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1pPr>
              <a:lvl2pPr marL="457200" eaLnBrk="0" hangingPunct="0">
                <a:lnSpc>
                  <a:spcPct val="90000"/>
                </a:lnSpc>
                <a:spcBef>
                  <a:spcPts val="500"/>
                </a:spcBef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2pPr>
              <a:lvl3pPr marL="914400" eaLnBrk="0" hangingPunct="0">
                <a:lnSpc>
                  <a:spcPct val="90000"/>
                </a:lnSpc>
                <a:spcBef>
                  <a:spcPts val="500"/>
                </a:spcBef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3pPr>
              <a:lvl4pPr marL="13716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4pPr>
              <a:lvl5pPr marL="18288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5pPr>
              <a:lvl6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6pPr>
              <a:lvl7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7pPr>
              <a:lvl8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8pPr>
              <a:lvl9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lnSpc>
                  <a:spcPts val="2400"/>
                </a:lnSpc>
                <a:spcBef>
                  <a:spcPct val="0"/>
                </a:spcBef>
              </a:pPr>
              <a:r>
                <a:rPr lang="es-CL" altLang="es-CL" sz="1200" b="1" dirty="0">
                  <a:solidFill>
                    <a:srgbClr val="292934"/>
                  </a:solidFill>
                  <a:latin typeface="Arial Narrow" panose="020B0606020202030204" pitchFamily="34" charset="0"/>
                </a:rPr>
                <a:t>POC</a:t>
              </a:r>
              <a:endParaRPr lang="es-CL" altLang="es-CL" sz="1100" dirty="0">
                <a:solidFill>
                  <a:srgbClr val="292934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" name="142 CuadroTexto">
              <a:extLst>
                <a:ext uri="{FF2B5EF4-FFF2-40B4-BE49-F238E27FC236}">
                  <a16:creationId xmlns:a16="http://schemas.microsoft.com/office/drawing/2014/main" id="{344D16E2-E23D-9676-883B-6AFFAA531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7914" y="1545928"/>
              <a:ext cx="6278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defRPr sz="28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1pPr>
              <a:lvl2pPr marL="457200" eaLnBrk="0" hangingPunct="0">
                <a:lnSpc>
                  <a:spcPct val="90000"/>
                </a:lnSpc>
                <a:spcBef>
                  <a:spcPts val="500"/>
                </a:spcBef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2pPr>
              <a:lvl3pPr marL="914400" eaLnBrk="0" hangingPunct="0">
                <a:lnSpc>
                  <a:spcPct val="90000"/>
                </a:lnSpc>
                <a:spcBef>
                  <a:spcPts val="500"/>
                </a:spcBef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3pPr>
              <a:lvl4pPr marL="13716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4pPr>
              <a:lvl5pPr marL="18288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5pPr>
              <a:lvl6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6pPr>
              <a:lvl7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7pPr>
              <a:lvl8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8pPr>
              <a:lvl9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lnSpc>
                  <a:spcPts val="2400"/>
                </a:lnSpc>
                <a:spcBef>
                  <a:spcPct val="0"/>
                </a:spcBef>
              </a:pPr>
              <a:r>
                <a:rPr lang="es-CL" altLang="es-CL" sz="1200" b="1" dirty="0">
                  <a:solidFill>
                    <a:srgbClr val="292934"/>
                  </a:solidFill>
                  <a:latin typeface="Arial Narrow" panose="020B0606020202030204" pitchFamily="34" charset="0"/>
                </a:rPr>
                <a:t>DATOS</a:t>
              </a:r>
              <a:endParaRPr lang="es-CL" altLang="es-CL" sz="1100" dirty="0">
                <a:solidFill>
                  <a:srgbClr val="292934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9" name="142 CuadroTexto">
              <a:extLst>
                <a:ext uri="{FF2B5EF4-FFF2-40B4-BE49-F238E27FC236}">
                  <a16:creationId xmlns:a16="http://schemas.microsoft.com/office/drawing/2014/main" id="{0577CECA-5AA3-5C90-6844-41B45DD1B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5578" y="1545928"/>
              <a:ext cx="7047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defRPr sz="28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1pPr>
              <a:lvl2pPr marL="457200" eaLnBrk="0" hangingPunct="0">
                <a:lnSpc>
                  <a:spcPct val="90000"/>
                </a:lnSpc>
                <a:spcBef>
                  <a:spcPts val="500"/>
                </a:spcBef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2pPr>
              <a:lvl3pPr marL="914400" eaLnBrk="0" hangingPunct="0">
                <a:lnSpc>
                  <a:spcPct val="90000"/>
                </a:lnSpc>
                <a:spcBef>
                  <a:spcPts val="500"/>
                </a:spcBef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3pPr>
              <a:lvl4pPr marL="13716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4pPr>
              <a:lvl5pPr marL="18288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5pPr>
              <a:lvl6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6pPr>
              <a:lvl7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7pPr>
              <a:lvl8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8pPr>
              <a:lvl9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lnSpc>
                  <a:spcPts val="2400"/>
                </a:lnSpc>
                <a:spcBef>
                  <a:spcPct val="0"/>
                </a:spcBef>
              </a:pPr>
              <a:r>
                <a:rPr lang="es-CL" altLang="es-CL" sz="1200" b="1" dirty="0">
                  <a:solidFill>
                    <a:srgbClr val="292934"/>
                  </a:solidFill>
                  <a:latin typeface="Arial Narrow" panose="020B0606020202030204" pitchFamily="34" charset="0"/>
                </a:rPr>
                <a:t>RADIAL</a:t>
              </a:r>
              <a:endParaRPr lang="es-CL" altLang="es-CL" sz="1100" dirty="0">
                <a:solidFill>
                  <a:srgbClr val="292934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0" name="142 CuadroTexto">
              <a:extLst>
                <a:ext uri="{FF2B5EF4-FFF2-40B4-BE49-F238E27FC236}">
                  <a16:creationId xmlns:a16="http://schemas.microsoft.com/office/drawing/2014/main" id="{77385CFA-0D6F-6D0E-9B95-CBDE52740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844" y="1535730"/>
              <a:ext cx="8336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defRPr sz="28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1pPr>
              <a:lvl2pPr marL="457200" eaLnBrk="0" hangingPunct="0">
                <a:lnSpc>
                  <a:spcPct val="90000"/>
                </a:lnSpc>
                <a:spcBef>
                  <a:spcPts val="500"/>
                </a:spcBef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2pPr>
              <a:lvl3pPr marL="914400" eaLnBrk="0" hangingPunct="0">
                <a:lnSpc>
                  <a:spcPct val="90000"/>
                </a:lnSpc>
                <a:spcBef>
                  <a:spcPts val="500"/>
                </a:spcBef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3pPr>
              <a:lvl4pPr marL="13716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4pPr>
              <a:lvl5pPr marL="1828800" eaLnBrk="0" hangingPunct="0">
                <a:lnSpc>
                  <a:spcPct val="90000"/>
                </a:lnSpc>
                <a:spcBef>
                  <a:spcPts val="500"/>
                </a:spcBef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5pPr>
              <a:lvl6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6pPr>
              <a:lvl7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7pPr>
              <a:lvl8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8pPr>
              <a:lvl9pPr indent="-228600" defTabSz="449263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Calibri" panose="020F050202020403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s-ES" altLang="es-CL" sz="1200" b="1" dirty="0">
                  <a:solidFill>
                    <a:srgbClr val="292934"/>
                  </a:solidFill>
                  <a:latin typeface="Arial Narrow" panose="020B0606020202030204" pitchFamily="34" charset="0"/>
                </a:rPr>
                <a:t>LIVE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s-ES" altLang="es-CL" sz="1200" b="1" dirty="0">
                  <a:solidFill>
                    <a:srgbClr val="292934"/>
                  </a:solidFill>
                  <a:latin typeface="Arial Narrow" panose="020B0606020202030204" pitchFamily="34" charset="0"/>
                </a:rPr>
                <a:t>STREAM</a:t>
              </a:r>
              <a:endParaRPr lang="es-CL" altLang="es-CL" sz="1100" dirty="0">
                <a:solidFill>
                  <a:srgbClr val="292934"/>
                </a:solidFill>
                <a:latin typeface="Arial Narrow" panose="020B0606020202030204" pitchFamily="34" charset="0"/>
              </a:endParaRP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A5632C9-AB52-594A-244E-A7932171B9E1}"/>
                </a:ext>
              </a:extLst>
            </p:cNvPr>
            <p:cNvCxnSpPr>
              <a:cxnSpLocks/>
            </p:cNvCxnSpPr>
            <p:nvPr/>
          </p:nvCxnSpPr>
          <p:spPr>
            <a:xfrm>
              <a:off x="2053832" y="1599910"/>
              <a:ext cx="0" cy="2740905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9EE75593-CC7D-0C8E-56C1-4AEE9035A315}"/>
                </a:ext>
              </a:extLst>
            </p:cNvPr>
            <p:cNvCxnSpPr>
              <a:cxnSpLocks/>
            </p:cNvCxnSpPr>
            <p:nvPr/>
          </p:nvCxnSpPr>
          <p:spPr>
            <a:xfrm>
              <a:off x="2630779" y="1594890"/>
              <a:ext cx="0" cy="2745925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0D92B31-987F-40AB-6FBD-E9773FF43A06}"/>
                </a:ext>
              </a:extLst>
            </p:cNvPr>
            <p:cNvCxnSpPr>
              <a:cxnSpLocks/>
            </p:cNvCxnSpPr>
            <p:nvPr/>
          </p:nvCxnSpPr>
          <p:spPr>
            <a:xfrm>
              <a:off x="3212900" y="1585071"/>
              <a:ext cx="0" cy="2755744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98D2AC1-2FC2-09DA-62F8-3573E9557966}"/>
              </a:ext>
            </a:extLst>
          </p:cNvPr>
          <p:cNvSpPr/>
          <p:nvPr/>
        </p:nvSpPr>
        <p:spPr>
          <a:xfrm>
            <a:off x="12089028" y="9612653"/>
            <a:ext cx="3027039" cy="6107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0FDE8BA-9AC7-DACE-D276-56814A75E683}"/>
              </a:ext>
            </a:extLst>
          </p:cNvPr>
          <p:cNvSpPr/>
          <p:nvPr/>
        </p:nvSpPr>
        <p:spPr>
          <a:xfrm>
            <a:off x="12062332" y="6970621"/>
            <a:ext cx="3051081" cy="5002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AE9568B-68CF-A359-E0D5-CE870E7172EB}"/>
              </a:ext>
            </a:extLst>
          </p:cNvPr>
          <p:cNvSpPr/>
          <p:nvPr/>
        </p:nvSpPr>
        <p:spPr>
          <a:xfrm>
            <a:off x="12821189" y="7071134"/>
            <a:ext cx="1557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s-CL" altLang="es-CL" b="1" dirty="0">
                <a:solidFill>
                  <a:schemeClr val="bg1"/>
                </a:solidFill>
                <a:latin typeface="Arial Narrow" panose="020B0606020202030204" pitchFamily="34" charset="0"/>
              </a:rPr>
              <a:t>CAPACIDADES</a:t>
            </a:r>
            <a:endParaRPr lang="es-CL" altLang="es-CL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7F3A62D-EBE0-3682-D5DE-7898324CCFF8}"/>
              </a:ext>
            </a:extLst>
          </p:cNvPr>
          <p:cNvSpPr/>
          <p:nvPr/>
        </p:nvSpPr>
        <p:spPr>
          <a:xfrm>
            <a:off x="12086376" y="8412626"/>
            <a:ext cx="3027039" cy="6107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8" name="Gráfico 47" descr="América en globo terráqueo">
            <a:extLst>
              <a:ext uri="{FF2B5EF4-FFF2-40B4-BE49-F238E27FC236}">
                <a16:creationId xmlns:a16="http://schemas.microsoft.com/office/drawing/2014/main" id="{9849269E-203C-7F42-0A48-F352A4BD42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00789" y="7826636"/>
            <a:ext cx="526552" cy="526552"/>
          </a:xfrm>
          <a:prstGeom prst="rect">
            <a:avLst/>
          </a:prstGeom>
        </p:spPr>
      </p:pic>
      <p:pic>
        <p:nvPicPr>
          <p:cNvPr id="49" name="Gráfico 48" descr="Torre de telefonía">
            <a:extLst>
              <a:ext uri="{FF2B5EF4-FFF2-40B4-BE49-F238E27FC236}">
                <a16:creationId xmlns:a16="http://schemas.microsoft.com/office/drawing/2014/main" id="{B7DE859B-7AFE-96CB-94A7-15886D1C77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74000" y="7823823"/>
            <a:ext cx="502454" cy="502454"/>
          </a:xfrm>
          <a:prstGeom prst="rect">
            <a:avLst/>
          </a:prstGeom>
        </p:spPr>
      </p:pic>
      <p:pic>
        <p:nvPicPr>
          <p:cNvPr id="50" name="Gráfico 49" descr="Enrutador inalámbrico">
            <a:extLst>
              <a:ext uri="{FF2B5EF4-FFF2-40B4-BE49-F238E27FC236}">
                <a16:creationId xmlns:a16="http://schemas.microsoft.com/office/drawing/2014/main" id="{5BC3F938-AD89-839D-A63D-A68BC91258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360387" y="7801433"/>
            <a:ext cx="571933" cy="571933"/>
          </a:xfrm>
          <a:prstGeom prst="rect">
            <a:avLst/>
          </a:prstGeom>
        </p:spPr>
      </p:pic>
      <p:pic>
        <p:nvPicPr>
          <p:cNvPr id="51" name="Gráfico 50" descr="Internet">
            <a:extLst>
              <a:ext uri="{FF2B5EF4-FFF2-40B4-BE49-F238E27FC236}">
                <a16:creationId xmlns:a16="http://schemas.microsoft.com/office/drawing/2014/main" id="{5ED1B986-0677-B103-DBE7-2D331E2954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95427" y="7819282"/>
            <a:ext cx="611001" cy="611001"/>
          </a:xfrm>
          <a:prstGeom prst="rect">
            <a:avLst/>
          </a:prstGeom>
        </p:spPr>
      </p:pic>
      <p:pic>
        <p:nvPicPr>
          <p:cNvPr id="52" name="Gráfico 51" descr="Objetivo">
            <a:extLst>
              <a:ext uri="{FF2B5EF4-FFF2-40B4-BE49-F238E27FC236}">
                <a16:creationId xmlns:a16="http://schemas.microsoft.com/office/drawing/2014/main" id="{AF93E778-6BFC-2790-149D-9053B5CF640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536531" y="7838871"/>
            <a:ext cx="520885" cy="52088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DA71E340-0CF9-E0A7-1106-F48D056171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599" y="8482817"/>
            <a:ext cx="450062" cy="450062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934B1272-EC0E-E3AD-AD2B-7ACFC503602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020" y="9103969"/>
            <a:ext cx="450062" cy="450062"/>
          </a:xfrm>
          <a:prstGeom prst="rect">
            <a:avLst/>
          </a:prstGeom>
        </p:spPr>
      </p:pic>
      <p:pic>
        <p:nvPicPr>
          <p:cNvPr id="1026" name="Picture 2" descr="Entorno Operativo 2035">
            <a:extLst>
              <a:ext uri="{FF2B5EF4-FFF2-40B4-BE49-F238E27FC236}">
                <a16:creationId xmlns:a16="http://schemas.microsoft.com/office/drawing/2014/main" id="{FF79A490-458C-74D1-3D85-9913DD6B1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203" y="7425877"/>
            <a:ext cx="3425293" cy="272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Cruz 54">
            <a:extLst>
              <a:ext uri="{FF2B5EF4-FFF2-40B4-BE49-F238E27FC236}">
                <a16:creationId xmlns:a16="http://schemas.microsoft.com/office/drawing/2014/main" id="{C3FE2C1D-F834-C4ED-02DB-0AE520C72632}"/>
              </a:ext>
            </a:extLst>
          </p:cNvPr>
          <p:cNvSpPr/>
          <p:nvPr/>
        </p:nvSpPr>
        <p:spPr>
          <a:xfrm>
            <a:off x="7583984" y="8189569"/>
            <a:ext cx="914400" cy="914400"/>
          </a:xfrm>
          <a:prstGeom prst="plus">
            <a:avLst>
              <a:gd name="adj" fmla="val 3409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6" name="Cruz 55">
            <a:extLst>
              <a:ext uri="{FF2B5EF4-FFF2-40B4-BE49-F238E27FC236}">
                <a16:creationId xmlns:a16="http://schemas.microsoft.com/office/drawing/2014/main" id="{DEC61A87-2C8F-E74D-A2DF-D6FF7989A173}"/>
              </a:ext>
            </a:extLst>
          </p:cNvPr>
          <p:cNvSpPr/>
          <p:nvPr/>
        </p:nvSpPr>
        <p:spPr>
          <a:xfrm>
            <a:off x="11040839" y="8189569"/>
            <a:ext cx="914400" cy="914400"/>
          </a:xfrm>
          <a:prstGeom prst="plus">
            <a:avLst>
              <a:gd name="adj" fmla="val 3409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7" name="Cruz 56">
            <a:extLst>
              <a:ext uri="{FF2B5EF4-FFF2-40B4-BE49-F238E27FC236}">
                <a16:creationId xmlns:a16="http://schemas.microsoft.com/office/drawing/2014/main" id="{D4564923-4503-1147-0794-3DCB3F109937}"/>
              </a:ext>
            </a:extLst>
          </p:cNvPr>
          <p:cNvSpPr/>
          <p:nvPr/>
        </p:nvSpPr>
        <p:spPr>
          <a:xfrm>
            <a:off x="15477460" y="8189569"/>
            <a:ext cx="914400" cy="914400"/>
          </a:xfrm>
          <a:prstGeom prst="plus">
            <a:avLst>
              <a:gd name="adj" fmla="val 3409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604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7E996-99D4-AC53-68DD-CFE1D1FA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3A4B2A2-9202-EC07-5BB5-46DE6F21837E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AB9EEC2C-5EAD-3FF2-CB46-F28E0A1977DD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B2DB8C-BAB8-2A76-F080-8CA00C04ECDE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Categorías generales de tecnologías </a:t>
            </a:r>
            <a:r>
              <a:rPr lang="es-MX" sz="4000" dirty="0" err="1"/>
              <a:t>VHF</a:t>
            </a:r>
            <a:r>
              <a:rPr lang="es-MX" sz="4000" dirty="0"/>
              <a:t>/</a:t>
            </a:r>
            <a:r>
              <a:rPr lang="es-MX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048DFCC-4B2E-107E-3695-57AC43263535}"/>
              </a:ext>
            </a:extLst>
          </p:cNvPr>
          <p:cNvSpPr txBox="1"/>
          <p:nvPr/>
        </p:nvSpPr>
        <p:spPr>
          <a:xfrm>
            <a:off x="498283" y="9463347"/>
            <a:ext cx="10785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pt-BR" sz="2400" b="1" dirty="0">
                <a:latin typeface="Atkinson Hyperlegible"/>
              </a:rPr>
              <a:t>ITU-R </a:t>
            </a:r>
            <a:r>
              <a:rPr lang="pt-BR" sz="2400" b="1" dirty="0" err="1">
                <a:latin typeface="Atkinson Hyperlegible"/>
              </a:rPr>
              <a:t>V.431</a:t>
            </a:r>
            <a:r>
              <a:rPr lang="pt-BR" sz="2400" b="1" dirty="0">
                <a:latin typeface="Atkinson Hyperlegible"/>
              </a:rPr>
              <a:t>-8</a:t>
            </a:r>
            <a:r>
              <a:rPr lang="pt-BR" sz="2400" dirty="0">
                <a:latin typeface="Atkinson Hyperlegible"/>
              </a:rPr>
              <a:t> — nomenclatura de bandas (</a:t>
            </a:r>
            <a:r>
              <a:rPr lang="pt-BR" sz="2400" dirty="0" err="1">
                <a:latin typeface="Atkinson Hyperlegible"/>
              </a:rPr>
              <a:t>HF</a:t>
            </a:r>
            <a:r>
              <a:rPr lang="pt-BR" sz="2400" dirty="0">
                <a:latin typeface="Atkinson Hyperlegible"/>
              </a:rPr>
              <a:t>/VHF/UHF)</a:t>
            </a:r>
            <a:r>
              <a:rPr lang="es-ES" sz="2400" dirty="0">
                <a:latin typeface="Atkinson Hyperlegible"/>
              </a:rPr>
              <a:t>.</a:t>
            </a:r>
            <a:endParaRPr lang="es-CL" sz="24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4E3D7D46-5DF6-ADB7-B6EB-F8EC114D63FE}"/>
              </a:ext>
            </a:extLst>
          </p:cNvPr>
          <p:cNvSpPr/>
          <p:nvPr/>
        </p:nvSpPr>
        <p:spPr>
          <a:xfrm>
            <a:off x="880535" y="2098019"/>
            <a:ext cx="18641436" cy="56323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Las tecnologías en </a:t>
            </a:r>
            <a:r>
              <a:rPr lang="es-MX" sz="3600" dirty="0" err="1">
                <a:latin typeface="Atkinson Hyperlegible"/>
              </a:rPr>
              <a:t>VHF</a:t>
            </a:r>
            <a:r>
              <a:rPr lang="es-MX" sz="3600" dirty="0">
                <a:latin typeface="Atkinson Hyperlegible"/>
              </a:rPr>
              <a:t>/</a:t>
            </a:r>
            <a:r>
              <a:rPr lang="es-MX" sz="3600" dirty="0" err="1">
                <a:latin typeface="Atkinson Hyperlegible"/>
              </a:rPr>
              <a:t>UHF</a:t>
            </a:r>
            <a:r>
              <a:rPr lang="es-MX" sz="3600" dirty="0">
                <a:latin typeface="Atkinson Hyperlegible"/>
              </a:rPr>
              <a:t> se clasifican según su propósito operativo, no solo por la frecuencia.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Categorías </a:t>
            </a:r>
            <a:r>
              <a:rPr lang="es-MX" sz="3600" dirty="0" err="1">
                <a:latin typeface="Atkinson Hyperlegible"/>
              </a:rPr>
              <a:t>generales:Comunicaciones</a:t>
            </a:r>
            <a:r>
              <a:rPr lang="es-MX" sz="3600" dirty="0">
                <a:latin typeface="Atkinson Hyperlegible"/>
              </a:rPr>
              <a:t> móviles (voz/datos entre usuarios).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Sistemas de cobertura / servicio (uno a muchos — </a:t>
            </a:r>
            <a:r>
              <a:rPr lang="es-MX" sz="3600" dirty="0" err="1">
                <a:latin typeface="Atkinson Hyperlegible"/>
              </a:rPr>
              <a:t>broadcasting</a:t>
            </a:r>
            <a:r>
              <a:rPr lang="es-MX" sz="3600" dirty="0">
                <a:latin typeface="Atkinson Hyperlegible"/>
              </a:rPr>
              <a:t>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Enlaces operacionales específicos (misión/seguridad/coordinación).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Cada categoría prioriza criterios distintos: movilidad, cobertura, robustez o estabilidad del enlace.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La banda (</a:t>
            </a:r>
            <a:r>
              <a:rPr lang="es-MX" sz="3600" dirty="0" err="1">
                <a:latin typeface="Atkinson Hyperlegible"/>
              </a:rPr>
              <a:t>VHF</a:t>
            </a:r>
            <a:r>
              <a:rPr lang="es-MX" sz="3600" dirty="0">
                <a:latin typeface="Atkinson Hyperlegible"/>
              </a:rPr>
              <a:t>/</a:t>
            </a:r>
            <a:r>
              <a:rPr lang="es-MX" sz="3600" dirty="0" err="1">
                <a:latin typeface="Atkinson Hyperlegible"/>
              </a:rPr>
              <a:t>UHF</a:t>
            </a:r>
            <a:r>
              <a:rPr lang="es-MX" sz="3600" dirty="0">
                <a:latin typeface="Atkinson Hyperlegible"/>
              </a:rPr>
              <a:t>) influye, pero el objetivo del sistema define la tecnología.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MX" sz="3600" dirty="0">
                <a:latin typeface="Atkinson Hyperlegible"/>
              </a:rPr>
              <a:t>El diseño siempre considera interferencia y entorno.</a:t>
            </a:r>
          </a:p>
          <a:p>
            <a:pPr algn="ctr"/>
            <a:r>
              <a:rPr lang="es-MX" sz="3600" b="1" dirty="0">
                <a:latin typeface="Atkinson Hyperlegible"/>
              </a:rPr>
              <a:t>Primero se define el propósito; luego se elige la tecnología dentro de </a:t>
            </a:r>
            <a:r>
              <a:rPr lang="es-MX" sz="3600" b="1" dirty="0" err="1">
                <a:latin typeface="Atkinson Hyperlegible"/>
              </a:rPr>
              <a:t>VHF</a:t>
            </a:r>
            <a:r>
              <a:rPr lang="es-MX" sz="3600" b="1" dirty="0">
                <a:latin typeface="Atkinson Hyperlegible"/>
              </a:rPr>
              <a:t>/</a:t>
            </a:r>
            <a:r>
              <a:rPr lang="es-MX" sz="3600" b="1" dirty="0" err="1">
                <a:latin typeface="Atkinson Hyperlegible"/>
              </a:rPr>
              <a:t>UHF</a:t>
            </a:r>
            <a:r>
              <a:rPr lang="es-MX" sz="3600" b="1" dirty="0">
                <a:latin typeface="Atkinson Hyperlegible"/>
              </a:rPr>
              <a:t>.</a:t>
            </a:r>
            <a:endParaRPr lang="es-MX" sz="36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101725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7071F-13A9-8B8E-9DF5-C6D99D65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2E8C33-133F-49D3-7EEA-0DAED35C5ED0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7FB349F8-3B15-A861-AB23-A952F1F6FD27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CBB871-8D5D-1D28-C6C6-A66298833C63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Servicios y protocolos en tecnologías </a:t>
            </a:r>
            <a:r>
              <a:rPr lang="es-MX" sz="4000" dirty="0" err="1"/>
              <a:t>VHF</a:t>
            </a:r>
            <a:r>
              <a:rPr lang="es-MX" sz="4000" dirty="0"/>
              <a:t>/</a:t>
            </a:r>
            <a:r>
              <a:rPr lang="es-MX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9325B6C0-773F-5837-25C9-C4491EBE71A6}"/>
              </a:ext>
            </a:extLst>
          </p:cNvPr>
          <p:cNvSpPr/>
          <p:nvPr/>
        </p:nvSpPr>
        <p:spPr>
          <a:xfrm>
            <a:off x="1513464" y="3392517"/>
            <a:ext cx="16131069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600" dirty="0">
                <a:latin typeface="Atkinson Hyperlegible"/>
              </a:rPr>
              <a:t>En </a:t>
            </a:r>
            <a:r>
              <a:rPr lang="es-MX" sz="3600" dirty="0" err="1">
                <a:latin typeface="Atkinson Hyperlegible"/>
              </a:rPr>
              <a:t>VHF</a:t>
            </a:r>
            <a:r>
              <a:rPr lang="es-MX" sz="3600" dirty="0">
                <a:latin typeface="Atkinson Hyperlegible"/>
              </a:rPr>
              <a:t>/</a:t>
            </a:r>
            <a:r>
              <a:rPr lang="es-MX" sz="3600" dirty="0" err="1">
                <a:latin typeface="Atkinson Hyperlegible"/>
              </a:rPr>
              <a:t>UHF</a:t>
            </a:r>
            <a:r>
              <a:rPr lang="es-MX" sz="3600" dirty="0">
                <a:latin typeface="Atkinson Hyperlegible"/>
              </a:rPr>
              <a:t> se pueden transmitir: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Voz operativa</a:t>
            </a:r>
            <a:r>
              <a:rPr lang="es-MX" sz="3600" dirty="0">
                <a:latin typeface="Atkinson Hyperlegible"/>
              </a:rPr>
              <a:t> (coordinación, seguridad, servicios críticos)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Datos digitales</a:t>
            </a:r>
            <a:r>
              <a:rPr lang="es-MX" sz="3600" dirty="0">
                <a:latin typeface="Atkinson Hyperlegible"/>
              </a:rPr>
              <a:t> (mensajería, telemetría, posicionamiento)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 err="1">
                <a:latin typeface="Atkinson Hyperlegible"/>
              </a:rPr>
              <a:t>Broadcasting</a:t>
            </a:r>
            <a:r>
              <a:rPr lang="es-MX" sz="3600" b="1" dirty="0">
                <a:latin typeface="Atkinson Hyperlegible"/>
              </a:rPr>
              <a:t> (radiodifusión)</a:t>
            </a:r>
            <a:r>
              <a:rPr lang="es-MX" sz="3600" dirty="0">
                <a:latin typeface="Atkinson Hyperlegible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Aplicaciones tácticas/militares</a:t>
            </a:r>
            <a:r>
              <a:rPr lang="es-MX" sz="3600" dirty="0">
                <a:latin typeface="Atkinson Hyperlegible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Telemetría y control remoto</a:t>
            </a:r>
            <a:r>
              <a:rPr lang="es-MX" sz="3600" dirty="0">
                <a:latin typeface="Atkinson Hyperlegible"/>
              </a:rPr>
              <a:t> </a:t>
            </a:r>
          </a:p>
          <a:p>
            <a:pPr algn="ctr"/>
            <a:br>
              <a:rPr lang="es-MX" sz="3600" dirty="0">
                <a:latin typeface="Atkinson Hyperlegible"/>
              </a:rPr>
            </a:br>
            <a:r>
              <a:rPr lang="es-MX" sz="3600" b="1" dirty="0">
                <a:latin typeface="Atkinson Hyperlegible"/>
              </a:rPr>
              <a:t>La tecnología se selecciona según el servicio requerido y el entorno operacional</a:t>
            </a:r>
            <a:r>
              <a:rPr lang="es-MX" sz="3600" dirty="0">
                <a:latin typeface="Atkinson Hyperlegible"/>
              </a:rPr>
              <a:t>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7A32E08-075F-6E35-CEC6-F37586B97F8E}"/>
              </a:ext>
            </a:extLst>
          </p:cNvPr>
          <p:cNvSpPr/>
          <p:nvPr/>
        </p:nvSpPr>
        <p:spPr>
          <a:xfrm>
            <a:off x="6292234" y="1929131"/>
            <a:ext cx="7519631" cy="707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i="1" dirty="0">
                <a:latin typeface="Atkinson Hyperlegible"/>
              </a:rPr>
              <a:t>SERVICIOS</a:t>
            </a:r>
          </a:p>
        </p:txBody>
      </p:sp>
    </p:spTree>
    <p:extLst>
      <p:ext uri="{BB962C8B-B14F-4D97-AF65-F5344CB8AC3E}">
        <p14:creationId xmlns:p14="http://schemas.microsoft.com/office/powerpoint/2010/main" val="85759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CE5CB-B907-91F0-ABBA-CDDAE985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73643AF-F704-855C-1580-BC0771D52AE0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2BB4207F-70D7-A41F-F336-C0EB3B22D8AD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7D1232-1D4A-2565-4888-B0F8C8E5EEFC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Servicios y protocolos en tecnologías </a:t>
            </a:r>
            <a:r>
              <a:rPr lang="es-MX" sz="4000" dirty="0" err="1"/>
              <a:t>VHF</a:t>
            </a:r>
            <a:r>
              <a:rPr lang="es-MX" sz="4000" dirty="0"/>
              <a:t>/</a:t>
            </a:r>
            <a:r>
              <a:rPr lang="es-MX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953F10FA-D127-2EA6-021A-E635A891EA8F}"/>
              </a:ext>
            </a:extLst>
          </p:cNvPr>
          <p:cNvSpPr/>
          <p:nvPr/>
        </p:nvSpPr>
        <p:spPr>
          <a:xfrm>
            <a:off x="1513464" y="3392517"/>
            <a:ext cx="18146132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600" dirty="0">
                <a:latin typeface="Atkinson Hyperlegible"/>
              </a:rPr>
              <a:t>Las tecnologías </a:t>
            </a:r>
            <a:r>
              <a:rPr lang="es-MX" sz="3600" dirty="0" err="1">
                <a:latin typeface="Atkinson Hyperlegible"/>
              </a:rPr>
              <a:t>VHF</a:t>
            </a:r>
            <a:r>
              <a:rPr lang="es-MX" sz="3600" dirty="0">
                <a:latin typeface="Atkinson Hyperlegible"/>
              </a:rPr>
              <a:t>/</a:t>
            </a:r>
            <a:r>
              <a:rPr lang="es-MX" sz="3600" dirty="0" err="1">
                <a:latin typeface="Atkinson Hyperlegible"/>
              </a:rPr>
              <a:t>UHF</a:t>
            </a:r>
            <a:r>
              <a:rPr lang="es-MX" sz="3600" dirty="0">
                <a:latin typeface="Atkinson Hyperlegible"/>
              </a:rPr>
              <a:t> pueden operar mediante: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Modulación analógica</a:t>
            </a:r>
            <a:r>
              <a:rPr lang="es-MX" sz="3600" dirty="0">
                <a:latin typeface="Atkinson Hyperlegible"/>
              </a:rPr>
              <a:t> (ej. voz tradicional)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Modulación digital</a:t>
            </a:r>
            <a:r>
              <a:rPr lang="es-MX" sz="3600" dirty="0">
                <a:latin typeface="Atkinson Hyperlegible"/>
              </a:rPr>
              <a:t> (voz/datos digitales)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Esquemas de acceso al canal</a:t>
            </a:r>
            <a:r>
              <a:rPr lang="es-MX" sz="3600" dirty="0">
                <a:latin typeface="Atkinson Hyperlegible"/>
              </a:rPr>
              <a:t> (gestión del uso compartido del espectro)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Mecanismos de cifrado y autenticación</a:t>
            </a:r>
            <a:r>
              <a:rPr lang="es-MX" sz="3600" dirty="0">
                <a:latin typeface="Atkinson Hyperlegible"/>
              </a:rPr>
              <a:t> (entornos críticos/militares)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b="1" dirty="0">
                <a:latin typeface="Atkinson Hyperlegible"/>
              </a:rPr>
              <a:t>Gestión de red y direccionamiento lógico</a:t>
            </a:r>
            <a:r>
              <a:rPr lang="es-MX" sz="3600" dirty="0">
                <a:latin typeface="Atkinson Hyperlegible"/>
              </a:rPr>
              <a:t> (en redes organizadas)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MX" sz="3600" dirty="0">
              <a:latin typeface="Atkinson Hyperlegible"/>
            </a:endParaRPr>
          </a:p>
          <a:p>
            <a:pPr algn="ctr"/>
            <a:r>
              <a:rPr lang="es-MX" sz="3600" b="1" dirty="0">
                <a:latin typeface="Atkinson Hyperlegible"/>
              </a:rPr>
              <a:t>No todos los sistemas usan los mismos protocolos; dependen del servicio y regulación.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90D7E3A-8E92-E169-E4DB-438D66707EA9}"/>
              </a:ext>
            </a:extLst>
          </p:cNvPr>
          <p:cNvSpPr/>
          <p:nvPr/>
        </p:nvSpPr>
        <p:spPr>
          <a:xfrm>
            <a:off x="4311034" y="2063829"/>
            <a:ext cx="12145668" cy="707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i="1" dirty="0">
                <a:latin typeface="Atkinson Hyperlegible"/>
              </a:rPr>
              <a:t>PROTOCOLOS Y ESQUEMAS TÉCNICOS</a:t>
            </a:r>
            <a:endParaRPr lang="es-MX" sz="4000" b="1" i="1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73D55D-CC00-E9DC-FF2F-F1E509003995}"/>
              </a:ext>
            </a:extLst>
          </p:cNvPr>
          <p:cNvSpPr txBox="1"/>
          <p:nvPr/>
        </p:nvSpPr>
        <p:spPr>
          <a:xfrm>
            <a:off x="921617" y="9366139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), capitulo 5.</a:t>
            </a:r>
            <a:endParaRPr lang="es-CL" sz="2400" noProof="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54471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A689E-CE51-4C1D-94E3-13877881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33C8FF6-94C4-70B8-280C-50E2C325EBD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506951EE-9A08-8567-2418-53C6A05D869E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26DFF4-2F3F-777F-5E38-5F195681AFDD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 err="1"/>
              <a:t>VHF</a:t>
            </a:r>
            <a:r>
              <a:rPr lang="es-MX" sz="4000" dirty="0"/>
              <a:t> vs </a:t>
            </a:r>
            <a:r>
              <a:rPr lang="es-MX" sz="4000" dirty="0" err="1"/>
              <a:t>UHF</a:t>
            </a:r>
            <a:r>
              <a:rPr lang="es-MX" sz="4000" dirty="0"/>
              <a:t>: diferencias técnicas y aplicación práctica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C448AB-9D7B-0211-0026-FAD5E969BADA}"/>
              </a:ext>
            </a:extLst>
          </p:cNvPr>
          <p:cNvSpPr txBox="1"/>
          <p:nvPr/>
        </p:nvSpPr>
        <p:spPr>
          <a:xfrm>
            <a:off x="921617" y="9366139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noProof="0" dirty="0" err="1">
                <a:latin typeface="Atkinson Hyperlegible"/>
              </a:rPr>
              <a:t>ITU</a:t>
            </a:r>
            <a:r>
              <a:rPr lang="es-CL" sz="2400" noProof="0" dirty="0">
                <a:latin typeface="Atkinson Hyperlegible"/>
              </a:rPr>
              <a:t> Radio </a:t>
            </a:r>
            <a:r>
              <a:rPr lang="es-CL" sz="2400" noProof="0" dirty="0" err="1">
                <a:latin typeface="Atkinson Hyperlegible"/>
              </a:rPr>
              <a:t>Regulations</a:t>
            </a:r>
            <a:r>
              <a:rPr lang="es-CL" sz="2400" noProof="0" dirty="0">
                <a:latin typeface="Atkinson Hyperlegible"/>
              </a:rPr>
              <a:t> (Ed. 2024</a:t>
            </a:r>
            <a:r>
              <a:rPr lang="es-CL" sz="2400" noProof="0" dirty="0"/>
              <a:t>), capitulo 5.</a:t>
            </a:r>
            <a:endParaRPr lang="es-CL" sz="2400" noProof="0" dirty="0">
              <a:latin typeface="Atkinson Hyperlegible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B74D44A-6F1C-A8D8-D10E-9604C362C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477013"/>
              </p:ext>
            </p:extLst>
          </p:nvPr>
        </p:nvGraphicFramePr>
        <p:xfrm>
          <a:off x="1382157" y="2069254"/>
          <a:ext cx="17338674" cy="493776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779558">
                  <a:extLst>
                    <a:ext uri="{9D8B030D-6E8A-4147-A177-3AD203B41FA5}">
                      <a16:colId xmlns:a16="http://schemas.microsoft.com/office/drawing/2014/main" val="948155880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2981853973"/>
                    </a:ext>
                  </a:extLst>
                </a:gridCol>
                <a:gridCol w="5779558">
                  <a:extLst>
                    <a:ext uri="{9D8B030D-6E8A-4147-A177-3AD203B41FA5}">
                      <a16:colId xmlns:a16="http://schemas.microsoft.com/office/drawing/2014/main" val="378831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Característica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VHF (Muy Alta Frecuencia)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b="1"/>
                        <a:t>UHF (Ultra Alta Frecuencia)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9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Longitud de onda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Mayor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Menor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641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Comportamiento frente a obstáculos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200"/>
                        <a:t>Mejor desempeño en áreas abiertas</a:t>
                      </a:r>
                      <a:endParaRPr lang="es-MX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200"/>
                        <a:t>Mejor desempeño en entornos urbanos</a:t>
                      </a:r>
                      <a:endParaRPr lang="es-MX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40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Penetración en estructuras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Limitada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Generalmente mejor en interiores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790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Tamaño típico de antena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Mayor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Más compacta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999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/>
                        <a:t>Uso típico</a:t>
                      </a:r>
                      <a:endParaRPr lang="es-CL" sz="32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Cobertura regional / movilidad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200" dirty="0"/>
                        <a:t>Entornos urbanos / equipos portátiles</a:t>
                      </a:r>
                      <a:endParaRPr lang="es-CL" sz="3200" dirty="0">
                        <a:latin typeface="Atkinson Hyperlegibl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220934"/>
                  </a:ext>
                </a:extLst>
              </a:tr>
            </a:tbl>
          </a:graphicData>
        </a:graphic>
      </p:graphicFrame>
      <p:pic>
        <p:nvPicPr>
          <p:cNvPr id="3074" name="Picture 2" descr="DIFERENCIAS ENTRE ZONA RURAL Y URBANA La población rural es el conjunto de  personas que vive en el campo en localidades con menos de 2000 habitantes.  La población urbana es aquella que">
            <a:extLst>
              <a:ext uri="{FF2B5EF4-FFF2-40B4-BE49-F238E27FC236}">
                <a16:creationId xmlns:a16="http://schemas.microsoft.com/office/drawing/2014/main" id="{E8C16051-DE93-D274-3E92-A6059C404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7354005"/>
            <a:ext cx="5458258" cy="3056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65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AFEB1-C64E-2AD8-7AEF-58D72C5F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5F703C1-6226-6DD5-53FF-DE2BF5B9E3F8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E6D5241-EF43-1B8D-BEA7-9C7A6934D651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C0B249-0F03-4B73-7F18-306614789862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Ventajas y limitaciones técnicas de </a:t>
            </a:r>
            <a:r>
              <a:rPr lang="es-MX" sz="4000" dirty="0" err="1"/>
              <a:t>VHF</a:t>
            </a:r>
            <a:r>
              <a:rPr lang="es-MX" sz="4000" dirty="0"/>
              <a:t> y </a:t>
            </a:r>
            <a:r>
              <a:rPr lang="es-MX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423C4957-D931-06CF-D871-F5DBB982CDE6}"/>
              </a:ext>
            </a:extLst>
          </p:cNvPr>
          <p:cNvSpPr/>
          <p:nvPr/>
        </p:nvSpPr>
        <p:spPr>
          <a:xfrm>
            <a:off x="1513464" y="3392517"/>
            <a:ext cx="18146132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600" b="1" dirty="0">
                <a:latin typeface="Atkinson Hyperlegible"/>
              </a:rPr>
              <a:t>Ventajas:</a:t>
            </a:r>
            <a:endParaRPr lang="es-MX" sz="3600" dirty="0">
              <a:latin typeface="Atkinson Hyperlegible"/>
            </a:endParaRPr>
          </a:p>
          <a:p>
            <a:r>
              <a:rPr lang="es-MX" sz="3600" dirty="0">
                <a:latin typeface="Atkinson Hyperlegible"/>
              </a:rPr>
              <a:t>Cobertura eficiente en áreas abiertas. </a:t>
            </a:r>
          </a:p>
          <a:p>
            <a:r>
              <a:rPr lang="es-MX" sz="3600" dirty="0">
                <a:latin typeface="Atkinson Hyperlegible"/>
              </a:rPr>
              <a:t>Puede alcanzar mayores distancias en condiciones favorables. </a:t>
            </a:r>
          </a:p>
          <a:p>
            <a:r>
              <a:rPr lang="es-MX" sz="3600" dirty="0">
                <a:latin typeface="Atkinson Hyperlegible"/>
              </a:rPr>
              <a:t>Buena relación cobertura/potencia en entornos rurales. </a:t>
            </a:r>
          </a:p>
          <a:p>
            <a:r>
              <a:rPr lang="es-MX" sz="3600" b="1" dirty="0">
                <a:latin typeface="Atkinson Hyperlegible"/>
              </a:rPr>
              <a:t>Limitaciones:</a:t>
            </a:r>
            <a:endParaRPr lang="es-MX" sz="3600" dirty="0">
              <a:latin typeface="Atkinson Hyperlegible"/>
            </a:endParaRPr>
          </a:p>
          <a:p>
            <a:r>
              <a:rPr lang="es-MX" sz="3600" dirty="0">
                <a:latin typeface="Atkinson Hyperlegible"/>
              </a:rPr>
              <a:t>Antenas generalmente más grandes. </a:t>
            </a:r>
          </a:p>
          <a:p>
            <a:r>
              <a:rPr lang="es-MX" sz="3600" dirty="0">
                <a:latin typeface="Atkinson Hyperlegible"/>
              </a:rPr>
              <a:t>Menor desempeño en entornos urbanos densos. </a:t>
            </a:r>
          </a:p>
          <a:p>
            <a:r>
              <a:rPr lang="es-MX" sz="3600" dirty="0">
                <a:latin typeface="Atkinson Hyperlegible"/>
              </a:rPr>
              <a:t>Sensible a obstáculos físicos significativos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B34023C-B981-C5FE-4274-0ECCA69BD976}"/>
              </a:ext>
            </a:extLst>
          </p:cNvPr>
          <p:cNvSpPr/>
          <p:nvPr/>
        </p:nvSpPr>
        <p:spPr>
          <a:xfrm>
            <a:off x="4311034" y="2063829"/>
            <a:ext cx="12145668" cy="707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i="1" dirty="0" err="1">
                <a:latin typeface="Atkinson Hyperlegible"/>
              </a:rPr>
              <a:t>VHF</a:t>
            </a:r>
            <a:r>
              <a:rPr lang="es-CL" sz="4000" b="1" i="1" dirty="0">
                <a:latin typeface="Atkinson Hyperlegible"/>
              </a:rPr>
              <a:t> (Muy Alta Frecuencia)</a:t>
            </a:r>
            <a:endParaRPr lang="es-MX" sz="4000" b="1" i="1" dirty="0">
              <a:latin typeface="Atkinson Hyperlegible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2016AB-8CBA-1D49-03B9-02490E403157}"/>
              </a:ext>
            </a:extLst>
          </p:cNvPr>
          <p:cNvSpPr txBox="1"/>
          <p:nvPr/>
        </p:nvSpPr>
        <p:spPr>
          <a:xfrm>
            <a:off x="853884" y="8840969"/>
            <a:ext cx="129129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V.431</a:t>
            </a:r>
            <a:r>
              <a:rPr lang="es-CL" sz="2400" dirty="0">
                <a:latin typeface="Atkinson Hyperlegible"/>
              </a:rPr>
              <a:t>-8 — Nomenclatura de bandas.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P.1546</a:t>
            </a:r>
            <a:r>
              <a:rPr lang="es-CL" sz="2400" dirty="0">
                <a:latin typeface="Atkinson Hyperlegible"/>
              </a:rPr>
              <a:t> — Modelos de predicción de cobertura en </a:t>
            </a:r>
            <a:r>
              <a:rPr lang="es-CL" sz="2400" dirty="0" err="1">
                <a:latin typeface="Atkinson Hyperlegible"/>
              </a:rPr>
              <a:t>VHF</a:t>
            </a:r>
            <a:r>
              <a:rPr lang="es-CL" sz="2400" dirty="0">
                <a:latin typeface="Atkinson Hyperlegible"/>
              </a:rPr>
              <a:t>/</a:t>
            </a:r>
            <a:r>
              <a:rPr lang="es-CL" sz="2400" dirty="0" err="1">
                <a:latin typeface="Atkinson Hyperlegible"/>
              </a:rPr>
              <a:t>UHF</a:t>
            </a:r>
            <a:r>
              <a:rPr lang="es-CL" sz="2400" dirty="0">
                <a:latin typeface="Atkinson Hyperlegible"/>
              </a:rPr>
              <a:t>.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 Radio </a:t>
            </a:r>
            <a:r>
              <a:rPr lang="es-CL" sz="2400" dirty="0" err="1">
                <a:latin typeface="Atkinson Hyperlegible"/>
              </a:rPr>
              <a:t>Regulations</a:t>
            </a:r>
            <a:r>
              <a:rPr lang="es-CL" sz="2400" dirty="0">
                <a:latin typeface="Atkinson Hyperlegible"/>
              </a:rPr>
              <a:t> (Ed. 2024), Artículo 5 — Servicios autorizados por banda.</a:t>
            </a:r>
            <a:endParaRPr lang="es-CL" sz="2400" noProof="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191807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D040B-A572-3F50-5A57-254F4499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078F545-91BA-CDE6-702A-1D10B3498C4B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9E6D437-5A4C-C536-4850-19D983CB537F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0DD3DF-8D7E-F370-7889-0F2FEB1FB17A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Ventajas y limitaciones técnicas de </a:t>
            </a:r>
            <a:r>
              <a:rPr lang="es-MX" sz="4000" dirty="0" err="1"/>
              <a:t>VHF</a:t>
            </a:r>
            <a:r>
              <a:rPr lang="es-MX" sz="4000" dirty="0"/>
              <a:t> y </a:t>
            </a:r>
            <a:r>
              <a:rPr lang="es-MX" sz="4000" dirty="0" err="1"/>
              <a:t>UHF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FC07B685-FF19-4080-3C52-ACFD9D423952}"/>
              </a:ext>
            </a:extLst>
          </p:cNvPr>
          <p:cNvSpPr/>
          <p:nvPr/>
        </p:nvSpPr>
        <p:spPr>
          <a:xfrm>
            <a:off x="1513464" y="3392517"/>
            <a:ext cx="18146132" cy="452431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600" b="1" dirty="0">
                <a:latin typeface="Atkinson Hyperlegible"/>
              </a:rPr>
              <a:t>Ventajas:</a:t>
            </a:r>
            <a:endParaRPr lang="es-MX" sz="3600" dirty="0">
              <a:latin typeface="Atkinson Hyperlegible"/>
            </a:endParaRPr>
          </a:p>
          <a:p>
            <a:r>
              <a:rPr lang="es-MX" sz="3600" dirty="0">
                <a:latin typeface="Atkinson Hyperlegible"/>
              </a:rPr>
              <a:t>Mejor desempeño en entornos urbanos. </a:t>
            </a:r>
          </a:p>
          <a:p>
            <a:r>
              <a:rPr lang="es-MX" sz="3600" dirty="0">
                <a:latin typeface="Atkinson Hyperlegible"/>
              </a:rPr>
              <a:t>Antenas más compactas. </a:t>
            </a:r>
          </a:p>
          <a:p>
            <a:r>
              <a:rPr lang="es-MX" sz="3600" dirty="0">
                <a:latin typeface="Atkinson Hyperlegible"/>
              </a:rPr>
              <a:t>Mejor adaptación a movilidad portátil. </a:t>
            </a:r>
          </a:p>
          <a:p>
            <a:r>
              <a:rPr lang="es-MX" sz="3600" b="1" dirty="0">
                <a:latin typeface="Atkinson Hyperlegible"/>
              </a:rPr>
              <a:t>Limitaciones:</a:t>
            </a:r>
            <a:endParaRPr lang="es-MX" sz="3600" dirty="0">
              <a:latin typeface="Atkinson Hyperlegible"/>
            </a:endParaRPr>
          </a:p>
          <a:p>
            <a:r>
              <a:rPr lang="es-MX" sz="3600" dirty="0">
                <a:latin typeface="Atkinson Hyperlegible"/>
              </a:rPr>
              <a:t>Mayor atenuación con la distancia. </a:t>
            </a:r>
          </a:p>
          <a:p>
            <a:r>
              <a:rPr lang="es-MX" sz="3600" dirty="0">
                <a:latin typeface="Atkinson Hyperlegible"/>
              </a:rPr>
              <a:t>Más sensible a pérdidas por trayecto si no hay planificación adecuada. </a:t>
            </a:r>
          </a:p>
          <a:p>
            <a:r>
              <a:rPr lang="es-MX" sz="3600" dirty="0">
                <a:latin typeface="Atkinson Hyperlegible"/>
              </a:rPr>
              <a:t>Requiere análisis cuidadoso de interferencias en zonas densas.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05B5079-8B25-9A69-9210-DAB17A105E5F}"/>
              </a:ext>
            </a:extLst>
          </p:cNvPr>
          <p:cNvSpPr/>
          <p:nvPr/>
        </p:nvSpPr>
        <p:spPr>
          <a:xfrm>
            <a:off x="4311034" y="2063829"/>
            <a:ext cx="12145668" cy="707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i="1" dirty="0" err="1">
                <a:latin typeface="Atkinson Hyperlegible"/>
              </a:rPr>
              <a:t>UHF</a:t>
            </a:r>
            <a:r>
              <a:rPr lang="es-CL" sz="4000" b="1" i="1" dirty="0">
                <a:latin typeface="Atkinson Hyperlegible"/>
              </a:rPr>
              <a:t> (Ultra Alta Frecuencia)</a:t>
            </a:r>
            <a:endParaRPr lang="es-MX" sz="4000" b="1" i="1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ED6186-FD73-11CA-08BD-AB1619D61832}"/>
              </a:ext>
            </a:extLst>
          </p:cNvPr>
          <p:cNvSpPr txBox="1"/>
          <p:nvPr/>
        </p:nvSpPr>
        <p:spPr>
          <a:xfrm>
            <a:off x="853884" y="8840969"/>
            <a:ext cx="129129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V.431</a:t>
            </a:r>
            <a:r>
              <a:rPr lang="es-CL" sz="2400" dirty="0">
                <a:latin typeface="Atkinson Hyperlegible"/>
              </a:rPr>
              <a:t>-8 — Nomenclatura de bandas.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P.1546</a:t>
            </a:r>
            <a:r>
              <a:rPr lang="es-CL" sz="2400" dirty="0">
                <a:latin typeface="Atkinson Hyperlegible"/>
              </a:rPr>
              <a:t> — Modelos de predicción de cobertura en </a:t>
            </a:r>
            <a:r>
              <a:rPr lang="es-CL" sz="2400" dirty="0" err="1">
                <a:latin typeface="Atkinson Hyperlegible"/>
              </a:rPr>
              <a:t>VHF</a:t>
            </a:r>
            <a:r>
              <a:rPr lang="es-CL" sz="2400" dirty="0">
                <a:latin typeface="Atkinson Hyperlegible"/>
              </a:rPr>
              <a:t>/</a:t>
            </a:r>
            <a:r>
              <a:rPr lang="es-CL" sz="2400" dirty="0" err="1">
                <a:latin typeface="Atkinson Hyperlegible"/>
              </a:rPr>
              <a:t>UHF</a:t>
            </a:r>
            <a:r>
              <a:rPr lang="es-CL" sz="2400" dirty="0">
                <a:latin typeface="Atkinson Hyperlegible"/>
              </a:rPr>
              <a:t>.</a:t>
            </a:r>
          </a:p>
          <a:p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 Radio </a:t>
            </a:r>
            <a:r>
              <a:rPr lang="es-CL" sz="2400" dirty="0" err="1">
                <a:latin typeface="Atkinson Hyperlegible"/>
              </a:rPr>
              <a:t>Regulations</a:t>
            </a:r>
            <a:r>
              <a:rPr lang="es-CL" sz="2400" dirty="0">
                <a:latin typeface="Atkinson Hyperlegible"/>
              </a:rPr>
              <a:t> (Ed. 2024), Artículo 5 — Servicios autorizados por banda.</a:t>
            </a:r>
            <a:endParaRPr lang="es-CL" sz="2400" noProof="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39302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278DB-6FB4-E8AC-0185-5BE9655E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F537425-9453-ECED-60B2-061174A94E1F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556401F6-3449-FECE-CB75-8B959D2B59E0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ADE15D-9F20-E628-E19E-BE5DF63624E6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noProof="0" dirty="0">
                <a:latin typeface="Atkinson Hyperlegible"/>
              </a:rPr>
              <a:t>DEMOSTRACIÓN</a:t>
            </a:r>
            <a:endParaRPr lang="es-CL" sz="4000" noProof="0" dirty="0">
              <a:latin typeface="Atkinson Hyperlegi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5 Rectángulo">
                <a:extLst>
                  <a:ext uri="{FF2B5EF4-FFF2-40B4-BE49-F238E27FC236}">
                    <a16:creationId xmlns:a16="http://schemas.microsoft.com/office/drawing/2014/main" id="{ECBD3466-FBB5-A47A-D645-B718EC49BE0F}"/>
                  </a:ext>
                </a:extLst>
              </p:cNvPr>
              <p:cNvSpPr/>
              <p:nvPr/>
            </p:nvSpPr>
            <p:spPr>
              <a:xfrm>
                <a:off x="1140930" y="2048440"/>
                <a:ext cx="18146132" cy="2554545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MX" sz="4000" dirty="0" err="1">
                    <a:latin typeface="Atkinson Hyperlegible"/>
                  </a:rPr>
                  <a:t>FSPL</a:t>
                </a:r>
                <a:r>
                  <a:rPr lang="es-MX" sz="4000" dirty="0">
                    <a:latin typeface="Atkinson Hyperlegible"/>
                  </a:rPr>
                  <a:t>(dB)= 32.45 + </a:t>
                </a:r>
                <a:r>
                  <a:rPr lang="es-MX" sz="4000" dirty="0" err="1">
                    <a:latin typeface="Atkinson Hyperlegible"/>
                  </a:rPr>
                  <a:t>20log10</a:t>
                </a:r>
                <a:r>
                  <a:rPr lang="es-MX" sz="4000" dirty="0">
                    <a:latin typeface="Atkinson Hyperlegible"/>
                  </a:rPr>
                  <a:t>​(f)+ </a:t>
                </a:r>
                <a:r>
                  <a:rPr lang="es-MX" sz="4000" dirty="0" err="1">
                    <a:latin typeface="Atkinson Hyperlegible"/>
                  </a:rPr>
                  <a:t>20log10</a:t>
                </a:r>
                <a:r>
                  <a:rPr lang="es-MX" sz="4000" dirty="0">
                    <a:latin typeface="Atkinson Hyperlegible"/>
                  </a:rPr>
                  <a:t>​(d) </a:t>
                </a:r>
              </a:p>
              <a:p>
                <a:pPr algn="ctr"/>
                <a:r>
                  <a:rPr lang="es-MX" sz="4000" dirty="0">
                    <a:latin typeface="Atkinson Hyperlegible"/>
                  </a:rPr>
                  <a:t>Donde: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s-MX" sz="4000" i="1"/>
                      <m:t>𝑓</m:t>
                    </m:r>
                  </m:oMath>
                </a14:m>
                <a:r>
                  <a:rPr lang="es-MX" sz="4000" dirty="0">
                    <a:latin typeface="Atkinson Hyperlegible"/>
                  </a:rPr>
                  <a:t>= frecuencia en MHz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s-MX" sz="4000" i="1"/>
                      <m:t>𝑑</m:t>
                    </m:r>
                  </m:oMath>
                </a14:m>
                <a:r>
                  <a:rPr lang="es-MX" sz="4000" dirty="0">
                    <a:latin typeface="Atkinson Hyperlegible"/>
                  </a:rPr>
                  <a:t>= distancia en km</a:t>
                </a:r>
              </a:p>
            </p:txBody>
          </p:sp>
        </mc:Choice>
        <mc:Fallback>
          <p:sp>
            <p:nvSpPr>
              <p:cNvPr id="3" name="5 Rectángulo">
                <a:extLst>
                  <a:ext uri="{FF2B5EF4-FFF2-40B4-BE49-F238E27FC236}">
                    <a16:creationId xmlns:a16="http://schemas.microsoft.com/office/drawing/2014/main" id="{ECBD3466-FBB5-A47A-D645-B718EC49B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30" y="2048440"/>
                <a:ext cx="18146132" cy="2554545"/>
              </a:xfrm>
              <a:prstGeom prst="rect">
                <a:avLst/>
              </a:prstGeom>
              <a:blipFill>
                <a:blip r:embed="rId4"/>
                <a:stretch>
                  <a:fillRect t="-4296" b="-9308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2AC79B1-8416-F598-C8C1-6B40404273AA}"/>
              </a:ext>
            </a:extLst>
          </p:cNvPr>
          <p:cNvSpPr/>
          <p:nvPr/>
        </p:nvSpPr>
        <p:spPr>
          <a:xfrm>
            <a:off x="4327968" y="4690875"/>
            <a:ext cx="12145668" cy="707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b="1" i="1" dirty="0">
                <a:latin typeface="Atkinson Hyperlegible"/>
              </a:rPr>
              <a:t>SUPUESTOS</a:t>
            </a:r>
            <a:endParaRPr lang="es-MX" sz="4000" b="1" i="1" dirty="0">
              <a:latin typeface="Atkinson Hyperlegible"/>
            </a:endParaRPr>
          </a:p>
        </p:txBody>
      </p:sp>
      <p:sp>
        <p:nvSpPr>
          <p:cNvPr id="12" name="5 Rectángulo">
            <a:extLst>
              <a:ext uri="{FF2B5EF4-FFF2-40B4-BE49-F238E27FC236}">
                <a16:creationId xmlns:a16="http://schemas.microsoft.com/office/drawing/2014/main" id="{FB7A454E-00B7-EEBA-CDE8-26438EC0A26B}"/>
              </a:ext>
            </a:extLst>
          </p:cNvPr>
          <p:cNvSpPr/>
          <p:nvPr/>
        </p:nvSpPr>
        <p:spPr>
          <a:xfrm>
            <a:off x="1648930" y="5665620"/>
            <a:ext cx="18146132" cy="193899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4000" dirty="0">
                <a:latin typeface="Atkinson Hyperlegible"/>
              </a:rPr>
              <a:t>Distancia: 10 km</a:t>
            </a:r>
          </a:p>
          <a:p>
            <a:pPr algn="ctr"/>
            <a:r>
              <a:rPr lang="es-MX" sz="4000" dirty="0" err="1">
                <a:latin typeface="Atkinson Hyperlegible"/>
              </a:rPr>
              <a:t>VHF</a:t>
            </a:r>
            <a:r>
              <a:rPr lang="es-MX" sz="4000" dirty="0">
                <a:latin typeface="Atkinson Hyperlegible"/>
              </a:rPr>
              <a:t>: 150 MHz</a:t>
            </a:r>
          </a:p>
          <a:p>
            <a:pPr algn="ctr"/>
            <a:r>
              <a:rPr lang="es-MX" sz="4000" dirty="0" err="1">
                <a:latin typeface="Atkinson Hyperlegible"/>
              </a:rPr>
              <a:t>UHF</a:t>
            </a:r>
            <a:r>
              <a:rPr lang="es-MX" sz="4000" dirty="0">
                <a:latin typeface="Atkinson Hyperlegible"/>
              </a:rPr>
              <a:t>: 450 MHz</a:t>
            </a:r>
          </a:p>
        </p:txBody>
      </p:sp>
    </p:spTree>
    <p:extLst>
      <p:ext uri="{BB962C8B-B14F-4D97-AF65-F5344CB8AC3E}">
        <p14:creationId xmlns:p14="http://schemas.microsoft.com/office/powerpoint/2010/main" val="87766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83757-2B85-0447-C2D3-D0C70D200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7D425A6-3DAA-DF83-50BD-C5AEAF8994FD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03943830-E2FB-0813-8AFE-6A87FA81BC00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240E3A-4ABB-7219-2F58-88627C271B2C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noProof="0" dirty="0">
                <a:latin typeface="Atkinson Hyperlegible"/>
              </a:rPr>
              <a:t>DEMOSTRACIÓN REALISTA (</a:t>
            </a:r>
            <a:r>
              <a:rPr lang="es-CL" sz="4000" dirty="0" err="1"/>
              <a:t>ITU</a:t>
            </a:r>
            <a:r>
              <a:rPr lang="es-CL" sz="4000" dirty="0"/>
              <a:t>-R </a:t>
            </a:r>
            <a:r>
              <a:rPr lang="es-CL" sz="4000" dirty="0" err="1"/>
              <a:t>P.1546</a:t>
            </a:r>
            <a:r>
              <a:rPr lang="es-CL" sz="4000" dirty="0"/>
              <a:t>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6CD7B568-FF5F-BFF7-0FAD-B7B9A9523C4A}"/>
              </a:ext>
            </a:extLst>
          </p:cNvPr>
          <p:cNvSpPr/>
          <p:nvPr/>
        </p:nvSpPr>
        <p:spPr>
          <a:xfrm>
            <a:off x="1140930" y="2048440"/>
            <a:ext cx="4396270" cy="378565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4000" dirty="0">
                <a:latin typeface="Atkinson Hyperlegible"/>
              </a:rPr>
              <a:t>Distancia: 10 km</a:t>
            </a:r>
          </a:p>
          <a:p>
            <a:r>
              <a:rPr lang="es-MX" sz="4000" dirty="0">
                <a:latin typeface="Atkinson Hyperlegible"/>
              </a:rPr>
              <a:t>Altura TX: 30 m</a:t>
            </a:r>
          </a:p>
          <a:p>
            <a:r>
              <a:rPr lang="es-MX" sz="4000" dirty="0">
                <a:latin typeface="Atkinson Hyperlegible"/>
              </a:rPr>
              <a:t>Altura </a:t>
            </a:r>
            <a:r>
              <a:rPr lang="es-MX" sz="4000" dirty="0" err="1">
                <a:latin typeface="Atkinson Hyperlegible"/>
              </a:rPr>
              <a:t>RX</a:t>
            </a:r>
            <a:r>
              <a:rPr lang="es-MX" sz="4000" dirty="0">
                <a:latin typeface="Atkinson Hyperlegible"/>
              </a:rPr>
              <a:t>: 10 m</a:t>
            </a:r>
          </a:p>
          <a:p>
            <a:r>
              <a:rPr lang="es-MX" sz="4000" dirty="0">
                <a:latin typeface="Atkinson Hyperlegible"/>
              </a:rPr>
              <a:t>Terreno: urbano</a:t>
            </a:r>
          </a:p>
          <a:p>
            <a:r>
              <a:rPr lang="es-MX" sz="4000" dirty="0">
                <a:latin typeface="Atkinson Hyperlegible"/>
              </a:rPr>
              <a:t>Tiempo: 50%</a:t>
            </a:r>
          </a:p>
          <a:p>
            <a:r>
              <a:rPr lang="es-MX" sz="4000" dirty="0">
                <a:latin typeface="Atkinson Hyperlegible"/>
              </a:rPr>
              <a:t>Ubicación: 50%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234C746-1706-7FFB-90CE-A04EE49A19B7}"/>
              </a:ext>
            </a:extLst>
          </p:cNvPr>
          <p:cNvSpPr txBox="1"/>
          <p:nvPr/>
        </p:nvSpPr>
        <p:spPr>
          <a:xfrm>
            <a:off x="679450" y="8840969"/>
            <a:ext cx="12912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P.525</a:t>
            </a:r>
            <a:r>
              <a:rPr lang="en-US" sz="2400" dirty="0">
                <a:latin typeface="Atkinson Hyperlegible"/>
              </a:rPr>
              <a:t> — Calculation of free-space attenuation</a:t>
            </a:r>
            <a:br>
              <a:rPr lang="en-US" sz="2400" dirty="0">
                <a:latin typeface="Atkinson Hyperlegible"/>
              </a:rPr>
            </a:br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P.1546</a:t>
            </a:r>
            <a:r>
              <a:rPr lang="en-US" sz="2400" dirty="0">
                <a:latin typeface="Atkinson Hyperlegible"/>
              </a:rPr>
              <a:t> — Method for point-to-area predictions (VHF/UHF)</a:t>
            </a:r>
            <a:r>
              <a:rPr lang="es-CL" sz="2400" dirty="0">
                <a:latin typeface="Atkinson Hyperlegible"/>
              </a:rPr>
              <a:t>.</a:t>
            </a:r>
            <a:endParaRPr lang="es-CL" sz="2400" noProof="0" dirty="0">
              <a:latin typeface="Atkinson Hyperlegible"/>
            </a:endParaRP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AD27EBC0-3C50-43D5-7EC2-D72F1A741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922" y="2048440"/>
            <a:ext cx="9264699" cy="453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B9F4501-4DA3-2831-3BC0-164A6C7716D8}"/>
              </a:ext>
            </a:extLst>
          </p:cNvPr>
          <p:cNvSpPr txBox="1"/>
          <p:nvPr/>
        </p:nvSpPr>
        <p:spPr>
          <a:xfrm>
            <a:off x="1140930" y="6060258"/>
            <a:ext cx="100499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3200" b="1" dirty="0">
                <a:latin typeface="Atkinson Hyperlegible"/>
              </a:rPr>
              <a:t>🔹 </a:t>
            </a:r>
            <a:r>
              <a:rPr lang="es-CL" sz="3200" b="1" dirty="0" err="1">
                <a:latin typeface="Atkinson Hyperlegible"/>
              </a:rPr>
              <a:t>VHF</a:t>
            </a:r>
            <a:r>
              <a:rPr lang="es-CL" sz="3200" b="1" dirty="0">
                <a:latin typeface="Atkinson Hyperlegible"/>
              </a:rPr>
              <a:t> 150 MHz</a:t>
            </a:r>
          </a:p>
          <a:p>
            <a:pPr>
              <a:buNone/>
            </a:pPr>
            <a:r>
              <a:rPr lang="es-CL" sz="3200" dirty="0">
                <a:latin typeface="Atkinson Hyperlegible"/>
              </a:rPr>
              <a:t>Campo eléctrico ≈ 70 </a:t>
            </a:r>
            <a:r>
              <a:rPr lang="es-CL" sz="3200" dirty="0" err="1">
                <a:latin typeface="Atkinson Hyperlegible"/>
              </a:rPr>
              <a:t>dBµV</a:t>
            </a:r>
            <a:r>
              <a:rPr lang="es-CL" sz="3200" dirty="0">
                <a:latin typeface="Atkinson Hyperlegible"/>
              </a:rPr>
              <a:t>/m</a:t>
            </a:r>
          </a:p>
          <a:p>
            <a:pPr>
              <a:buNone/>
            </a:pPr>
            <a:r>
              <a:rPr lang="es-CL" sz="3200" b="1" dirty="0">
                <a:latin typeface="Atkinson Hyperlegible"/>
              </a:rPr>
              <a:t>🔹 </a:t>
            </a:r>
            <a:r>
              <a:rPr lang="es-CL" sz="3200" b="1" dirty="0" err="1">
                <a:latin typeface="Atkinson Hyperlegible"/>
              </a:rPr>
              <a:t>UHF</a:t>
            </a:r>
            <a:r>
              <a:rPr lang="es-CL" sz="3200" b="1" dirty="0">
                <a:latin typeface="Atkinson Hyperlegible"/>
              </a:rPr>
              <a:t> 450 MHz</a:t>
            </a:r>
          </a:p>
          <a:p>
            <a:pPr>
              <a:buNone/>
            </a:pPr>
            <a:r>
              <a:rPr lang="es-CL" sz="3200" dirty="0">
                <a:latin typeface="Atkinson Hyperlegible"/>
              </a:rPr>
              <a:t>Campo eléctrico ≈ 62 </a:t>
            </a:r>
            <a:r>
              <a:rPr lang="es-CL" sz="3200" dirty="0" err="1">
                <a:latin typeface="Atkinson Hyperlegible"/>
              </a:rPr>
              <a:t>dBµV</a:t>
            </a:r>
            <a:r>
              <a:rPr lang="es-CL" sz="3200" dirty="0">
                <a:latin typeface="Atkinson Hyperlegible"/>
              </a:rPr>
              <a:t>/m</a:t>
            </a:r>
          </a:p>
          <a:p>
            <a:pPr>
              <a:buNone/>
            </a:pPr>
            <a:r>
              <a:rPr lang="es-CL" sz="3200" dirty="0">
                <a:latin typeface="Atkinson Hyperlegible"/>
              </a:rPr>
              <a:t>Diferencia ≈ 8 dB</a:t>
            </a:r>
          </a:p>
        </p:txBody>
      </p:sp>
    </p:spTree>
    <p:extLst>
      <p:ext uri="{BB962C8B-B14F-4D97-AF65-F5344CB8AC3E}">
        <p14:creationId xmlns:p14="http://schemas.microsoft.com/office/powerpoint/2010/main" val="65986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219C5-3371-419A-9BD1-E18C58E0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7CE5299-2108-CA2E-0503-3A10948B39D2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9EE57C7C-F8ED-EDC6-FA1E-A02A68085F84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919A12-5BC6-EC3C-B2C1-177CA4FA849B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noProof="0" dirty="0">
                <a:latin typeface="Atkinson Hyperlegible"/>
              </a:rPr>
              <a:t>DEMOSTRACIÓN REALISTA (</a:t>
            </a:r>
            <a:r>
              <a:rPr lang="es-CL" sz="4000" dirty="0" err="1"/>
              <a:t>ITU</a:t>
            </a:r>
            <a:r>
              <a:rPr lang="es-CL" sz="4000" dirty="0"/>
              <a:t>-R </a:t>
            </a:r>
            <a:r>
              <a:rPr lang="es-CL" sz="4000" dirty="0" err="1"/>
              <a:t>P.1546</a:t>
            </a:r>
            <a:r>
              <a:rPr lang="es-CL" sz="4000" dirty="0"/>
              <a:t>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4858A84-177D-215F-5377-30C058E33BD7}"/>
              </a:ext>
            </a:extLst>
          </p:cNvPr>
          <p:cNvSpPr txBox="1"/>
          <p:nvPr/>
        </p:nvSpPr>
        <p:spPr>
          <a:xfrm>
            <a:off x="679450" y="8840969"/>
            <a:ext cx="12912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P.525</a:t>
            </a:r>
            <a:r>
              <a:rPr lang="en-US" sz="2400" dirty="0">
                <a:latin typeface="Atkinson Hyperlegible"/>
              </a:rPr>
              <a:t> — Calculation of free-space attenuation</a:t>
            </a:r>
            <a:br>
              <a:rPr lang="en-US" sz="2400" dirty="0">
                <a:latin typeface="Atkinson Hyperlegible"/>
              </a:rPr>
            </a:br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P.1546</a:t>
            </a:r>
            <a:r>
              <a:rPr lang="en-US" sz="2400" dirty="0">
                <a:latin typeface="Atkinson Hyperlegible"/>
              </a:rPr>
              <a:t> — Method for point-to-area predictions (VHF/UHF)</a:t>
            </a:r>
            <a:r>
              <a:rPr lang="es-CL" sz="2400" dirty="0">
                <a:latin typeface="Atkinson Hyperlegible"/>
              </a:rPr>
              <a:t>.</a:t>
            </a:r>
            <a:endParaRPr lang="es-CL" sz="2400" noProof="0" dirty="0">
              <a:latin typeface="Atkinson Hyperlegi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098ABFF-97BE-0AD7-3203-6A53241ADCC4}"/>
                  </a:ext>
                </a:extLst>
              </p:cNvPr>
              <p:cNvSpPr txBox="1"/>
              <p:nvPr/>
            </p:nvSpPr>
            <p:spPr>
              <a:xfrm>
                <a:off x="4885063" y="2090718"/>
                <a:ext cx="10049932" cy="2088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L" sz="3200" dirty="0">
                    <a:latin typeface="Atkinson Hyperlegible"/>
                  </a:rPr>
                  <a:t>Pr​(dBm)=E(</a:t>
                </a:r>
                <a:r>
                  <a:rPr lang="es-CL" sz="3200" dirty="0" err="1">
                    <a:latin typeface="Atkinson Hyperlegible"/>
                  </a:rPr>
                  <a:t>dBµV</a:t>
                </a:r>
                <a:r>
                  <a:rPr lang="es-CL" sz="3200" dirty="0">
                    <a:latin typeface="Atkinson Hyperlegible"/>
                  </a:rPr>
                  <a:t>/m)+</a:t>
                </a:r>
                <a:r>
                  <a:rPr lang="es-CL" sz="3200" dirty="0" err="1">
                    <a:latin typeface="Atkinson Hyperlegible"/>
                  </a:rPr>
                  <a:t>20log10</a:t>
                </a:r>
                <a:r>
                  <a:rPr lang="es-CL" sz="3200" dirty="0">
                    <a:latin typeface="Atkinson Hyperlegible"/>
                  </a:rPr>
                  <a:t>​(</a:t>
                </a:r>
                <a:r>
                  <a:rPr lang="el-GR" sz="3200" dirty="0"/>
                  <a:t>λ)−139.3 </a:t>
                </a:r>
              </a:p>
              <a:p>
                <a:r>
                  <a:rPr lang="es-CL" sz="3200" dirty="0">
                    <a:latin typeface="Atkinson Hyperlegible"/>
                  </a:rPr>
                  <a:t>Donde: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L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300</m:t>
                          </m:r>
                        </m:num>
                        <m:den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𝑀𝐻𝑧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320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098ABFF-97BE-0AD7-3203-6A53241AD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63" y="2090718"/>
                <a:ext cx="10049932" cy="2088713"/>
              </a:xfrm>
              <a:prstGeom prst="rect">
                <a:avLst/>
              </a:prstGeom>
              <a:blipFill>
                <a:blip r:embed="rId4"/>
                <a:stretch>
                  <a:fillRect l="-1516" t="-379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D7E2DF1-2D7C-D0BD-8309-A47E8390182E}"/>
                  </a:ext>
                </a:extLst>
              </p:cNvPr>
              <p:cNvSpPr txBox="1"/>
              <p:nvPr/>
            </p:nvSpPr>
            <p:spPr>
              <a:xfrm>
                <a:off x="5027084" y="4663542"/>
                <a:ext cx="10049932" cy="4025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L" sz="3200" b="1" dirty="0"/>
                  <a:t>150 MHz</a:t>
                </a:r>
              </a:p>
              <a:p>
                <a:r>
                  <a:rPr lang="es-CL" sz="3200" dirty="0"/>
                  <a:t>Longitud de onda: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3200" i="1"/>
                        <m:t>𝜆</m:t>
                      </m:r>
                      <m:r>
                        <a:rPr lang="es-CL" sz="3200"/>
                        <m:t>=</m:t>
                      </m:r>
                      <m:f>
                        <m:fPr>
                          <m:ctrlPr>
                            <a:rPr lang="ar-AE" sz="3200" i="1"/>
                          </m:ctrlPr>
                        </m:fPr>
                        <m:num>
                          <m:r>
                            <a:rPr lang="ar-AE" sz="3200"/>
                            <m:t>300</m:t>
                          </m:r>
                        </m:num>
                        <m:den>
                          <m:r>
                            <a:rPr lang="ar-AE" sz="3200"/>
                            <m:t>150</m:t>
                          </m:r>
                        </m:den>
                      </m:f>
                      <m:r>
                        <a:rPr lang="ar-AE" sz="3200"/>
                        <m:t>=</m:t>
                      </m:r>
                      <m:r>
                        <a:rPr lang="ar-AE" sz="3200"/>
                        <m:t>2</m:t>
                      </m:r>
                      <m:r>
                        <m:rPr>
                          <m:nor/>
                        </m:rPr>
                        <a:rPr lang="ar-AE" sz="3200" i="1"/>
                        <m:t> </m:t>
                      </m:r>
                      <m:r>
                        <a:rPr lang="ar-AE" sz="3200" i="1"/>
                        <m:t>𝑚</m:t>
                      </m:r>
                    </m:oMath>
                  </m:oMathPara>
                </a14:m>
                <a:endParaRPr lang="ar-AE" sz="32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/>
                        <m:t>20</m:t>
                      </m:r>
                      <m:sSub>
                        <m:sSubPr>
                          <m:ctrlPr>
                            <a:rPr lang="ar-AE" sz="32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32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32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320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ar-AE" sz="3200" i="1"/>
                          </m:ctrlPr>
                        </m:dPr>
                        <m:e>
                          <m:r>
                            <a:rPr lang="ar-AE" sz="3200"/>
                            <m:t>2</m:t>
                          </m:r>
                        </m:e>
                      </m:d>
                      <m:r>
                        <a:rPr lang="ar-AE" sz="3200"/>
                        <m:t>=</m:t>
                      </m:r>
                      <m:r>
                        <a:rPr lang="ar-AE" sz="3200"/>
                        <m:t>6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02</m:t>
                      </m:r>
                    </m:oMath>
                  </m:oMathPara>
                </a14:m>
                <a:endParaRPr lang="ar-AE" sz="3200" dirty="0"/>
              </a:p>
              <a:p>
                <a:r>
                  <a:rPr lang="es-CL" sz="3200" dirty="0"/>
                  <a:t>Entonces: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/>
                          </m:ctrlPr>
                        </m:sSubPr>
                        <m:e>
                          <m:r>
                            <a:rPr lang="ar-AE" sz="3200" i="1"/>
                            <m:t>𝑃</m:t>
                          </m:r>
                        </m:e>
                        <m:sub>
                          <m:r>
                            <a:rPr lang="ar-AE" sz="3200" i="1"/>
                            <m:t>𝑟</m:t>
                          </m:r>
                        </m:sub>
                      </m:sSub>
                      <m:r>
                        <a:rPr lang="ar-AE" sz="3200"/>
                        <m:t>=</m:t>
                      </m:r>
                      <m:r>
                        <a:rPr lang="ar-AE" sz="3200"/>
                        <m:t>70</m:t>
                      </m:r>
                      <m:r>
                        <a:rPr lang="ar-AE" sz="3200"/>
                        <m:t>+</m:t>
                      </m:r>
                      <m:r>
                        <a:rPr lang="ar-AE" sz="3200"/>
                        <m:t>6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02</m:t>
                      </m:r>
                      <m:r>
                        <a:rPr lang="ar-AE" sz="3200"/>
                        <m:t>−</m:t>
                      </m:r>
                      <m:r>
                        <a:rPr lang="ar-AE" sz="3200"/>
                        <m:t>139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3</m:t>
                      </m:r>
                    </m:oMath>
                  </m:oMathPara>
                </a14:m>
                <a:endParaRPr lang="ar-AE" sz="32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/>
                          </m:ctrlPr>
                        </m:sSubPr>
                        <m:e>
                          <m:r>
                            <a:rPr lang="ar-AE" sz="3200" i="1"/>
                            <m:t>𝑃</m:t>
                          </m:r>
                        </m:e>
                        <m:sub>
                          <m:r>
                            <a:rPr lang="ar-AE" sz="3200" i="1"/>
                            <m:t>𝑟</m:t>
                          </m:r>
                        </m:sub>
                      </m:sSub>
                      <m:r>
                        <a:rPr lang="ar-AE" sz="3200"/>
                        <m:t>=−</m:t>
                      </m:r>
                      <m:r>
                        <a:rPr lang="ar-AE" sz="3200"/>
                        <m:t>63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28</m:t>
                      </m:r>
                      <m:r>
                        <m:rPr>
                          <m:nor/>
                        </m:rPr>
                        <a:rPr lang="ar-AE" sz="3200" i="1"/>
                        <m:t> </m:t>
                      </m:r>
                      <m:r>
                        <a:rPr lang="ar-AE" sz="3200" i="1"/>
                        <m:t>𝑑𝐵𝑚</m:t>
                      </m:r>
                    </m:oMath>
                  </m:oMathPara>
                </a14:m>
                <a:endParaRPr lang="ar-AE" sz="3200" b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D7E2DF1-2D7C-D0BD-8309-A47E83901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084" y="4663542"/>
                <a:ext cx="10049932" cy="4025717"/>
              </a:xfrm>
              <a:prstGeom prst="rect">
                <a:avLst/>
              </a:prstGeom>
              <a:blipFill>
                <a:blip r:embed="rId5"/>
                <a:stretch>
                  <a:fillRect l="-1578" t="-197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20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57868-D81A-2A42-18C6-AC8E5C46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BE97B7-4521-7578-2350-804EFB325492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06A9E5A2-FB73-556C-0C2D-9B508C481B6D}"/>
              </a:ext>
            </a:extLst>
          </p:cNvPr>
          <p:cNvSpPr txBox="1"/>
          <p:nvPr/>
        </p:nvSpPr>
        <p:spPr>
          <a:xfrm>
            <a:off x="1382157" y="-44605"/>
            <a:ext cx="18277439" cy="1030410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CL" sz="4400" b="1" dirty="0">
                <a:latin typeface="Atkinson Hyperlegible" pitchFamily="2" charset="77"/>
              </a:rPr>
              <a:t>TECNOLOGÍAS </a:t>
            </a:r>
            <a:r>
              <a:rPr lang="es-CL" sz="4400" b="1" dirty="0" err="1">
                <a:latin typeface="Atkinson Hyperlegible" pitchFamily="2" charset="77"/>
              </a:rPr>
              <a:t>VHF</a:t>
            </a:r>
            <a:r>
              <a:rPr lang="es-CL" sz="4400" b="1" dirty="0">
                <a:latin typeface="Atkinson Hyperlegible" pitchFamily="2" charset="77"/>
              </a:rPr>
              <a:t> Y </a:t>
            </a:r>
            <a:r>
              <a:rPr lang="es-CL" sz="4400" b="1" dirty="0" err="1">
                <a:latin typeface="Atkinson Hyperlegible" pitchFamily="2" charset="77"/>
              </a:rPr>
              <a:t>UHF</a:t>
            </a:r>
            <a:endParaRPr lang="es-CL" sz="2800" b="1" kern="100" noProof="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8F4B65-5F96-8A10-3EC7-B860FD8AA053}"/>
              </a:ext>
            </a:extLst>
          </p:cNvPr>
          <p:cNvSpPr txBox="1"/>
          <p:nvPr/>
        </p:nvSpPr>
        <p:spPr>
          <a:xfrm>
            <a:off x="1382157" y="898721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noProof="0" dirty="0">
                <a:latin typeface="Atkinson Hyperlegible"/>
              </a:rPr>
              <a:t>DEMOSTRACIÓN REALISTA (</a:t>
            </a:r>
            <a:r>
              <a:rPr lang="es-CL" sz="4000" dirty="0" err="1"/>
              <a:t>ITU</a:t>
            </a:r>
            <a:r>
              <a:rPr lang="es-CL" sz="4000" dirty="0"/>
              <a:t>-R </a:t>
            </a:r>
            <a:r>
              <a:rPr lang="es-CL" sz="4000" dirty="0" err="1"/>
              <a:t>P.1546</a:t>
            </a:r>
            <a:r>
              <a:rPr lang="es-CL" sz="4000" dirty="0"/>
              <a:t>)</a:t>
            </a:r>
            <a:endParaRPr lang="es-CL" sz="4000" noProof="0" dirty="0">
              <a:latin typeface="Atkinson Hyperlegible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24E22A6-D4E5-318D-DD00-8DF525625324}"/>
              </a:ext>
            </a:extLst>
          </p:cNvPr>
          <p:cNvSpPr txBox="1"/>
          <p:nvPr/>
        </p:nvSpPr>
        <p:spPr>
          <a:xfrm>
            <a:off x="679450" y="8840969"/>
            <a:ext cx="12912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noProof="0" dirty="0">
                <a:latin typeface="Atkinson Hyperlegible"/>
              </a:rPr>
              <a:t>⚠️ </a:t>
            </a:r>
            <a:r>
              <a:rPr lang="es-CL" sz="2400" b="1" noProof="0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P.525</a:t>
            </a:r>
            <a:r>
              <a:rPr lang="en-US" sz="2400" dirty="0">
                <a:latin typeface="Atkinson Hyperlegible"/>
              </a:rPr>
              <a:t> — Calculation of free-space attenuation</a:t>
            </a:r>
            <a:br>
              <a:rPr lang="en-US" sz="2400" dirty="0">
                <a:latin typeface="Atkinson Hyperlegible"/>
              </a:rPr>
            </a:br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P.1546</a:t>
            </a:r>
            <a:r>
              <a:rPr lang="en-US" sz="2400" dirty="0">
                <a:latin typeface="Atkinson Hyperlegible"/>
              </a:rPr>
              <a:t> — Method for point-to-area predictions (VHF/UHF)</a:t>
            </a:r>
            <a:r>
              <a:rPr lang="es-CL" sz="2400" dirty="0">
                <a:latin typeface="Atkinson Hyperlegible"/>
              </a:rPr>
              <a:t>.</a:t>
            </a:r>
            <a:endParaRPr lang="es-CL" sz="2400" noProof="0" dirty="0">
              <a:latin typeface="Atkinson Hyperlegi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DEB2D1-421B-0641-C8B4-4DD7B3FB729F}"/>
                  </a:ext>
                </a:extLst>
              </p:cNvPr>
              <p:cNvSpPr txBox="1"/>
              <p:nvPr/>
            </p:nvSpPr>
            <p:spPr>
              <a:xfrm>
                <a:off x="4885063" y="2090718"/>
                <a:ext cx="10049932" cy="2088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L" sz="3200" dirty="0">
                    <a:latin typeface="Atkinson Hyperlegible"/>
                  </a:rPr>
                  <a:t>Pr​(dBm)=E(</a:t>
                </a:r>
                <a:r>
                  <a:rPr lang="es-CL" sz="3200" dirty="0" err="1">
                    <a:latin typeface="Atkinson Hyperlegible"/>
                  </a:rPr>
                  <a:t>dBµV</a:t>
                </a:r>
                <a:r>
                  <a:rPr lang="es-CL" sz="3200" dirty="0">
                    <a:latin typeface="Atkinson Hyperlegible"/>
                  </a:rPr>
                  <a:t>/m)+</a:t>
                </a:r>
                <a:r>
                  <a:rPr lang="es-CL" sz="3200" dirty="0" err="1">
                    <a:latin typeface="Atkinson Hyperlegible"/>
                  </a:rPr>
                  <a:t>20log10</a:t>
                </a:r>
                <a:r>
                  <a:rPr lang="es-CL" sz="3200" dirty="0">
                    <a:latin typeface="Atkinson Hyperlegible"/>
                  </a:rPr>
                  <a:t>​(</a:t>
                </a:r>
                <a:r>
                  <a:rPr lang="el-GR" sz="3200" dirty="0"/>
                  <a:t>λ)−139.3 </a:t>
                </a:r>
              </a:p>
              <a:p>
                <a:r>
                  <a:rPr lang="es-CL" sz="3200" dirty="0">
                    <a:latin typeface="Atkinson Hyperlegible"/>
                  </a:rPr>
                  <a:t>Donde: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L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300</m:t>
                          </m:r>
                        </m:num>
                        <m:den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𝑀𝐻𝑧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3200" dirty="0">
                  <a:latin typeface="Atkinson Hyperlegible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DEB2D1-421B-0641-C8B4-4DD7B3FB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63" y="2090718"/>
                <a:ext cx="10049932" cy="2088713"/>
              </a:xfrm>
              <a:prstGeom prst="rect">
                <a:avLst/>
              </a:prstGeom>
              <a:blipFill>
                <a:blip r:embed="rId4"/>
                <a:stretch>
                  <a:fillRect l="-1516" t="-379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948B113-0C73-B823-5916-79F1F8EED8AB}"/>
                  </a:ext>
                </a:extLst>
              </p:cNvPr>
              <p:cNvSpPr txBox="1"/>
              <p:nvPr/>
            </p:nvSpPr>
            <p:spPr>
              <a:xfrm>
                <a:off x="5027084" y="4663542"/>
                <a:ext cx="10049932" cy="304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L" sz="3200" b="1" dirty="0"/>
                  <a:t>Para 450 MHz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3200" i="1"/>
                        <m:t>𝜆</m:t>
                      </m:r>
                      <m:r>
                        <a:rPr lang="es-CL" sz="3200"/>
                        <m:t>=</m:t>
                      </m:r>
                      <m:f>
                        <m:fPr>
                          <m:ctrlPr>
                            <a:rPr lang="ar-AE" sz="3200" i="1"/>
                          </m:ctrlPr>
                        </m:fPr>
                        <m:num>
                          <m:r>
                            <a:rPr lang="ar-AE" sz="3200"/>
                            <m:t>300</m:t>
                          </m:r>
                        </m:num>
                        <m:den>
                          <m:r>
                            <a:rPr lang="ar-AE" sz="3200"/>
                            <m:t>450</m:t>
                          </m:r>
                        </m:den>
                      </m:f>
                      <m:r>
                        <a:rPr lang="ar-AE" sz="3200"/>
                        <m:t>=</m:t>
                      </m:r>
                      <m:r>
                        <a:rPr lang="ar-AE" sz="3200"/>
                        <m:t>0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67</m:t>
                      </m:r>
                      <m:r>
                        <m:rPr>
                          <m:nor/>
                        </m:rPr>
                        <a:rPr lang="ar-AE" sz="3200" i="1"/>
                        <m:t> </m:t>
                      </m:r>
                      <m:r>
                        <a:rPr lang="ar-AE" sz="3200" i="1"/>
                        <m:t>𝑚</m:t>
                      </m:r>
                    </m:oMath>
                  </m:oMathPara>
                </a14:m>
                <a:endParaRPr lang="ar-AE" sz="32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/>
                        <m:t>20</m:t>
                      </m:r>
                      <m:sSub>
                        <m:sSubPr>
                          <m:ctrlPr>
                            <a:rPr lang="ar-AE" sz="32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32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32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3200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ar-AE" sz="3200" i="1"/>
                          </m:ctrlPr>
                        </m:dPr>
                        <m:e>
                          <m:r>
                            <a:rPr lang="ar-AE" sz="3200"/>
                            <m:t>0</m:t>
                          </m:r>
                          <m:r>
                            <a:rPr lang="ar-AE" sz="3200"/>
                            <m:t>.</m:t>
                          </m:r>
                          <m:r>
                            <a:rPr lang="ar-AE" sz="3200"/>
                            <m:t>67</m:t>
                          </m:r>
                        </m:e>
                      </m:d>
                      <m:r>
                        <a:rPr lang="ar-AE" sz="3200"/>
                        <m:t>=−</m:t>
                      </m:r>
                      <m:r>
                        <a:rPr lang="ar-AE" sz="3200"/>
                        <m:t>3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48</m:t>
                      </m:r>
                    </m:oMath>
                  </m:oMathPara>
                </a14:m>
                <a:endParaRPr lang="ar-AE" sz="32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/>
                          </m:ctrlPr>
                        </m:sSubPr>
                        <m:e>
                          <m:r>
                            <a:rPr lang="ar-AE" sz="3200" i="1"/>
                            <m:t>𝑃</m:t>
                          </m:r>
                        </m:e>
                        <m:sub>
                          <m:r>
                            <a:rPr lang="ar-AE" sz="3200" i="1"/>
                            <m:t>𝑟</m:t>
                          </m:r>
                        </m:sub>
                      </m:sSub>
                      <m:r>
                        <a:rPr lang="ar-AE" sz="3200"/>
                        <m:t>=</m:t>
                      </m:r>
                      <m:r>
                        <a:rPr lang="ar-AE" sz="3200"/>
                        <m:t>62</m:t>
                      </m:r>
                      <m:r>
                        <a:rPr lang="ar-AE" sz="3200"/>
                        <m:t>−</m:t>
                      </m:r>
                      <m:r>
                        <a:rPr lang="ar-AE" sz="3200"/>
                        <m:t>3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48</m:t>
                      </m:r>
                      <m:r>
                        <a:rPr lang="ar-AE" sz="3200"/>
                        <m:t>−</m:t>
                      </m:r>
                      <m:r>
                        <a:rPr lang="ar-AE" sz="3200"/>
                        <m:t>139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3</m:t>
                      </m:r>
                    </m:oMath>
                  </m:oMathPara>
                </a14:m>
                <a:endParaRPr lang="ar-AE" sz="32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/>
                          </m:ctrlPr>
                        </m:sSubPr>
                        <m:e>
                          <m:r>
                            <a:rPr lang="ar-AE" sz="3200" i="1"/>
                            <m:t>𝑃</m:t>
                          </m:r>
                        </m:e>
                        <m:sub>
                          <m:r>
                            <a:rPr lang="ar-AE" sz="3200" i="1"/>
                            <m:t>𝑟</m:t>
                          </m:r>
                        </m:sub>
                      </m:sSub>
                      <m:r>
                        <a:rPr lang="ar-AE" sz="3200"/>
                        <m:t>=−</m:t>
                      </m:r>
                      <m:r>
                        <a:rPr lang="ar-AE" sz="3200"/>
                        <m:t>80</m:t>
                      </m:r>
                      <m:r>
                        <a:rPr lang="ar-AE" sz="3200"/>
                        <m:t>.</m:t>
                      </m:r>
                      <m:r>
                        <a:rPr lang="ar-AE" sz="3200"/>
                        <m:t>78</m:t>
                      </m:r>
                      <m:r>
                        <m:rPr>
                          <m:nor/>
                        </m:rPr>
                        <a:rPr lang="ar-AE" sz="3200" i="1"/>
                        <m:t> </m:t>
                      </m:r>
                      <m:r>
                        <a:rPr lang="ar-AE" sz="3200" i="1"/>
                        <m:t>𝑑𝐵𝑚</m:t>
                      </m:r>
                    </m:oMath>
                  </m:oMathPara>
                </a14:m>
                <a:endParaRPr lang="ar-AE" sz="3200" b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948B113-0C73-B823-5916-79F1F8EED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084" y="4663542"/>
                <a:ext cx="10049932" cy="3040832"/>
              </a:xfrm>
              <a:prstGeom prst="rect">
                <a:avLst/>
              </a:prstGeom>
              <a:blipFill>
                <a:blip r:embed="rId5"/>
                <a:stretch>
                  <a:fillRect l="-1578" t="-260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40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02B9-EA61-B724-86FF-88F84748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FCF618F-7E6E-94DB-387A-84F2016E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noProof="0" dirty="0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A7C27BC0-C5F5-677A-C0FD-C80D0C29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173BAEAB-F5DF-6E9F-E933-68060E9B7E0F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6000" b="1" kern="100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</a:p>
          <a:p>
            <a:pPr>
              <a:lnSpc>
                <a:spcPct val="150000"/>
              </a:lnSpc>
            </a:pPr>
            <a:r>
              <a:rPr lang="es-CL" sz="2400" b="1" kern="1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BD7AF8A-199B-B386-2989-3AFBFF724404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noProof="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MAR,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DC807EC9-9D52-7C43-CC8D-85FA06754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B24191BE-31B1-4B8B-8F0D-9EE4E03ED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72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4439</Words>
  <Application>Microsoft Office PowerPoint</Application>
  <PresentationFormat>Personalizado</PresentationFormat>
  <Paragraphs>482</Paragraphs>
  <Slides>37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4" baseType="lpstr">
      <vt:lpstr>Arial</vt:lpstr>
      <vt:lpstr>Arial Narrow</vt:lpstr>
      <vt:lpstr>Atkinson Hyperlegible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afgd3l2</cp:lastModifiedBy>
  <cp:revision>306</cp:revision>
  <dcterms:modified xsi:type="dcterms:W3CDTF">2026-03-24T15:10:29Z</dcterms:modified>
</cp:coreProperties>
</file>