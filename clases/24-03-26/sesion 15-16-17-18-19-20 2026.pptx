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1718" r:id="rId2"/>
    <p:sldId id="257" r:id="rId3"/>
    <p:sldId id="1708" r:id="rId4"/>
    <p:sldId id="1725" r:id="rId5"/>
    <p:sldId id="1720" r:id="rId6"/>
    <p:sldId id="1721" r:id="rId7"/>
    <p:sldId id="1731" r:id="rId8"/>
    <p:sldId id="1761" r:id="rId9"/>
    <p:sldId id="1763" r:id="rId10"/>
    <p:sldId id="1766" r:id="rId11"/>
    <p:sldId id="1767" r:id="rId12"/>
    <p:sldId id="1768" r:id="rId13"/>
    <p:sldId id="1776" r:id="rId14"/>
    <p:sldId id="1770" r:id="rId15"/>
    <p:sldId id="1777" r:id="rId16"/>
    <p:sldId id="1778" r:id="rId17"/>
    <p:sldId id="1784" r:id="rId18"/>
    <p:sldId id="1788" r:id="rId19"/>
    <p:sldId id="1789" r:id="rId20"/>
    <p:sldId id="1790" r:id="rId21"/>
    <p:sldId id="1791" r:id="rId22"/>
    <p:sldId id="1792" r:id="rId23"/>
    <p:sldId id="1793" r:id="rId24"/>
    <p:sldId id="1794" r:id="rId25"/>
    <p:sldId id="1795" r:id="rId26"/>
    <p:sldId id="1729" r:id="rId27"/>
  </p:sldIdLst>
  <p:sldSz cx="20104100" cy="11309350"/>
  <p:notesSz cx="9296400" cy="7010400"/>
  <p:defaultTextStyle>
    <a:defPPr lvl="0">
      <a:defRPr lang="es-CL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897051-24AE-98AE-7D1D-12996A0AA340}" name="afgd3l2" initials="a" userId="S::afgd3l2@verykvm.com::a234dbd5-222b-47e7-a1d4-2c032f33b77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 snapToGrid="0">
      <p:cViewPr varScale="1">
        <p:scale>
          <a:sx n="64" d="100"/>
          <a:sy n="64" d="100"/>
        </p:scale>
        <p:origin x="774" y="10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21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265562" y="0"/>
            <a:ext cx="4028636" cy="351308"/>
          </a:xfrm>
          <a:prstGeom prst="rect">
            <a:avLst/>
          </a:prstGeom>
        </p:spPr>
        <p:txBody>
          <a:bodyPr vert="horz" lIns="47092" tIns="23546" rIns="47092" bIns="23546" rtlCol="0"/>
          <a:lstStyle>
            <a:lvl1pPr algn="r">
              <a:defRPr sz="600"/>
            </a:lvl1pPr>
          </a:lstStyle>
          <a:p>
            <a:fld id="{BA6E888F-4D11-6642-A67A-175E177747A6}" type="datetimeFigureOut">
              <a:rPr lang="es-CL" smtClean="0"/>
              <a:t>24-03-2026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47092" tIns="23546" rIns="47092" bIns="23546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29348" y="3373337"/>
            <a:ext cx="7437707" cy="2761255"/>
          </a:xfrm>
          <a:prstGeom prst="rect">
            <a:avLst/>
          </a:prstGeom>
        </p:spPr>
        <p:txBody>
          <a:bodyPr vert="horz" lIns="47092" tIns="23546" rIns="47092" bIns="23546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l">
              <a:defRPr sz="6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265562" y="6659094"/>
            <a:ext cx="4028636" cy="351307"/>
          </a:xfrm>
          <a:prstGeom prst="rect">
            <a:avLst/>
          </a:prstGeom>
        </p:spPr>
        <p:txBody>
          <a:bodyPr vert="horz" lIns="47092" tIns="23546" rIns="47092" bIns="23546" rtlCol="0" anchor="b"/>
          <a:lstStyle>
            <a:lvl1pPr algn="r">
              <a:defRPr sz="600"/>
            </a:lvl1pPr>
          </a:lstStyle>
          <a:p>
            <a:fld id="{235CC6FD-75C5-034E-BC56-691A10C4160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082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5652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“Este es el modelo mínimo de cualquier enlace RF. las variables clave: frecuencia y longitud de onda. No calcularemos aún; lo importante es entender que al variar la frecuencia cambia el comportamiento del enlace y la lógica de por qué existen bandas reguladas.”</a:t>
            </a:r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1528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B7665-E627-33DE-FC22-A8F4899EF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D8E3EA-1CE7-2591-A02F-5E3813E0D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5E6C6AB-BA51-7F9F-35E2-E6B7E5139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espectro se organiza para poder convivir. ‘Banda’ es una franja de frecuencias; ‘canal’ es una porción dentro de esa franja. Esta idea se repetirá en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 dirty="0"/>
              <a:t>, microondas, satélite y radar.”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E376F61-F8AA-C576-8F44-B52BFE4F3C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3928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B9B2-D52E-BF78-5BA3-105B6A57C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585455C-8281-843F-27B3-1C494D75F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EBB3573-CB2A-5B8C-095B-FADB59793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espectro se organiza para poder convivir. ‘Banda’ es una franja de frecuencias; ‘canal’ es una porción dentro de esa franja. Esta idea se repetirá en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 dirty="0"/>
              <a:t>, microondas, satélite y radar.”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D3CD3E-C72E-2EE0-7FEE-91DE03F001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9458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D5EF-AE8C-297E-92EB-B36D4216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F8E228-AA39-F35D-7A61-C15D9289B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2D4535-1FAD-EF57-3035-B1343785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 que deben retener es que la frecuencia determina cómo se comporta el enlace en el mundo real: cambia la interacción con el entorno, la practicidad de antenas y el tipo de diseño que se requiere. Por eso el espectro se regula y segmenta en bandas.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5272F7D-7C04-B694-A104-489168037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2513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8FBC-E28F-4184-F7DC-A9D23AEDE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9389EE4-0D83-293F-0576-6E5DF12B42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943DA9-3F49-D5C5-7D35-9BDAE3057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 que deben retener es que la frecuencia determina cómo se comporta el enlace en el mundo real: cambia la interacción con el entorno, la practicidad de antenas y el tipo de diseño que se requiere. Por eso el espectro se regula y segmenta en bandas.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4A87D22-64D8-2652-5D21-7A894218E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4961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52A5-8D8B-2241-8E7F-D6F73771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839FB1-F4EF-E378-1334-A5C3F42E45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1DA5F8-D26C-5853-23C9-D88F5FB92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BE60D65-B90E-2AAA-3375-91C932C65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78084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EC31-FD7C-C136-9537-5FC5E5E8F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7CBB053-2B00-E2EA-A1CA-7C22B3DC9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882D58E-BD78-F2CC-2813-D86917BE6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0398D9A-B3FE-1FF8-1519-73D84BDB1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3687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AF3C-1B14-3DFE-B605-7024C0654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2297208-0EBE-9354-1113-A1400D954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2145BD-00FB-13EC-FE01-62607893E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BBE590B-CBF5-2164-306F-011FF1A28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750835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998B0-B40F-C544-1DCB-A1DCA1BC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0CC2484-A37E-104B-1B1A-A85D380C3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AF19A23-C02D-C907-2B7A-738830145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el módulo anterior vimos espectro y bandas. Ahora damos un paso natural: el medio en RF es el ambiente. La atmósfera introduce pérdidas y variabilidad, especialmente relevante en ciertos rangos y enlaces. Hoy lo veremos conceptualmente, preparando microondas y satélite.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95EB06-6EEF-495F-636C-9D6A8F9A8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99535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2291E-CE86-9128-A36C-A3495729F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2AE4A8-492B-43E4-64E2-0BE043DCA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C1D864E-E66C-CB96-F0CD-F9BE72A1A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30AABD-5D34-BE6C-0EFC-FB902E8E6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67325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7F664-7B06-C9D8-A6E3-ECFB1798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EF5390D-5881-EDF5-4F28-90ABD34A2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ACDFA1-65F4-B268-A3CC-29652B92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756F0F-E682-2512-EE34-8937F69D7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02507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5B8CB-CB01-AE6B-8B3D-9A894FD11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80D146-1C76-0649-4C05-D7C0154F3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121A35C-5CEE-E19C-651B-15A58731D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</a:t>
            </a:r>
            <a:r>
              <a:rPr lang="es-ES" dirty="0" err="1"/>
              <a:t>Multipath</a:t>
            </a:r>
            <a:r>
              <a:rPr lang="es-ES" dirty="0"/>
              <a:t> significa que el receptor no ve una sola señal, sino varias copias con distintos caminos. Según cómo se sumen, la potencia recibida sube o baja. Eso se llama fading. Es normal y explica por qué a veces ‘se corta’ aunque todo esté encendido.”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9E7B8EC-37B5-5986-496C-E51DCB8962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68332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DCE9D-769B-E613-DB9B-CE44D827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235EC39-DDF4-FB89-6794-5A6D22EF1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DACB5F7-79C0-3FD2-E2A8-5650E7923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Esto es una referencia ideal: en enlaces reales se agregan pérdidas por atmósfera, obstáculos y </a:t>
            </a:r>
            <a:r>
              <a:rPr lang="es-ES" dirty="0" err="1"/>
              <a:t>multipath</a:t>
            </a:r>
            <a:r>
              <a:rPr lang="es-ES" dirty="0"/>
              <a:t>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14B95-5C34-88E3-A1B9-4B933867D5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1408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B7198-CCA8-7432-9384-0812F7513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F1DC7B8-9EE8-3490-254C-49204EB5E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4CB677-E217-C43B-520E-87B995A78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aprenderemos a distinguir dos formas de uso: punto a punto y </a:t>
            </a:r>
            <a:r>
              <a:rPr lang="es-ES" dirty="0" err="1"/>
              <a:t>broadcasting</a:t>
            </a:r>
            <a:r>
              <a:rPr lang="es-ES" dirty="0"/>
              <a:t>. La meta no es memorizar rangos, sino entender cómo cambia la lógica de cobertura, interferencia y servicio.”</a:t>
            </a:r>
            <a:br>
              <a:rPr lang="es-ES" dirty="0"/>
            </a:br>
            <a:r>
              <a:rPr lang="es-ES" dirty="0"/>
              <a:t>“HF, </a:t>
            </a:r>
            <a:r>
              <a:rPr lang="es-ES" dirty="0" err="1"/>
              <a:t>VHF</a:t>
            </a:r>
            <a:r>
              <a:rPr lang="es-ES" dirty="0"/>
              <a:t> y </a:t>
            </a:r>
            <a:r>
              <a:rPr lang="es-ES" dirty="0" err="1"/>
              <a:t>UHF</a:t>
            </a:r>
            <a:r>
              <a:rPr lang="es-ES" dirty="0"/>
              <a:t> son rangos del espectro, no tecnologías. La elección de banda impacta cobertura, obstáculos e interferencia. Hoy lo veremos desde el punto de vista de ‘tipo de servicio’: enlaces punto a punto y </a:t>
            </a:r>
            <a:r>
              <a:rPr lang="es-ES" dirty="0" err="1"/>
              <a:t>broadcasting</a:t>
            </a:r>
            <a:r>
              <a:rPr lang="es-ES" dirty="0"/>
              <a:t>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C4EEC9-E283-3DAD-3CBC-E45CEB0682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789490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5E787-6A18-9318-E76C-64C4C745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0BC465C-9108-97F8-5FFD-E8B49F8DFD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F05860-C0FB-3411-FCE7-F45049124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Aquí ‘red’ no significa necesariamente IP: significa un conjunto de estaciones que comparten un canal y pueden apoyarse en repetidores para ampliar cobertura. Lo que manda es el diseño de cobertura: banda, antenas, altura y entorno. Luego distinguiremos explícitamente punto a punto vs </a:t>
            </a:r>
            <a:r>
              <a:rPr lang="es-ES" dirty="0" err="1"/>
              <a:t>broadcasting</a:t>
            </a:r>
            <a:r>
              <a:rPr lang="es-ES" dirty="0"/>
              <a:t>.”</a:t>
            </a:r>
            <a:br>
              <a:rPr lang="es-ES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1E61360-9342-0ED6-82F4-0AE0937F9A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4001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D644B-FE49-4B18-ED1D-75A56B130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190AD2C-71A9-63BA-36E7-50B097826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0E69D3D-7AFC-FD8C-5B2F-0CE8BE867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diferencia clave es el objetivo. En punto a punto optimizo el enlace entre dos puntos. En </a:t>
            </a:r>
            <a:r>
              <a:rPr lang="es-ES" dirty="0" err="1"/>
              <a:t>broadcasting</a:t>
            </a:r>
            <a:r>
              <a:rPr lang="es-ES" dirty="0"/>
              <a:t> busco que un área reciba con calidad aceptable, y por eso importan mucho la cobertura y la coordinación de interferencias</a:t>
            </a:r>
            <a:br>
              <a:rPr lang="es-ES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BFD60D-7C7C-7C31-C051-12BD1950A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195656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CC014-CB5E-1B01-7DDB-378F84DAF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7D9D564-BE03-ABDB-8FAD-698D0E2842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4CB664-8A48-115D-FCDD-ED432A4411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tabla es la diferencia que quiero que se lleven hoy. Cuando el objetivo cambia, cambia todo: cómo elijo antenas, cómo evalúo éxito y cómo trato la interferencia.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1EF11D-4262-359F-5506-B7DD89510E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508503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CD68-C1B9-533F-7673-5B9A20669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FA809C-6F1D-73C6-830E-0968D3734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BEE813A-CFD4-63AD-3C52-82508205D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No busque “la banda perfecta”; busque </a:t>
            </a:r>
            <a:r>
              <a:rPr lang="es-ES" b="1" dirty="0"/>
              <a:t>razonamiento</a:t>
            </a:r>
            <a:r>
              <a:rPr lang="es-ES" dirty="0"/>
              <a:t> con un criterio. Si se traban, pregunte:</a:t>
            </a:r>
            <a:br>
              <a:rPr lang="es-ES" dirty="0"/>
            </a:br>
            <a:r>
              <a:rPr lang="es-ES" b="1" dirty="0"/>
              <a:t>“¿Hay uno o muchos receptores?”</a:t>
            </a:r>
            <a:r>
              <a:rPr lang="es-ES" dirty="0"/>
              <a:t> → define el tipo.</a:t>
            </a:r>
            <a:br>
              <a:rPr lang="es-ES" dirty="0"/>
            </a:br>
            <a:r>
              <a:rPr lang="es-ES" b="1" dirty="0"/>
              <a:t>“¿Es cobertura o enlace?”</a:t>
            </a:r>
            <a:r>
              <a:rPr lang="es-ES" dirty="0"/>
              <a:t> → define la lógica.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B49739-9D86-205D-CD5B-6093145E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597579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28BBE-E6BF-9ED4-74C6-6C675F0F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5D6AD4E-1985-EF29-915C-E58391BAB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21CB78-F449-2D2A-096F-DC90C9A61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“Con esto cerramos: si pueden definir </a:t>
            </a:r>
            <a:r>
              <a:rPr lang="es-ES" dirty="0" err="1"/>
              <a:t>broadcasting</a:t>
            </a:r>
            <a:r>
              <a:rPr lang="es-ES" dirty="0"/>
              <a:t>, diferenciarlo del punto a punto y justificar una banda con un criterio, están listos para pasar a tecnologías </a:t>
            </a:r>
            <a:r>
              <a:rPr lang="es-ES" dirty="0" err="1"/>
              <a:t>VHF</a:t>
            </a:r>
            <a:r>
              <a:rPr lang="es-ES" dirty="0"/>
              <a:t>/</a:t>
            </a:r>
            <a:r>
              <a:rPr lang="es-ES" dirty="0" err="1"/>
              <a:t>UHF</a:t>
            </a:r>
            <a:r>
              <a:rPr lang="es-ES"/>
              <a:t>.”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7FB0DB-215D-0A0A-4B11-A4B52C802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5CC6FD-75C5-034E-BC56-691A10C41604}" type="slidenum">
              <a:rPr lang="es-CL" smtClean="0"/>
              <a:t>25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062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4DCFF-58D8-97D2-51D3-6268BB696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B0821F-352C-1076-2ECE-CDE7AF308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s-MX"/>
              <a:t>Haz clic para editar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FF513E-E201-4345-522F-05D5BDC9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371351-BD5F-0CBD-6276-4BE74B70A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B4A449-F555-EC65-0F1B-0ABB7AA8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2483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35A15-CC56-D4D0-6469-74F8CA91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61CDD0-AEA2-E1E1-8449-BEFC90594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E17-511C-62B9-D495-4FA06434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45FD42-27BC-120C-3AF3-D3D355B05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ED70BB-D70F-5C80-BEC5-C6A31C94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42600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8923E4-E3C8-5760-2CD0-CDF9BFCBF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86" y="2819485"/>
            <a:ext cx="17339786" cy="4704375"/>
          </a:xfrm>
        </p:spPr>
        <p:txBody>
          <a:bodyPr anchor="b"/>
          <a:lstStyle>
            <a:lvl1pPr>
              <a:defRPr sz="9894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F085F8F-91AC-DEDF-BDC7-BE1F89C4C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86" y="7568366"/>
            <a:ext cx="17339786" cy="2473919"/>
          </a:xfrm>
        </p:spPr>
        <p:txBody>
          <a:bodyPr/>
          <a:lstStyle>
            <a:lvl1pPr marL="0" indent="0">
              <a:buNone/>
              <a:defRPr sz="3958">
                <a:solidFill>
                  <a:schemeClr val="tx1">
                    <a:tint val="75000"/>
                  </a:schemeClr>
                </a:solidFill>
              </a:defRPr>
            </a:lvl1pPr>
            <a:lvl2pPr marL="753923" indent="0">
              <a:buNone/>
              <a:defRPr sz="329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BA4FA8-08B8-0E66-F01F-B235F110B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1ACA919-6BF3-42BD-DBC7-09A7CBD6F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715315-E27F-B452-CA46-776C4AE89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4136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98B64B-EBCD-6853-58B8-B2CA0C7D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F2E63-4791-D0B1-D362-7EB60DD0D0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157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18DFB6-1BE9-C5A5-B8E5-C1BF4C301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7700" y="3010591"/>
            <a:ext cx="8544243" cy="71756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BC9F7E-0C80-2B3B-50ED-2EA3038F2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B1FDDF-62D9-10D0-3A15-E051505E9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0564F-FADB-7B9D-90E1-AF826F8D5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647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9F778-08A9-A6B8-5C93-C5AAB8EAF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602119"/>
            <a:ext cx="17339786" cy="218595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B1367A-B26A-422F-D2BD-318663242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776" y="2772362"/>
            <a:ext cx="8504976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0EB983-DE50-2793-94B1-6282B8FB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76" y="4131054"/>
            <a:ext cx="8504976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8D20D19-F20A-717C-BA4D-6B5661EBE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701" y="2772362"/>
            <a:ext cx="8546861" cy="1358692"/>
          </a:xfrm>
        </p:spPr>
        <p:txBody>
          <a:bodyPr anchor="b"/>
          <a:lstStyle>
            <a:lvl1pPr marL="0" indent="0">
              <a:buNone/>
              <a:defRPr sz="3958" b="1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562768-89FD-AA2F-EB7A-2C15C13625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701" y="4131054"/>
            <a:ext cx="8546861" cy="60761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2A6A63F-08A7-06F9-6F36-72AC2E1E9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35A53C4-A8EF-EB7C-EA3A-6C78EC4B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910B013-DDC7-D0B3-F289-335856F7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0371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7347E-68C2-47E3-D5CA-088E9958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526359-41CF-4EFB-0CDE-88ABEEC21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B796C5-5685-6789-4FBC-3CF567A02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7E7E3A9-9B64-71CD-9D73-9DC2A402D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5190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686668C-654D-7680-D2F1-5951A5B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4641BD1-643A-0141-998D-BA2EF4BCA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D63F749-E945-0A95-968F-044A4AC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770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DA742-F495-D4AC-270C-DA9999511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77B855-60C9-AC83-44EF-14F710C399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>
              <a:defRPr sz="5277"/>
            </a:lvl1pPr>
            <a:lvl2pPr>
              <a:defRPr sz="4617"/>
            </a:lvl2pPr>
            <a:lvl3pPr>
              <a:defRPr sz="3958"/>
            </a:lvl3pPr>
            <a:lvl4pPr>
              <a:defRPr sz="3298"/>
            </a:lvl4pPr>
            <a:lvl5pPr>
              <a:defRPr sz="3298"/>
            </a:lvl5pPr>
            <a:lvl6pPr>
              <a:defRPr sz="3298"/>
            </a:lvl6pPr>
            <a:lvl7pPr>
              <a:defRPr sz="3298"/>
            </a:lvl7pPr>
            <a:lvl8pPr>
              <a:defRPr sz="3298"/>
            </a:lvl8pPr>
            <a:lvl9pPr>
              <a:defRPr sz="329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23DF89-AB5E-D209-90B6-FBB140BD1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27FB68-BAF2-FAFC-20C5-50840A80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0E96347-07C2-617F-DA6B-645148352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B3FF74-E26C-3624-C160-FD84EBF2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06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E3DB23-2B68-8BE6-5BE8-74FB8AC8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776" y="753957"/>
            <a:ext cx="6484095" cy="2638848"/>
          </a:xfrm>
        </p:spPr>
        <p:txBody>
          <a:bodyPr anchor="b"/>
          <a:lstStyle>
            <a:lvl1pPr>
              <a:defRPr sz="5277"/>
            </a:lvl1pPr>
          </a:lstStyle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12C754-B8E4-3914-A69F-E1B36DCF6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546861" y="1628338"/>
            <a:ext cx="10177701" cy="8036969"/>
          </a:xfrm>
        </p:spPr>
        <p:txBody>
          <a:bodyPr/>
          <a:lstStyle>
            <a:lvl1pPr marL="0" indent="0">
              <a:buNone/>
              <a:defRPr sz="5277"/>
            </a:lvl1pPr>
            <a:lvl2pPr marL="753923" indent="0">
              <a:buNone/>
              <a:defRPr sz="4617"/>
            </a:lvl2pPr>
            <a:lvl3pPr marL="1507846" indent="0">
              <a:buNone/>
              <a:defRPr sz="3958"/>
            </a:lvl3pPr>
            <a:lvl4pPr marL="2261768" indent="0">
              <a:buNone/>
              <a:defRPr sz="3298"/>
            </a:lvl4pPr>
            <a:lvl5pPr marL="3015691" indent="0">
              <a:buNone/>
              <a:defRPr sz="3298"/>
            </a:lvl5pPr>
            <a:lvl6pPr marL="3769614" indent="0">
              <a:buNone/>
              <a:defRPr sz="3298"/>
            </a:lvl6pPr>
            <a:lvl7pPr marL="4523537" indent="0">
              <a:buNone/>
              <a:defRPr sz="3298"/>
            </a:lvl7pPr>
            <a:lvl8pPr marL="5277460" indent="0">
              <a:buNone/>
              <a:defRPr sz="3298"/>
            </a:lvl8pPr>
            <a:lvl9pPr marL="6031382" indent="0">
              <a:buNone/>
              <a:defRPr sz="3298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A8F03C-2BE0-3A95-F000-ACD6AD1C7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4776" y="3392805"/>
            <a:ext cx="6484095" cy="6285591"/>
          </a:xfrm>
        </p:spPr>
        <p:txBody>
          <a:bodyPr/>
          <a:lstStyle>
            <a:lvl1pPr marL="0" indent="0">
              <a:buNone/>
              <a:defRPr sz="2638"/>
            </a:lvl1pPr>
            <a:lvl2pPr marL="753923" indent="0">
              <a:buNone/>
              <a:defRPr sz="2309"/>
            </a:lvl2pPr>
            <a:lvl3pPr marL="1507846" indent="0">
              <a:buNone/>
              <a:defRPr sz="1979"/>
            </a:lvl3pPr>
            <a:lvl4pPr marL="2261768" indent="0">
              <a:buNone/>
              <a:defRPr sz="1649"/>
            </a:lvl4pPr>
            <a:lvl5pPr marL="3015691" indent="0">
              <a:buNone/>
              <a:defRPr sz="1649"/>
            </a:lvl5pPr>
            <a:lvl6pPr marL="3769614" indent="0">
              <a:buNone/>
              <a:defRPr sz="1649"/>
            </a:lvl6pPr>
            <a:lvl7pPr marL="4523537" indent="0">
              <a:buNone/>
              <a:defRPr sz="1649"/>
            </a:lvl7pPr>
            <a:lvl8pPr marL="5277460" indent="0">
              <a:buNone/>
              <a:defRPr sz="1649"/>
            </a:lvl8pPr>
            <a:lvl9pPr marL="6031382" indent="0">
              <a:buNone/>
              <a:defRPr sz="1649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A51A9BF-B911-5C93-22DE-19FD6899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EDF1256-7E86-58E3-6661-FA1D67375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1259D9-D8FC-1B56-BFFA-37357293A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4611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06267-7792-D819-1250-3B80F216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545AC6-7292-773C-7509-D7E1D0B69D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C3A385-780F-B272-80CB-E3EE2720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E7FDF5-4CCA-2A20-13BC-D406ED96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F13AE1-0243-5662-3E9D-89565B76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89105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2016D2-D6B9-D0D7-A956-FC3D8BE03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4386996" y="602118"/>
            <a:ext cx="4334947" cy="958415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4FC73-6922-E6BE-8B37-9A3D83C84D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82157" y="602118"/>
            <a:ext cx="12753538" cy="9584151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029604-4D94-FF99-EACD-68549E65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B03D43-86E0-0338-2B20-C4B28C452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2D1C4-EEBA-36AC-255B-B421F28F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154338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23E6B1A-7AB0-C547-8394-097517D6C818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0821498"/>
            <a:ext cx="19059478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245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454EFA-1F7B-877B-469B-2D764857A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157" y="602119"/>
            <a:ext cx="17339786" cy="21859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7C16E2-A185-FEA6-7411-8103675A8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157" y="3010591"/>
            <a:ext cx="17339786" cy="717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21F49-C348-4F08-D8CA-E6E1125C76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157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1E2BA2-5BAF-A870-FA74-B2B0C7643B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483" y="10482093"/>
            <a:ext cx="6785134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6E0C4E-A769-0FA6-B059-676054203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8264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72" r:id="rId1"/>
    <p:sldLayoutId id="2147485173" r:id="rId2"/>
    <p:sldLayoutId id="2147485174" r:id="rId3"/>
    <p:sldLayoutId id="2147485175" r:id="rId4"/>
    <p:sldLayoutId id="2147485176" r:id="rId5"/>
    <p:sldLayoutId id="2147485177" r:id="rId6"/>
    <p:sldLayoutId id="2147485178" r:id="rId7"/>
    <p:sldLayoutId id="2147485179" r:id="rId8"/>
    <p:sldLayoutId id="2147485180" r:id="rId9"/>
    <p:sldLayoutId id="2147485181" r:id="rId10"/>
    <p:sldLayoutId id="2147485182" r:id="rId11"/>
    <p:sldLayoutId id="2147485183" r:id="rId12"/>
  </p:sldLayoutIdLst>
  <p:txStyles>
    <p:titleStyle>
      <a:lvl1pPr algn="l" defTabSz="1507846" rtl="0" eaLnBrk="1" latinLnBrk="0" hangingPunct="1">
        <a:lnSpc>
          <a:spcPct val="90000"/>
        </a:lnSpc>
        <a:spcBef>
          <a:spcPct val="0"/>
        </a:spcBef>
        <a:buNone/>
        <a:defRPr sz="725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6961" indent="-376961" algn="l" defTabSz="1507846" rtl="0" eaLnBrk="1" latinLnBrk="0" hangingPunct="1">
        <a:lnSpc>
          <a:spcPct val="90000"/>
        </a:lnSpc>
        <a:spcBef>
          <a:spcPts val="1649"/>
        </a:spcBef>
        <a:buFont typeface="Arial" panose="020B0604020202020204" pitchFamily="34" charset="0"/>
        <a:buChar char="•"/>
        <a:defRPr sz="4617" kern="1200">
          <a:solidFill>
            <a:schemeClr val="tx1"/>
          </a:solidFill>
          <a:latin typeface="+mn-lt"/>
          <a:ea typeface="+mn-ea"/>
          <a:cs typeface="+mn-cs"/>
        </a:defRPr>
      </a:lvl1pPr>
      <a:lvl2pPr marL="113088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958" kern="1200">
          <a:solidFill>
            <a:schemeClr val="tx1"/>
          </a:solidFill>
          <a:latin typeface="+mn-lt"/>
          <a:ea typeface="+mn-ea"/>
          <a:cs typeface="+mn-cs"/>
        </a:defRPr>
      </a:lvl2pPr>
      <a:lvl3pPr marL="1884807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3298" kern="1200">
          <a:solidFill>
            <a:schemeClr val="tx1"/>
          </a:solidFill>
          <a:latin typeface="+mn-lt"/>
          <a:ea typeface="+mn-ea"/>
          <a:cs typeface="+mn-cs"/>
        </a:defRPr>
      </a:lvl3pPr>
      <a:lvl4pPr marL="2638730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392653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4146575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900498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654421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408344" indent="-376961" algn="l" defTabSz="1507846" rtl="0" eaLnBrk="1" latinLnBrk="0" hangingPunct="1">
        <a:lnSpc>
          <a:spcPct val="90000"/>
        </a:lnSpc>
        <a:spcBef>
          <a:spcPts val="824"/>
        </a:spcBef>
        <a:buFont typeface="Arial" panose="020B0604020202020204" pitchFamily="34" charset="0"/>
        <a:buChar char="•"/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1507846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61EB7-9429-938F-2206-0C0DF1A1F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647993BD-1026-BE53-F0BF-6C1E19F33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E2C98402-7C99-52F0-8BAE-9D1EECF0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F0EEF1A1-EED1-4A80-05D6-1A782B76E8A3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4A64BD5-A679-1220-6BE4-18316EBEAFEE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MAR,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75267336-5C6F-233B-B307-ACCAAEB663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C9712216-5E15-034A-5027-79B61F1C6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6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181627E-945E-922A-A8C8-DEDA2C7AC933}"/>
              </a:ext>
            </a:extLst>
          </p:cNvPr>
          <p:cNvSpPr txBox="1">
            <a:spLocks/>
          </p:cNvSpPr>
          <p:nvPr/>
        </p:nvSpPr>
        <p:spPr>
          <a:xfrm>
            <a:off x="8375650" y="2869622"/>
            <a:ext cx="10591799" cy="6976054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rmAutofit lnSpcReduction="10000"/>
          </a:bodyPr>
          <a:lstStyle>
            <a:lvl1pPr marL="376961" indent="-376961" algn="l" defTabSz="1507846" rtl="0" eaLnBrk="1" latinLnBrk="0" hangingPunct="1">
              <a:lnSpc>
                <a:spcPct val="90000"/>
              </a:lnSpc>
              <a:spcBef>
                <a:spcPts val="1649"/>
              </a:spcBef>
              <a:buFont typeface="Arial" panose="020B0604020202020204" pitchFamily="34" charset="0"/>
              <a:buChar char="•"/>
              <a:defRPr sz="46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13088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95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84807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32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638730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392653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146575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900498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654421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408344" indent="-376961" algn="l" defTabSz="1507846" rtl="0" eaLnBrk="1" latinLnBrk="0" hangingPunct="1">
              <a:lnSpc>
                <a:spcPct val="90000"/>
              </a:lnSpc>
              <a:spcBef>
                <a:spcPts val="824"/>
              </a:spcBef>
              <a:buFont typeface="Arial" panose="020B0604020202020204" pitchFamily="34" charset="0"/>
              <a:buChar char="•"/>
              <a:defRPr sz="296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1. OBJETIVO DE LA UNIDAD DE APRENDIZAJE.</a:t>
            </a:r>
          </a:p>
          <a:p>
            <a:pPr marL="457200" indent="-457200">
              <a:buFont typeface="+mj-lt"/>
              <a:buAutoNum type="arabicPeriod"/>
            </a:pPr>
            <a:endParaRPr lang="es-CL" sz="3200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2.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 Y 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.</a:t>
            </a:r>
          </a:p>
          <a:p>
            <a:pPr marL="0" indent="0">
              <a:buNone/>
            </a:pPr>
            <a:endParaRPr lang="es-CL" sz="3200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3. PRINCIPIOS DE FUNCIONAMIENTO DE REDES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/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/HF.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4. </a:t>
            </a:r>
            <a:r>
              <a:rPr lang="es-CL" sz="3200" b="1" noProof="0" dirty="0" err="1">
                <a:latin typeface="Atkinson Hyperlegible" pitchFamily="2" charset="77"/>
              </a:rPr>
              <a:t>BROADCASTING</a:t>
            </a:r>
            <a:r>
              <a:rPr lang="es-CL" sz="3200" b="1" noProof="0" dirty="0">
                <a:latin typeface="Atkinson Hyperlegible" pitchFamily="2" charset="77"/>
              </a:rPr>
              <a:t>. 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5. TECNOLOGÍAS </a:t>
            </a:r>
            <a:r>
              <a:rPr lang="es-CL" sz="3200" b="1" noProof="0" dirty="0" err="1">
                <a:latin typeface="Atkinson Hyperlegible" pitchFamily="2" charset="77"/>
              </a:rPr>
              <a:t>VHF</a:t>
            </a:r>
            <a:r>
              <a:rPr lang="es-CL" sz="3200" b="1" noProof="0" dirty="0">
                <a:latin typeface="Atkinson Hyperlegible" pitchFamily="2" charset="77"/>
              </a:rPr>
              <a:t> Y </a:t>
            </a:r>
            <a:r>
              <a:rPr lang="es-CL" sz="3200" b="1" noProof="0" dirty="0" err="1">
                <a:latin typeface="Atkinson Hyperlegible" pitchFamily="2" charset="77"/>
              </a:rPr>
              <a:t>UHF</a:t>
            </a:r>
            <a:r>
              <a:rPr lang="es-CL" sz="3200" b="1" noProof="0" dirty="0">
                <a:latin typeface="Atkinson Hyperlegible" pitchFamily="2" charset="77"/>
              </a:rPr>
              <a:t>.</a:t>
            </a: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s-CL" sz="3200" b="1" noProof="0" dirty="0">
                <a:latin typeface="Atkinson Hyperlegible" pitchFamily="2" charset="77"/>
              </a:rPr>
              <a:t>6. </a:t>
            </a:r>
            <a:r>
              <a:rPr lang="es-ES" sz="3200" b="1" noProof="0" dirty="0">
                <a:latin typeface="Atkinson Hyperlegible" pitchFamily="2" charset="77"/>
              </a:rPr>
              <a:t>PROPAGACIÓN, CÁLCULO DE ENLACES Y PÉRDIDAS PARA </a:t>
            </a:r>
            <a:r>
              <a:rPr lang="es-ES" sz="3200" b="1" noProof="0" dirty="0" err="1">
                <a:latin typeface="Atkinson Hyperlegible" pitchFamily="2" charset="77"/>
              </a:rPr>
              <a:t>VHF</a:t>
            </a:r>
            <a:r>
              <a:rPr lang="es-ES" sz="3200" b="1" noProof="0" dirty="0">
                <a:latin typeface="Atkinson Hyperlegible" pitchFamily="2" charset="77"/>
              </a:rPr>
              <a:t>/</a:t>
            </a:r>
            <a:r>
              <a:rPr lang="es-ES" sz="3200" b="1" noProof="0" dirty="0" err="1">
                <a:latin typeface="Atkinson Hyperlegible" pitchFamily="2" charset="77"/>
              </a:rPr>
              <a:t>UHF</a:t>
            </a: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3200" b="1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>
              <a:latin typeface="Atkinson Hyperlegible" pitchFamily="2" charset="77"/>
            </a:endParaRPr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None/>
            </a:pPr>
            <a:endParaRPr lang="es-CL" sz="24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s-CL" sz="3200" noProof="0" dirty="0"/>
          </a:p>
          <a:p>
            <a:endParaRPr lang="es-CL" sz="3200" noProof="0" dirty="0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CF8EB62E-9478-2731-9162-83AA65AA10D2}"/>
              </a:ext>
            </a:extLst>
          </p:cNvPr>
          <p:cNvSpPr txBox="1"/>
          <p:nvPr/>
        </p:nvSpPr>
        <p:spPr>
          <a:xfrm>
            <a:off x="8375650" y="24840"/>
            <a:ext cx="8610595" cy="1482522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kern="100" noProof="0" dirty="0">
                <a:latin typeface="Atkinson Hyperlegible" pitchFamily="2" charset="77"/>
                <a:ea typeface="Calibri" panose="020F0502020204030204" pitchFamily="34" charset="0"/>
                <a:cs typeface="Gotham" pitchFamily="2" charset="0"/>
              </a:rPr>
              <a:t>TEMARIO</a:t>
            </a:r>
            <a:endParaRPr lang="es-CL" sz="54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0913B85-DB62-6753-27C9-B93610CCB519}"/>
              </a:ext>
            </a:extLst>
          </p:cNvPr>
          <p:cNvCxnSpPr>
            <a:cxnSpLocks/>
          </p:cNvCxnSpPr>
          <p:nvPr/>
        </p:nvCxnSpPr>
        <p:spPr>
          <a:xfrm>
            <a:off x="80708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2" descr="C:\Users\FHidalgoP\Downloads\WhatsApp Image 2025-03-12 at 14.35.36.jpe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48" r="43683" b="714"/>
          <a:stretch/>
        </p:blipFill>
        <p:spPr bwMode="auto">
          <a:xfrm>
            <a:off x="0" y="0"/>
            <a:ext cx="7308850" cy="10489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601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6BDD0DA-35A7-19FD-C84B-195C6F463A82}"/>
              </a:ext>
            </a:extLst>
          </p:cNvPr>
          <p:cNvSpPr txBox="1"/>
          <p:nvPr/>
        </p:nvSpPr>
        <p:spPr>
          <a:xfrm>
            <a:off x="7766631" y="6036368"/>
            <a:ext cx="4523423" cy="4060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endParaRPr lang="es-CL" sz="1649" noProof="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94B6FE4-EB02-E344-53F4-F643E93825FE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0D695D3-82B4-0843-C646-1FDE68CDAE1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AC5A5358-5A9B-B423-3443-E2F3ABECD712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Aplicar conocimientos en los distintos medios de transmisión físicos y guiados de </a:t>
            </a:r>
          </a:p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effectLst/>
                <a:latin typeface="Atkinson Hyperlegible"/>
                <a:ea typeface="Times New Roman" panose="02020603050405020304" pitchFamily="18" charset="0"/>
              </a:rPr>
              <a:t>redes de transmisión.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2054" name="Picture 6" descr="Cómo funciona un conector de fibra óptica - Exposición - Focc Technology  Co., Ltd">
            <a:extLst>
              <a:ext uri="{FF2B5EF4-FFF2-40B4-BE49-F238E27FC236}">
                <a16:creationId xmlns:a16="http://schemas.microsoft.com/office/drawing/2014/main" id="{0E0CC03A-4C48-3252-B353-458D3BE4D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38969" y="2997364"/>
            <a:ext cx="4074634" cy="50341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Qué Topologías de Red Existen">
            <a:extLst>
              <a:ext uri="{FF2B5EF4-FFF2-40B4-BE49-F238E27FC236}">
                <a16:creationId xmlns:a16="http://schemas.microsoft.com/office/drawing/2014/main" id="{8F3833C3-0150-146D-7061-E3C390290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198" y="3049332"/>
            <a:ext cx="6062274" cy="68200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es por Medios No Guiados – Herramientas Tecnológicas">
            <a:extLst>
              <a:ext uri="{FF2B5EF4-FFF2-40B4-BE49-F238E27FC236}">
                <a16:creationId xmlns:a16="http://schemas.microsoft.com/office/drawing/2014/main" id="{6B114107-2BA0-8A26-35AF-3B03D6362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154" y="7416455"/>
            <a:ext cx="6055369" cy="30276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tipos-de-cable-red-">
            <a:extLst>
              <a:ext uri="{FF2B5EF4-FFF2-40B4-BE49-F238E27FC236}">
                <a16:creationId xmlns:a16="http://schemas.microsoft.com/office/drawing/2014/main" id="{0DADB60D-8609-A6A6-C7D1-9EF835B2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9014" y="7383944"/>
            <a:ext cx="3956946" cy="22309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8034206-837D-C333-5695-2E829BF0D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6932" y="2912254"/>
            <a:ext cx="11010014" cy="75190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8372634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E8161-E743-BE49-064B-CB7D07D7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1DF841-C4F9-3803-3EC3-7ADDE2C2B736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7A41CF5-6C7A-894F-1885-A65049BB8B4B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TAREA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8" name="5 Rectángulo">
            <a:extLst>
              <a:ext uri="{FF2B5EF4-FFF2-40B4-BE49-F238E27FC236}">
                <a16:creationId xmlns:a16="http://schemas.microsoft.com/office/drawing/2014/main" id="{BB1A79F7-0E03-99C9-7F6F-A149134A742D}"/>
              </a:ext>
            </a:extLst>
          </p:cNvPr>
          <p:cNvSpPr/>
          <p:nvPr/>
        </p:nvSpPr>
        <p:spPr>
          <a:xfrm>
            <a:off x="846666" y="3316256"/>
            <a:ext cx="7653867" cy="29091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just">
              <a:lnSpc>
                <a:spcPct val="200000"/>
              </a:lnSpc>
              <a:defRPr/>
            </a:pPr>
            <a:r>
              <a:rPr lang="es-CL" sz="3200" b="1" noProof="0" dirty="0">
                <a:latin typeface="Atkinson Hyperlegible"/>
              </a:rPr>
              <a:t>Analizar sistemas transmisión desde los fundamentos que sustentan las tecnologías de la aplicación militar. </a:t>
            </a:r>
            <a:endParaRPr lang="es-CL" sz="3200" b="1" noProof="0" dirty="0">
              <a:latin typeface="Atkinson Hyperlegible"/>
              <a:cs typeface="Times New Roman" pitchFamily="18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10472D1-4E4B-226B-3FB0-F6851B1F8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9614" y="3243258"/>
            <a:ext cx="8748150" cy="71909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6411829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1B1-2380-EAA3-522C-C9153F803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00A7AD0-808B-F2F0-1A64-D80879603938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FDF1386-B050-7714-150D-67856E0AD2D5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6" name="5 Rectángulo">
            <a:extLst>
              <a:ext uri="{FF2B5EF4-FFF2-40B4-BE49-F238E27FC236}">
                <a16:creationId xmlns:a16="http://schemas.microsoft.com/office/drawing/2014/main" id="{B0F417D9-033E-D5F5-9726-8037B9002420}"/>
              </a:ext>
            </a:extLst>
          </p:cNvPr>
          <p:cNvSpPr/>
          <p:nvPr/>
        </p:nvSpPr>
        <p:spPr>
          <a:xfrm>
            <a:off x="1696951" y="3795530"/>
            <a:ext cx="17775273" cy="3693319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742950" indent="-742950" algn="just">
              <a:lnSpc>
                <a:spcPct val="150000"/>
              </a:lnSpc>
              <a:buAutoNum type="arabicPeriod" startAt="2"/>
              <a:defRPr/>
            </a:pPr>
            <a:r>
              <a:rPr lang="es-CL" sz="3600" b="1" noProof="0" dirty="0">
                <a:effectLst/>
                <a:latin typeface="Atkinson Hyperlegible"/>
                <a:ea typeface="Times New Roman" panose="02020603050405020304" pitchFamily="18" charset="0"/>
              </a:rPr>
              <a:t>Sistemas de transmisión no guiados (RF)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	</a:t>
            </a:r>
            <a:r>
              <a:rPr lang="es-CL" sz="3600" noProof="0" dirty="0" err="1">
                <a:latin typeface="Atkinson Hyperlegible" pitchFamily="2" charset="77"/>
              </a:rPr>
              <a:t>VHF</a:t>
            </a:r>
            <a:r>
              <a:rPr lang="es-CL" sz="3600" noProof="0" dirty="0">
                <a:latin typeface="Atkinson Hyperlegible" pitchFamily="2" charset="77"/>
              </a:rPr>
              <a:t> y </a:t>
            </a:r>
            <a:r>
              <a:rPr lang="es-CL" sz="3600" noProof="0" dirty="0" err="1">
                <a:latin typeface="Atkinson Hyperlegible" pitchFamily="2" charset="77"/>
              </a:rPr>
              <a:t>UHF</a:t>
            </a:r>
            <a:r>
              <a:rPr lang="es-CL" sz="3600" noProof="0" dirty="0">
                <a:latin typeface="Atkinson Hyperlegible" pitchFamily="2" charset="77"/>
              </a:rPr>
              <a:t>.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2.5.1.	Principios de funcionamiento de redes </a:t>
            </a:r>
            <a:r>
              <a:rPr lang="es-CL" sz="3600" noProof="0" dirty="0" err="1">
                <a:latin typeface="Atkinson Hyperlegible" pitchFamily="2" charset="77"/>
              </a:rPr>
              <a:t>VHF</a:t>
            </a:r>
            <a:r>
              <a:rPr lang="es-CL" sz="3600" noProof="0" dirty="0">
                <a:latin typeface="Atkinson Hyperlegible" pitchFamily="2" charset="77"/>
              </a:rPr>
              <a:t>/</a:t>
            </a:r>
            <a:r>
              <a:rPr lang="es-CL" sz="3600" noProof="0" dirty="0" err="1">
                <a:latin typeface="Atkinson Hyperlegible" pitchFamily="2" charset="77"/>
              </a:rPr>
              <a:t>UHF</a:t>
            </a:r>
            <a:r>
              <a:rPr lang="es-CL" sz="3600" noProof="0" dirty="0">
                <a:latin typeface="Atkinson Hyperlegible" pitchFamily="2" charset="77"/>
              </a:rPr>
              <a:t>/HF.</a:t>
            </a:r>
          </a:p>
          <a:p>
            <a:pPr lvl="1" algn="just"/>
            <a:r>
              <a:rPr lang="es-CL" sz="3600" noProof="0" dirty="0">
                <a:latin typeface="Atkinson Hyperlegible" pitchFamily="2" charset="77"/>
              </a:rPr>
              <a:t>2.5.2.	</a:t>
            </a:r>
            <a:r>
              <a:rPr lang="es-CL" sz="3600" noProof="0" dirty="0" err="1">
                <a:latin typeface="Atkinson Hyperlegible" pitchFamily="2" charset="77"/>
              </a:rPr>
              <a:t>Broadcasting</a:t>
            </a:r>
            <a:r>
              <a:rPr lang="es-CL" sz="3600" noProof="0" dirty="0">
                <a:latin typeface="Atkinson Hyperlegible" pitchFamily="2" charset="77"/>
              </a:rPr>
              <a:t>. </a:t>
            </a:r>
          </a:p>
          <a:p>
            <a:pPr lvl="1" algn="just"/>
            <a:r>
              <a:rPr lang="es-ES" sz="3600" noProof="0" dirty="0">
                <a:latin typeface="Atkinson Hyperlegible" pitchFamily="2" charset="77"/>
              </a:rPr>
              <a:t>2.5.3.	Tecnologías </a:t>
            </a:r>
            <a:r>
              <a:rPr lang="es-ES" sz="3600" noProof="0" dirty="0" err="1">
                <a:latin typeface="Atkinson Hyperlegible" pitchFamily="2" charset="77"/>
              </a:rPr>
              <a:t>VHF</a:t>
            </a:r>
            <a:r>
              <a:rPr lang="es-ES" sz="3600" noProof="0" dirty="0">
                <a:latin typeface="Atkinson Hyperlegible" pitchFamily="2" charset="77"/>
              </a:rPr>
              <a:t> y </a:t>
            </a:r>
            <a:r>
              <a:rPr lang="es-ES" sz="3600" noProof="0" dirty="0" err="1">
                <a:latin typeface="Atkinson Hyperlegible" pitchFamily="2" charset="77"/>
              </a:rPr>
              <a:t>UHF</a:t>
            </a:r>
            <a:r>
              <a:rPr lang="es-ES" sz="3600" noProof="0" dirty="0">
                <a:latin typeface="Atkinson Hyperlegible" pitchFamily="2" charset="77"/>
              </a:rPr>
              <a:t>.</a:t>
            </a:r>
          </a:p>
          <a:p>
            <a:pPr lvl="1" algn="just"/>
            <a:r>
              <a:rPr lang="es-ES" sz="3600" noProof="0" dirty="0">
                <a:latin typeface="Atkinson Hyperlegible" pitchFamily="2" charset="77"/>
              </a:rPr>
              <a:t>2.5.4.	Propagación, cálculo de enlaces y pérdidas para </a:t>
            </a:r>
            <a:r>
              <a:rPr lang="es-ES" sz="3600" noProof="0" dirty="0" err="1">
                <a:latin typeface="Atkinson Hyperlegible" pitchFamily="2" charset="77"/>
              </a:rPr>
              <a:t>VHF</a:t>
            </a:r>
            <a:r>
              <a:rPr lang="es-ES" sz="3600" noProof="0" dirty="0">
                <a:latin typeface="Atkinson Hyperlegible" pitchFamily="2" charset="77"/>
              </a:rPr>
              <a:t>/</a:t>
            </a:r>
            <a:r>
              <a:rPr lang="es-ES" sz="3600" noProof="0" dirty="0" err="1">
                <a:latin typeface="Atkinson Hyperlegible" pitchFamily="2" charset="77"/>
              </a:rPr>
              <a:t>UHF</a:t>
            </a:r>
            <a:r>
              <a:rPr lang="es-ES" sz="3600" noProof="0" dirty="0">
                <a:latin typeface="Atkinson Hyperlegible" pitchFamily="2" charset="77"/>
              </a:rPr>
              <a:t>.</a:t>
            </a:r>
            <a:endParaRPr lang="es-CL" sz="3600" noProof="0" dirty="0">
              <a:latin typeface="Atkinson Hyperlegible" pitchFamily="2" charset="77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FE4BD31-0C5E-EFE9-1AA1-3F00F2CADD93}"/>
              </a:ext>
            </a:extLst>
          </p:cNvPr>
          <p:cNvSpPr txBox="1"/>
          <p:nvPr/>
        </p:nvSpPr>
        <p:spPr>
          <a:xfrm>
            <a:off x="8917065" y="2889315"/>
            <a:ext cx="3113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CONTENIDOS</a:t>
            </a:r>
            <a:endParaRPr lang="es-CL" sz="4000" noProof="0" dirty="0"/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52EEEA47-11D0-9A27-8331-6389403D15CF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5</a:t>
            </a:fld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523277005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E8D25-85D9-E04C-486C-47D90C11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A0F57B8-3A8B-5EB4-1FE2-C04A71699F61}"/>
              </a:ext>
            </a:extLst>
          </p:cNvPr>
          <p:cNvSpPr txBox="1"/>
          <p:nvPr/>
        </p:nvSpPr>
        <p:spPr>
          <a:xfrm>
            <a:off x="2598359" y="1294836"/>
            <a:ext cx="16638039" cy="6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150781" tIns="75390" rIns="150781" bIns="753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CL" sz="2968" b="1" noProof="0" dirty="0">
              <a:latin typeface="Calibri"/>
              <a:cs typeface="Calibri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290603-0D84-307D-6C66-78F87FE24653}"/>
              </a:ext>
            </a:extLst>
          </p:cNvPr>
          <p:cNvSpPr txBox="1"/>
          <p:nvPr/>
        </p:nvSpPr>
        <p:spPr>
          <a:xfrm>
            <a:off x="1382157" y="-44605"/>
            <a:ext cx="12604775" cy="2179315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5400" b="1" noProof="0" dirty="0">
                <a:latin typeface="Atkinson Hyperlegible" pitchFamily="2" charset="77"/>
              </a:rPr>
              <a:t>OBJETIVO DE LA UNIDAD DE APRENDIZAJE </a:t>
            </a:r>
            <a:r>
              <a:rPr lang="es-CL" sz="2800" b="1" kern="100" noProof="0" dirty="0">
                <a:latin typeface="Atkinson Hyperlegible" pitchFamily="2" charset="77"/>
                <a:ea typeface="Calibri" panose="020F0502020204030204" pitchFamily="34" charset="0"/>
              </a:rPr>
              <a:t>OBJETIVO PRINCIPAL DE LA CLASE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14" name="Marcador de número de diapositiva 1">
            <a:extLst>
              <a:ext uri="{FF2B5EF4-FFF2-40B4-BE49-F238E27FC236}">
                <a16:creationId xmlns:a16="http://schemas.microsoft.com/office/drawing/2014/main" id="{D2CF2888-6C70-521D-1E85-724AFFDC56A4}"/>
              </a:ext>
            </a:extLst>
          </p:cNvPr>
          <p:cNvSpPr txBox="1">
            <a:spLocks/>
          </p:cNvSpPr>
          <p:nvPr/>
        </p:nvSpPr>
        <p:spPr>
          <a:xfrm>
            <a:off x="14198520" y="10482093"/>
            <a:ext cx="4523423" cy="602118"/>
          </a:xfrm>
          <a:prstGeom prst="rect">
            <a:avLst/>
          </a:prstGeom>
        </p:spPr>
        <p:txBody>
          <a:bodyPr/>
          <a:lstStyle>
            <a:defPPr lvl="0">
              <a:defRPr lang="es-CL"/>
            </a:defPPr>
            <a:lvl1pPr marL="0" lv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s-CL" noProof="0" smtClean="0"/>
              <a:pPr/>
              <a:t>6</a:t>
            </a:fld>
            <a:endParaRPr lang="es-CL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BF20D85-CAB9-8520-3FEA-7DACC72DF43F}"/>
              </a:ext>
            </a:extLst>
          </p:cNvPr>
          <p:cNvSpPr txBox="1"/>
          <p:nvPr/>
        </p:nvSpPr>
        <p:spPr>
          <a:xfrm>
            <a:off x="6938363" y="2889315"/>
            <a:ext cx="66295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INDICADORES DE DESEMPEÑO</a:t>
            </a:r>
            <a:endParaRPr lang="es-CL" sz="40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666A7B3-1BC9-38CE-CE52-7326808F0116}"/>
              </a:ext>
            </a:extLst>
          </p:cNvPr>
          <p:cNvSpPr txBox="1"/>
          <p:nvPr/>
        </p:nvSpPr>
        <p:spPr>
          <a:xfrm>
            <a:off x="6938363" y="5855450"/>
            <a:ext cx="55334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b="1" kern="100" noProof="0" dirty="0">
                <a:latin typeface="Atkinson Hyperlegible" pitchFamily="2" charset="77"/>
                <a:ea typeface="Calibri" panose="020F0502020204030204" pitchFamily="34" charset="0"/>
              </a:rPr>
              <a:t>APRENDIZAJE ESPERADO</a:t>
            </a:r>
            <a:endParaRPr lang="es-CL" sz="4000" noProof="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C31C0C65-5FB0-FC55-34FB-3885FAD55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569724"/>
              </p:ext>
            </p:extLst>
          </p:nvPr>
        </p:nvGraphicFramePr>
        <p:xfrm>
          <a:off x="1528996" y="4046211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2.3. Analiza funcionamiento de redes 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/HF.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2.4. 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Calcula el enlaces y pérdidas para 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D158B62-663F-28D1-254B-3225035F5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53950"/>
              </p:ext>
            </p:extLst>
          </p:nvPr>
        </p:nvGraphicFramePr>
        <p:xfrm>
          <a:off x="1528996" y="6672742"/>
          <a:ext cx="17478531" cy="1699833"/>
        </p:xfrm>
        <a:graphic>
          <a:graphicData uri="http://schemas.openxmlformats.org/drawingml/2006/table">
            <a:tbl>
              <a:tblPr/>
              <a:tblGrid>
                <a:gridCol w="17478531">
                  <a:extLst>
                    <a:ext uri="{9D8B030D-6E8A-4147-A177-3AD203B41FA5}">
                      <a16:colId xmlns:a16="http://schemas.microsoft.com/office/drawing/2014/main" val="38738562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noProof="0" dirty="0">
                          <a:effectLst/>
                        </a:rPr>
                        <a:t>2. Analizar los medios de transmisión no guiados.</a:t>
                      </a: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269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2.3. Analizar el funcionamiento de redes 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CL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/HF.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70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CL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2.4. 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Calcular enlaces y pérdidas para 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s-ES" sz="2968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UHF</a:t>
                      </a:r>
                      <a:r>
                        <a:rPr lang="es-ES" sz="2968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s-CL" noProof="0" dirty="0">
                        <a:effectLst/>
                      </a:endParaRPr>
                    </a:p>
                  </a:txBody>
                  <a:tcPr marL="57150" marR="57150" marT="57150" marB="5715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74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042661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AFA625-675A-3752-8687-5B00EC0B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1346A36-E85D-36ED-FA65-06AB66E9A8A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4AA5EC9-FA50-57B3-C64D-F0D40C3354D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8DF272-D90E-A822-23E5-45828A92DB8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Propagación RF: modelo mínimo y variables clave</a:t>
            </a: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A768B0DC-51BB-4158-2F3B-302B08335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2605" y="3652774"/>
            <a:ext cx="8609835" cy="4217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01878AA-7AF6-4FF2-43C5-2CE40F1CAB7D}"/>
              </a:ext>
            </a:extLst>
          </p:cNvPr>
          <p:cNvSpPr/>
          <p:nvPr/>
        </p:nvSpPr>
        <p:spPr>
          <a:xfrm>
            <a:off x="10302605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>
                <a:latin typeface="Atkinson Hyperlegible"/>
              </a:rPr>
              <a:t>TX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602826E-19FC-C342-D6DA-92E185A8D3CA}"/>
              </a:ext>
            </a:extLst>
          </p:cNvPr>
          <p:cNvSpPr/>
          <p:nvPr/>
        </p:nvSpPr>
        <p:spPr>
          <a:xfrm>
            <a:off x="16828807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 err="1">
                <a:latin typeface="Atkinson Hyperlegible"/>
              </a:rPr>
              <a:t>RX</a:t>
            </a:r>
            <a:endParaRPr lang="es-CL" sz="4000" b="1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3100B0A-8AF6-6FA0-4915-914EA4FFB58E}"/>
              </a:ext>
            </a:extLst>
          </p:cNvPr>
          <p:cNvSpPr txBox="1"/>
          <p:nvPr/>
        </p:nvSpPr>
        <p:spPr>
          <a:xfrm>
            <a:off x="921617" y="9366139"/>
            <a:ext cx="63952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742F096-6DBC-D2ED-8992-EA543FF2D1E2}"/>
              </a:ext>
            </a:extLst>
          </p:cNvPr>
          <p:cNvSpPr/>
          <p:nvPr/>
        </p:nvSpPr>
        <p:spPr>
          <a:xfrm>
            <a:off x="13565705" y="8094689"/>
            <a:ext cx="2083633" cy="9144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4000" b="1" noProof="0" dirty="0">
                <a:latin typeface="Atkinson Hyperlegible"/>
              </a:rPr>
              <a:t>?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843570C-D650-963B-E640-F19DCE039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945" y="7045196"/>
            <a:ext cx="1626373" cy="82464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1767BC1-74B9-95C0-8A0B-ECBCE7CB1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7727" y="7045196"/>
            <a:ext cx="1626373" cy="824640"/>
          </a:xfrm>
          <a:prstGeom prst="rect">
            <a:avLst/>
          </a:prstGeom>
        </p:spPr>
      </p:pic>
      <p:sp>
        <p:nvSpPr>
          <p:cNvPr id="15" name="5 Rectángulo">
            <a:extLst>
              <a:ext uri="{FF2B5EF4-FFF2-40B4-BE49-F238E27FC236}">
                <a16:creationId xmlns:a16="http://schemas.microsoft.com/office/drawing/2014/main" id="{2EA2810E-3F16-1DDE-F6AA-ABD8DA970DF1}"/>
              </a:ext>
            </a:extLst>
          </p:cNvPr>
          <p:cNvSpPr/>
          <p:nvPr/>
        </p:nvSpPr>
        <p:spPr>
          <a:xfrm>
            <a:off x="13254520" y="1680465"/>
            <a:ext cx="4789636" cy="1815882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TX(transmisor)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Antenas (TX / </a:t>
            </a:r>
            <a:r>
              <a:rPr lang="es-CL" sz="2800" noProof="0" dirty="0" err="1">
                <a:latin typeface="Atkinson Hyperlegible"/>
              </a:rPr>
              <a:t>RX</a:t>
            </a:r>
            <a:r>
              <a:rPr lang="es-CL" sz="2800" noProof="0" dirty="0">
                <a:latin typeface="Atkinson Hyperlegible"/>
              </a:rPr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>
                <a:latin typeface="Atkinson Hyperlegible"/>
              </a:rPr>
              <a:t>Canal (medio)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2800" noProof="0" dirty="0" err="1">
                <a:latin typeface="Atkinson Hyperlegible"/>
              </a:rPr>
              <a:t>RX</a:t>
            </a:r>
            <a:r>
              <a:rPr lang="es-CL" sz="2800" noProof="0" dirty="0">
                <a:latin typeface="Atkinson Hyperlegible"/>
              </a:rPr>
              <a:t>(receptor)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2B1A856-7D28-E714-DA46-E3E741CC29C8}"/>
              </a:ext>
            </a:extLst>
          </p:cNvPr>
          <p:cNvSpPr txBox="1"/>
          <p:nvPr/>
        </p:nvSpPr>
        <p:spPr>
          <a:xfrm>
            <a:off x="13603144" y="9363425"/>
            <a:ext cx="63952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>
                <a:latin typeface="Atkinson Hyperlegible"/>
              </a:rPr>
              <a:t>En RF, el canal es variable: el entorno modifica el enlace, </a:t>
            </a:r>
            <a:r>
              <a:rPr lang="es-CL" sz="2400" b="1" noProof="0" dirty="0">
                <a:latin typeface="Atkinson Hyperlegible"/>
              </a:rPr>
              <a:t>pérdidas • ruido • interferencia.</a:t>
            </a: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A23FDA8-493C-2F0B-C6FD-642D21A0342B}"/>
              </a:ext>
            </a:extLst>
          </p:cNvPr>
          <p:cNvSpPr/>
          <p:nvPr/>
        </p:nvSpPr>
        <p:spPr>
          <a:xfrm>
            <a:off x="1233601" y="2001996"/>
            <a:ext cx="8132222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Frecuencia (f): cuántas oscilaciones por segundo (Hz).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Longitud de onda (λ): distancia entre crestas (m).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Relación básica: </a:t>
            </a:r>
            <a:r>
              <a:rPr lang="es-CL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𝑐=𝑓⋅𝜆c=</a:t>
            </a:r>
            <a:r>
              <a:rPr lang="es-CL" sz="3200" b="1" noProof="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f⋅λ</a:t>
            </a:r>
            <a:r>
              <a:rPr lang="es-CL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 (c ≈ velocidad de la luz).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CL" sz="3200" b="1" noProof="0" dirty="0">
                <a:latin typeface="Atkinson Hyperlegible"/>
              </a:rPr>
              <a:t>Idea clave: al cambiar f, cambia el comportamiento del enlace y la forma de usar el espectro.</a:t>
            </a:r>
          </a:p>
        </p:txBody>
      </p:sp>
      <p:pic>
        <p:nvPicPr>
          <p:cNvPr id="1027" name="Picture 3" descr="Ilustracion 3 Longitud de onda">
            <a:extLst>
              <a:ext uri="{FF2B5EF4-FFF2-40B4-BE49-F238E27FC236}">
                <a16:creationId xmlns:a16="http://schemas.microsoft.com/office/drawing/2014/main" id="{2D70D556-8F6A-4970-4531-34D431F037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949" y="6486041"/>
            <a:ext cx="4610016" cy="3217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23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4B99E-A62E-CDAF-6116-44352B57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CC9E332-B723-47C2-15A3-0B3F32AE71F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EFECA62-C27F-15C7-5F25-B3AD92A04E67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C1CAE0-D326-78D7-B449-47B0C40D2BCC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413AC9D-8731-D5CC-A93D-8A0DF3C23E2B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25F09A5D-2A49-ACDE-E361-19AD27194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756" y="1879963"/>
            <a:ext cx="19950344" cy="6109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94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5EC53F-FF85-730C-C6A4-DBB3B7F57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09884E4-5929-BD76-E448-94B79A724C8E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FEAD76C-1C68-0CA8-9D4E-2789F9454808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INTRODUCCIÓN A LA PROPAGACIÓN DE ONDAS DE RADIO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EDD59D0-FAA2-77AB-02CD-FACCCEB759F1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A5B0B2F-1B4E-F5B5-8281-5602099426FB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BB7B409-9620-4385-0DCE-43FB8F546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276" y="1847758"/>
            <a:ext cx="12937855" cy="726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00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C67EF-22DA-93ED-5EBD-7A9BB0DC4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350B448-2DD9-41A6-8AEF-85A28F9CEA23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72C0CDB5-C2BA-894E-1522-54E654298E67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4BDD40-6108-9537-3E62-2E807BD383F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9394D7A-958A-A034-DFBF-B1FA7FEF3E5A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62F43875-E01E-EB7A-722F-B9954DDC313E}"/>
              </a:ext>
            </a:extLst>
          </p:cNvPr>
          <p:cNvSpPr/>
          <p:nvPr/>
        </p:nvSpPr>
        <p:spPr>
          <a:xfrm>
            <a:off x="1233601" y="2001996"/>
            <a:ext cx="18628366" cy="5570756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La frecuencia condiciona cómo se propaga una señal y qué tan sensible es al entorno.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En términos generales:</a:t>
            </a:r>
          </a:p>
          <a:p>
            <a:pPr algn="just"/>
            <a:r>
              <a:rPr lang="es-CL" sz="3200" noProof="0" dirty="0">
                <a:latin typeface="Atkinson Hyperlegible"/>
              </a:rPr>
              <a:t>Frecuencias más bajas → mayor “alcance potencial” y mejor comportamiento frente a algunos obstáculos (según condiciones).</a:t>
            </a:r>
          </a:p>
          <a:p>
            <a:pPr algn="just"/>
            <a:r>
              <a:rPr lang="es-CL" sz="3200" noProof="0" dirty="0">
                <a:latin typeface="Atkinson Hyperlegible"/>
              </a:rPr>
              <a:t>Frecuencias más altas → más capacidad potencial, pero mayor exigencia de línea de vista y planificación del enlace.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La frecuencia influye en: alcance, penetración/obstáculos, interferencias, y tamaño práctico de antenas.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Por eso el espectro se organiza en bandas para asignar usos adecuados y controlar interferencias.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 Ejemplos del curso: HF/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/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, microondas, enlaces LAN/MAN/WAN.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CL" sz="3600" b="1" noProof="0" dirty="0">
                <a:latin typeface="Atkinson Hyperlegible"/>
              </a:rPr>
              <a:t>La banda seleccionada determina el comportamiento del enlace y la estrategia de diseño.</a:t>
            </a:r>
            <a:endParaRPr lang="es-CL" sz="36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269050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52C0C8-23F8-3658-D118-0254E2DD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5393162-0BB1-1F50-D2FC-C7951E6930C5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CF4F52FB-26B3-3A1A-379E-B956861FA07D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715A420-942A-1822-A528-2EC59DFC80E6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Espectro electromagnético y concepto de bandas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47E0559-E6E7-8539-377E-9F45C14F0FBA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9218" name="Picture 2" descr="Ondas de radio y antenas: una explicación práctica">
            <a:extLst>
              <a:ext uri="{FF2B5EF4-FFF2-40B4-BE49-F238E27FC236}">
                <a16:creationId xmlns:a16="http://schemas.microsoft.com/office/drawing/2014/main" id="{7178063D-85AC-5D1A-8057-FA04A72D2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450" y="2657083"/>
            <a:ext cx="9941755" cy="554588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Onda Electromagnética - Composición y Polarización - Electrónica Unicrom">
            <a:extLst>
              <a:ext uri="{FF2B5EF4-FFF2-40B4-BE49-F238E27FC236}">
                <a16:creationId xmlns:a16="http://schemas.microsoft.com/office/drawing/2014/main" id="{4047CB53-A5C8-7A72-88A6-C776C3134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098" y="2657082"/>
            <a:ext cx="9115021" cy="554588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527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488CCF-BBD5-8F47-36CC-A41B9AE29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D66B8D2-1F13-A8B5-6E86-C006456AAB4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DD041771-A9AE-5A9E-861E-64C8B6A1C2EB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6123E7-9D46-57F2-24DB-C274E0B30DE4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Bandas de frecuencia relevantes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491F495-807E-FCB9-4134-6B3678A5D1EF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es-CL" sz="2400" b="1" noProof="0" dirty="0" err="1"/>
              <a:t>Article</a:t>
            </a:r>
            <a:r>
              <a:rPr lang="es-CL" sz="2400" b="1" noProof="0" dirty="0"/>
              <a:t> 5 – Table </a:t>
            </a:r>
            <a:r>
              <a:rPr lang="es-CL" sz="2400" b="1" noProof="0" dirty="0" err="1"/>
              <a:t>of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Frequency</a:t>
            </a:r>
            <a:r>
              <a:rPr lang="es-CL" sz="2400" b="1" noProof="0" dirty="0"/>
              <a:t> </a:t>
            </a:r>
            <a:r>
              <a:rPr lang="es-CL" sz="2400" b="1" noProof="0" dirty="0" err="1"/>
              <a:t>Allocations</a:t>
            </a:r>
            <a:r>
              <a:rPr lang="es-CL" sz="2400" b="1" noProof="0" dirty="0"/>
              <a:t>”</a:t>
            </a:r>
            <a:r>
              <a:rPr lang="es-CL" sz="2400" noProof="0" dirty="0"/>
              <a:t> (Tabla de atribución de frecuencias).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F0AE6BF5-FD64-755B-A40E-DA43EADC2F58}"/>
              </a:ext>
            </a:extLst>
          </p:cNvPr>
          <p:cNvSpPr/>
          <p:nvPr/>
        </p:nvSpPr>
        <p:spPr>
          <a:xfrm>
            <a:off x="1206693" y="2549933"/>
            <a:ext cx="18628366" cy="3600986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El espectro RF se organiza en bandas para atribuir servicios y reducir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Trabajaremos principalmente con: HF, 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, 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 y Microondas.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Cada banda condiciona: propagación, alcance, requisitos del enlace y tipo de antena.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Este “mapa” se usará luego en: </a:t>
            </a:r>
            <a:r>
              <a:rPr lang="es-CL" sz="3200" noProof="0" dirty="0" err="1">
                <a:latin typeface="Atkinson Hyperlegible"/>
              </a:rPr>
              <a:t>VHF</a:t>
            </a:r>
            <a:r>
              <a:rPr lang="es-CL" sz="3200" noProof="0" dirty="0">
                <a:latin typeface="Atkinson Hyperlegible"/>
              </a:rPr>
              <a:t>/</a:t>
            </a:r>
            <a:r>
              <a:rPr lang="es-CL" sz="3200" noProof="0" dirty="0" err="1">
                <a:latin typeface="Atkinson Hyperlegible"/>
              </a:rPr>
              <a:t>UHF</a:t>
            </a:r>
            <a:r>
              <a:rPr lang="es-CL" sz="3200" noProof="0" dirty="0">
                <a:latin typeface="Atkinson Hyperlegible"/>
              </a:rPr>
              <a:t>, microondas, satélite y radar.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CL" sz="3200" noProof="0" dirty="0">
                <a:latin typeface="Atkinson Hyperlegible"/>
              </a:rPr>
              <a:t>Las atribuciones formales se consultan en la Tabla de Atribución de Frecuencias.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CL" sz="36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Bandas distintas → comportamiento distinto del enlace → decisiones de diseño distintas.</a:t>
            </a:r>
          </a:p>
        </p:txBody>
      </p:sp>
    </p:spTree>
    <p:extLst>
      <p:ext uri="{BB962C8B-B14F-4D97-AF65-F5344CB8AC3E}">
        <p14:creationId xmlns:p14="http://schemas.microsoft.com/office/powerpoint/2010/main" val="1864766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CA43D-2297-8CFF-4DB0-90718CEC0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0AEE74B-2B96-EDC0-0285-A6B0F574F7EC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3E752CCA-ED65-1071-F5E5-E0B98FEA6DE1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4D916B-94C1-FBBC-F73F-F17B36F4F79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HF / </a:t>
            </a:r>
            <a:r>
              <a:rPr lang="es-CL" sz="4000" noProof="0" dirty="0" err="1">
                <a:latin typeface="Atkinson Hyperlegible"/>
              </a:rPr>
              <a:t>VHF</a:t>
            </a:r>
            <a:r>
              <a:rPr lang="es-CL" sz="4000" noProof="0" dirty="0">
                <a:latin typeface="Atkinson Hyperlegible"/>
              </a:rPr>
              <a:t> / </a:t>
            </a:r>
            <a:r>
              <a:rPr lang="es-CL" sz="4000" noProof="0" dirty="0" err="1">
                <a:latin typeface="Atkinson Hyperlegible"/>
              </a:rPr>
              <a:t>UHF</a:t>
            </a:r>
            <a:r>
              <a:rPr lang="es-CL" sz="4000" noProof="0" dirty="0">
                <a:latin typeface="Atkinson Hyperlegible"/>
              </a:rPr>
              <a:t> / Microondas (rangos </a:t>
            </a:r>
            <a:r>
              <a:rPr lang="es-CL" sz="4000" noProof="0" dirty="0" err="1">
                <a:latin typeface="Atkinson Hyperlegible"/>
              </a:rPr>
              <a:t>ITU</a:t>
            </a:r>
            <a:r>
              <a:rPr lang="es-CL" sz="4000" noProof="0" dirty="0">
                <a:latin typeface="Atkinson Hyperlegible"/>
              </a:rPr>
              <a:t> + comportamiento general</a:t>
            </a:r>
            <a:r>
              <a:rPr lang="es-CL" sz="4000" noProof="0" dirty="0"/>
              <a:t>)</a:t>
            </a:r>
            <a:endParaRPr lang="es-CL" sz="4000" noProof="0" dirty="0">
              <a:latin typeface="Atkinson Hyperlegible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51C1B6D-0AAA-50B4-526F-E47D13860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447206"/>
              </p:ext>
            </p:extLst>
          </p:nvPr>
        </p:nvGraphicFramePr>
        <p:xfrm>
          <a:off x="746907" y="1755455"/>
          <a:ext cx="18610285" cy="8265809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3722057">
                  <a:extLst>
                    <a:ext uri="{9D8B030D-6E8A-4147-A177-3AD203B41FA5}">
                      <a16:colId xmlns:a16="http://schemas.microsoft.com/office/drawing/2014/main" val="1364351410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1136078965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3764395969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410328218"/>
                    </a:ext>
                  </a:extLst>
                </a:gridCol>
                <a:gridCol w="3722057">
                  <a:extLst>
                    <a:ext uri="{9D8B030D-6E8A-4147-A177-3AD203B41FA5}">
                      <a16:colId xmlns:a16="http://schemas.microsoft.com/office/drawing/2014/main" val="2942153727"/>
                    </a:ext>
                  </a:extLst>
                </a:gridCol>
              </a:tblGrid>
              <a:tr h="718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Banda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Nombre completo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Rango (ITU)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Comportamiento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En el curso se conecta con…</a:t>
                      </a: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029396340"/>
                  </a:ext>
                </a:extLst>
              </a:tr>
              <a:tr h="1696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HF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3–30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Propagación puede permitir </a:t>
                      </a:r>
                      <a:r>
                        <a:rPr lang="es-ES" sz="2400" b="1" dirty="0">
                          <a:latin typeface="Atkinson Hyperlegible"/>
                        </a:rPr>
                        <a:t>alcances grandes, </a:t>
                      </a:r>
                      <a:r>
                        <a:rPr lang="es-ES" sz="2400" dirty="0">
                          <a:latin typeface="Atkinson Hyperlegible"/>
                        </a:rPr>
                        <a:t>Puede habilitar </a:t>
                      </a:r>
                      <a:r>
                        <a:rPr lang="es-ES" sz="2400" b="1" dirty="0">
                          <a:latin typeface="Atkinson Hyperlegible"/>
                        </a:rPr>
                        <a:t>alcances más allá de línea de vista</a:t>
                      </a:r>
                      <a:r>
                        <a:rPr lang="es-ES" sz="2400" dirty="0">
                          <a:latin typeface="Atkinson Hyperlegible"/>
                        </a:rPr>
                        <a:t> según condicione. (atmósfera/entorno)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2.5.1 Redes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/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b="1" dirty="0">
                          <a:latin typeface="Atkinson Hyperlegible"/>
                        </a:rPr>
                        <a:t>/HF</a:t>
                      </a:r>
                      <a:r>
                        <a:rPr lang="es-ES" sz="2400" dirty="0">
                          <a:latin typeface="Atkinson Hyperlegible"/>
                        </a:rPr>
                        <a:t> (visión de funcionamiento HF)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4191982477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 err="1">
                          <a:latin typeface="Atkinson Hyperlegible"/>
                        </a:rPr>
                        <a:t>VHF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Muy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30–300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En muchos escenarios predomina </a:t>
                      </a:r>
                      <a:r>
                        <a:rPr lang="es-ES" sz="2400" b="1" dirty="0">
                          <a:latin typeface="Atkinson Hyperlegible"/>
                        </a:rPr>
                        <a:t>línea de vista</a:t>
                      </a:r>
                      <a:r>
                        <a:rPr lang="es-ES" sz="2400" dirty="0">
                          <a:latin typeface="Atkinson Hyperlegible"/>
                        </a:rPr>
                        <a:t> y cobertura local/regional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/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dirty="0">
                          <a:latin typeface="Atkinson Hyperlegible"/>
                        </a:rPr>
                        <a:t>, </a:t>
                      </a:r>
                      <a:r>
                        <a:rPr lang="es-ES" sz="2400" b="1" dirty="0">
                          <a:latin typeface="Atkinson Hyperlegible"/>
                        </a:rPr>
                        <a:t>2.5.2 </a:t>
                      </a:r>
                      <a:r>
                        <a:rPr lang="es-ES" sz="2400" b="1" dirty="0" err="1">
                          <a:latin typeface="Atkinson Hyperlegible"/>
                        </a:rPr>
                        <a:t>Broadcasting</a:t>
                      </a:r>
                      <a:r>
                        <a:rPr lang="es-ES" sz="2400" dirty="0">
                          <a:latin typeface="Atkinson Hyperlegible"/>
                        </a:rPr>
                        <a:t>, bases de </a:t>
                      </a:r>
                      <a:r>
                        <a:rPr lang="es-ES" sz="2400" b="1" dirty="0">
                          <a:latin typeface="Atkinson Hyperlegible"/>
                        </a:rPr>
                        <a:t>propagación y pérdidas</a:t>
                      </a:r>
                      <a:endParaRPr lang="en-US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2354890991"/>
                  </a:ext>
                </a:extLst>
              </a:tr>
              <a:tr h="20223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>
                          <a:latin typeface="Atkinson Hyperlegible"/>
                        </a:rPr>
                        <a:t>UHF</a:t>
                      </a:r>
                      <a:endParaRPr lang="es-CL" sz="240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dirty="0">
                          <a:latin typeface="Atkinson Hyperlegible"/>
                        </a:rPr>
                        <a:t>Ultra Alta Frecuencia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300–3000 MHz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Similar a </a:t>
                      </a:r>
                      <a:r>
                        <a:rPr lang="es-ES" sz="2400" dirty="0" err="1">
                          <a:latin typeface="Atkinson Hyperlegible"/>
                        </a:rPr>
                        <a:t>VHF</a:t>
                      </a:r>
                      <a:r>
                        <a:rPr lang="es-ES" sz="2400" dirty="0">
                          <a:latin typeface="Atkinson Hyperlegible"/>
                        </a:rPr>
                        <a:t> (frecuente </a:t>
                      </a:r>
                      <a:r>
                        <a:rPr lang="es-ES" sz="2400" b="1" dirty="0">
                          <a:latin typeface="Atkinson Hyperlegible"/>
                        </a:rPr>
                        <a:t>línea de vista</a:t>
                      </a:r>
                      <a:r>
                        <a:rPr lang="es-ES" sz="2400" dirty="0">
                          <a:latin typeface="Atkinson Hyperlegible"/>
                        </a:rPr>
                        <a:t>) y comportamiento sensible a obstáculos/entorno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b="1" dirty="0">
                          <a:latin typeface="Atkinson Hyperlegible"/>
                        </a:rPr>
                        <a:t>2.5.3 Tecnologías </a:t>
                      </a:r>
                      <a:r>
                        <a:rPr lang="es-ES" sz="2400" b="1" dirty="0" err="1">
                          <a:latin typeface="Atkinson Hyperlegible"/>
                        </a:rPr>
                        <a:t>VHF</a:t>
                      </a:r>
                      <a:r>
                        <a:rPr lang="es-ES" sz="2400" b="1" dirty="0">
                          <a:latin typeface="Atkinson Hyperlegible"/>
                        </a:rPr>
                        <a:t> y </a:t>
                      </a:r>
                      <a:r>
                        <a:rPr lang="es-ES" sz="2400" b="1" dirty="0" err="1">
                          <a:latin typeface="Atkinson Hyperlegible"/>
                        </a:rPr>
                        <a:t>UHF</a:t>
                      </a:r>
                      <a:r>
                        <a:rPr lang="es-ES" sz="2400" dirty="0">
                          <a:latin typeface="Atkinson Hyperlegible"/>
                        </a:rPr>
                        <a:t> + </a:t>
                      </a:r>
                      <a:r>
                        <a:rPr lang="es-ES" sz="2400" b="1" dirty="0">
                          <a:latin typeface="Atkinson Hyperlegible"/>
                        </a:rPr>
                        <a:t>2.5.4</a:t>
                      </a:r>
                      <a:r>
                        <a:rPr lang="es-ES" sz="2400" dirty="0">
                          <a:latin typeface="Atkinson Hyperlegible"/>
                        </a:rPr>
                        <a:t> (propagación, pérdidas)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3124455530"/>
                  </a:ext>
                </a:extLst>
              </a:tr>
              <a:tr h="1370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>
                          <a:latin typeface="Atkinson Hyperlegible"/>
                        </a:rPr>
                        <a:t>Microondas (SHF)</a:t>
                      </a:r>
                      <a:endParaRPr lang="es-CL" sz="240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>
                          <a:latin typeface="Atkinson Hyperlegible"/>
                        </a:rPr>
                        <a:t>(Microondas)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3–30 GHz</a:t>
                      </a:r>
                      <a:endParaRPr lang="es-CL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latin typeface="Atkinson Hyperlegible"/>
                        </a:rPr>
                        <a:t>Comúnmente </a:t>
                      </a:r>
                      <a:r>
                        <a:rPr lang="es-ES" sz="2400" b="1" dirty="0">
                          <a:latin typeface="Atkinson Hyperlegible"/>
                        </a:rPr>
                        <a:t>enlaces punto a punto</a:t>
                      </a:r>
                      <a:r>
                        <a:rPr lang="es-ES" sz="2400" dirty="0">
                          <a:latin typeface="Atkinson Hyperlegible"/>
                        </a:rPr>
                        <a:t> planificados; alta exigencia del trayecto (LOS)</a:t>
                      </a:r>
                    </a:p>
                  </a:txBody>
                  <a:tcPr marL="65919" marR="65919" marT="32960" marB="329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2400" b="1" dirty="0">
                          <a:latin typeface="Atkinson Hyperlegible"/>
                        </a:rPr>
                        <a:t>2.6 Microondas</a:t>
                      </a:r>
                      <a:r>
                        <a:rPr lang="es-CL" sz="2400" dirty="0">
                          <a:latin typeface="Atkinson Hyperlegible"/>
                        </a:rPr>
                        <a:t>: cálculo de enlace, ganancias/atenuaciones, </a:t>
                      </a:r>
                      <a:r>
                        <a:rPr lang="es-CL" sz="2400" b="1" dirty="0">
                          <a:latin typeface="Atkinson Hyperlegible"/>
                        </a:rPr>
                        <a:t>Zona de Fresnel</a:t>
                      </a:r>
                      <a:r>
                        <a:rPr lang="es-CL" sz="2400" dirty="0">
                          <a:latin typeface="Atkinson Hyperlegible"/>
                        </a:rPr>
                        <a:t>, aplicaciones de red</a:t>
                      </a:r>
                      <a:endParaRPr lang="pt-BR" sz="2400" dirty="0">
                        <a:latin typeface="Atkinson Hyperlegible"/>
                      </a:endParaRPr>
                    </a:p>
                  </a:txBody>
                  <a:tcPr marL="65919" marR="65919" marT="32960" marB="32960" anchor="ctr"/>
                </a:tc>
                <a:extLst>
                  <a:ext uri="{0D108BD9-81ED-4DB2-BD59-A6C34878D82A}">
                    <a16:rowId xmlns:a16="http://schemas.microsoft.com/office/drawing/2014/main" val="871284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270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4658D1-7730-D46A-B3E1-9FD13718B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C857625-08E7-945A-D4D0-A38F4EE3E540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5F2C00E-AA40-0EE8-3975-367DAA83F29E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BANDAS DE FRECUENCIAS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85EB5E-FF4D-F11E-46CC-692037E26F7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/>
              <a:t>Bandas de frecuencia relevantes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86C4772-C41B-62E4-F1AC-CFF70A5EC002}"/>
              </a:ext>
            </a:extLst>
          </p:cNvPr>
          <p:cNvSpPr txBox="1"/>
          <p:nvPr/>
        </p:nvSpPr>
        <p:spPr>
          <a:xfrm>
            <a:off x="111368" y="9579632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/>
              <a:t>Recomendación UIT-R </a:t>
            </a:r>
            <a:r>
              <a:rPr lang="es-CL" sz="2400" noProof="0" dirty="0" err="1"/>
              <a:t>V.431</a:t>
            </a:r>
            <a:r>
              <a:rPr lang="es-CL" sz="2400" noProof="0" dirty="0"/>
              <a:t>-8 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87FD6D4-63CA-DEF8-BEDE-822CAD164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767" y="1565323"/>
            <a:ext cx="11778001" cy="856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8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D41F5-AA03-D66E-26F7-FF676B726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103D046-DF09-3820-FD40-0F219C8A0032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216A7AC2-9ED8-288F-34FA-7D751CAFD44A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EEC7226-3CA9-900E-E047-27B6E3E2F1F6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Propagación en la atmósfera (canal RF = ambiente)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1D80369-14DE-4F09-B674-E6C2FF7D83A9}"/>
              </a:ext>
            </a:extLst>
          </p:cNvPr>
          <p:cNvSpPr txBox="1"/>
          <p:nvPr/>
        </p:nvSpPr>
        <p:spPr>
          <a:xfrm>
            <a:off x="966586" y="7611775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3EC9BF59-BD62-7D57-763B-49EC407862AA}"/>
              </a:ext>
            </a:extLst>
          </p:cNvPr>
          <p:cNvSpPr/>
          <p:nvPr/>
        </p:nvSpPr>
        <p:spPr>
          <a:xfrm>
            <a:off x="1233601" y="2001996"/>
            <a:ext cx="18628366" cy="3046988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RF, el canal no es ideal: la atmósfera puede introducir pérdidas adicionales.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Factores como gases, humedad, lluvia y condiciones del entorno influyen en la señal.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 impacto depende de la frecuencia, la distancia y el tipo de enlace.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Este concepto se usará luego en microondas y satélite.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ES" sz="3200" b="1" dirty="0">
              <a:latin typeface="Atkinson Hyperlegible"/>
            </a:endParaRPr>
          </a:p>
          <a:p>
            <a:pPr algn="ctr"/>
            <a:r>
              <a:rPr lang="es-E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La atmósfera es parte del canal: puede cambiar la calidad del enlace.</a:t>
            </a:r>
            <a:endParaRPr lang="es-CL" sz="32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0F587E8-0AC2-0795-A168-968D7023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110" y="5314685"/>
            <a:ext cx="11296284" cy="37693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96B33393-4F20-CE36-EEE7-7DB8C48555BC}"/>
              </a:ext>
            </a:extLst>
          </p:cNvPr>
          <p:cNvSpPr/>
          <p:nvPr/>
        </p:nvSpPr>
        <p:spPr>
          <a:xfrm>
            <a:off x="12711657" y="5181834"/>
            <a:ext cx="2068643" cy="229709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99209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E2700-89AD-6ABA-ECFC-550AE815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8657D75-18FF-7933-CD7E-77711B6AD04A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908726C8-1A65-18B6-CF7C-95E005FED151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249C67-8AFB-7896-32EB-51A30E22EC6F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Factores atmosféricos que afectan un enlace RF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23E742-4723-345A-FFC0-ECC5A0421FCD}"/>
              </a:ext>
            </a:extLst>
          </p:cNvPr>
          <p:cNvSpPr txBox="1"/>
          <p:nvPr/>
        </p:nvSpPr>
        <p:spPr>
          <a:xfrm>
            <a:off x="966586" y="7611775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696F138-B701-CFEC-633A-52573D54F6B4}"/>
              </a:ext>
            </a:extLst>
          </p:cNvPr>
          <p:cNvSpPr/>
          <p:nvPr/>
        </p:nvSpPr>
        <p:spPr>
          <a:xfrm>
            <a:off x="1233601" y="2001996"/>
            <a:ext cx="18628366" cy="353943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atmósfera puede introducir pérdidas adicionales y variabilidad en el enlace.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Gases atmosféricos: absorción (principalmente por oxígeno y vapor de agua).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dirty="0">
                <a:latin typeface="Atkinson Hyperlegible"/>
              </a:rPr>
              <a:t>LOS y obstáculos.</a:t>
            </a:r>
            <a:endParaRPr lang="es-ES" sz="3200" noProof="0" dirty="0">
              <a:latin typeface="Atkinson Hyperlegible"/>
            </a:endParaRP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Humedad y lluvia: pueden aumentar la atenuación, especialmente a frecuencias más altas.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Temperatura y presión: influyen en el comportamiento del canal (condiciones cambiantes).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Refracción troposférica: puede modificar el trayecto efectivo de la señal (cobertura/alcance).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Conclusión: el rendimiento RF depende del entorno + frecuencia + distancia.</a:t>
            </a:r>
            <a:endParaRPr lang="es-ES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pic>
        <p:nvPicPr>
          <p:cNvPr id="13314" name="Picture 2" descr="PRORED - Zonas de Fresnel en un radioenlace">
            <a:extLst>
              <a:ext uri="{FF2B5EF4-FFF2-40B4-BE49-F238E27FC236}">
                <a16:creationId xmlns:a16="http://schemas.microsoft.com/office/drawing/2014/main" id="{6496E724-AF0B-6F2A-E462-ADB4A3BEE7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3614" y="6260367"/>
            <a:ext cx="7229475" cy="348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69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8E231-98C2-0E48-1F2C-8A6E54100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B35A46C-2CD7-3D02-75C6-D56CD9CEA6D1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ACBB82F-2CDC-8078-26C6-7DEB3D8C3B5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404A04-382A-DB15-BF17-723886EB304B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Otros fenómenos físicos que afectan la onda en el trayecto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FED17A3-F1E5-7004-4AD4-A8694166CE9C}"/>
              </a:ext>
            </a:extLst>
          </p:cNvPr>
          <p:cNvSpPr txBox="1"/>
          <p:nvPr/>
        </p:nvSpPr>
        <p:spPr>
          <a:xfrm>
            <a:off x="0" y="8471637"/>
            <a:ext cx="1078570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P.676</a:t>
            </a:r>
            <a:r>
              <a:rPr lang="es-ES" sz="2400" dirty="0">
                <a:latin typeface="Atkinson Hyperlegible"/>
              </a:rPr>
              <a:t> (atenuación por gases atmosféricos)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P.838</a:t>
            </a:r>
            <a:r>
              <a:rPr lang="es-ES" sz="2400" dirty="0">
                <a:latin typeface="Atkinson Hyperlegible"/>
              </a:rPr>
              <a:t> (atenuación específica por lluvia)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P.618</a:t>
            </a:r>
            <a:r>
              <a:rPr lang="es-ES" sz="2400" dirty="0">
                <a:latin typeface="Atkinson Hyperlegible"/>
              </a:rPr>
              <a:t> (predicción para enlaces Tierra-espacio, satélite)</a:t>
            </a:r>
            <a:endParaRPr lang="es-CL" sz="2400" noProof="0" dirty="0">
              <a:latin typeface="Atkinson Hyperlegible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991DDF-850D-73A6-0733-91BE2275F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12" y="1683489"/>
            <a:ext cx="13814490" cy="69956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1986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72ACC1-0357-B49F-EAB9-77740A58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C750CD6-2569-F225-4467-509D125CCE1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179112B9-B7A7-7F04-BC2A-6D704AF8E24C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A0D4DFA-38A5-77F1-5EC8-8347ACE9420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>
                <a:latin typeface="Atkinson Hyperlegible"/>
              </a:rPr>
              <a:t>Multitrayectoria</a:t>
            </a:r>
            <a:r>
              <a:rPr lang="es-ES" sz="4000" dirty="0">
                <a:latin typeface="Atkinson Hyperlegible"/>
              </a:rPr>
              <a:t> (</a:t>
            </a:r>
            <a:r>
              <a:rPr lang="es-ES" sz="4000" dirty="0" err="1">
                <a:latin typeface="Atkinson Hyperlegible"/>
              </a:rPr>
              <a:t>multipath</a:t>
            </a:r>
            <a:r>
              <a:rPr lang="es-ES" sz="4000" dirty="0">
                <a:latin typeface="Atkinson Hyperlegible"/>
              </a:rPr>
              <a:t>) y desvanecimiento (fading)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DAC1456-488C-6F9C-20A1-E37775B0BB9C}"/>
              </a:ext>
            </a:extLst>
          </p:cNvPr>
          <p:cNvSpPr txBox="1"/>
          <p:nvPr/>
        </p:nvSpPr>
        <p:spPr>
          <a:xfrm>
            <a:off x="1382157" y="1929131"/>
            <a:ext cx="1840486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 err="1">
                <a:solidFill>
                  <a:srgbClr val="222222"/>
                </a:solidFill>
                <a:effectLst/>
                <a:latin typeface="Atkinson Hyperlegible"/>
              </a:rPr>
              <a:t>Multipath</a:t>
            </a: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 (</a:t>
            </a:r>
            <a:r>
              <a:rPr lang="es-ES" sz="3200" i="0" dirty="0" err="1">
                <a:solidFill>
                  <a:srgbClr val="222222"/>
                </a:solidFill>
                <a:effectLst/>
                <a:latin typeface="Atkinson Hyperlegible"/>
              </a:rPr>
              <a:t>multitrayectoria</a:t>
            </a: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): la señal llega al receptor por múltiples rutas (directa + reflejada + difractada).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Esas rutas llegan con distintos retrasos y niveles, pudiendo sumarse o cancelarse parcialmente.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Fading (desvanecimiento): variación del nivel de señal recibida en el tiempo debido al canal (entorno + movimiento).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Puede causar fluctuaciones (sube/baja la señal) incluso con el mismo transmisor.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0" dirty="0">
                <a:solidFill>
                  <a:srgbClr val="222222"/>
                </a:solidFill>
                <a:effectLst/>
                <a:latin typeface="Atkinson Hyperlegible"/>
              </a:rPr>
              <a:t>Se observa con frecuencia en entornos urbanos, interiores, y enlaces con reflexión.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s-ES" sz="3200" i="1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no es “falla del equipo”; es comportamiento del canal.</a:t>
            </a:r>
          </a:p>
          <a:p>
            <a:pPr algn="ctr"/>
            <a:r>
              <a:rPr lang="es-ES" sz="3200" b="1" i="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En RF, la señal puede variar por interferencia entre trayectorias (</a:t>
            </a:r>
            <a:r>
              <a:rPr lang="es-ES" sz="3200" b="1" i="0" dirty="0" err="1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multipath</a:t>
            </a:r>
            <a:r>
              <a:rPr lang="es-ES" sz="3200" b="1" i="0" dirty="0">
                <a:solidFill>
                  <a:srgbClr val="22222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/>
              </a:rPr>
              <a:t>).</a:t>
            </a:r>
          </a:p>
        </p:txBody>
      </p:sp>
      <p:pic>
        <p:nvPicPr>
          <p:cNvPr id="2" name="Picture 6" descr="Figura 5.6. Desvanecimiento multitrayectoria">
            <a:extLst>
              <a:ext uri="{FF2B5EF4-FFF2-40B4-BE49-F238E27FC236}">
                <a16:creationId xmlns:a16="http://schemas.microsoft.com/office/drawing/2014/main" id="{93903CA1-9120-9464-8218-25D71FC63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2207" y="5841082"/>
            <a:ext cx="6024639" cy="46899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2855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C6B996-0B1E-8E2F-760B-26E25CCA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ABE4351-D48B-08CC-24F7-367DB7688CE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A4AFAE0C-8602-65F7-5212-0258AC43473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>
                <a:latin typeface="Atkinson Hyperlegible" pitchFamily="2" charset="77"/>
              </a:rPr>
              <a:t>PROPAGACIÓN EN LA ATMÓSFERA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2DF42EF-32AD-FDDE-E0F5-1D03E0E6351A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noProof="0" dirty="0">
                <a:latin typeface="Atkinson Hyperlegible"/>
              </a:rPr>
              <a:t>Pérdida en espacio libre (</a:t>
            </a:r>
            <a:r>
              <a:rPr lang="es-CL" sz="4000" noProof="0" dirty="0" err="1">
                <a:latin typeface="Atkinson Hyperlegible"/>
              </a:rPr>
              <a:t>ITU</a:t>
            </a:r>
            <a:r>
              <a:rPr lang="es-CL" sz="4000" noProof="0" dirty="0">
                <a:latin typeface="Atkinson Hyperlegible"/>
              </a:rPr>
              <a:t>-R </a:t>
            </a:r>
            <a:r>
              <a:rPr lang="es-CL" sz="4000" noProof="0" dirty="0" err="1">
                <a:latin typeface="Atkinson Hyperlegible"/>
              </a:rPr>
              <a:t>P.525</a:t>
            </a:r>
            <a:r>
              <a:rPr lang="es-CL" sz="4000" noProof="0" dirty="0">
                <a:latin typeface="Atkinson Hyperlegible"/>
              </a:rPr>
              <a:t>): referencia para cálculo de enlace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F54B236-F5D9-617C-F7CE-A2FF70F9EED2}"/>
              </a:ext>
            </a:extLst>
          </p:cNvPr>
          <p:cNvSpPr txBox="1"/>
          <p:nvPr/>
        </p:nvSpPr>
        <p:spPr>
          <a:xfrm>
            <a:off x="2896163" y="9825854"/>
            <a:ext cx="184048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solidFill>
                  <a:srgbClr val="222222"/>
                </a:solidFill>
                <a:latin typeface="Atkinson Hyperlegible"/>
              </a:rPr>
              <a:t>https://www.itu.int/dms_pubrec/itu-r/rec/p/R-REC-P.525-5-202411-I!!PDF-E.pdf</a:t>
            </a:r>
            <a:endParaRPr lang="es-ES" sz="3200" b="1" i="0" dirty="0">
              <a:solidFill>
                <a:srgbClr val="22222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BD00F3E-3CAE-6BA6-BD8B-B8452FE1DBEF}"/>
              </a:ext>
            </a:extLst>
          </p:cNvPr>
          <p:cNvSpPr txBox="1"/>
          <p:nvPr/>
        </p:nvSpPr>
        <p:spPr>
          <a:xfrm>
            <a:off x="164892" y="9041024"/>
            <a:ext cx="150351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n-US" sz="2400" b="1" dirty="0"/>
              <a:t>ITU-R </a:t>
            </a:r>
            <a:r>
              <a:rPr lang="en-US" sz="2400" b="1" dirty="0" err="1"/>
              <a:t>P.525</a:t>
            </a:r>
            <a:r>
              <a:rPr lang="en-US" sz="2400" b="1" dirty="0"/>
              <a:t>-5</a:t>
            </a:r>
            <a:r>
              <a:rPr lang="en-US" sz="2400" dirty="0"/>
              <a:t> (11/2024), </a:t>
            </a:r>
            <a:r>
              <a:rPr lang="en-US" sz="2400" i="1" dirty="0"/>
              <a:t>Calculation of free-space attenuation</a:t>
            </a:r>
            <a:r>
              <a:rPr lang="en-US" sz="2400" dirty="0"/>
              <a:t>. </a:t>
            </a:r>
          </a:p>
          <a:p>
            <a:endParaRPr lang="es-ES" sz="2400" dirty="0">
              <a:latin typeface="Atkinson Hyperlegible"/>
            </a:endParaRPr>
          </a:p>
          <a:p>
            <a:endParaRPr lang="es-CL" sz="2400" noProof="0" dirty="0">
              <a:latin typeface="Atkinson Hyperlegible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4F07882B-F5E5-7FA0-94E8-488003564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28" y="1770635"/>
            <a:ext cx="17704589" cy="707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911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8609F-C68B-A29A-6511-7E295E5C0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45C8F56-8C01-9492-8F0D-7EEF4D71BE58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EFFE2A60-2E2A-0039-5B33-3DF354288CF2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VHF</a:t>
            </a:r>
            <a:r>
              <a:rPr lang="es-CL" sz="4400" b="1" noProof="0" dirty="0">
                <a:latin typeface="Atkinson Hyperlegible" pitchFamily="2" charset="77"/>
              </a:rPr>
              <a:t> Y </a:t>
            </a:r>
            <a:r>
              <a:rPr lang="es-CL" sz="4400" b="1" noProof="0" dirty="0" err="1">
                <a:latin typeface="Atkinson Hyperlegible" pitchFamily="2" charset="77"/>
              </a:rPr>
              <a:t>UHF</a:t>
            </a:r>
            <a:r>
              <a:rPr lang="es-CL" sz="4400" b="1" noProof="0" dirty="0">
                <a:latin typeface="Atkinson Hyperlegible" pitchFamily="2" charset="77"/>
              </a:rPr>
              <a:t>.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2FB2B8B-8249-0EA7-5647-CA7AB2808E63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noProof="0" dirty="0">
                <a:latin typeface="Atkinson Hyperlegible"/>
              </a:rPr>
              <a:t>Bandas HF / </a:t>
            </a:r>
            <a:r>
              <a:rPr lang="es-ES" sz="4000" noProof="0" dirty="0" err="1">
                <a:latin typeface="Atkinson Hyperlegible"/>
              </a:rPr>
              <a:t>VHF</a:t>
            </a:r>
            <a:r>
              <a:rPr lang="es-ES" sz="4000" noProof="0" dirty="0">
                <a:latin typeface="Atkinson Hyperlegible"/>
              </a:rPr>
              <a:t> / </a:t>
            </a:r>
            <a:r>
              <a:rPr lang="es-ES" sz="4000" noProof="0" dirty="0" err="1">
                <a:latin typeface="Atkinson Hyperlegible"/>
              </a:rPr>
              <a:t>UHF</a:t>
            </a:r>
            <a:r>
              <a:rPr lang="es-ES" sz="4000" noProof="0" dirty="0">
                <a:latin typeface="Atkinson Hyperlegible"/>
              </a:rPr>
              <a:t>: definición y rol en comunicaciones RF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53E0710-A064-4379-B46E-36972A89A970}"/>
              </a:ext>
            </a:extLst>
          </p:cNvPr>
          <p:cNvSpPr txBox="1"/>
          <p:nvPr/>
        </p:nvSpPr>
        <p:spPr>
          <a:xfrm>
            <a:off x="921616" y="8840969"/>
            <a:ext cx="107857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CL" sz="2400" noProof="0" dirty="0" err="1">
                <a:latin typeface="Atkinson Hyperlegible"/>
              </a:rPr>
              <a:t>ITU</a:t>
            </a:r>
            <a:r>
              <a:rPr lang="es-CL" sz="2400" noProof="0" dirty="0">
                <a:latin typeface="Atkinson Hyperlegible"/>
              </a:rPr>
              <a:t> Radio </a:t>
            </a:r>
            <a:r>
              <a:rPr lang="es-CL" sz="2400" noProof="0" dirty="0" err="1">
                <a:latin typeface="Atkinson Hyperlegible"/>
              </a:rPr>
              <a:t>Regulations</a:t>
            </a:r>
            <a:r>
              <a:rPr lang="es-CL" sz="2400" noProof="0" dirty="0">
                <a:latin typeface="Atkinson Hyperlegible"/>
              </a:rPr>
              <a:t> (Ed. 2024</a:t>
            </a:r>
            <a:r>
              <a:rPr lang="es-CL" sz="2400" noProof="0" dirty="0"/>
              <a:t>)</a:t>
            </a:r>
          </a:p>
          <a:p>
            <a:r>
              <a:rPr lang="pt-BR" sz="2400" dirty="0">
                <a:latin typeface="Atkinson Hyperlegible"/>
              </a:rPr>
              <a:t>ITU-R </a:t>
            </a:r>
            <a:r>
              <a:rPr lang="pt-BR" sz="2400" dirty="0" err="1">
                <a:latin typeface="Atkinson Hyperlegible"/>
              </a:rPr>
              <a:t>V.431</a:t>
            </a:r>
            <a:r>
              <a:rPr lang="pt-BR" sz="2400" dirty="0">
                <a:latin typeface="Atkinson Hyperlegible"/>
              </a:rPr>
              <a:t>-8 — nomenclatura y rangos de bandas (</a:t>
            </a:r>
            <a:r>
              <a:rPr lang="pt-BR" sz="2400" dirty="0" err="1">
                <a:latin typeface="Atkinson Hyperlegible"/>
              </a:rPr>
              <a:t>HF</a:t>
            </a:r>
            <a:r>
              <a:rPr lang="pt-BR" sz="2400" dirty="0">
                <a:latin typeface="Atkinson Hyperlegible"/>
              </a:rPr>
              <a:t>/VHF/UHF).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555E166C-56D5-B9E4-1E3A-08A2F42B5CB1}"/>
              </a:ext>
            </a:extLst>
          </p:cNvPr>
          <p:cNvSpPr/>
          <p:nvPr/>
        </p:nvSpPr>
        <p:spPr>
          <a:xfrm>
            <a:off x="1233601" y="2001996"/>
            <a:ext cx="18628366" cy="507831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HF (Alta Frecuencia): banda de radio usada en sistemas donde la propagación puede permitir alcances más amplios según condiciones.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 (Muy Alta Frecuencia): banda usada en comunicaciones con cobertura local/regional (según entorno).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 (Ultra Alta Frecuencia): banda usada en comunicaciones con buena aplicabilidad en múltiples escenarios y dispositivos compactos.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Las bandas condicionan: alcance, cobertura, obstáculos e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dirty="0">
                <a:latin typeface="Atkinson Hyperlegible"/>
              </a:rPr>
              <a:t>E</a:t>
            </a:r>
            <a:r>
              <a:rPr lang="es-ES" sz="3200" noProof="0" dirty="0" err="1">
                <a:latin typeface="Atkinson Hyperlegible"/>
              </a:rPr>
              <a:t>stas</a:t>
            </a:r>
            <a:r>
              <a:rPr lang="es-ES" sz="3200" noProof="0" dirty="0">
                <a:latin typeface="Atkinson Hyperlegible"/>
              </a:rPr>
              <a:t> bandas se conectan con: redes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/HF y 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No buscamos </a:t>
            </a:r>
            <a:r>
              <a:rPr lang="es-ES" sz="3200" b="1" noProof="0" dirty="0">
                <a:latin typeface="Atkinson Hyperlegible"/>
              </a:rPr>
              <a:t>memorizar rangos</a:t>
            </a:r>
            <a:r>
              <a:rPr lang="es-ES" sz="3200" noProof="0" dirty="0">
                <a:latin typeface="Atkinson Hyperlegible"/>
              </a:rPr>
              <a:t>, sino comprender cómo afecta la banda al diseño.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CL" sz="3200" b="1" noProof="0" dirty="0">
              <a:latin typeface="Atkinson Hyperlegible"/>
            </a:endParaRPr>
          </a:p>
          <a:p>
            <a:pPr algn="ctr"/>
            <a:r>
              <a:rPr lang="es-ES" sz="3600" b="1" noProof="0" dirty="0">
                <a:latin typeface="Atkinson Hyperlegible"/>
              </a:rPr>
              <a:t>La banda define el “comportamiento” del enlace y el tipo de servicio posible.</a:t>
            </a:r>
            <a:endParaRPr lang="es-CL" sz="3600" noProof="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380608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32FD5-0674-D60F-A5AC-7189E7685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50A8F7A-C32C-B3DA-2D7F-C20CB674A8E6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48F6699A-3169-8CBD-C65B-132814C601CE}"/>
              </a:ext>
            </a:extLst>
          </p:cNvPr>
          <p:cNvSpPr txBox="1"/>
          <p:nvPr/>
        </p:nvSpPr>
        <p:spPr>
          <a:xfrm>
            <a:off x="1382157" y="-44605"/>
            <a:ext cx="18277439" cy="1609928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VHF</a:t>
            </a:r>
            <a:r>
              <a:rPr lang="es-CL" sz="4400" b="1" noProof="0" dirty="0">
                <a:latin typeface="Atkinson Hyperlegible" pitchFamily="2" charset="77"/>
              </a:rPr>
              <a:t> Y </a:t>
            </a:r>
            <a:r>
              <a:rPr lang="es-CL" sz="4400" b="1" noProof="0" dirty="0" err="1">
                <a:latin typeface="Atkinson Hyperlegible" pitchFamily="2" charset="77"/>
              </a:rPr>
              <a:t>UHF</a:t>
            </a:r>
            <a:r>
              <a:rPr lang="es-CL" sz="4400" b="1" noProof="0" dirty="0">
                <a:latin typeface="Atkinson Hyperlegible" pitchFamily="2" charset="77"/>
              </a:rPr>
              <a:t>.</a:t>
            </a:r>
          </a:p>
          <a:p>
            <a:pPr>
              <a:lnSpc>
                <a:spcPct val="150000"/>
              </a:lnSpc>
            </a:pP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EE3D1CB-ECDA-F0ED-E562-097E44D20F58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/>
              <a:t>Principios de funcionamiento de redes </a:t>
            </a:r>
            <a:r>
              <a:rPr lang="es-CL" sz="4000" dirty="0" err="1"/>
              <a:t>VHF</a:t>
            </a:r>
            <a:r>
              <a:rPr lang="es-CL" sz="4000" dirty="0"/>
              <a:t>/</a:t>
            </a:r>
            <a:r>
              <a:rPr lang="es-CL" sz="4000" dirty="0" err="1"/>
              <a:t>UHF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F595018-825A-4F12-3826-E6368ECCF471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0D266076-0407-7B2F-B31A-B4D302706E6E}"/>
              </a:ext>
            </a:extLst>
          </p:cNvPr>
          <p:cNvSpPr/>
          <p:nvPr/>
        </p:nvSpPr>
        <p:spPr>
          <a:xfrm>
            <a:off x="1233601" y="2001996"/>
            <a:ext cx="18628366" cy="507831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Una red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 conecta múltiples estaciones que comparten un medio radioeléctrico.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Elementos típicos: terminales/estaciones, antenas, canal y (cuando aplica) repetidores.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cobertura depende de: banda, potencia, antena, altura, entorno y trayecto.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Pueden existir dos lógicas generales de operación: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Punto a punto: un emisor comunica con un receptor específico.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Uno a muchos: un emisor llega a múltiples receptores (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El rendimiento es variable por interferencias y condiciones del canal.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coordinación del uso del espectro es clave para minimizar interferencias.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es-ES" sz="3200" noProof="0" dirty="0">
              <a:latin typeface="Atkinson Hyperlegible"/>
            </a:endParaRPr>
          </a:p>
          <a:p>
            <a:pPr algn="ctr"/>
            <a:r>
              <a:rPr lang="es-ES" sz="3600" b="1" noProof="0" dirty="0">
                <a:latin typeface="Atkinson Hyperlegible"/>
              </a:rPr>
              <a:t>En redes </a:t>
            </a:r>
            <a:r>
              <a:rPr lang="es-ES" sz="3600" b="1" noProof="0" dirty="0" err="1">
                <a:latin typeface="Atkinson Hyperlegible"/>
              </a:rPr>
              <a:t>VHF</a:t>
            </a:r>
            <a:r>
              <a:rPr lang="es-ES" sz="3600" b="1" noProof="0" dirty="0">
                <a:latin typeface="Atkinson Hyperlegible"/>
              </a:rPr>
              <a:t>/</a:t>
            </a:r>
            <a:r>
              <a:rPr lang="es-ES" sz="3600" b="1" noProof="0" dirty="0" err="1">
                <a:latin typeface="Atkinson Hyperlegible"/>
              </a:rPr>
              <a:t>UHF</a:t>
            </a:r>
            <a:r>
              <a:rPr lang="es-ES" sz="3600" b="1" noProof="0" dirty="0">
                <a:latin typeface="Atkinson Hyperlegible"/>
              </a:rPr>
              <a:t>/HF, la cobertura se diseña con banda + antenas + entorno (no solo potencia).</a:t>
            </a: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8EF8D21D-E39E-E96A-3CE0-2AA8E9090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1279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A4288B4E-8113-8337-F118-E26797705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657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2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69178-0462-3D14-9D0D-88A9957FD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DF17C79-A9A4-347B-FB5E-CE8B1FCF2E3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5467E51A-CA95-8915-6BED-D7083032C3F4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0853A55-2753-0BFB-B45D-2D19E924C392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 err="1"/>
              <a:t>Broadcasting</a:t>
            </a:r>
            <a:r>
              <a:rPr lang="es-ES" sz="4000" dirty="0"/>
              <a:t>: comunicación “uno a muchos”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64257DF-93B7-0B55-FD81-F345914B9DE6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44CBC730-3E7F-0B0B-87E5-CE8D5C5A4E76}"/>
              </a:ext>
            </a:extLst>
          </p:cNvPr>
          <p:cNvSpPr/>
          <p:nvPr/>
        </p:nvSpPr>
        <p:spPr>
          <a:xfrm>
            <a:off x="1233601" y="2001996"/>
            <a:ext cx="18628366" cy="452431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 (radiodifusión): un emisor transmite hacia múltiples receptores al mismo tiempo.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Se orienta a cobertura (área de servicio), no a un receptor único.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</a:t>
            </a:r>
            <a:r>
              <a:rPr lang="es-ES" sz="3200" noProof="0" dirty="0" err="1">
                <a:latin typeface="Atkinson Hyperlegible"/>
              </a:rPr>
              <a:t>broadcasting</a:t>
            </a:r>
            <a:r>
              <a:rPr lang="es-ES" sz="3200" noProof="0" dirty="0">
                <a:latin typeface="Atkinson Hyperlegible"/>
              </a:rPr>
              <a:t>, el diseño prioriza: cobertura, calidad de recepción, interferencias y continuidad del servicio.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Se diferencia del punto a punto, donde el enlace se diseña para un destino específico.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La propagación y el entorno influyen en la cobertura efectiva (especialmente en </a:t>
            </a:r>
            <a:r>
              <a:rPr lang="es-ES" sz="3200" noProof="0" dirty="0" err="1">
                <a:latin typeface="Atkinson Hyperlegible"/>
              </a:rPr>
              <a:t>VHF</a:t>
            </a:r>
            <a:r>
              <a:rPr lang="es-ES" sz="3200" noProof="0" dirty="0">
                <a:latin typeface="Atkinson Hyperlegible"/>
              </a:rPr>
              <a:t>/</a:t>
            </a:r>
            <a:r>
              <a:rPr lang="es-ES" sz="3200" noProof="0" dirty="0" err="1">
                <a:latin typeface="Atkinson Hyperlegible"/>
              </a:rPr>
              <a:t>UHF</a:t>
            </a:r>
            <a:r>
              <a:rPr lang="es-ES" sz="3200" noProof="0" dirty="0">
                <a:latin typeface="Atkinson Hyperlegible"/>
              </a:rPr>
              <a:t>).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r>
              <a:rPr lang="es-ES" sz="3200" noProof="0" dirty="0">
                <a:latin typeface="Atkinson Hyperlegible"/>
              </a:rPr>
              <a:t>En la práctica, la planificación incluye coordinación para evitar interferencias entre servicios.</a:t>
            </a:r>
          </a:p>
          <a:p>
            <a:pPr algn="just"/>
            <a:endParaRPr lang="es-ES" sz="3200" noProof="0" dirty="0">
              <a:latin typeface="Atkinson Hyperlegible"/>
            </a:endParaRPr>
          </a:p>
          <a:p>
            <a:pPr algn="ctr"/>
            <a:r>
              <a:rPr lang="es-ES" sz="3200" b="1" noProof="0" dirty="0">
                <a:latin typeface="Atkinson Hyperlegible"/>
              </a:rPr>
              <a:t>PUNTO A PUNTO BUSCA “ENLACE”; </a:t>
            </a:r>
            <a:r>
              <a:rPr lang="es-ES" sz="3200" b="1" noProof="0" dirty="0" err="1">
                <a:latin typeface="Atkinson Hyperlegible"/>
              </a:rPr>
              <a:t>BROADCASTING</a:t>
            </a:r>
            <a:r>
              <a:rPr lang="es-ES" sz="3200" b="1" noProof="0" dirty="0">
                <a:latin typeface="Atkinson Hyperlegible"/>
              </a:rPr>
              <a:t> BUSCA “COBERTURA”.</a:t>
            </a:r>
            <a:endParaRPr lang="es-ES" sz="3600" b="1" noProof="0" dirty="0">
              <a:latin typeface="Atkinson Hyperlegible"/>
            </a:endParaRPr>
          </a:p>
        </p:txBody>
      </p:sp>
      <p:pic>
        <p:nvPicPr>
          <p:cNvPr id="2" name="Picture 8">
            <a:extLst>
              <a:ext uri="{FF2B5EF4-FFF2-40B4-BE49-F238E27FC236}">
                <a16:creationId xmlns:a16="http://schemas.microsoft.com/office/drawing/2014/main" id="{F5CD3943-94FC-2463-B597-39F176AAB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51279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461BFB9-4A49-7E9D-2B00-88EFAAEFE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657" y="7411138"/>
            <a:ext cx="3871441" cy="1896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8506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874517-C860-9898-093D-A2C52B59A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04026CA-4459-59B6-C5B7-D3CA845DA1CB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3F25589-50DF-5621-EAC5-9C16FD8B59B6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A8BB31A-5D28-F770-EF6C-28B232A68C39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>
                <a:latin typeface="Atkinson Hyperlegible"/>
              </a:rPr>
              <a:t>Punto a punto vs </a:t>
            </a:r>
            <a:r>
              <a:rPr lang="es-CL" sz="4000" dirty="0" err="1">
                <a:latin typeface="Atkinson Hyperlegible"/>
              </a:rPr>
              <a:t>Broadcasting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618E63-FE2E-C162-063A-A6DCB4B681BA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B9B928F3-524F-391F-4CE7-DF3C19C220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630603"/>
              </p:ext>
            </p:extLst>
          </p:nvPr>
        </p:nvGraphicFramePr>
        <p:xfrm>
          <a:off x="1382157" y="2247951"/>
          <a:ext cx="17338674" cy="6004560"/>
        </p:xfrm>
        <a:graphic>
          <a:graphicData uri="http://schemas.openxmlformats.org/drawingml/2006/table">
            <a:tbl>
              <a:tblPr firstRow="1" firstCol="1">
                <a:tableStyleId>{073A0DAA-6AF3-43AB-8588-CEC1D06C72B9}</a:tableStyleId>
              </a:tblPr>
              <a:tblGrid>
                <a:gridCol w="5779558">
                  <a:extLst>
                    <a:ext uri="{9D8B030D-6E8A-4147-A177-3AD203B41FA5}">
                      <a16:colId xmlns:a16="http://schemas.microsoft.com/office/drawing/2014/main" val="2837083870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1714831545"/>
                    </a:ext>
                  </a:extLst>
                </a:gridCol>
                <a:gridCol w="5779558">
                  <a:extLst>
                    <a:ext uri="{9D8B030D-6E8A-4147-A177-3AD203B41FA5}">
                      <a16:colId xmlns:a16="http://schemas.microsoft.com/office/drawing/2014/main" val="23099925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Criterio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Punto a punto (uno a uno)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Broadcasting (uno a muchos)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3131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Objetivo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Conectar </a:t>
                      </a:r>
                      <a:r>
                        <a:rPr lang="es-CL" sz="3200" b="1"/>
                        <a:t>dos puntos</a:t>
                      </a:r>
                      <a:r>
                        <a:rPr lang="es-CL" sz="3200"/>
                        <a:t> específicos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Dar </a:t>
                      </a:r>
                      <a:r>
                        <a:rPr lang="es-CL" sz="3200" b="1"/>
                        <a:t>cobertura</a:t>
                      </a:r>
                      <a:r>
                        <a:rPr lang="es-CL" sz="3200"/>
                        <a:t> a un área/grupo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558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Diseño prioriza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Nivel de señal en </a:t>
                      </a:r>
                      <a:r>
                        <a:rPr lang="es-ES" sz="3200" b="1"/>
                        <a:t>un receptor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Calidad de recepción en </a:t>
                      </a:r>
                      <a:r>
                        <a:rPr lang="es-ES" sz="3200" b="1"/>
                        <a:t>múltiples receptores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89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Antenas típicas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Direccionales</a:t>
                      </a:r>
                      <a:r>
                        <a:rPr lang="es-CL" sz="3200"/>
                        <a:t> (cuando aplica)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b="1"/>
                        <a:t>Cobertura amplia</a:t>
                      </a:r>
                      <a:r>
                        <a:rPr lang="es-CL" sz="3200"/>
                        <a:t> según objetivo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6810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Sensibilidad a interferencia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Afecta el enlace específico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Crítica por coexistencia y cobertura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79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Medida de éxito (conceptual)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“¿Llega con calidad al destino?”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3200"/>
                        <a:t>“¿El área recibe con calidad aceptable?”</a:t>
                      </a:r>
                      <a:endParaRPr lang="es-ES" sz="320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020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Ejemplo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/>
                        <a:t>Enlace entre dos sitios</a:t>
                      </a:r>
                      <a:endParaRPr lang="es-CL" sz="3200">
                        <a:latin typeface="Atkinson Hyperlegibl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3200" dirty="0"/>
                        <a:t>Radiodifusión / cobertura a múltiples receptores</a:t>
                      </a:r>
                      <a:endParaRPr lang="es-CL" sz="3200" dirty="0">
                        <a:latin typeface="Atkinson Hyperlegibl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297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45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13456-7FEA-6B4D-AB33-A77886A0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6338B9F-C527-617F-529B-185231DD7B47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62EEDD71-53D2-10B5-4B11-E4328D0F691B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9BC9B3E-5EB8-B83E-B6B9-81D9CB7B8E09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Actividad (12 min): Clasifique el tipo de servicio y la banda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331DA0-BC29-D9A5-6987-C8F57B3B4D04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1AB8AF2C-BF4D-E4F4-A9D5-6DEBE7ABF870}"/>
              </a:ext>
            </a:extLst>
          </p:cNvPr>
          <p:cNvSpPr/>
          <p:nvPr/>
        </p:nvSpPr>
        <p:spPr>
          <a:xfrm>
            <a:off x="1233601" y="2001996"/>
            <a:ext cx="18628366" cy="206210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Instrucciones (3 pasos):</a:t>
            </a:r>
            <a:endParaRPr lang="es-ES" sz="3200" dirty="0">
              <a:latin typeface="Atkinson Hyperlegible"/>
            </a:endParaRP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Para cada escenario, indique si es </a:t>
            </a:r>
            <a:r>
              <a:rPr lang="es-ES" sz="3200" b="1" dirty="0">
                <a:latin typeface="Atkinson Hyperlegible"/>
              </a:rPr>
              <a:t>Punto a punto</a:t>
            </a:r>
            <a:r>
              <a:rPr lang="es-ES" sz="3200" dirty="0">
                <a:latin typeface="Atkinson Hyperlegible"/>
              </a:rPr>
              <a:t> o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Seleccione una banda posible (</a:t>
            </a:r>
            <a:r>
              <a:rPr lang="es-ES" sz="3200" b="1" dirty="0" err="1">
                <a:latin typeface="Atkinson Hyperlegible"/>
              </a:rPr>
              <a:t>VHF</a:t>
            </a:r>
            <a:r>
              <a:rPr lang="es-ES" sz="3200" b="1" dirty="0">
                <a:latin typeface="Atkinson Hyperlegible"/>
              </a:rPr>
              <a:t> / </a:t>
            </a:r>
            <a:r>
              <a:rPr lang="es-ES" sz="3200" b="1" dirty="0" err="1">
                <a:latin typeface="Atkinson Hyperlegible"/>
              </a:rPr>
              <a:t>UHF</a:t>
            </a:r>
            <a:r>
              <a:rPr lang="es-ES" sz="3200" dirty="0">
                <a:latin typeface="Atkinson Hyperlegible"/>
              </a:rPr>
              <a:t>) a nivel general.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Justifique con </a:t>
            </a:r>
            <a:r>
              <a:rPr lang="es-ES" sz="3200" b="1" dirty="0">
                <a:latin typeface="Atkinson Hyperlegible"/>
              </a:rPr>
              <a:t>1 criterio</a:t>
            </a:r>
            <a:r>
              <a:rPr lang="es-ES" sz="3200" dirty="0">
                <a:latin typeface="Atkinson Hyperlegible"/>
              </a:rPr>
              <a:t> (cobertura, obstáculos, entorno, movilidad, interferencia). </a:t>
            </a: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B45496DF-6757-24A2-BF56-03D576C12658}"/>
              </a:ext>
            </a:extLst>
          </p:cNvPr>
          <p:cNvSpPr/>
          <p:nvPr/>
        </p:nvSpPr>
        <p:spPr>
          <a:xfrm>
            <a:off x="1206693" y="4064099"/>
            <a:ext cx="18628366" cy="3539430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Escenarios (6) — listos para usar</a:t>
            </a:r>
          </a:p>
          <a:p>
            <a:r>
              <a:rPr lang="es-ES" sz="3200" b="1" dirty="0">
                <a:latin typeface="Atkinson Hyperlegible"/>
              </a:rPr>
              <a:t>A.</a:t>
            </a:r>
            <a:r>
              <a:rPr lang="es-ES" sz="3200" dirty="0">
                <a:latin typeface="Atkinson Hyperlegible"/>
              </a:rPr>
              <a:t> Una estación transmite información a múltiples receptores en un área de cobertura definida.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B.</a:t>
            </a:r>
            <a:r>
              <a:rPr lang="es-ES" sz="3200" dirty="0">
                <a:latin typeface="Atkinson Hyperlegible"/>
              </a:rPr>
              <a:t> Dos puntos fijos requieren comunicación directa y estable entre sí.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C.</a:t>
            </a:r>
            <a:r>
              <a:rPr lang="es-ES" sz="3200" dirty="0">
                <a:latin typeface="Atkinson Hyperlegible"/>
              </a:rPr>
              <a:t> Comunicación táctica móvil en terreno con estaciones distribuidas.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D.</a:t>
            </a:r>
            <a:r>
              <a:rPr lang="es-ES" sz="3200" dirty="0">
                <a:latin typeface="Atkinson Hyperlegible"/>
              </a:rPr>
              <a:t> Un emisor debe llegar a muchos receptores simultáneamente, priorizando cobertura regional.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E.</a:t>
            </a:r>
            <a:r>
              <a:rPr lang="es-ES" sz="3200" dirty="0">
                <a:latin typeface="Atkinson Hyperlegible"/>
              </a:rPr>
              <a:t> Comunicación entre dos equipos específicos para coordinar una operación (destino único).</a:t>
            </a:r>
            <a:br>
              <a:rPr lang="es-ES" sz="3200" dirty="0">
                <a:latin typeface="Atkinson Hyperlegible"/>
              </a:rPr>
            </a:br>
            <a:r>
              <a:rPr lang="es-ES" sz="3200" b="1" dirty="0">
                <a:latin typeface="Atkinson Hyperlegible"/>
              </a:rPr>
              <a:t>F.</a:t>
            </a:r>
            <a:r>
              <a:rPr lang="es-ES" sz="3200" dirty="0">
                <a:latin typeface="Atkinson Hyperlegible"/>
              </a:rPr>
              <a:t> Transmisión a múltiples receptores, donde la coexistencia e interferencias son un factor crítico</a:t>
            </a:r>
            <a:r>
              <a:rPr lang="es-ES" sz="3200" dirty="0"/>
              <a:t>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75F9038-D064-DB47-441E-4EEB97A216DB}"/>
              </a:ext>
            </a:extLst>
          </p:cNvPr>
          <p:cNvSpPr txBox="1"/>
          <p:nvPr/>
        </p:nvSpPr>
        <p:spPr>
          <a:xfrm>
            <a:off x="4620718" y="7899083"/>
            <a:ext cx="124081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800" b="1" dirty="0">
                <a:latin typeface="Atkinson Hyperlegible"/>
              </a:rPr>
              <a:t>A–F:</a:t>
            </a:r>
            <a:r>
              <a:rPr lang="es-CL" sz="2800" dirty="0">
                <a:latin typeface="Atkinson Hyperlegible"/>
              </a:rPr>
              <a:t> </a:t>
            </a:r>
            <a:r>
              <a:rPr lang="es-CL" sz="2800" i="1" dirty="0">
                <a:latin typeface="Atkinson Hyperlegible"/>
              </a:rPr>
              <a:t>(Tipo de servicio) + (Banda) + (1 criterio)</a:t>
            </a:r>
            <a:br>
              <a:rPr lang="es-CL" sz="2800" dirty="0">
                <a:latin typeface="Atkinson Hyperlegible"/>
              </a:rPr>
            </a:br>
            <a:r>
              <a:rPr lang="es-CL" sz="2800" dirty="0">
                <a:latin typeface="Atkinson Hyperlegible"/>
              </a:rPr>
              <a:t>Ejemplo: </a:t>
            </a:r>
            <a:r>
              <a:rPr lang="es-CL" sz="2800" b="1" dirty="0">
                <a:latin typeface="Atkinson Hyperlegible"/>
              </a:rPr>
              <a:t>A: </a:t>
            </a:r>
            <a:r>
              <a:rPr lang="es-CL" sz="2800" b="1" dirty="0" err="1">
                <a:latin typeface="Atkinson Hyperlegible"/>
              </a:rPr>
              <a:t>Broadcasting</a:t>
            </a:r>
            <a:r>
              <a:rPr lang="es-CL" sz="2800" b="1" dirty="0">
                <a:latin typeface="Atkinson Hyperlegible"/>
              </a:rPr>
              <a:t> + </a:t>
            </a:r>
            <a:r>
              <a:rPr lang="es-CL" sz="2800" b="1" dirty="0" err="1">
                <a:latin typeface="Atkinson Hyperlegible"/>
              </a:rPr>
              <a:t>VHF</a:t>
            </a:r>
            <a:r>
              <a:rPr lang="es-CL" sz="2800" b="1" dirty="0">
                <a:latin typeface="Atkinson Hyperlegible"/>
              </a:rPr>
              <a:t>/</a:t>
            </a:r>
            <a:r>
              <a:rPr lang="es-CL" sz="2800" b="1" dirty="0" err="1">
                <a:latin typeface="Atkinson Hyperlegible"/>
              </a:rPr>
              <a:t>UHF</a:t>
            </a:r>
            <a:r>
              <a:rPr lang="es-CL" sz="2800" b="1" dirty="0">
                <a:latin typeface="Atkinson Hyperlegible"/>
              </a:rPr>
              <a:t> + “cobertura”</a:t>
            </a:r>
            <a:endParaRPr lang="es-CL" sz="2800" dirty="0">
              <a:latin typeface="Atkinson Hyperlegible"/>
            </a:endParaRPr>
          </a:p>
        </p:txBody>
      </p:sp>
    </p:spTree>
    <p:extLst>
      <p:ext uri="{BB962C8B-B14F-4D97-AF65-F5344CB8AC3E}">
        <p14:creationId xmlns:p14="http://schemas.microsoft.com/office/powerpoint/2010/main" val="101644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37DA30-C717-4D18-227D-F663749F4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15B3ED-7851-5A3B-71BA-68B5862DEAC9}"/>
              </a:ext>
            </a:extLst>
          </p:cNvPr>
          <p:cNvCxnSpPr>
            <a:cxnSpLocks/>
          </p:cNvCxnSpPr>
          <p:nvPr/>
        </p:nvCxnSpPr>
        <p:spPr>
          <a:xfrm>
            <a:off x="679450" y="-136525"/>
            <a:ext cx="0" cy="152400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bject 3">
            <a:extLst>
              <a:ext uri="{FF2B5EF4-FFF2-40B4-BE49-F238E27FC236}">
                <a16:creationId xmlns:a16="http://schemas.microsoft.com/office/drawing/2014/main" id="{F36942EA-F6F1-0D52-7C82-8F7DEBEBE495}"/>
              </a:ext>
            </a:extLst>
          </p:cNvPr>
          <p:cNvSpPr txBox="1"/>
          <p:nvPr/>
        </p:nvSpPr>
        <p:spPr>
          <a:xfrm>
            <a:off x="1382157" y="-44605"/>
            <a:ext cx="18277439" cy="1030410"/>
          </a:xfrm>
          <a:prstGeom prst="rect">
            <a:avLst/>
          </a:prstGeom>
          <a:noFill/>
        </p:spPr>
        <p:txBody>
          <a:bodyPr vert="horz" wrap="square" lIns="0" tIns="349885" rIns="0" bIns="0" rtlCol="0">
            <a:spAutoFit/>
          </a:bodyPr>
          <a:lstStyle/>
          <a:p>
            <a:r>
              <a:rPr lang="es-CL" sz="4400" b="1" noProof="0" dirty="0" err="1">
                <a:latin typeface="Atkinson Hyperlegible" pitchFamily="2" charset="77"/>
              </a:rPr>
              <a:t>BROADCASTING</a:t>
            </a:r>
            <a:endParaRPr lang="es-CL" sz="2800" b="1" kern="100" noProof="0" dirty="0">
              <a:effectLst/>
              <a:latin typeface="Atkinson Hyperlegible" pitchFamily="2" charset="77"/>
              <a:ea typeface="Calibri" panose="020F0502020204030204" pitchFamily="34" charset="0"/>
              <a:cs typeface="Gotham" pitchFamily="2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F4DF38C-5AB3-4655-ACB3-19842003F821}"/>
              </a:ext>
            </a:extLst>
          </p:cNvPr>
          <p:cNvSpPr txBox="1"/>
          <p:nvPr/>
        </p:nvSpPr>
        <p:spPr>
          <a:xfrm>
            <a:off x="1382157" y="898721"/>
            <a:ext cx="17055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>
                <a:latin typeface="Atkinson Hyperlegible"/>
              </a:rPr>
              <a:t>Repaso</a:t>
            </a:r>
            <a:endParaRPr lang="es-CL" sz="4000" noProof="0" dirty="0">
              <a:latin typeface="Atkinson Hyperlegible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08AE484-71B1-DC45-21AF-19CA108BC337}"/>
              </a:ext>
            </a:extLst>
          </p:cNvPr>
          <p:cNvSpPr txBox="1"/>
          <p:nvPr/>
        </p:nvSpPr>
        <p:spPr>
          <a:xfrm>
            <a:off x="921616" y="8840969"/>
            <a:ext cx="107857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noProof="0" dirty="0">
                <a:latin typeface="Atkinson Hyperlegible"/>
              </a:rPr>
              <a:t>⚠️ </a:t>
            </a:r>
            <a:r>
              <a:rPr lang="es-CL" sz="2400" b="1" noProof="0" dirty="0">
                <a:latin typeface="Atkinson Hyperlegible"/>
              </a:rPr>
              <a:t>Nota al margen:</a:t>
            </a:r>
          </a:p>
          <a:p>
            <a:r>
              <a:rPr lang="es-ES" sz="2400" dirty="0" err="1">
                <a:latin typeface="Atkinson Hyperlegible"/>
              </a:rPr>
              <a:t>ITU</a:t>
            </a:r>
            <a:r>
              <a:rPr lang="es-ES" sz="2400" dirty="0">
                <a:latin typeface="Atkinson Hyperlegible"/>
              </a:rPr>
              <a:t>-R </a:t>
            </a:r>
            <a:r>
              <a:rPr lang="es-ES" sz="2400" dirty="0" err="1">
                <a:latin typeface="Atkinson Hyperlegible"/>
              </a:rPr>
              <a:t>P.1546</a:t>
            </a:r>
            <a:r>
              <a:rPr lang="es-ES" sz="2400" dirty="0">
                <a:latin typeface="Atkinson Hyperlegible"/>
              </a:rPr>
              <a:t> — recomendación para predicción punto-área.</a:t>
            </a:r>
            <a:endParaRPr lang="es-CL" sz="2400" noProof="0" dirty="0">
              <a:latin typeface="Atkinson Hyperlegible"/>
            </a:endParaRPr>
          </a:p>
        </p:txBody>
      </p:sp>
      <p:sp>
        <p:nvSpPr>
          <p:cNvPr id="17" name="5 Rectángulo">
            <a:extLst>
              <a:ext uri="{FF2B5EF4-FFF2-40B4-BE49-F238E27FC236}">
                <a16:creationId xmlns:a16="http://schemas.microsoft.com/office/drawing/2014/main" id="{CF52A209-384B-2E1E-AB0F-3A3756086E20}"/>
              </a:ext>
            </a:extLst>
          </p:cNvPr>
          <p:cNvSpPr/>
          <p:nvPr/>
        </p:nvSpPr>
        <p:spPr>
          <a:xfrm>
            <a:off x="1233601" y="2001996"/>
            <a:ext cx="18628366" cy="2062103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>
                <a:latin typeface="Atkinson Hyperlegible"/>
              </a:rPr>
              <a:t>Responda en 3 líneas:</a:t>
            </a:r>
            <a:endParaRPr lang="es-ES" sz="3200" dirty="0">
              <a:latin typeface="Atkinson Hyperlegible"/>
            </a:endParaRP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Defina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 en una frase.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Indique una diferencia clave entre </a:t>
            </a:r>
            <a:r>
              <a:rPr lang="es-ES" sz="3200" b="1" dirty="0">
                <a:latin typeface="Atkinson Hyperlegible"/>
              </a:rPr>
              <a:t>punto a punto</a:t>
            </a:r>
            <a:r>
              <a:rPr lang="es-ES" sz="3200" dirty="0">
                <a:latin typeface="Atkinson Hyperlegible"/>
              </a:rPr>
              <a:t> y </a:t>
            </a:r>
            <a:r>
              <a:rPr lang="es-ES" sz="3200" b="1" dirty="0" err="1">
                <a:latin typeface="Atkinson Hyperlegible"/>
              </a:rPr>
              <a:t>broadcasting</a:t>
            </a:r>
            <a:r>
              <a:rPr lang="es-ES" sz="3200" dirty="0">
                <a:latin typeface="Atkinson Hyperlegible"/>
              </a:rPr>
              <a:t>. 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dirty="0">
                <a:latin typeface="Atkinson Hyperlegible"/>
              </a:rPr>
              <a:t>Mencione </a:t>
            </a:r>
            <a:r>
              <a:rPr lang="es-ES" sz="3200" b="1" dirty="0">
                <a:latin typeface="Atkinson Hyperlegible"/>
              </a:rPr>
              <a:t>1 criterio</a:t>
            </a:r>
            <a:r>
              <a:rPr lang="es-ES" sz="3200" dirty="0">
                <a:latin typeface="Atkinson Hyperlegible"/>
              </a:rPr>
              <a:t> que usaría para escoger entre </a:t>
            </a:r>
            <a:r>
              <a:rPr lang="es-ES" sz="3200" b="1" dirty="0" err="1">
                <a:latin typeface="Atkinson Hyperlegible"/>
              </a:rPr>
              <a:t>VHF</a:t>
            </a:r>
            <a:r>
              <a:rPr lang="es-ES" sz="3200" b="1" dirty="0">
                <a:latin typeface="Atkinson Hyperlegible"/>
              </a:rPr>
              <a:t> / </a:t>
            </a:r>
            <a:r>
              <a:rPr lang="es-ES" sz="3200" b="1" dirty="0" err="1">
                <a:latin typeface="Atkinson Hyperlegible"/>
              </a:rPr>
              <a:t>UHF</a:t>
            </a:r>
            <a:r>
              <a:rPr lang="es-ES" sz="3200" dirty="0">
                <a:latin typeface="Atkinson Hyperlegible"/>
              </a:rPr>
              <a:t>.</a:t>
            </a:r>
          </a:p>
        </p:txBody>
      </p:sp>
      <p:sp>
        <p:nvSpPr>
          <p:cNvPr id="3" name="5 Rectángulo">
            <a:extLst>
              <a:ext uri="{FF2B5EF4-FFF2-40B4-BE49-F238E27FC236}">
                <a16:creationId xmlns:a16="http://schemas.microsoft.com/office/drawing/2014/main" id="{0DC0A099-1C48-B629-BD7C-1EEB2D83E84B}"/>
              </a:ext>
            </a:extLst>
          </p:cNvPr>
          <p:cNvSpPr/>
          <p:nvPr/>
        </p:nvSpPr>
        <p:spPr>
          <a:xfrm>
            <a:off x="1206693" y="4239181"/>
            <a:ext cx="18628366" cy="2554545"/>
          </a:xfrm>
          <a:prstGeom prst="rect">
            <a:avLst/>
          </a:prstGeom>
          <a:noFill/>
          <a:effectLst/>
        </p:spPr>
        <p:txBody>
          <a:bodyPr wrap="square" lIns="91440" tIns="45720" rIns="91440" bIns="45720" anchor="t">
            <a:spAutoFit/>
          </a:bodyPr>
          <a:lstStyle/>
          <a:p>
            <a:r>
              <a:rPr lang="es-ES" sz="3200" b="1" dirty="0"/>
              <a:t>Módulo 5 (2.5.3): Tecnologías </a:t>
            </a:r>
            <a:r>
              <a:rPr lang="es-ES" sz="3200" b="1" dirty="0" err="1"/>
              <a:t>VHF</a:t>
            </a:r>
            <a:r>
              <a:rPr lang="es-ES" sz="3200" b="1" dirty="0"/>
              <a:t> y </a:t>
            </a:r>
            <a:r>
              <a:rPr lang="es-ES" sz="3200" b="1" dirty="0" err="1"/>
              <a:t>UHF</a:t>
            </a:r>
            <a:endParaRPr lang="es-ES" sz="3200" dirty="0"/>
          </a:p>
          <a:p>
            <a:r>
              <a:rPr lang="es-ES" sz="3200" dirty="0"/>
              <a:t>¿Qué tecnologías existen a nivel general? </a:t>
            </a:r>
          </a:p>
          <a:p>
            <a:r>
              <a:rPr lang="es-ES" sz="3200" dirty="0"/>
              <a:t>¿Qué criterios se usan para seleccionarlas? </a:t>
            </a:r>
          </a:p>
          <a:p>
            <a:br>
              <a:rPr lang="es-ES" sz="3200" dirty="0"/>
            </a:br>
            <a:r>
              <a:rPr lang="es-ES" sz="3200" b="1" dirty="0"/>
              <a:t>Distinguimos “tipo de servicio”; ahora veremos “tecnologías” y criterios de selección.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267338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02B9-EA61-B724-86FF-88F84748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>
            <a:extLst>
              <a:ext uri="{FF2B5EF4-FFF2-40B4-BE49-F238E27FC236}">
                <a16:creationId xmlns:a16="http://schemas.microsoft.com/office/drawing/2014/main" id="{0FCF618F-7E6E-94DB-387A-84F2016E3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2050" name="Picture 2" descr="C:\Users\FHidalgoP\Downloads\Diapositiva1_portada3 (1).jpg">
            <a:extLst>
              <a:ext uri="{FF2B5EF4-FFF2-40B4-BE49-F238E27FC236}">
                <a16:creationId xmlns:a16="http://schemas.microsoft.com/office/drawing/2014/main" id="{A7C27BC0-C5F5-677A-C0FD-C80D0C296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4162"/>
            <a:ext cx="20112192" cy="11309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173BAEAB-F5DF-6E9F-E933-68060E9B7E0F}"/>
              </a:ext>
            </a:extLst>
          </p:cNvPr>
          <p:cNvSpPr txBox="1"/>
          <p:nvPr/>
        </p:nvSpPr>
        <p:spPr>
          <a:xfrm>
            <a:off x="831850" y="8161793"/>
            <a:ext cx="18564837" cy="2223813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wrap="square" lIns="0" tIns="349884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6000" b="1" kern="100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SISTEMAS DE TRANSMISIÓN</a:t>
            </a:r>
          </a:p>
          <a:p>
            <a:pPr>
              <a:lnSpc>
                <a:spcPct val="150000"/>
              </a:lnSpc>
            </a:pPr>
            <a:r>
              <a:rPr lang="es-CL" sz="2400" b="1" kern="1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CAP. JACOB BARQUI PÉREZ</a:t>
            </a:r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2BD7AF8A-199B-B386-2989-3AFBFF724404}"/>
              </a:ext>
            </a:extLst>
          </p:cNvPr>
          <p:cNvSpPr txBox="1"/>
          <p:nvPr/>
        </p:nvSpPr>
        <p:spPr>
          <a:xfrm>
            <a:off x="17637126" y="1937258"/>
            <a:ext cx="2051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000" noProof="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 </a:t>
            </a:r>
            <a:r>
              <a:rPr lang="es-CL" sz="2000" b="1" noProof="0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MAR, 2026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DC807EC9-9D52-7C43-CC8D-85FA067549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8615" y="168276"/>
            <a:ext cx="1468072" cy="1600200"/>
          </a:xfrm>
          <a:prstGeom prst="rect">
            <a:avLst/>
          </a:prstGeom>
        </p:spPr>
      </p:pic>
      <p:pic>
        <p:nvPicPr>
          <p:cNvPr id="13" name="Imagen 12" descr="Logotipo&#10;&#10;El contenido generado por IA puede ser incorrecto.">
            <a:extLst>
              <a:ext uri="{FF2B5EF4-FFF2-40B4-BE49-F238E27FC236}">
                <a16:creationId xmlns:a16="http://schemas.microsoft.com/office/drawing/2014/main" id="{B24191BE-31B1-4B8B-8F0D-9EE4E03EDE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657" y="-366510"/>
            <a:ext cx="1632386" cy="193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6724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1718</TotalTime>
  <Words>3072</Words>
  <Application>Microsoft Office PowerPoint</Application>
  <PresentationFormat>Personalizado</PresentationFormat>
  <Paragraphs>307</Paragraphs>
  <Slides>26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Atkinson Hyperlegible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afgd3l2</cp:lastModifiedBy>
  <cp:revision>292</cp:revision>
  <dcterms:modified xsi:type="dcterms:W3CDTF">2026-03-24T09:05:56Z</dcterms:modified>
</cp:coreProperties>
</file>